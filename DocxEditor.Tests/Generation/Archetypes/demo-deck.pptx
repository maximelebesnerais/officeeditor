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68988fda5944286" /><Relationship Type="http://schemas.openxmlformats.org/package/2006/relationships/metadata/core-properties" Target="/package/services/metadata/core-properties/f6ceeb55f714492ea59eff4ee7fb05a4.psmdcp" Id="Re6bbb60fdd3747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a08a5ff86e4eaf"/>
  </p:sldMasterIdLst>
  <p:sldIdLst>
    <p:sldId xmlns:r="http://schemas.openxmlformats.org/officeDocument/2006/relationships" id="256" r:id="R5347e15d14f34692"/>
    <p:sldId xmlns:r="http://schemas.openxmlformats.org/officeDocument/2006/relationships" id="257" r:id="Rb1869cf6e0e94e8b"/>
    <p:sldId xmlns:r="http://schemas.openxmlformats.org/officeDocument/2006/relationships" id="258" r:id="Rd6d38511b62a4151"/>
    <p:sldId xmlns:r="http://schemas.openxmlformats.org/officeDocument/2006/relationships" id="259" r:id="Raf6ed3c8971a40c9"/>
    <p:sldId xmlns:r="http://schemas.openxmlformats.org/officeDocument/2006/relationships" id="260" r:id="R601d66b4f8fd4bf7"/>
    <p:sldId xmlns:r="http://schemas.openxmlformats.org/officeDocument/2006/relationships" id="261" r:id="R50472b9dcde2497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08a5ff86e4eaf" /><Relationship Type="http://schemas.openxmlformats.org/officeDocument/2006/relationships/slide" Target="/ppt/slides/slide1.xml" Id="R5347e15d14f34692" /><Relationship Type="http://schemas.openxmlformats.org/officeDocument/2006/relationships/slide" Target="/ppt/slides/slide2.xml" Id="Rb1869cf6e0e94e8b" /><Relationship Type="http://schemas.openxmlformats.org/officeDocument/2006/relationships/slide" Target="/ppt/slides/slide3.xml" Id="Rd6d38511b62a4151" /><Relationship Type="http://schemas.openxmlformats.org/officeDocument/2006/relationships/slide" Target="/ppt/slides/slide4.xml" Id="Raf6ed3c8971a40c9" /><Relationship Type="http://schemas.openxmlformats.org/officeDocument/2006/relationships/slide" Target="/ppt/slides/slide5.xml" Id="R601d66b4f8fd4bf7" /><Relationship Type="http://schemas.openxmlformats.org/officeDocument/2006/relationships/slide" Target="/ppt/slides/slide6.xml" Id="R50472b9dcde2497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3b8d1ee1148f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035d1b6534897" /><Relationship Type="http://schemas.openxmlformats.org/officeDocument/2006/relationships/theme" Target="/ppt/slideMasters/theme/theme1.xml" Id="Rb8289657b01d4c6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2035d1b6534897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  <a:ln w="12700" cap="flat" cmpd="sng">
          <a:solidFill>
            <a:schemeClr val="phClr"/>
          </a:solidFill>
          <a:prstDash val="solid"/>
        </a:ln>
        <a:ln w="19050" cap="flat" cmpd="sng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/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30f48be1e48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30fb56f994c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a76c519e741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38e78e96143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bab3bb92d41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4c579d23f47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1092200" y="2685415"/>
            <a:ext cx="100076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 b="1">
                <a:solidFill>
                  <a:srgbClr val="169C9A"/>
                </a:solidFill>
              </a:rPr>
              <a:t>NORTHWIND TRADERS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1092200" y="2941955"/>
            <a:ext cx="1000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000">
                <a:solidFill>
                  <a:srgbClr val="2C3932"/>
                </a:solidFill>
              </a:rPr>
              <a:t>Q3 Business Review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1092200" y="3678555"/>
            <a:ext cx="10007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7A7567"/>
                </a:solidFill>
              </a:rPr>
              <a:t>Prepared for the executive team · October 2026</a:t>
            </a:r>
          </a:p>
        </p:txBody>
      </p:sp>
      <p:sp>
        <p:nvSpPr>
          <p:cNvPr id="6" name="Line 6"/>
          <p:cNvSpPr/>
          <p:nvPr/>
        </p:nvSpPr>
        <p:spPr>
          <a:xfrm xmlns:a="http://schemas.openxmlformats.org/drawingml/2006/main">
            <a:off x="1092200" y="4159885"/>
            <a:ext cx="10007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69C9A"/>
            </a:solidFill>
          </a:ln>
        </p:spPr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46100" y="546100"/>
            <a:ext cx="1109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000">
                <a:solidFill>
                  <a:srgbClr val="2C3932"/>
                </a:solidFill>
              </a:rPr>
              <a:t>The quarter at a glance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546100" y="1282700"/>
            <a:ext cx="11099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7A7567"/>
                </a:solidFill>
              </a:rPr>
              <a:t>vs Q3 2025</a:t>
            </a:r>
          </a:p>
        </p:txBody>
      </p:sp>
      <p:sp>
        <p:nvSpPr>
          <p:cNvPr id="5" name="Container 5"/>
          <p:cNvSpPr/>
          <p:nvPr/>
        </p:nvSpPr>
        <p:spPr>
          <a:xfrm xmlns:a="http://schemas.openxmlformats.org/drawingml/2006/main">
            <a:off x="546100" y="1751330"/>
            <a:ext cx="2603500" cy="4560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6" name="Text 6"/>
          <p:cNvSpPr/>
          <p:nvPr/>
        </p:nvSpPr>
        <p:spPr>
          <a:xfrm xmlns:a="http://schemas.openxmlformats.org/drawingml/2006/main">
            <a:off x="774700" y="3440430"/>
            <a:ext cx="214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000" b="1">
                <a:solidFill>
                  <a:srgbClr val="CEBA80"/>
                </a:solidFill>
              </a:rPr>
              <a:t>+34%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774700" y="4151630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7567"/>
                </a:solidFill>
              </a:rPr>
              <a:t>Revenue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774700" y="4417060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169C9A"/>
                </a:solidFill>
              </a:rPr>
              <a:t>+12% vs LY</a:t>
            </a:r>
          </a:p>
        </p:txBody>
      </p:sp>
      <p:sp>
        <p:nvSpPr>
          <p:cNvPr id="9" name="Container 9"/>
          <p:cNvSpPr/>
          <p:nvPr/>
        </p:nvSpPr>
        <p:spPr>
          <a:xfrm xmlns:a="http://schemas.openxmlformats.org/drawingml/2006/main">
            <a:off x="3378200" y="1751330"/>
            <a:ext cx="2603500" cy="4560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0" name="Text 10"/>
          <p:cNvSpPr/>
          <p:nvPr/>
        </p:nvSpPr>
        <p:spPr>
          <a:xfrm xmlns:a="http://schemas.openxmlformats.org/drawingml/2006/main">
            <a:off x="3606800" y="3440430"/>
            <a:ext cx="214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000" b="1">
                <a:solidFill>
                  <a:srgbClr val="CEBA80"/>
                </a:solidFill>
              </a:rPr>
              <a:t>12.4k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3606800" y="4151630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7567"/>
                </a:solidFill>
              </a:rPr>
              <a:t>Active users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3606800" y="4417060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169C9A"/>
                </a:solidFill>
              </a:rPr>
              <a:t>+8% vs LY</a:t>
            </a:r>
          </a:p>
        </p:txBody>
      </p:sp>
      <p:sp>
        <p:nvSpPr>
          <p:cNvPr id="13" name="Container 13"/>
          <p:cNvSpPr/>
          <p:nvPr/>
        </p:nvSpPr>
        <p:spPr>
          <a:xfrm xmlns:a="http://schemas.openxmlformats.org/drawingml/2006/main">
            <a:off x="6210300" y="1751330"/>
            <a:ext cx="2603500" cy="4560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6438900" y="3440430"/>
            <a:ext cx="214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000" b="1">
                <a:solidFill>
                  <a:srgbClr val="CEBA80"/>
                </a:solidFill>
              </a:rPr>
              <a:t>98.2%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6438900" y="4151630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7567"/>
                </a:solidFill>
              </a:rPr>
              <a:t>Uptime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6438900" y="4417060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169C9A"/>
                </a:solidFill>
              </a:rPr>
              <a:t>+0.4 pts</a:t>
            </a:r>
          </a:p>
        </p:txBody>
      </p:sp>
      <p:sp>
        <p:nvSpPr>
          <p:cNvPr id="17" name="Container 17"/>
          <p:cNvSpPr/>
          <p:nvPr/>
        </p:nvSpPr>
        <p:spPr>
          <a:xfrm xmlns:a="http://schemas.openxmlformats.org/drawingml/2006/main">
            <a:off x="9042400" y="1751330"/>
            <a:ext cx="2603500" cy="4560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8" name="Text 18"/>
          <p:cNvSpPr/>
          <p:nvPr/>
        </p:nvSpPr>
        <p:spPr>
          <a:xfrm xmlns:a="http://schemas.openxmlformats.org/drawingml/2006/main">
            <a:off x="9271000" y="3440430"/>
            <a:ext cx="214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000" b="1">
                <a:solidFill>
                  <a:srgbClr val="CEBA80"/>
                </a:solidFill>
              </a:rPr>
              <a:t>4.1d</a:t>
            </a:r>
          </a:p>
        </p:txBody>
      </p:sp>
      <p:sp>
        <p:nvSpPr>
          <p:cNvPr id="19" name="Text 19"/>
          <p:cNvSpPr/>
          <p:nvPr/>
        </p:nvSpPr>
        <p:spPr>
          <a:xfrm xmlns:a="http://schemas.openxmlformats.org/drawingml/2006/main">
            <a:off x="9271000" y="4151630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7567"/>
                </a:solidFill>
              </a:rPr>
              <a:t>Sales cycle</a:t>
            </a:r>
          </a:p>
        </p:txBody>
      </p:sp>
      <p:sp>
        <p:nvSpPr>
          <p:cNvPr id="20" name="Text 20"/>
          <p:cNvSpPr/>
          <p:nvPr/>
        </p:nvSpPr>
        <p:spPr>
          <a:xfrm xmlns:a="http://schemas.openxmlformats.org/drawingml/2006/main">
            <a:off x="9271000" y="4417060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169C9A"/>
                </a:solidFill>
              </a:rPr>
              <a:t>-1.2 days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46100" y="546100"/>
            <a:ext cx="1109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000">
                <a:solidFill>
                  <a:srgbClr val="2C3932"/>
                </a:solidFill>
              </a:rPr>
              <a:t>What moved the quarter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546100" y="1460500"/>
            <a:ext cx="65227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2C3932"/>
                </a:solidFill>
              </a:rPr>
              <a:t>Tailwinds</a:t>
            </a:r>
          </a:p>
        </p:txBody>
      </p:sp>
      <p:sp>
        <p:nvSpPr>
          <p:cNvPr id="5" name="Ellipse 5"/>
          <p:cNvSpPr/>
          <p:nvPr/>
        </p:nvSpPr>
        <p:spPr>
          <a:xfrm xmlns:a="http://schemas.openxmlformats.org/drawingml/2006/main">
            <a:off x="546100" y="19310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9A"/>
          </a:solidFill>
          <a:ln xmlns:a="http://schemas.openxmlformats.org/drawingml/2006/main">
            <a:noFill/>
          </a:ln>
        </p:spPr>
      </p:sp>
      <p:sp>
        <p:nvSpPr>
          <p:cNvPr id="6" name="Text 6"/>
          <p:cNvSpPr/>
          <p:nvPr/>
        </p:nvSpPr>
        <p:spPr>
          <a:xfrm xmlns:a="http://schemas.openxmlformats.org/drawingml/2006/main">
            <a:off x="723900" y="1849120"/>
            <a:ext cx="6344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Enterprise renewals landed two quarters early</a:t>
            </a:r>
          </a:p>
        </p:txBody>
      </p:sp>
      <p:sp>
        <p:nvSpPr>
          <p:cNvPr id="7" name="Ellipse 7"/>
          <p:cNvSpPr/>
          <p:nvPr/>
        </p:nvSpPr>
        <p:spPr>
          <a:xfrm xmlns:a="http://schemas.openxmlformats.org/drawingml/2006/main">
            <a:off x="546100" y="22853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9A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723900" y="2203450"/>
            <a:ext cx="6344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Self-serve signups doubled after the July launch</a:t>
            </a:r>
          </a:p>
        </p:txBody>
      </p:sp>
      <p:sp>
        <p:nvSpPr>
          <p:cNvPr id="9" name="Ellipse 9"/>
          <p:cNvSpPr/>
          <p:nvPr/>
        </p:nvSpPr>
        <p:spPr>
          <a:xfrm xmlns:a="http://schemas.openxmlformats.org/drawingml/2006/main">
            <a:off x="546100" y="263969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9A"/>
          </a:solidFill>
          <a:ln xmlns:a="http://schemas.openxmlformats.org/drawingml/2006/main">
            <a:noFill/>
          </a:ln>
        </p:spPr>
      </p:sp>
      <p:sp>
        <p:nvSpPr>
          <p:cNvPr id="10" name="Text 10"/>
          <p:cNvSpPr/>
          <p:nvPr/>
        </p:nvSpPr>
        <p:spPr>
          <a:xfrm xmlns:a="http://schemas.openxmlformats.org/drawingml/2006/main">
            <a:off x="723900" y="2557780"/>
            <a:ext cx="6344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EMEA pipeline grew 41% on partner referrals</a:t>
            </a:r>
          </a:p>
        </p:txBody>
      </p:sp>
      <p:sp>
        <p:nvSpPr>
          <p:cNvPr id="11" name="Ellipse 11"/>
          <p:cNvSpPr/>
          <p:nvPr/>
        </p:nvSpPr>
        <p:spPr>
          <a:xfrm xmlns:a="http://schemas.openxmlformats.org/drawingml/2006/main">
            <a:off x="546100" y="2994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9A"/>
          </a:solidFill>
          <a:ln xmlns:a="http://schemas.openxmlformats.org/drawingml/2006/main">
            <a:noFill/>
          </a:ln>
        </p:spPr>
      </p:sp>
      <p:sp>
        <p:nvSpPr>
          <p:cNvPr id="12" name="Text 12"/>
          <p:cNvSpPr/>
          <p:nvPr/>
        </p:nvSpPr>
        <p:spPr>
          <a:xfrm xmlns:a="http://schemas.openxmlformats.org/drawingml/2006/main">
            <a:off x="723900" y="2912110"/>
            <a:ext cx="6344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Churn fell to 2.1%, the lowest in two years</a:t>
            </a:r>
          </a:p>
        </p:txBody>
      </p:sp>
      <p:sp>
        <p:nvSpPr>
          <p:cNvPr id="13" name="Container 13"/>
          <p:cNvSpPr/>
          <p:nvPr/>
        </p:nvSpPr>
        <p:spPr>
          <a:xfrm xmlns:a="http://schemas.openxmlformats.org/drawingml/2006/main">
            <a:off x="7297420" y="1460500"/>
            <a:ext cx="4348480" cy="485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7526020" y="1689100"/>
            <a:ext cx="38912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2C3932"/>
                </a:solidFill>
              </a:rPr>
              <a:t>Watch item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7526020" y="2014220"/>
            <a:ext cx="389128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7A7567"/>
                </a:solidFill>
              </a:rPr>
              <a:t>EMEA delivery costs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7526020" y="2305050"/>
            <a:ext cx="3891280" cy="377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Freight and compliance added 3 pts of cost. Mitigation lands with the Q4 budget review.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46100" y="546100"/>
            <a:ext cx="1109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000">
                <a:solidFill>
                  <a:srgbClr val="2C3932"/>
                </a:solidFill>
              </a:rPr>
              <a:t>Regional performance</a:t>
            </a:r>
          </a:p>
        </p:txBody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46100" y="1460500"/>
            <a:ext cx="11099800" cy="39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BA80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647700" y="1536700"/>
            <a:ext cx="42367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 b="1">
                <a:solidFill>
                  <a:srgbClr val="FFFFFF"/>
                </a:solidFill>
              </a:rPr>
              <a:t>Region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5087620" y="153670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 b="1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7307580" y="153670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 b="1">
                <a:solidFill>
                  <a:srgbClr val="FFFFFF"/>
                </a:solidFill>
              </a:rPr>
              <a:t>Growth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9527540" y="153670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 b="1">
                <a:solidFill>
                  <a:srgbClr val="FFFFFF"/>
                </a:solidFill>
              </a:rPr>
              <a:t>Pipeline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647700" y="1929130"/>
            <a:ext cx="42367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North America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5087620" y="192913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$8.2M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7307580" y="192913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+38%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9527540" y="192913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$5.1M</a:t>
            </a:r>
          </a:p>
        </p:txBody>
      </p:sp>
      <p:sp>
        <p:nvSpPr>
          <p:cNvPr id="13" name="Text 13"/>
          <p:cNvSpPr/>
          <p:nvPr/>
        </p:nvSpPr>
        <p:spPr>
          <a:xfrm xmlns:a="http://schemas.openxmlformats.org/drawingml/2006/main">
            <a:off x="647700" y="2321560"/>
            <a:ext cx="42367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EMEA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5087620" y="232156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$4.6M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7307580" y="232156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+41%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9527540" y="232156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$3.8M</a:t>
            </a:r>
          </a:p>
        </p:txBody>
      </p:sp>
      <p:sp>
        <p:nvSpPr>
          <p:cNvPr id="17" name="Text 17"/>
          <p:cNvSpPr/>
          <p:nvPr/>
        </p:nvSpPr>
        <p:spPr>
          <a:xfrm xmlns:a="http://schemas.openxmlformats.org/drawingml/2006/main">
            <a:off x="647700" y="2713990"/>
            <a:ext cx="42367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APAC</a:t>
            </a:r>
          </a:p>
        </p:txBody>
      </p:sp>
      <p:sp>
        <p:nvSpPr>
          <p:cNvPr id="18" name="Text 18"/>
          <p:cNvSpPr/>
          <p:nvPr/>
        </p:nvSpPr>
        <p:spPr>
          <a:xfrm xmlns:a="http://schemas.openxmlformats.org/drawingml/2006/main">
            <a:off x="5087620" y="271399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$2.9M</a:t>
            </a:r>
          </a:p>
        </p:txBody>
      </p:sp>
      <p:sp>
        <p:nvSpPr>
          <p:cNvPr id="19" name="Text 19"/>
          <p:cNvSpPr/>
          <p:nvPr/>
        </p:nvSpPr>
        <p:spPr>
          <a:xfrm xmlns:a="http://schemas.openxmlformats.org/drawingml/2006/main">
            <a:off x="7307580" y="271399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+22%</a:t>
            </a:r>
          </a:p>
        </p:txBody>
      </p:sp>
      <p:sp>
        <p:nvSpPr>
          <p:cNvPr id="20" name="Text 20"/>
          <p:cNvSpPr/>
          <p:nvPr/>
        </p:nvSpPr>
        <p:spPr>
          <a:xfrm xmlns:a="http://schemas.openxmlformats.org/drawingml/2006/main">
            <a:off x="9527540" y="271399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$2.2M</a:t>
            </a:r>
          </a:p>
        </p:txBody>
      </p:sp>
      <p:sp>
        <p:nvSpPr>
          <p:cNvPr id="21" name="Text 21"/>
          <p:cNvSpPr/>
          <p:nvPr/>
        </p:nvSpPr>
        <p:spPr>
          <a:xfrm xmlns:a="http://schemas.openxmlformats.org/drawingml/2006/main">
            <a:off x="647700" y="3106420"/>
            <a:ext cx="42367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LatAm</a:t>
            </a:r>
          </a:p>
        </p:txBody>
      </p:sp>
      <p:sp>
        <p:nvSpPr>
          <p:cNvPr id="22" name="Text 22"/>
          <p:cNvSpPr/>
          <p:nvPr/>
        </p:nvSpPr>
        <p:spPr>
          <a:xfrm xmlns:a="http://schemas.openxmlformats.org/drawingml/2006/main">
            <a:off x="5087620" y="310642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$1.1M</a:t>
            </a:r>
          </a:p>
        </p:txBody>
      </p:sp>
      <p:sp>
        <p:nvSpPr>
          <p:cNvPr id="23" name="Text 23"/>
          <p:cNvSpPr/>
          <p:nvPr/>
        </p:nvSpPr>
        <p:spPr>
          <a:xfrm xmlns:a="http://schemas.openxmlformats.org/drawingml/2006/main">
            <a:off x="7307580" y="310642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+17%</a:t>
            </a:r>
          </a:p>
        </p:txBody>
      </p:sp>
      <p:sp>
        <p:nvSpPr>
          <p:cNvPr id="24" name="Text 24"/>
          <p:cNvSpPr/>
          <p:nvPr/>
        </p:nvSpPr>
        <p:spPr>
          <a:xfrm xmlns:a="http://schemas.openxmlformats.org/drawingml/2006/main">
            <a:off x="9527540" y="310642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$0.9M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Line 3"/>
          <p:cNvSpPr/>
          <p:nvPr/>
        </p:nvSpPr>
        <p:spPr>
          <a:xfrm xmlns:a="http://schemas.openxmlformats.org/drawingml/2006/main">
            <a:off x="546100" y="4662170"/>
            <a:ext cx="110998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69C9A"/>
            </a:solidFill>
          </a:ln>
        </p:spPr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46100" y="4903470"/>
            <a:ext cx="3623729" cy="1408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774700" y="5132070"/>
            <a:ext cx="316652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000" b="1">
                <a:solidFill>
                  <a:srgbClr val="CEBA80"/>
                </a:solidFill>
              </a:rPr>
              <a:t>02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774700" y="5843270"/>
            <a:ext cx="3166529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7567"/>
                </a:solidFill>
              </a:rPr>
              <a:t>OUTLOOK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4398429" y="4903470"/>
            <a:ext cx="7247471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000">
                <a:solidFill>
                  <a:srgbClr val="2C3932"/>
                </a:solidFill>
              </a:rPr>
              <a:t>What is next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4398429" y="5640070"/>
            <a:ext cx="7247471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7A7567"/>
                </a:solidFill>
              </a:rPr>
              <a:t>Three bets for Q4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1092200" y="2685415"/>
            <a:ext cx="100076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 b="1">
                <a:solidFill>
                  <a:srgbClr val="169C9A"/>
                </a:solidFill>
              </a:rPr>
              <a:t>Q3 2026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1092200" y="2941955"/>
            <a:ext cx="1000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000">
                <a:solidFill>
                  <a:srgbClr val="2C3932"/>
                </a:solidFill>
              </a:rPr>
              <a:t>Thank you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1092200" y="3678555"/>
            <a:ext cx="10007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7A7567"/>
                </a:solidFill>
              </a:rPr>
              <a:t>Appendix and data pack available on request</a:t>
            </a:r>
          </a:p>
        </p:txBody>
      </p:sp>
      <p:sp>
        <p:nvSpPr>
          <p:cNvPr id="6" name="Line 6"/>
          <p:cNvSpPr/>
          <p:nvPr/>
        </p:nvSpPr>
        <p:spPr>
          <a:xfrm xmlns:a="http://schemas.openxmlformats.org/drawingml/2006/main">
            <a:off x="1092200" y="4159885"/>
            <a:ext cx="10007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69C9A"/>
            </a:solidFill>
          </a:ln>
        </p:spPr>
      </p:sp>
    </p:spTree>
  </p:cSld>
</p:sld>
</file>