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psmdcp" ContentType="application/vnd.openxmlformats-package.core-properties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907340e085447fa" /><Relationship Type="http://schemas.openxmlformats.org/package/2006/relationships/metadata/core-properties" Target="/package/services/metadata/core-properties/79f3aadb2d274eae9f7db689b7e14d7a.psmdcp" Id="R917ec52eadd54e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1378480b834aa4"/>
  </p:sldMasterIdLst>
  <p:sldIdLst>
    <p:sldId xmlns:r="http://schemas.openxmlformats.org/officeDocument/2006/relationships" id="256" r:id="R51752b736e104892"/>
    <p:sldId xmlns:r="http://schemas.openxmlformats.org/officeDocument/2006/relationships" id="257" r:id="Rc101e901819d4d33"/>
    <p:sldId xmlns:r="http://schemas.openxmlformats.org/officeDocument/2006/relationships" id="258" r:id="Rd2be7b6016214775"/>
    <p:sldId xmlns:r="http://schemas.openxmlformats.org/officeDocument/2006/relationships" id="259" r:id="Rabfc27dd45cd4de0"/>
    <p:sldId xmlns:r="http://schemas.openxmlformats.org/officeDocument/2006/relationships" id="260" r:id="R025a16126c7f425e"/>
    <p:sldId xmlns:r="http://schemas.openxmlformats.org/officeDocument/2006/relationships" id="261" r:id="Radf768b7c0df4192"/>
    <p:sldId xmlns:r="http://schemas.openxmlformats.org/officeDocument/2006/relationships" id="262" r:id="R7e2002aa871141a0"/>
    <p:sldId xmlns:r="http://schemas.openxmlformats.org/officeDocument/2006/relationships" id="263" r:id="Rfac7915a16c04ea5"/>
    <p:sldId xmlns:r="http://schemas.openxmlformats.org/officeDocument/2006/relationships" id="264" r:id="R47c93eddb3e5410f"/>
    <p:sldId xmlns:r="http://schemas.openxmlformats.org/officeDocument/2006/relationships" id="265" r:id="R51e30215fc744478"/>
    <p:sldId xmlns:r="http://schemas.openxmlformats.org/officeDocument/2006/relationships" id="266" r:id="R83f42ea27bb743d3"/>
    <p:sldId xmlns:r="http://schemas.openxmlformats.org/officeDocument/2006/relationships" id="267" r:id="R0785f34b7b7440c3"/>
    <p:sldId xmlns:r="http://schemas.openxmlformats.org/officeDocument/2006/relationships" id="268" r:id="Rf8db35a8dcaa43f5"/>
    <p:sldId xmlns:r="http://schemas.openxmlformats.org/officeDocument/2006/relationships" id="269" r:id="Ra02ddf6ac5c44e3a"/>
    <p:sldId xmlns:r="http://schemas.openxmlformats.org/officeDocument/2006/relationships" id="270" r:id="R74592ed49eea4dac"/>
    <p:sldId xmlns:r="http://schemas.openxmlformats.org/officeDocument/2006/relationships" id="271" r:id="R761538c686974be4"/>
    <p:sldId xmlns:r="http://schemas.openxmlformats.org/officeDocument/2006/relationships" id="272" r:id="R4f7b4bc1f7c542b2"/>
    <p:sldId xmlns:r="http://schemas.openxmlformats.org/officeDocument/2006/relationships" id="273" r:id="Rb11d726db9a04c78"/>
    <p:sldId xmlns:r="http://schemas.openxmlformats.org/officeDocument/2006/relationships" id="274" r:id="R908a2357aa234d45"/>
    <p:sldId xmlns:r="http://schemas.openxmlformats.org/officeDocument/2006/relationships" id="275" r:id="R0968c58cbfd84cf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1378480b834aa4" /><Relationship Type="http://schemas.openxmlformats.org/officeDocument/2006/relationships/slide" Target="/ppt/slides/slide1.xml" Id="R51752b736e104892" /><Relationship Type="http://schemas.openxmlformats.org/officeDocument/2006/relationships/slide" Target="/ppt/slides/slide2.xml" Id="Rc101e901819d4d33" /><Relationship Type="http://schemas.openxmlformats.org/officeDocument/2006/relationships/slide" Target="/ppt/slides/slide3.xml" Id="Rd2be7b6016214775" /><Relationship Type="http://schemas.openxmlformats.org/officeDocument/2006/relationships/slide" Target="/ppt/slides/slide4.xml" Id="Rabfc27dd45cd4de0" /><Relationship Type="http://schemas.openxmlformats.org/officeDocument/2006/relationships/slide" Target="/ppt/slides/slide5.xml" Id="R025a16126c7f425e" /><Relationship Type="http://schemas.openxmlformats.org/officeDocument/2006/relationships/slide" Target="/ppt/slides/slide6.xml" Id="Radf768b7c0df4192" /><Relationship Type="http://schemas.openxmlformats.org/officeDocument/2006/relationships/slide" Target="/ppt/slides/slide7.xml" Id="R7e2002aa871141a0" /><Relationship Type="http://schemas.openxmlformats.org/officeDocument/2006/relationships/slide" Target="/ppt/slides/slide8.xml" Id="Rfac7915a16c04ea5" /><Relationship Type="http://schemas.openxmlformats.org/officeDocument/2006/relationships/slide" Target="/ppt/slides/slide9.xml" Id="R47c93eddb3e5410f" /><Relationship Type="http://schemas.openxmlformats.org/officeDocument/2006/relationships/slide" Target="/ppt/slides/slide10.xml" Id="R51e30215fc744478" /><Relationship Type="http://schemas.openxmlformats.org/officeDocument/2006/relationships/slide" Target="/ppt/slides/slide11.xml" Id="R83f42ea27bb743d3" /><Relationship Type="http://schemas.openxmlformats.org/officeDocument/2006/relationships/slide" Target="/ppt/slides/slide12.xml" Id="R0785f34b7b7440c3" /><Relationship Type="http://schemas.openxmlformats.org/officeDocument/2006/relationships/slide" Target="/ppt/slides/slide13.xml" Id="Rf8db35a8dcaa43f5" /><Relationship Type="http://schemas.openxmlformats.org/officeDocument/2006/relationships/slide" Target="/ppt/slides/slide14.xml" Id="Ra02ddf6ac5c44e3a" /><Relationship Type="http://schemas.openxmlformats.org/officeDocument/2006/relationships/slide" Target="/ppt/slides/slide15.xml" Id="R74592ed49eea4dac" /><Relationship Type="http://schemas.openxmlformats.org/officeDocument/2006/relationships/slide" Target="/ppt/slides/slide16.xml" Id="R761538c686974be4" /><Relationship Type="http://schemas.openxmlformats.org/officeDocument/2006/relationships/slide" Target="/ppt/slides/slide17.xml" Id="R4f7b4bc1f7c542b2" /><Relationship Type="http://schemas.openxmlformats.org/officeDocument/2006/relationships/slide" Target="/ppt/slides/slide18.xml" Id="Rb11d726db9a04c78" /><Relationship Type="http://schemas.openxmlformats.org/officeDocument/2006/relationships/slide" Target="/ppt/slides/slide19.xml" Id="R908a2357aa234d45" /><Relationship Type="http://schemas.openxmlformats.org/officeDocument/2006/relationships/slide" Target="/ppt/slides/slide20.xml" Id="R0968c58cbfd84cf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826c6ef599494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1d40170cb431f" /><Relationship Type="http://schemas.openxmlformats.org/officeDocument/2006/relationships/theme" Target="/ppt/slideMasters/theme/theme1.xml" Id="R0f4e636137064e5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71d40170cb431f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/>
        <a:noFill/>
      </a:fillStyleLst>
      <a:lnStyleLst>
        <a:ln w="6350" cap="flat" cmpd="sng">
          <a:solidFill>
            <a:schemeClr val="phClr"/>
          </a:solidFill>
          <a:prstDash val="solid"/>
        </a:ln>
        <a:ln w="12700" cap="flat" cmpd="sng">
          <a:solidFill>
            <a:schemeClr val="phClr"/>
          </a:solidFill>
          <a:prstDash val="solid"/>
        </a:ln>
        <a:ln w="19050" cap="flat" cmpd="sng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/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19fb751d64f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23d3277f041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49b04e1714c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1b06f80b4424a" /><Relationship Type="http://schemas.openxmlformats.org/officeDocument/2006/relationships/image" Target="/ppt/media/image.png" Id="R3f5eb2f72fbc401a" /><Relationship Type="http://schemas.openxmlformats.org/officeDocument/2006/relationships/image" Target="/ppt/media/image2.png" Id="R81bc09010d5a42ef" /><Relationship Type="http://schemas.openxmlformats.org/officeDocument/2006/relationships/image" Target="/ppt/media/image3.png" Id="R2077bce80b2d4b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a7b2240c348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b19e3e89b4a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b75343a254a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1c995ac1140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a6d03ceb44b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dd516d61c43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41ea7444d40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e20d29b144e6f" /><Relationship Type="http://schemas.openxmlformats.org/officeDocument/2006/relationships/image" Target="/ppt/media/image4.png" Id="Re6dd969a1a854361" /><Relationship Type="http://schemas.openxmlformats.org/officeDocument/2006/relationships/image" Target="/ppt/media/image5.png" Id="R907c95b3e8634296" /><Relationship Type="http://schemas.openxmlformats.org/officeDocument/2006/relationships/image" Target="/ppt/media/image6.png" Id="R424276c9dc1640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4e0c7d3be41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43d43c5d4436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6618cc98b4150" /><Relationship Type="http://schemas.openxmlformats.org/officeDocument/2006/relationships/image" Target="/ppt/media/image7.png" Id="R6a1c4dc51bd14a0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4f3958e6c456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5dacf7e20440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45a8f0d28423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57e2cc8b1480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6d3c3484f40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1016000" y="2749550"/>
            <a:ext cx="101600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200" b="1">
                <a:solidFill>
                  <a:srgbClr val="FF6B00"/>
                </a:solidFill>
              </a:rPr>
              <a:t>.NET 9 · C# 12 · MIT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1016000" y="3006090"/>
            <a:ext cx="101600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3400">
                <a:solidFill>
                  <a:srgbClr val="1A1A1A"/>
                </a:solidFill>
              </a:rPr>
              <a:t>OfficeEditor</a:t>
            </a:r>
          </a:p>
        </p:txBody>
      </p:sp>
      <p:sp>
        <p:nvSpPr>
          <p:cNvPr id="5" name="Text 5"/>
          <p:cNvSpPr/>
          <p:nvPr/>
        </p:nvSpPr>
        <p:spPr>
          <a:xfrm xmlns:a="http://schemas.openxmlformats.org/drawingml/2006/main">
            <a:off x="1016000" y="3639820"/>
            <a:ext cx="101600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Generate, edit and render Office documents — from JSON, YAML or fluent C#</a:t>
            </a:r>
          </a:p>
        </p:txBody>
      </p:sp>
      <p:sp>
        <p:nvSpPr>
          <p:cNvPr id="6" name="Line 6"/>
          <p:cNvSpPr/>
          <p:nvPr/>
        </p:nvSpPr>
        <p:spPr>
          <a:xfrm xmlns:a="http://schemas.openxmlformats.org/drawingml/2006/main">
            <a:off x="1016000" y="4095750"/>
            <a:ext cx="101600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6B00"/>
            </a:solidFill>
          </a:ln>
        </p:spPr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>
            <a:noFill/>
          </a:ln>
        </p:spPr>
      </p:sp>
      <p:sp>
        <p:nvSpPr>
          <p:cNvPr id="3" name="Container 3"/>
          <p:cNvSpPr/>
          <p:nvPr/>
        </p:nvSpPr>
        <p:spPr>
          <a:xfrm xmlns:a="http://schemas.openxmlformats.org/drawingml/2006/main">
            <a:off x="508000" y="508000"/>
            <a:ext cx="2622550" cy="5842000"/>
          </a:xfrm>
          <a:prstGeom xmlns:a="http://schemas.openxmlformats.org/drawingml/2006/main" prst="roundRect">
            <a:avLst>
              <a:gd name="adj1" fmla="val 38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4" name="Text 4"/>
          <p:cNvSpPr/>
          <p:nvPr/>
        </p:nvSpPr>
        <p:spPr>
          <a:xfrm xmlns:a="http://schemas.openxmlformats.org/drawingml/2006/main">
            <a:off x="711200" y="711200"/>
            <a:ext cx="221615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3 Formats</a:t>
            </a:r>
          </a:p>
        </p:txBody>
      </p:sp>
      <p:sp>
        <p:nvSpPr>
          <p:cNvPr id="5" name="Text 5"/>
          <p:cNvSpPr/>
          <p:nvPr/>
        </p:nvSpPr>
        <p:spPr>
          <a:xfrm xmlns:a="http://schemas.openxmlformats.org/drawingml/2006/main">
            <a:off x="711200" y="1036320"/>
            <a:ext cx="22161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DOCX · PPTX · XLSX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711200" y="1327150"/>
            <a:ext cx="2216150" cy="481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Create and edit all three major Office formats from a single instruction vocabulary.</a:t>
            </a:r>
          </a:p>
        </p:txBody>
      </p:sp>
      <p:sp>
        <p:nvSpPr>
          <p:cNvPr id="7" name="Container 7"/>
          <p:cNvSpPr/>
          <p:nvPr/>
        </p:nvSpPr>
        <p:spPr>
          <a:xfrm xmlns:a="http://schemas.openxmlformats.org/drawingml/2006/main">
            <a:off x="3359150" y="508000"/>
            <a:ext cx="2622550" cy="5842000"/>
          </a:xfrm>
          <a:prstGeom xmlns:a="http://schemas.openxmlformats.org/drawingml/2006/main" prst="roundRect">
            <a:avLst>
              <a:gd name="adj1" fmla="val 38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8" name="Text 8"/>
          <p:cNvSpPr/>
          <p:nvPr/>
        </p:nvSpPr>
        <p:spPr>
          <a:xfrm xmlns:a="http://schemas.openxmlformats.org/drawingml/2006/main">
            <a:off x="3562350" y="711200"/>
            <a:ext cx="221615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1,217 Tests</a:t>
            </a:r>
          </a:p>
        </p:txBody>
      </p:sp>
      <p:sp>
        <p:nvSpPr>
          <p:cNvPr id="9" name="Text 9"/>
          <p:cNvSpPr/>
          <p:nvPr/>
        </p:nvSpPr>
        <p:spPr>
          <a:xfrm xmlns:a="http://schemas.openxmlformats.org/drawingml/2006/main">
            <a:off x="3562350" y="1036320"/>
            <a:ext cx="22161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xUnit · 0 failures</a:t>
            </a:r>
          </a:p>
        </p:txBody>
      </p:sp>
      <p:sp>
        <p:nvSpPr>
          <p:cNvPr id="10" name="Text 10"/>
          <p:cNvSpPr/>
          <p:nvPr/>
        </p:nvSpPr>
        <p:spPr>
          <a:xfrm xmlns:a="http://schemas.openxmlformats.org/drawingml/2006/main">
            <a:off x="3562350" y="1327150"/>
            <a:ext cx="2216150" cy="481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Visual-diff suite with RMSE parity against PowerPoint ground truth for every primitive.</a:t>
            </a:r>
          </a:p>
        </p:txBody>
      </p:sp>
      <p:sp>
        <p:nvSpPr>
          <p:cNvPr id="11" name="Container 11"/>
          <p:cNvSpPr/>
          <p:nvPr/>
        </p:nvSpPr>
        <p:spPr>
          <a:xfrm xmlns:a="http://schemas.openxmlformats.org/drawingml/2006/main">
            <a:off x="6210300" y="508000"/>
            <a:ext cx="2622550" cy="5842000"/>
          </a:xfrm>
          <a:prstGeom xmlns:a="http://schemas.openxmlformats.org/drawingml/2006/main" prst="roundRect">
            <a:avLst>
              <a:gd name="adj1" fmla="val 38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2" name="Text 12"/>
          <p:cNvSpPr/>
          <p:nvPr/>
        </p:nvSpPr>
        <p:spPr>
          <a:xfrm xmlns:a="http://schemas.openxmlformats.org/drawingml/2006/main">
            <a:off x="6413500" y="711200"/>
            <a:ext cx="221615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16.9ms warm</a:t>
            </a:r>
          </a:p>
        </p:txBody>
      </p:sp>
      <p:sp>
        <p:nvSpPr>
          <p:cNvPr id="13" name="Text 13"/>
          <p:cNvSpPr/>
          <p:nvPr/>
        </p:nvSpPr>
        <p:spPr>
          <a:xfrm xmlns:a="http://schemas.openxmlformats.org/drawingml/2006/main">
            <a:off x="6413500" y="1036320"/>
            <a:ext cx="22161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deck_generate</a:t>
            </a:r>
          </a:p>
        </p:txBody>
      </p:sp>
      <p:sp>
        <p:nvSpPr>
          <p:cNvPr id="14" name="Text 14"/>
          <p:cNvSpPr/>
          <p:nvPr/>
        </p:nvSpPr>
        <p:spPr>
          <a:xfrm xmlns:a="http://schemas.openxmlformats.org/drawingml/2006/main">
            <a:off x="6413500" y="1327150"/>
            <a:ext cx="2216150" cy="481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Full 16-slide deck from JSON to PPTX. MCP tool + REST API surfaces for AI consumers.</a:t>
            </a:r>
          </a:p>
        </p:txBody>
      </p:sp>
      <p:sp>
        <p:nvSpPr>
          <p:cNvPr id="15" name="Container 15"/>
          <p:cNvSpPr/>
          <p:nvPr/>
        </p:nvSpPr>
        <p:spPr>
          <a:xfrm xmlns:a="http://schemas.openxmlformats.org/drawingml/2006/main">
            <a:off x="9061450" y="508000"/>
            <a:ext cx="2622550" cy="5842000"/>
          </a:xfrm>
          <a:prstGeom xmlns:a="http://schemas.openxmlformats.org/drawingml/2006/main" prst="roundRect">
            <a:avLst>
              <a:gd name="adj1" fmla="val 38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6" name="Text 16"/>
          <p:cNvSpPr/>
          <p:nvPr/>
        </p:nvSpPr>
        <p:spPr>
          <a:xfrm xmlns:a="http://schemas.openxmlformats.org/drawingml/2006/main">
            <a:off x="9264650" y="711200"/>
            <a:ext cx="221615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10 Workstreams</a:t>
            </a:r>
          </a:p>
        </p:txBody>
      </p:sp>
      <p:sp>
        <p:nvSpPr>
          <p:cNvPr id="17" name="Text 17"/>
          <p:cNvSpPr/>
          <p:nvPr/>
        </p:nvSpPr>
        <p:spPr>
          <a:xfrm xmlns:a="http://schemas.openxmlformats.org/drawingml/2006/main">
            <a:off x="9264650" y="1036320"/>
            <a:ext cx="22161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Phase 5 completed</a:t>
            </a:r>
          </a:p>
        </p:txBody>
      </p:sp>
      <p:sp>
        <p:nvSpPr>
          <p:cNvPr id="18" name="Text 18"/>
          <p:cNvSpPr/>
          <p:nvPr/>
        </p:nvSpPr>
        <p:spPr>
          <a:xfrm xmlns:a="http://schemas.openxmlformats.org/drawingml/2006/main">
            <a:off x="9264650" y="1327150"/>
            <a:ext cx="2216150" cy="481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Slide Layout Engine — parallel agents, worktree-per-workstream, not a single merge conflict.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Line 3"/>
          <p:cNvSpPr/>
          <p:nvPr/>
        </p:nvSpPr>
        <p:spPr>
          <a:xfrm xmlns:a="http://schemas.openxmlformats.org/drawingml/2006/main">
            <a:off x="508000" y="4879340"/>
            <a:ext cx="111760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6B00"/>
            </a:solidFill>
          </a:ln>
        </p:spPr>
      </p:sp>
      <p:sp>
        <p:nvSpPr>
          <p:cNvPr id="4" name="Container 4"/>
          <p:cNvSpPr/>
          <p:nvPr/>
        </p:nvSpPr>
        <p:spPr>
          <a:xfrm xmlns:a="http://schemas.openxmlformats.org/drawingml/2006/main">
            <a:off x="508000" y="5095240"/>
            <a:ext cx="3657600" cy="1254760"/>
          </a:xfrm>
          <a:prstGeom xmlns:a="http://schemas.openxmlformats.org/drawingml/2006/main" prst="roundRect">
            <a:avLst>
              <a:gd name="adj1" fmla="val 8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711200" y="5298440"/>
            <a:ext cx="32512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3400" b="1">
                <a:solidFill>
                  <a:srgbClr val="0B3D91"/>
                </a:solidFill>
              </a:rPr>
              <a:t>01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711200" y="5906770"/>
            <a:ext cx="3251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8A94A6"/>
                </a:solidFill>
              </a:rPr>
              <a:t>OVERVIEW</a:t>
            </a:r>
          </a:p>
        </p:txBody>
      </p:sp>
      <p:sp>
        <p:nvSpPr>
          <p:cNvPr id="7" name="Text 7"/>
          <p:cNvSpPr/>
          <p:nvPr/>
        </p:nvSpPr>
        <p:spPr>
          <a:xfrm xmlns:a="http://schemas.openxmlformats.org/drawingml/2006/main">
            <a:off x="4368800" y="5095240"/>
            <a:ext cx="73152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3400">
                <a:solidFill>
                  <a:srgbClr val="1A1A1A"/>
                </a:solidFill>
              </a:rPr>
              <a:t>What is OfficeEditor?</a:t>
            </a:r>
          </a:p>
        </p:txBody>
      </p:sp>
      <p:sp>
        <p:nvSpPr>
          <p:cNvPr id="8" name="Text 8"/>
          <p:cNvSpPr/>
          <p:nvPr/>
        </p:nvSpPr>
        <p:spPr>
          <a:xfrm xmlns:a="http://schemas.openxmlformats.org/drawingml/2006/main">
            <a:off x="4368800" y="5728970"/>
            <a:ext cx="7315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A .NET suite for programmatic Office document creation and editing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>
            <a:noFill/>
          </a:ln>
        </p:spPr>
      </p:sp>
      <p:sp>
        <p:nvSpPr>
          <p:cNvPr id="3" name="Container 3"/>
          <p:cNvSpPr/>
          <p:nvPr/>
        </p:nvSpPr>
        <p:spPr>
          <a:xfrm xmlns:a="http://schemas.openxmlformats.org/drawingml/2006/main">
            <a:off x="508000" y="508000"/>
            <a:ext cx="3572929" cy="5689600"/>
          </a:xfrm>
          <a:prstGeom xmlns:a="http://schemas.openxmlformats.org/drawingml/2006/main" prst="roundRect">
            <a:avLst>
              <a:gd name="adj1" fmla="val 2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pic>
        <p:nvPicPr>
          <p:cNvPr id="4" name="Image 4"/>
          <p:cNvPicPr/>
          <p:nvPr/>
        </p:nvPicPr>
        <p:blipFill>
          <a:blip xmlns:r="http://schemas.openxmlformats.org/officeDocument/2006/relationships" xmlns:a="http://schemas.openxmlformats.org/drawingml/2006/main" r:embed="R3f5eb2f72fbc401a"/>
          <a:srcRect xmlns:a="http://schemas.openxmlformats.org/drawingml/2006/main" l="21602" t="0" r="21602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08000" y="508000"/>
            <a:ext cx="3572929" cy="4718050"/>
          </a:xfrm>
          <a:prstGeom xmlns:a="http://schemas.openxmlformats.org/drawingml/2006/main" prst="rect">
            <a:avLst/>
          </a:prstGeom>
        </p:spPr>
      </p:pic>
      <p:sp>
        <p:nvSpPr>
          <p:cNvPr id="5" name="Text 5"/>
          <p:cNvSpPr/>
          <p:nvPr/>
        </p:nvSpPr>
        <p:spPr>
          <a:xfrm xmlns:a="http://schemas.openxmlformats.org/drawingml/2006/main">
            <a:off x="711200" y="5429250"/>
            <a:ext cx="3166529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DOCX generation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711200" y="5754370"/>
            <a:ext cx="3166529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Instruction-set documents with style preservation and template-based output.</a:t>
            </a:r>
          </a:p>
        </p:txBody>
      </p:sp>
      <p:sp>
        <p:nvSpPr>
          <p:cNvPr id="7" name="Rectangle 7"/>
          <p:cNvSpPr/>
          <p:nvPr/>
        </p:nvSpPr>
        <p:spPr>
          <a:xfrm xmlns:a="http://schemas.openxmlformats.org/drawingml/2006/main">
            <a:off x="508000" y="6197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91"/>
          </a:solidFill>
          <a:ln xmlns:a="http://schemas.openxmlformats.org/drawingml/2006/main">
            <a:noFill/>
          </a:ln>
        </p:spPr>
      </p:sp>
      <p:sp>
        <p:nvSpPr>
          <p:cNvPr id="8" name="Container 8"/>
          <p:cNvSpPr/>
          <p:nvPr/>
        </p:nvSpPr>
        <p:spPr>
          <a:xfrm xmlns:a="http://schemas.openxmlformats.org/drawingml/2006/main">
            <a:off x="4309529" y="508000"/>
            <a:ext cx="3572929" cy="5689600"/>
          </a:xfrm>
          <a:prstGeom xmlns:a="http://schemas.openxmlformats.org/drawingml/2006/main" prst="roundRect">
            <a:avLst>
              <a:gd name="adj1" fmla="val 2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pic>
        <p:nvPicPr>
          <p:cNvPr id="9" name="Image 9"/>
          <p:cNvPicPr/>
          <p:nvPr/>
        </p:nvPicPr>
        <p:blipFill>
          <a:blip xmlns:r="http://schemas.openxmlformats.org/officeDocument/2006/relationships" xmlns:a="http://schemas.openxmlformats.org/drawingml/2006/main" r:embed="R81bc09010d5a42ef"/>
          <a:srcRect xmlns:a="http://schemas.openxmlformats.org/drawingml/2006/main" l="21602" t="0" r="21602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309529" y="508000"/>
            <a:ext cx="3572929" cy="4718050"/>
          </a:xfrm>
          <a:prstGeom xmlns:a="http://schemas.openxmlformats.org/drawingml/2006/main" prst="rect">
            <a:avLst/>
          </a:prstGeom>
        </p:spPr>
      </p:pic>
      <p:sp>
        <p:nvSpPr>
          <p:cNvPr id="10" name="Text 10"/>
          <p:cNvSpPr/>
          <p:nvPr/>
        </p:nvSpPr>
        <p:spPr>
          <a:xfrm xmlns:a="http://schemas.openxmlformats.org/drawingml/2006/main">
            <a:off x="4512729" y="5429250"/>
            <a:ext cx="3166529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PPTX deck building</a:t>
            </a:r>
          </a:p>
        </p:txBody>
      </p:sp>
      <p:sp>
        <p:nvSpPr>
          <p:cNvPr id="11" name="Text 11"/>
          <p:cNvSpPr/>
          <p:nvPr/>
        </p:nvSpPr>
        <p:spPr>
          <a:xfrm xmlns:a="http://schemas.openxmlformats.org/drawingml/2006/main">
            <a:off x="4512729" y="5754370"/>
            <a:ext cx="3166529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From-scratch beautiful decks via JSON vocabulary. Exact Typst preview parity.</a:t>
            </a:r>
          </a:p>
        </p:txBody>
      </p:sp>
      <p:sp>
        <p:nvSpPr>
          <p:cNvPr id="12" name="Rectangle 12"/>
          <p:cNvSpPr/>
          <p:nvPr/>
        </p:nvSpPr>
        <p:spPr>
          <a:xfrm xmlns:a="http://schemas.openxmlformats.org/drawingml/2006/main">
            <a:off x="4309529" y="6197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>
            <a:noFill/>
          </a:ln>
        </p:spPr>
      </p:sp>
      <p:sp>
        <p:nvSpPr>
          <p:cNvPr id="13" name="Container 13"/>
          <p:cNvSpPr/>
          <p:nvPr/>
        </p:nvSpPr>
        <p:spPr>
          <a:xfrm xmlns:a="http://schemas.openxmlformats.org/drawingml/2006/main">
            <a:off x="8111071" y="508000"/>
            <a:ext cx="3572929" cy="5689600"/>
          </a:xfrm>
          <a:prstGeom xmlns:a="http://schemas.openxmlformats.org/drawingml/2006/main" prst="roundRect">
            <a:avLst>
              <a:gd name="adj1" fmla="val 2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pic>
        <p:nvPicPr>
          <p:cNvPr id="14" name="Image 14"/>
          <p:cNvPicPr/>
          <p:nvPr/>
        </p:nvPicPr>
        <p:blipFill>
          <a:blip xmlns:r="http://schemas.openxmlformats.org/officeDocument/2006/relationships" xmlns:a="http://schemas.openxmlformats.org/drawingml/2006/main" r:embed="R2077bce80b2d4bcd"/>
          <a:srcRect xmlns:a="http://schemas.openxmlformats.org/drawingml/2006/main" l="21602" t="0" r="21602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111071" y="508000"/>
            <a:ext cx="3572929" cy="4718050"/>
          </a:xfrm>
          <a:prstGeom xmlns:a="http://schemas.openxmlformats.org/drawingml/2006/main" prst="rect">
            <a:avLst/>
          </a:prstGeom>
        </p:spPr>
      </p:pic>
      <p:sp>
        <p:nvSpPr>
          <p:cNvPr id="15" name="Text 15"/>
          <p:cNvSpPr/>
          <p:nvPr/>
        </p:nvSpPr>
        <p:spPr>
          <a:xfrm xmlns:a="http://schemas.openxmlformats.org/drawingml/2006/main">
            <a:off x="8314271" y="5429250"/>
            <a:ext cx="3166529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XLSX spreadsheets</a:t>
            </a:r>
          </a:p>
        </p:txBody>
      </p:sp>
      <p:sp>
        <p:nvSpPr>
          <p:cNvPr id="16" name="Text 16"/>
          <p:cNvSpPr/>
          <p:nvPr/>
        </p:nvSpPr>
        <p:spPr>
          <a:xfrm xmlns:a="http://schemas.openxmlformats.org/drawingml/2006/main">
            <a:off x="8314271" y="5754370"/>
            <a:ext cx="3166529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Tabular data via builder pattern with variable support and formula injection.</a:t>
            </a:r>
          </a:p>
        </p:txBody>
      </p:sp>
      <p:sp>
        <p:nvSpPr>
          <p:cNvPr id="17" name="Rectangle 17"/>
          <p:cNvSpPr/>
          <p:nvPr/>
        </p:nvSpPr>
        <p:spPr>
          <a:xfrm xmlns:a="http://schemas.openxmlformats.org/drawingml/2006/main">
            <a:off x="8111071" y="6197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A6"/>
          </a:solidFill>
          <a:ln xmlns:a="http://schemas.openxmlformats.org/drawingml/2006/main">
            <a:noFill/>
          </a:ln>
        </p:spPr>
      </p:sp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508000" y="508000"/>
            <a:ext cx="111760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3400">
                <a:solidFill>
                  <a:srgbClr val="1A1A1A"/>
                </a:solidFill>
              </a:rPr>
              <a:t>Creation vs editing — two paths, one engine</a:t>
            </a:r>
          </a:p>
        </p:txBody>
      </p:sp>
      <p:sp>
        <p:nvSpPr>
          <p:cNvPr id="4" name="Container 4"/>
          <p:cNvSpPr/>
          <p:nvPr/>
        </p:nvSpPr>
        <p:spPr>
          <a:xfrm xmlns:a="http://schemas.openxmlformats.org/drawingml/2006/main">
            <a:off x="508000" y="1294130"/>
            <a:ext cx="5486400" cy="5055870"/>
          </a:xfrm>
          <a:prstGeom xmlns:a="http://schemas.openxmlformats.org/drawingml/2006/main" prst="roundRect">
            <a:avLst>
              <a:gd name="adj1" fmla="val 20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711200" y="1497330"/>
            <a:ext cx="5080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Path A: Edit existing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711200" y="1822450"/>
            <a:ext cx="50800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Instruction-based mutation</a:t>
            </a:r>
          </a:p>
        </p:txBody>
      </p:sp>
      <p:sp>
        <p:nvSpPr>
          <p:cNvPr id="7" name="Text 7"/>
          <p:cNvSpPr/>
          <p:nvPr/>
        </p:nvSpPr>
        <p:spPr>
          <a:xfrm xmlns:a="http://schemas.openxmlformats.org/drawingml/2006/main">
            <a:off x="711200" y="2113280"/>
            <a:ext cx="5080000" cy="403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Open any PPTX/DOCX. Replace text with fit-checked overflow. Swap images with fill/crop/contain. Extract brand profiles. Non-destructive style preservation. Every edit is an instruction object — replayable, auditable, undoable.</a:t>
            </a:r>
          </a:p>
        </p:txBody>
      </p:sp>
      <p:sp>
        <p:nvSpPr>
          <p:cNvPr id="8" name="Container 8"/>
          <p:cNvSpPr/>
          <p:nvPr/>
        </p:nvSpPr>
        <p:spPr>
          <a:xfrm xmlns:a="http://schemas.openxmlformats.org/drawingml/2006/main">
            <a:off x="6197600" y="1294130"/>
            <a:ext cx="5486400" cy="5055870"/>
          </a:xfrm>
          <a:prstGeom xmlns:a="http://schemas.openxmlformats.org/drawingml/2006/main" prst="roundRect">
            <a:avLst>
              <a:gd name="adj1" fmla="val 20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9" name="Text 9"/>
          <p:cNvSpPr/>
          <p:nvPr/>
        </p:nvSpPr>
        <p:spPr>
          <a:xfrm xmlns:a="http://schemas.openxmlformats.org/drawingml/2006/main">
            <a:off x="6400800" y="1497330"/>
            <a:ext cx="5080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Path B: Generate from scratch</a:t>
            </a:r>
          </a:p>
        </p:txBody>
      </p:sp>
      <p:sp>
        <p:nvSpPr>
          <p:cNvPr id="10" name="Text 10"/>
          <p:cNvSpPr/>
          <p:nvPr/>
        </p:nvSpPr>
        <p:spPr>
          <a:xfrm xmlns:a="http://schemas.openxmlformats.org/drawingml/2006/main">
            <a:off x="6400800" y="1822450"/>
            <a:ext cx="50800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Declarative JSON vocabulary</a:t>
            </a:r>
          </a:p>
        </p:txBody>
      </p:sp>
      <p:sp>
        <p:nvSpPr>
          <p:cNvPr id="11" name="Text 11"/>
          <p:cNvSpPr/>
          <p:nvPr/>
        </p:nvSpPr>
        <p:spPr>
          <a:xfrm xmlns:a="http://schemas.openxmlformats.org/drawingml/2006/main">
            <a:off x="6400800" y="2113280"/>
            <a:ext cx="5080000" cy="403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No template file required. Strict JSON Schema with loud, actionable validation. AI-consumable: 12 concepts, ~200 tokens in a prompt. Exact Typst preview by construction — the layout pass is shared.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508000" y="508000"/>
            <a:ext cx="111760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3400">
                <a:solidFill>
                  <a:srgbClr val="1A1A1A"/>
                </a:solidFill>
              </a:rPr>
              <a:t>Technology stack</a:t>
            </a:r>
          </a:p>
        </p:txBody>
      </p:sp>
      <p:sp>
        <p:nvSpPr>
          <p:cNvPr id="4" name="Container 4"/>
          <p:cNvSpPr/>
          <p:nvPr/>
        </p:nvSpPr>
        <p:spPr>
          <a:xfrm xmlns:a="http://schemas.openxmlformats.org/drawingml/2006/main">
            <a:off x="508000" y="1294130"/>
            <a:ext cx="11176000" cy="39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91"/>
          </a:solidFill>
          <a:ln xmlns:a="http://schemas.openxmlformats.org/drawingml/2006/main">
            <a:noFill/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609600" y="1370330"/>
            <a:ext cx="2590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 b="1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3403600" y="1370330"/>
            <a:ext cx="3987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 b="1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7" name="Text 7"/>
          <p:cNvSpPr/>
          <p:nvPr/>
        </p:nvSpPr>
        <p:spPr>
          <a:xfrm xmlns:a="http://schemas.openxmlformats.org/drawingml/2006/main">
            <a:off x="7594600" y="1370330"/>
            <a:ext cx="3987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8" name="Text 8"/>
          <p:cNvSpPr/>
          <p:nvPr/>
        </p:nvSpPr>
        <p:spPr>
          <a:xfrm xmlns:a="http://schemas.openxmlformats.org/drawingml/2006/main">
            <a:off x="609600" y="1762760"/>
            <a:ext cx="2590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Runtime</a:t>
            </a:r>
          </a:p>
        </p:txBody>
      </p:sp>
      <p:sp>
        <p:nvSpPr>
          <p:cNvPr id="9" name="Text 9"/>
          <p:cNvSpPr/>
          <p:nvPr/>
        </p:nvSpPr>
        <p:spPr>
          <a:xfrm xmlns:a="http://schemas.openxmlformats.org/drawingml/2006/main">
            <a:off x="3403600" y="1762760"/>
            <a:ext cx="3987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.NET 9 · C# 12</a:t>
            </a:r>
          </a:p>
        </p:txBody>
      </p:sp>
      <p:sp>
        <p:nvSpPr>
          <p:cNvPr id="10" name="Text 10"/>
          <p:cNvSpPr/>
          <p:nvPr/>
        </p:nvSpPr>
        <p:spPr>
          <a:xfrm xmlns:a="http://schemas.openxmlformats.org/drawingml/2006/main">
            <a:off x="7594600" y="1762760"/>
            <a:ext cx="3987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Primary application code</a:t>
            </a:r>
          </a:p>
        </p:txBody>
      </p:sp>
      <p:sp>
        <p:nvSpPr>
          <p:cNvPr id="11" name="Text 11"/>
          <p:cNvSpPr/>
          <p:nvPr/>
        </p:nvSpPr>
        <p:spPr>
          <a:xfrm xmlns:a="http://schemas.openxmlformats.org/drawingml/2006/main">
            <a:off x="609600" y="2155190"/>
            <a:ext cx="2590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OOXML</a:t>
            </a:r>
          </a:p>
        </p:txBody>
      </p:sp>
      <p:sp>
        <p:nvSpPr>
          <p:cNvPr id="12" name="Text 12"/>
          <p:cNvSpPr/>
          <p:nvPr/>
        </p:nvSpPr>
        <p:spPr>
          <a:xfrm xmlns:a="http://schemas.openxmlformats.org/drawingml/2006/main">
            <a:off x="3403600" y="2155190"/>
            <a:ext cx="3987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DocumentFormat.OpenXml SDK</a:t>
            </a:r>
          </a:p>
        </p:txBody>
      </p:sp>
      <p:sp>
        <p:nvSpPr>
          <p:cNvPr id="13" name="Text 13"/>
          <p:cNvSpPr/>
          <p:nvPr/>
        </p:nvSpPr>
        <p:spPr>
          <a:xfrm xmlns:a="http://schemas.openxmlformats.org/drawingml/2006/main">
            <a:off x="7594600" y="2155190"/>
            <a:ext cx="3987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DOCX, PPTX, XLSX read/write</a:t>
            </a:r>
          </a:p>
        </p:txBody>
      </p:sp>
      <p:sp>
        <p:nvSpPr>
          <p:cNvPr id="14" name="Text 14"/>
          <p:cNvSpPr/>
          <p:nvPr/>
        </p:nvSpPr>
        <p:spPr>
          <a:xfrm xmlns:a="http://schemas.openxmlformats.org/drawingml/2006/main">
            <a:off x="609600" y="2547620"/>
            <a:ext cx="2590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Rendering</a:t>
            </a:r>
          </a:p>
        </p:txBody>
      </p:sp>
      <p:sp>
        <p:nvSpPr>
          <p:cNvPr id="15" name="Text 15"/>
          <p:cNvSpPr/>
          <p:nvPr/>
        </p:nvSpPr>
        <p:spPr>
          <a:xfrm xmlns:a="http://schemas.openxmlformats.org/drawingml/2006/main">
            <a:off x="3403600" y="2547620"/>
            <a:ext cx="3987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TypstBridge · typstsharp</a:t>
            </a:r>
          </a:p>
        </p:txBody>
      </p:sp>
      <p:sp>
        <p:nvSpPr>
          <p:cNvPr id="16" name="Text 16"/>
          <p:cNvSpPr/>
          <p:nvPr/>
        </p:nvSpPr>
        <p:spPr>
          <a:xfrm xmlns:a="http://schemas.openxmlformats.org/drawingml/2006/main">
            <a:off x="7594600" y="2547620"/>
            <a:ext cx="3987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PPTX → PDF / PNG / SVG</a:t>
            </a:r>
          </a:p>
        </p:txBody>
      </p:sp>
      <p:sp>
        <p:nvSpPr>
          <p:cNvPr id="17" name="Text 17"/>
          <p:cNvSpPr/>
          <p:nvPr/>
        </p:nvSpPr>
        <p:spPr>
          <a:xfrm xmlns:a="http://schemas.openxmlformats.org/drawingml/2006/main">
            <a:off x="609600" y="2940050"/>
            <a:ext cx="2590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Serialization</a:t>
            </a:r>
          </a:p>
        </p:txBody>
      </p:sp>
      <p:sp>
        <p:nvSpPr>
          <p:cNvPr id="18" name="Text 18"/>
          <p:cNvSpPr/>
          <p:nvPr/>
        </p:nvSpPr>
        <p:spPr>
          <a:xfrm xmlns:a="http://schemas.openxmlformats.org/drawingml/2006/main">
            <a:off x="3403600" y="2940050"/>
            <a:ext cx="3987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System.Text.Json · YamlDotNet</a:t>
            </a:r>
          </a:p>
        </p:txBody>
      </p:sp>
      <p:sp>
        <p:nvSpPr>
          <p:cNvPr id="19" name="Text 19"/>
          <p:cNvSpPr/>
          <p:nvPr/>
        </p:nvSpPr>
        <p:spPr>
          <a:xfrm xmlns:a="http://schemas.openxmlformats.org/drawingml/2006/main">
            <a:off x="7594600" y="2940050"/>
            <a:ext cx="3987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Instruction documents</a:t>
            </a:r>
          </a:p>
        </p:txBody>
      </p:sp>
      <p:sp>
        <p:nvSpPr>
          <p:cNvPr id="20" name="Text 20"/>
          <p:cNvSpPr/>
          <p:nvPr/>
        </p:nvSpPr>
        <p:spPr>
          <a:xfrm xmlns:a="http://schemas.openxmlformats.org/drawingml/2006/main">
            <a:off x="609600" y="3332480"/>
            <a:ext cx="2590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CLI</a:t>
            </a:r>
          </a:p>
        </p:txBody>
      </p:sp>
      <p:sp>
        <p:nvSpPr>
          <p:cNvPr id="21" name="Text 21"/>
          <p:cNvSpPr/>
          <p:nvPr/>
        </p:nvSpPr>
        <p:spPr>
          <a:xfrm xmlns:a="http://schemas.openxmlformats.org/drawingml/2006/main">
            <a:off x="3403600" y="3332480"/>
            <a:ext cx="3987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Spectre.Console</a:t>
            </a:r>
          </a:p>
        </p:txBody>
      </p:sp>
      <p:sp>
        <p:nvSpPr>
          <p:cNvPr id="22" name="Text 22"/>
          <p:cNvSpPr/>
          <p:nvPr/>
        </p:nvSpPr>
        <p:spPr>
          <a:xfrm xmlns:a="http://schemas.openxmlformats.org/drawingml/2006/main">
            <a:off x="7594600" y="3332480"/>
            <a:ext cx="3987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Rich terminal experience</a:t>
            </a:r>
          </a:p>
        </p:txBody>
      </p:sp>
      <p:sp>
        <p:nvSpPr>
          <p:cNvPr id="23" name="Text 23"/>
          <p:cNvSpPr/>
          <p:nvPr/>
        </p:nvSpPr>
        <p:spPr>
          <a:xfrm xmlns:a="http://schemas.openxmlformats.org/drawingml/2006/main">
            <a:off x="609600" y="3724910"/>
            <a:ext cx="2590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API</a:t>
            </a:r>
          </a:p>
        </p:txBody>
      </p:sp>
      <p:sp>
        <p:nvSpPr>
          <p:cNvPr id="24" name="Text 24"/>
          <p:cNvSpPr/>
          <p:nvPr/>
        </p:nvSpPr>
        <p:spPr>
          <a:xfrm xmlns:a="http://schemas.openxmlformats.org/drawingml/2006/main">
            <a:off x="3403600" y="3724910"/>
            <a:ext cx="3987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ASP.NET Core · MCP stdio</a:t>
            </a:r>
          </a:p>
        </p:txBody>
      </p:sp>
      <p:sp>
        <p:nvSpPr>
          <p:cNvPr id="25" name="Text 25"/>
          <p:cNvSpPr/>
          <p:nvPr/>
        </p:nvSpPr>
        <p:spPr>
          <a:xfrm xmlns:a="http://schemas.openxmlformats.org/drawingml/2006/main">
            <a:off x="7594600" y="3724910"/>
            <a:ext cx="3987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Deck sessions + LLM tools</a:t>
            </a:r>
          </a:p>
        </p:txBody>
      </p:sp>
      <p:sp>
        <p:nvSpPr>
          <p:cNvPr id="26" name="Text 26"/>
          <p:cNvSpPr/>
          <p:nvPr/>
        </p:nvSpPr>
        <p:spPr>
          <a:xfrm xmlns:a="http://schemas.openxmlformats.org/drawingml/2006/main">
            <a:off x="609600" y="4117340"/>
            <a:ext cx="2590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Frontend</a:t>
            </a:r>
          </a:p>
        </p:txBody>
      </p:sp>
      <p:sp>
        <p:nvSpPr>
          <p:cNvPr id="27" name="Text 27"/>
          <p:cNvSpPr/>
          <p:nvPr/>
        </p:nvSpPr>
        <p:spPr>
          <a:xfrm xmlns:a="http://schemas.openxmlformats.org/drawingml/2006/main">
            <a:off x="3403600" y="4117340"/>
            <a:ext cx="3987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Vite · Tailwind CSS</a:t>
            </a:r>
          </a:p>
        </p:txBody>
      </p:sp>
      <p:sp>
        <p:nvSpPr>
          <p:cNvPr id="28" name="Text 28"/>
          <p:cNvSpPr/>
          <p:nvPr/>
        </p:nvSpPr>
        <p:spPr>
          <a:xfrm xmlns:a="http://schemas.openxmlformats.org/drawingml/2006/main">
            <a:off x="7594600" y="4117340"/>
            <a:ext cx="3987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Web deck editor</a:t>
            </a:r>
          </a:p>
        </p:txBody>
      </p:sp>
      <p:sp>
        <p:nvSpPr>
          <p:cNvPr id="29" name="Text 29"/>
          <p:cNvSpPr/>
          <p:nvPr/>
        </p:nvSpPr>
        <p:spPr>
          <a:xfrm xmlns:a="http://schemas.openxmlformats.org/drawingml/2006/main">
            <a:off x="609600" y="4509770"/>
            <a:ext cx="2590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Testing</a:t>
            </a:r>
          </a:p>
        </p:txBody>
      </p:sp>
      <p:sp>
        <p:nvSpPr>
          <p:cNvPr id="30" name="Text 30"/>
          <p:cNvSpPr/>
          <p:nvPr/>
        </p:nvSpPr>
        <p:spPr>
          <a:xfrm xmlns:a="http://schemas.openxmlformats.org/drawingml/2006/main">
            <a:off x="3403600" y="4509770"/>
            <a:ext cx="3987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xUnit · visual-diff</a:t>
            </a:r>
          </a:p>
        </p:txBody>
      </p:sp>
      <p:sp>
        <p:nvSpPr>
          <p:cNvPr id="31" name="Text 31"/>
          <p:cNvSpPr/>
          <p:nvPr/>
        </p:nvSpPr>
        <p:spPr>
          <a:xfrm xmlns:a="http://schemas.openxmlformats.org/drawingml/2006/main">
            <a:off x="7594600" y="4509770"/>
            <a:ext cx="3987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1,217 tests, RMSE parity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Line 3"/>
          <p:cNvSpPr/>
          <p:nvPr/>
        </p:nvSpPr>
        <p:spPr>
          <a:xfrm xmlns:a="http://schemas.openxmlformats.org/drawingml/2006/main">
            <a:off x="508000" y="4879340"/>
            <a:ext cx="111760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6B00"/>
            </a:solidFill>
          </a:ln>
        </p:spPr>
      </p:sp>
      <p:sp>
        <p:nvSpPr>
          <p:cNvPr id="4" name="Container 4"/>
          <p:cNvSpPr/>
          <p:nvPr/>
        </p:nvSpPr>
        <p:spPr>
          <a:xfrm xmlns:a="http://schemas.openxmlformats.org/drawingml/2006/main">
            <a:off x="508000" y="5095240"/>
            <a:ext cx="3657600" cy="1254760"/>
          </a:xfrm>
          <a:prstGeom xmlns:a="http://schemas.openxmlformats.org/drawingml/2006/main" prst="roundRect">
            <a:avLst>
              <a:gd name="adj1" fmla="val 8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711200" y="5298440"/>
            <a:ext cx="32512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3400" b="1">
                <a:solidFill>
                  <a:srgbClr val="0B3D91"/>
                </a:solidFill>
              </a:rPr>
              <a:t>02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711200" y="5906770"/>
            <a:ext cx="3251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8A94A6"/>
                </a:solidFill>
              </a:rPr>
              <a:t>ARCHITECTURE</a:t>
            </a:r>
          </a:p>
        </p:txBody>
      </p:sp>
      <p:sp>
        <p:nvSpPr>
          <p:cNvPr id="7" name="Text 7"/>
          <p:cNvSpPr/>
          <p:nvPr/>
        </p:nvSpPr>
        <p:spPr>
          <a:xfrm xmlns:a="http://schemas.openxmlformats.org/drawingml/2006/main">
            <a:off x="4368800" y="5095240"/>
            <a:ext cx="73152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3400">
                <a:solidFill>
                  <a:srgbClr val="1A1A1A"/>
                </a:solidFill>
              </a:rPr>
              <a:t>The generation pipeline</a:t>
            </a:r>
          </a:p>
        </p:txBody>
      </p:sp>
      <p:sp>
        <p:nvSpPr>
          <p:cNvPr id="8" name="Text 8"/>
          <p:cNvSpPr/>
          <p:nvPr/>
        </p:nvSpPr>
        <p:spPr>
          <a:xfrm xmlns:a="http://schemas.openxmlformats.org/drawingml/2006/main">
            <a:off x="4368800" y="5728970"/>
            <a:ext cx="7315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JSON → Parse → Expand → Layout → Emit → PPTX + Preview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>
            <a:noFill/>
          </a:ln>
        </p:spPr>
      </p:sp>
      <p:sp>
        <p:nvSpPr>
          <p:cNvPr id="3" name="Container 3"/>
          <p:cNvSpPr/>
          <p:nvPr/>
        </p:nvSpPr>
        <p:spPr>
          <a:xfrm xmlns:a="http://schemas.openxmlformats.org/drawingml/2006/main">
            <a:off x="508000" y="508000"/>
            <a:ext cx="2660650" cy="5842000"/>
          </a:xfrm>
          <a:prstGeom xmlns:a="http://schemas.openxmlformats.org/drawingml/2006/main" prst="roundRect">
            <a:avLst>
              <a:gd name="adj1" fmla="val 3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4" name="Text 4"/>
          <p:cNvSpPr/>
          <p:nvPr/>
        </p:nvSpPr>
        <p:spPr>
          <a:xfrm xmlns:a="http://schemas.openxmlformats.org/drawingml/2006/main">
            <a:off x="711200" y="711200"/>
            <a:ext cx="225425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1. Parse</a:t>
            </a:r>
          </a:p>
        </p:txBody>
      </p:sp>
      <p:sp>
        <p:nvSpPr>
          <p:cNvPr id="5" name="Text 5"/>
          <p:cNvSpPr/>
          <p:nvPr/>
        </p:nvSpPr>
        <p:spPr>
          <a:xfrm xmlns:a="http://schemas.openxmlformats.org/drawingml/2006/main">
            <a:off x="711200" y="1036320"/>
            <a:ext cx="22542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JSON Schema + Validator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711200" y="1327150"/>
            <a:ext cx="2254250" cy="481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Single-pass System.Text.Json walker. 53 adversarial rejection cases. CSS-isms, typos, percentages all caught with path + 'Did you mean…?' suggestions.</a:t>
            </a:r>
          </a:p>
        </p:txBody>
      </p:sp>
      <p:sp>
        <p:nvSpPr>
          <p:cNvPr id="7" name="Container 7"/>
          <p:cNvSpPr/>
          <p:nvPr/>
        </p:nvSpPr>
        <p:spPr>
          <a:xfrm xmlns:a="http://schemas.openxmlformats.org/drawingml/2006/main">
            <a:off x="3346450" y="508000"/>
            <a:ext cx="2660650" cy="5842000"/>
          </a:xfrm>
          <a:prstGeom xmlns:a="http://schemas.openxmlformats.org/drawingml/2006/main" prst="roundRect">
            <a:avLst>
              <a:gd name="adj1" fmla="val 3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8" name="Text 8"/>
          <p:cNvSpPr/>
          <p:nvPr/>
        </p:nvSpPr>
        <p:spPr>
          <a:xfrm xmlns:a="http://schemas.openxmlformats.org/drawingml/2006/main">
            <a:off x="3549650" y="711200"/>
            <a:ext cx="225425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2. Expand</a:t>
            </a:r>
          </a:p>
        </p:txBody>
      </p:sp>
      <p:sp>
        <p:nvSpPr>
          <p:cNvPr id="9" name="Text 9"/>
          <p:cNvSpPr/>
          <p:nvPr/>
        </p:nvSpPr>
        <p:spPr>
          <a:xfrm xmlns:a="http://schemas.openxmlformats.org/drawingml/2006/main">
            <a:off x="3549650" y="1036320"/>
            <a:ext cx="22542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Archetypes + Components</a:t>
            </a:r>
          </a:p>
        </p:txBody>
      </p:sp>
      <p:sp>
        <p:nvSpPr>
          <p:cNvPr id="10" name="Text 10"/>
          <p:cNvSpPr/>
          <p:nvPr/>
        </p:nvSpPr>
        <p:spPr>
          <a:xfrm xmlns:a="http://schemas.openxmlformats.org/drawingml/2006/main">
            <a:off x="3549650" y="1327150"/>
            <a:ext cx="2254250" cy="481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5 archetype slide types, 8 prebuilt components. Archetypes compose components, components emit primitives. Never a second layout system.</a:t>
            </a:r>
          </a:p>
        </p:txBody>
      </p:sp>
      <p:sp>
        <p:nvSpPr>
          <p:cNvPr id="11" name="Container 11"/>
          <p:cNvSpPr/>
          <p:nvPr/>
        </p:nvSpPr>
        <p:spPr>
          <a:xfrm xmlns:a="http://schemas.openxmlformats.org/drawingml/2006/main">
            <a:off x="6184900" y="508000"/>
            <a:ext cx="2660650" cy="5842000"/>
          </a:xfrm>
          <a:prstGeom xmlns:a="http://schemas.openxmlformats.org/drawingml/2006/main" prst="roundRect">
            <a:avLst>
              <a:gd name="adj1" fmla="val 3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2" name="Text 12"/>
          <p:cNvSpPr/>
          <p:nvPr/>
        </p:nvSpPr>
        <p:spPr>
          <a:xfrm xmlns:a="http://schemas.openxmlformats.org/drawingml/2006/main">
            <a:off x="6388100" y="711200"/>
            <a:ext cx="225425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3. Layout</a:t>
            </a:r>
          </a:p>
        </p:txBody>
      </p:sp>
      <p:sp>
        <p:nvSpPr>
          <p:cNvPr id="13" name="Text 13"/>
          <p:cNvSpPr/>
          <p:nvPr/>
        </p:nvSpPr>
        <p:spPr>
          <a:xfrm xmlns:a="http://schemas.openxmlformats.org/drawingml/2006/main">
            <a:off x="6388100" y="1036320"/>
            <a:ext cx="22542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Pure C# resolver</a:t>
            </a:r>
          </a:p>
        </p:txBody>
      </p:sp>
      <p:sp>
        <p:nvSpPr>
          <p:cNvPr id="14" name="Text 14"/>
          <p:cNvSpPr/>
          <p:nvPr/>
        </p:nvSpPr>
        <p:spPr>
          <a:xfrm xmlns:a="http://schemas.openxmlformats.org/drawingml/2006/main">
            <a:off x="6388100" y="1327150"/>
            <a:ext cx="2254250" cy="481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Row, column, grid. 5 justify modes. Grow/aspect/padding. Text measurement with shrink/error overflow. Zero OOXML or Typst imports — resolved once.</a:t>
            </a:r>
          </a:p>
        </p:txBody>
      </p:sp>
      <p:sp>
        <p:nvSpPr>
          <p:cNvPr id="15" name="Container 15"/>
          <p:cNvSpPr/>
          <p:nvPr/>
        </p:nvSpPr>
        <p:spPr>
          <a:xfrm xmlns:a="http://schemas.openxmlformats.org/drawingml/2006/main">
            <a:off x="9023350" y="508000"/>
            <a:ext cx="2660650" cy="5842000"/>
          </a:xfrm>
          <a:prstGeom xmlns:a="http://schemas.openxmlformats.org/drawingml/2006/main" prst="roundRect">
            <a:avLst>
              <a:gd name="adj1" fmla="val 3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6" name="Text 16"/>
          <p:cNvSpPr/>
          <p:nvPr/>
        </p:nvSpPr>
        <p:spPr>
          <a:xfrm xmlns:a="http://schemas.openxmlformats.org/drawingml/2006/main">
            <a:off x="9226550" y="711200"/>
            <a:ext cx="225425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4. Emit</a:t>
            </a:r>
          </a:p>
        </p:txBody>
      </p:sp>
      <p:sp>
        <p:nvSpPr>
          <p:cNvPr id="17" name="Text 17"/>
          <p:cNvSpPr/>
          <p:nvPr/>
        </p:nvSpPr>
        <p:spPr>
          <a:xfrm xmlns:a="http://schemas.openxmlformats.org/drawingml/2006/main">
            <a:off x="9226550" y="1036320"/>
            <a:ext cx="22542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OOXML + Typst dual path</a:t>
            </a:r>
          </a:p>
        </p:txBody>
      </p:sp>
      <p:sp>
        <p:nvSpPr>
          <p:cNvPr id="18" name="Text 18"/>
          <p:cNvSpPr/>
          <p:nvPr/>
        </p:nvSpPr>
        <p:spPr>
          <a:xfrm xmlns:a="http://schemas.openxmlformats.org/drawingml/2006/main">
            <a:off x="9226550" y="1327150"/>
            <a:ext cx="2254250" cy="481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One draw tree, two emitters. OOXML for delivery (native PPTX). Typst for preview (#place-only). Parity via per-primitive RMSE thresholds.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3D91"/>
              </a:gs>
              <a:gs pos="100000">
                <a:srgbClr val="FF6B00"/>
              </a:gs>
            </a:gsLst>
            <a:lin ang="8100000" scaled="1"/>
          </a:gra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1651000" y="1911350"/>
            <a:ext cx="889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2600">
                <a:solidFill>
                  <a:srgbClr val="FFFFFF"/>
                </a:solidFill>
              </a:rPr>
              <a:t>"Layout is resolved exactly once, in C#."</a:t>
            </a:r>
          </a:p>
        </p:txBody>
      </p:sp>
      <p:sp>
        <p:nvSpPr>
          <p:cNvPr id="4" name="Line 4"/>
          <p:cNvSpPr/>
          <p:nvPr/>
        </p:nvSpPr>
        <p:spPr>
          <a:xfrm xmlns:a="http://schemas.openxmlformats.org/drawingml/2006/main">
            <a:off x="5588000" y="2641600"/>
            <a:ext cx="10160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2603500" y="2914650"/>
            <a:ext cx="6985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300">
                <a:solidFill>
                  <a:srgbClr val="FFFFFF"/>
                </a:solidFill>
              </a:rPr>
              <a:t>Typst is a dumb renderer. The draw tree feeds both emitters. No second layout pass.</a:t>
            </a:r>
          </a:p>
        </p:txBody>
      </p:sp>
      <p:sp>
        <p:nvSpPr>
          <p:cNvPr id="6" name="Container 6"/>
          <p:cNvSpPr/>
          <p:nvPr/>
        </p:nvSpPr>
        <p:spPr>
          <a:xfrm xmlns:a="http://schemas.openxmlformats.org/drawingml/2006/main">
            <a:off x="3810000" y="3549650"/>
            <a:ext cx="1905000" cy="1270000"/>
          </a:xfrm>
          <a:prstGeom xmlns:a="http://schemas.openxmlformats.org/drawingml/2006/main" prst="roundRect">
            <a:avLst>
              <a:gd name="adj1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7" name="Text 7"/>
          <p:cNvSpPr/>
          <p:nvPr/>
        </p:nvSpPr>
        <p:spPr>
          <a:xfrm xmlns:a="http://schemas.openxmlformats.org/drawingml/2006/main">
            <a:off x="4013200" y="3752850"/>
            <a:ext cx="149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P4</a:t>
            </a:r>
          </a:p>
        </p:txBody>
      </p:sp>
      <p:sp>
        <p:nvSpPr>
          <p:cNvPr id="8" name="Text 8"/>
          <p:cNvSpPr/>
          <p:nvPr/>
        </p:nvSpPr>
        <p:spPr>
          <a:xfrm xmlns:a="http://schemas.openxmlformats.org/drawingml/2006/main">
            <a:off x="4013200" y="4077970"/>
            <a:ext cx="1498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OOXML emitter</a:t>
            </a:r>
          </a:p>
        </p:txBody>
      </p:sp>
      <p:sp>
        <p:nvSpPr>
          <p:cNvPr id="9" name="Text 9"/>
          <p:cNvSpPr/>
          <p:nvPr/>
        </p:nvSpPr>
        <p:spPr>
          <a:xfrm xmlns:a="http://schemas.openxmlformats.org/drawingml/2006/main">
            <a:off x="4013200" y="4368800"/>
            <a:ext cx="149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67 tests</a:t>
            </a:r>
          </a:p>
        </p:txBody>
      </p:sp>
      <p:sp>
        <p:nvSpPr>
          <p:cNvPr id="10" name="Container 10"/>
          <p:cNvSpPr/>
          <p:nvPr/>
        </p:nvSpPr>
        <p:spPr>
          <a:xfrm xmlns:a="http://schemas.openxmlformats.org/drawingml/2006/main">
            <a:off x="6477000" y="3549650"/>
            <a:ext cx="1905000" cy="1270000"/>
          </a:xfrm>
          <a:prstGeom xmlns:a="http://schemas.openxmlformats.org/drawingml/2006/main" prst="roundRect">
            <a:avLst>
              <a:gd name="adj1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1" name="Text 11"/>
          <p:cNvSpPr/>
          <p:nvPr/>
        </p:nvSpPr>
        <p:spPr>
          <a:xfrm xmlns:a="http://schemas.openxmlformats.org/drawingml/2006/main">
            <a:off x="6680200" y="3752850"/>
            <a:ext cx="149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P5</a:t>
            </a:r>
          </a:p>
        </p:txBody>
      </p:sp>
      <p:sp>
        <p:nvSpPr>
          <p:cNvPr id="12" name="Text 12"/>
          <p:cNvSpPr/>
          <p:nvPr/>
        </p:nvSpPr>
        <p:spPr>
          <a:xfrm xmlns:a="http://schemas.openxmlformats.org/drawingml/2006/main">
            <a:off x="6680200" y="4077970"/>
            <a:ext cx="1498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Typst emitter</a:t>
            </a:r>
          </a:p>
        </p:txBody>
      </p:sp>
      <p:sp>
        <p:nvSpPr>
          <p:cNvPr id="13" name="Text 13"/>
          <p:cNvSpPr/>
          <p:nvPr/>
        </p:nvSpPr>
        <p:spPr>
          <a:xfrm xmlns:a="http://schemas.openxmlformats.org/drawingml/2006/main">
            <a:off x="6680200" y="4368800"/>
            <a:ext cx="149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31 golden tests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508000" y="508000"/>
            <a:ext cx="111760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3400">
                <a:solidFill>
                  <a:srgbClr val="1A1A1A"/>
                </a:solidFill>
              </a:rPr>
              <a:t>Components — the AI authoring vocabulary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508000" y="1294130"/>
            <a:ext cx="65836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8 prebuilt, token-driven components</a:t>
            </a:r>
          </a:p>
        </p:txBody>
      </p:sp>
      <p:sp>
        <p:nvSpPr>
          <p:cNvPr id="5" name="Ellipse 5"/>
          <p:cNvSpPr/>
          <p:nvPr/>
        </p:nvSpPr>
        <p:spPr>
          <a:xfrm xmlns:a="http://schemas.openxmlformats.org/drawingml/2006/main">
            <a:off x="508000" y="175196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>
            <a:noFill/>
          </a:ln>
        </p:spPr>
      </p:sp>
      <p:sp>
        <p:nvSpPr>
          <p:cNvPr id="6" name="Text 6"/>
          <p:cNvSpPr/>
          <p:nvPr/>
        </p:nvSpPr>
        <p:spPr>
          <a:xfrm xmlns:a="http://schemas.openxmlformats.org/drawingml/2006/main">
            <a:off x="685800" y="1670050"/>
            <a:ext cx="640588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card — title, subtitle, body with palette and font tokens</a:t>
            </a:r>
          </a:p>
        </p:txBody>
      </p:sp>
      <p:sp>
        <p:nvSpPr>
          <p:cNvPr id="7" name="Ellipse 7"/>
          <p:cNvSpPr/>
          <p:nvPr/>
        </p:nvSpPr>
        <p:spPr>
          <a:xfrm xmlns:a="http://schemas.openxmlformats.org/drawingml/2006/main">
            <a:off x="508000" y="209359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>
            <a:noFill/>
          </a:ln>
        </p:spPr>
      </p:sp>
      <p:sp>
        <p:nvSpPr>
          <p:cNvPr id="8" name="Text 8"/>
          <p:cNvSpPr/>
          <p:nvPr/>
        </p:nvSpPr>
        <p:spPr>
          <a:xfrm xmlns:a="http://schemas.openxmlformats.org/drawingml/2006/main">
            <a:off x="685800" y="2011680"/>
            <a:ext cx="640588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kpi — value + label + delta trend indicator</a:t>
            </a:r>
          </a:p>
        </p:txBody>
      </p:sp>
      <p:sp>
        <p:nvSpPr>
          <p:cNvPr id="9" name="Ellipse 9"/>
          <p:cNvSpPr/>
          <p:nvPr/>
        </p:nvSpPr>
        <p:spPr>
          <a:xfrm xmlns:a="http://schemas.openxmlformats.org/drawingml/2006/main">
            <a:off x="508000" y="2435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>
            <a:noFill/>
          </a:ln>
        </p:spPr>
      </p:sp>
      <p:sp>
        <p:nvSpPr>
          <p:cNvPr id="10" name="Text 10"/>
          <p:cNvSpPr/>
          <p:nvPr/>
        </p:nvSpPr>
        <p:spPr>
          <a:xfrm xmlns:a="http://schemas.openxmlformats.org/drawingml/2006/main">
            <a:off x="685800" y="2353310"/>
            <a:ext cx="640588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title_block — kicker, title, subtitle stack</a:t>
            </a:r>
          </a:p>
        </p:txBody>
      </p:sp>
      <p:sp>
        <p:nvSpPr>
          <p:cNvPr id="11" name="Ellipse 11"/>
          <p:cNvSpPr/>
          <p:nvPr/>
        </p:nvSpPr>
        <p:spPr>
          <a:xfrm xmlns:a="http://schemas.openxmlformats.org/drawingml/2006/main">
            <a:off x="508000" y="277685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>
            <a:noFill/>
          </a:ln>
        </p:spPr>
      </p:sp>
      <p:sp>
        <p:nvSpPr>
          <p:cNvPr id="12" name="Text 12"/>
          <p:cNvSpPr/>
          <p:nvPr/>
        </p:nvSpPr>
        <p:spPr>
          <a:xfrm xmlns:a="http://schemas.openxmlformats.org/drawingml/2006/main">
            <a:off x="685800" y="2694940"/>
            <a:ext cx="640588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bullet_list — titled list with item markers</a:t>
            </a:r>
          </a:p>
        </p:txBody>
      </p:sp>
      <p:sp>
        <p:nvSpPr>
          <p:cNvPr id="13" name="Ellipse 13"/>
          <p:cNvSpPr/>
          <p:nvPr/>
        </p:nvSpPr>
        <p:spPr>
          <a:xfrm xmlns:a="http://schemas.openxmlformats.org/drawingml/2006/main">
            <a:off x="508000" y="311848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>
            <a:noFill/>
          </a:ln>
        </p:spPr>
      </p:sp>
      <p:sp>
        <p:nvSpPr>
          <p:cNvPr id="14" name="Text 14"/>
          <p:cNvSpPr/>
          <p:nvPr/>
        </p:nvSpPr>
        <p:spPr>
          <a:xfrm xmlns:a="http://schemas.openxmlformats.org/drawingml/2006/main">
            <a:off x="685800" y="3036570"/>
            <a:ext cx="640588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image_card — image with caption, overlay, and fit modes</a:t>
            </a:r>
          </a:p>
        </p:txBody>
      </p:sp>
      <p:sp>
        <p:nvSpPr>
          <p:cNvPr id="15" name="Ellipse 15"/>
          <p:cNvSpPr/>
          <p:nvPr/>
        </p:nvSpPr>
        <p:spPr>
          <a:xfrm xmlns:a="http://schemas.openxmlformats.org/drawingml/2006/main">
            <a:off x="508000" y="346011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>
            <a:noFill/>
          </a:ln>
        </p:spPr>
      </p:sp>
      <p:sp>
        <p:nvSpPr>
          <p:cNvPr id="16" name="Text 16"/>
          <p:cNvSpPr/>
          <p:nvPr/>
        </p:nvSpPr>
        <p:spPr>
          <a:xfrm xmlns:a="http://schemas.openxmlformats.org/drawingml/2006/main">
            <a:off x="685800" y="3378200"/>
            <a:ext cx="640588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badge — small colored pill label</a:t>
            </a:r>
          </a:p>
        </p:txBody>
      </p:sp>
      <p:sp>
        <p:nvSpPr>
          <p:cNvPr id="17" name="Ellipse 17"/>
          <p:cNvSpPr/>
          <p:nvPr/>
        </p:nvSpPr>
        <p:spPr>
          <a:xfrm xmlns:a="http://schemas.openxmlformats.org/drawingml/2006/main">
            <a:off x="508000" y="380174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>
            <a:noFill/>
          </a:ln>
        </p:spPr>
      </p:sp>
      <p:sp>
        <p:nvSpPr>
          <p:cNvPr id="18" name="Text 18"/>
          <p:cNvSpPr/>
          <p:nvPr/>
        </p:nvSpPr>
        <p:spPr>
          <a:xfrm xmlns:a="http://schemas.openxmlformats.org/drawingml/2006/main">
            <a:off x="685800" y="3719830"/>
            <a:ext cx="640588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divider — horizontal or vertical rule</a:t>
            </a:r>
          </a:p>
        </p:txBody>
      </p:sp>
      <p:sp>
        <p:nvSpPr>
          <p:cNvPr id="19" name="Ellipse 19"/>
          <p:cNvSpPr/>
          <p:nvPr/>
        </p:nvSpPr>
        <p:spPr>
          <a:xfrm xmlns:a="http://schemas.openxmlformats.org/drawingml/2006/main">
            <a:off x="508000" y="4143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>
            <a:noFill/>
          </a:ln>
        </p:spPr>
      </p:sp>
      <p:sp>
        <p:nvSpPr>
          <p:cNvPr id="20" name="Text 20"/>
          <p:cNvSpPr/>
          <p:nvPr/>
        </p:nvSpPr>
        <p:spPr>
          <a:xfrm xmlns:a="http://schemas.openxmlformats.org/drawingml/2006/main">
            <a:off x="685800" y="4061460"/>
            <a:ext cx="640588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table_block — header, rows, column weights</a:t>
            </a:r>
          </a:p>
        </p:txBody>
      </p:sp>
      <p:sp>
        <p:nvSpPr>
          <p:cNvPr id="21" name="Container 21"/>
          <p:cNvSpPr/>
          <p:nvPr/>
        </p:nvSpPr>
        <p:spPr>
          <a:xfrm xmlns:a="http://schemas.openxmlformats.org/drawingml/2006/main">
            <a:off x="7294880" y="1294130"/>
            <a:ext cx="4389120" cy="5055870"/>
          </a:xfrm>
          <a:prstGeom xmlns:a="http://schemas.openxmlformats.org/drawingml/2006/main" prst="roundRect">
            <a:avLst>
              <a:gd name="adj1" fmla="val 2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22" name="Text 22"/>
          <p:cNvSpPr/>
          <p:nvPr/>
        </p:nvSpPr>
        <p:spPr>
          <a:xfrm xmlns:a="http://schemas.openxmlformats.org/drawingml/2006/main">
            <a:off x="7498080" y="1497330"/>
            <a:ext cx="39827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By design</a:t>
            </a:r>
          </a:p>
        </p:txBody>
      </p:sp>
      <p:sp>
        <p:nvSpPr>
          <p:cNvPr id="23" name="Text 23"/>
          <p:cNvSpPr/>
          <p:nvPr/>
        </p:nvSpPr>
        <p:spPr>
          <a:xfrm xmlns:a="http://schemas.openxmlformats.org/drawingml/2006/main">
            <a:off x="7498080" y="1822450"/>
            <a:ext cx="39827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Components ARE primitives</a:t>
            </a:r>
          </a:p>
        </p:txBody>
      </p:sp>
      <p:sp>
        <p:nvSpPr>
          <p:cNvPr id="24" name="Text 24"/>
          <p:cNvSpPr/>
          <p:nvPr/>
        </p:nvSpPr>
        <p:spPr>
          <a:xfrm xmlns:a="http://schemas.openxmlformats.org/drawingml/2006/main">
            <a:off x="7498080" y="2113280"/>
            <a:ext cx="3982720" cy="403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Every component expands to a pure primitive tree — rect, text, ellipse, line. No direct OOXML. No escape hatches. Enforceable by inspection and enforced by test.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1016000" y="1701800"/>
            <a:ext cx="101600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2800">
                <a:solidFill>
                  <a:srgbClr val="0B3D91"/>
                </a:solidFill>
              </a:rPr>
              <a:t>Geometric primitives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2921000" y="2413000"/>
            <a:ext cx="635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200">
                <a:solidFill>
                  <a:srgbClr val="8A94A6"/>
                </a:solidFill>
              </a:rPr>
              <a:t>Every Tier-1 shape — used decoratively throughout this very deck</a:t>
            </a:r>
          </a:p>
        </p:txBody>
      </p:sp>
      <p:sp>
        <p:nvSpPr>
          <p:cNvPr id="5" name="Rectangle 5"/>
          <p:cNvSpPr/>
          <p:nvPr/>
        </p:nvSpPr>
        <p:spPr>
          <a:xfrm xmlns:a="http://schemas.openxmlformats.org/drawingml/2006/main">
            <a:off x="2336800" y="2870200"/>
            <a:ext cx="1270000" cy="1270000"/>
          </a:xfrm>
          <a:prstGeom xmlns:a="http://schemas.openxmlformats.org/drawingml/2006/main" prst="round2DiagRect">
            <a:avLst>
              <a:gd name="adj1" fmla="val 4000"/>
              <a:gd name="adj2" fmla="val 20000"/>
            </a:avLst>
          </a:prstGeom>
          <a:solidFill xmlns:a="http://schemas.openxmlformats.org/drawingml/2006/main">
            <a:srgbClr val="0B3D91"/>
          </a:solidFill>
          <a:ln xmlns:a="http://schemas.openxmlformats.org/drawingml/2006/main">
            <a:noFill/>
          </a:ln>
        </p:spPr>
      </p:sp>
      <p:sp>
        <p:nvSpPr>
          <p:cNvPr id="6" name="Text 6"/>
          <p:cNvSpPr/>
          <p:nvPr/>
        </p:nvSpPr>
        <p:spPr>
          <a:xfrm xmlns:a="http://schemas.openxmlformats.org/drawingml/2006/main">
            <a:off x="2336800" y="42418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000">
                <a:solidFill>
                  <a:srgbClr val="8A94A6"/>
                </a:solidFill>
              </a:rPr>
              <a:t>rect</a:t>
            </a:r>
          </a:p>
        </p:txBody>
      </p:sp>
      <p:sp>
        <p:nvSpPr>
          <p:cNvPr id="7" name="Ellipse 7"/>
          <p:cNvSpPr/>
          <p:nvPr/>
        </p:nvSpPr>
        <p:spPr>
          <a:xfrm xmlns:a="http://schemas.openxmlformats.org/drawingml/2006/main">
            <a:off x="4419600" y="2870200"/>
            <a:ext cx="1270000" cy="127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>
            <a:noFill/>
          </a:ln>
        </p:spPr>
      </p:sp>
      <p:sp>
        <p:nvSpPr>
          <p:cNvPr id="8" name="Text 8"/>
          <p:cNvSpPr/>
          <p:nvPr/>
        </p:nvSpPr>
        <p:spPr>
          <a:xfrm xmlns:a="http://schemas.openxmlformats.org/drawingml/2006/main">
            <a:off x="4419600" y="42418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000">
                <a:solidFill>
                  <a:srgbClr val="8A94A6"/>
                </a:solidFill>
              </a:rPr>
              <a:t>ellipse</a:t>
            </a:r>
          </a:p>
        </p:txBody>
      </p:sp>
      <p:sp>
        <p:nvSpPr>
          <p:cNvPr id="9" name="Rectangle 9"/>
          <p:cNvSpPr/>
          <p:nvPr/>
        </p:nvSpPr>
        <p:spPr>
          <a:xfrm xmlns:a="http://schemas.openxmlformats.org/drawingml/2006/main">
            <a:off x="6502400" y="2870200"/>
            <a:ext cx="1270000" cy="1270000"/>
          </a:xfrm>
          <a:prstGeom xmlns:a="http://schemas.openxmlformats.org/drawingml/2006/main" prst="roundRect">
            <a:avLst>
              <a:gd name="adj1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0800">
            <a:solidFill>
              <a:srgbClr val="FF6B00"/>
            </a:solidFill>
          </a:ln>
        </p:spPr>
      </p:sp>
      <p:sp>
        <p:nvSpPr>
          <p:cNvPr id="10" name="Text 10"/>
          <p:cNvSpPr/>
          <p:nvPr/>
        </p:nvSpPr>
        <p:spPr>
          <a:xfrm xmlns:a="http://schemas.openxmlformats.org/drawingml/2006/main">
            <a:off x="6502400" y="42418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000">
                <a:solidFill>
                  <a:srgbClr val="8A94A6"/>
                </a:solidFill>
              </a:rPr>
              <a:t>stroke</a:t>
            </a:r>
          </a:p>
        </p:txBody>
      </p:sp>
      <p:sp>
        <p:nvSpPr>
          <p:cNvPr id="11" name="Rectangle 11"/>
          <p:cNvSpPr/>
          <p:nvPr/>
        </p:nvSpPr>
        <p:spPr>
          <a:xfrm xmlns:a="http://schemas.openxmlformats.org/drawingml/2006/main">
            <a:off x="8585200" y="2870200"/>
            <a:ext cx="1270000" cy="1270000"/>
          </a:xfrm>
          <a:prstGeom xmlns:a="http://schemas.openxmlformats.org/drawingml/2006/main" prst="roundRect">
            <a:avLst>
              <a:gd name="adj1" fmla="val 8000"/>
            </a:avLst>
          </a:prstGeom>
          <a:gradFill xmlns:a="http://schemas.openxmlformats.org/drawingml/2006/main">
            <a:gsLst>
              <a:gs pos="0">
                <a:srgbClr val="0B3D91"/>
              </a:gs>
              <a:gs pos="100000">
                <a:srgbClr val="FF6B00"/>
              </a:gs>
            </a:gsLst>
            <a:lin ang="2700000" scaled="1"/>
          </a:gradFill>
          <a:ln xmlns:a="http://schemas.openxmlformats.org/drawingml/2006/main">
            <a:noFill/>
          </a:ln>
        </p:spPr>
      </p:sp>
      <p:sp>
        <p:nvSpPr>
          <p:cNvPr id="12" name="Text 12"/>
          <p:cNvSpPr/>
          <p:nvPr/>
        </p:nvSpPr>
        <p:spPr>
          <a:xfrm xmlns:a="http://schemas.openxmlformats.org/drawingml/2006/main">
            <a:off x="8585200" y="42418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000">
                <a:solidFill>
                  <a:srgbClr val="8A94A6"/>
                </a:solidFill>
              </a:rPr>
              <a:t>gradient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>
            <a:noFill/>
          </a:ln>
        </p:spPr>
      </p:sp>
      <p:sp>
        <p:nvSpPr>
          <p:cNvPr id="3" name="Container 3"/>
          <p:cNvSpPr/>
          <p:nvPr/>
        </p:nvSpPr>
        <p:spPr>
          <a:xfrm xmlns:a="http://schemas.openxmlformats.org/drawingml/2006/main">
            <a:off x="508000" y="508000"/>
            <a:ext cx="3572929" cy="5842000"/>
          </a:xfrm>
          <a:prstGeom xmlns:a="http://schemas.openxmlformats.org/drawingml/2006/main" prst="roundRect">
            <a:avLst>
              <a:gd name="adj1" fmla="val 2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pic>
        <p:nvPicPr>
          <p:cNvPr id="4" name="Image 4"/>
          <p:cNvPicPr/>
          <p:nvPr/>
        </p:nvPicPr>
        <p:blipFill>
          <a:blip xmlns:r="http://schemas.openxmlformats.org/officeDocument/2006/relationships" xmlns:a="http://schemas.openxmlformats.org/drawingml/2006/main" r:embed="Re6dd969a1a854361"/>
          <a:srcRect xmlns:a="http://schemas.openxmlformats.org/drawingml/2006/main" l="22490" t="0" r="22490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08000" y="508000"/>
            <a:ext cx="3572929" cy="4870450"/>
          </a:xfrm>
          <a:prstGeom xmlns:a="http://schemas.openxmlformats.org/drawingml/2006/main" prst="rect">
            <a:avLst/>
          </a:prstGeom>
        </p:spPr>
      </p:pic>
      <p:sp>
        <p:nvSpPr>
          <p:cNvPr id="5" name="Text 5"/>
          <p:cNvSpPr/>
          <p:nvPr/>
        </p:nvSpPr>
        <p:spPr>
          <a:xfrm xmlns:a="http://schemas.openxmlformats.org/drawingml/2006/main">
            <a:off x="711200" y="5581650"/>
            <a:ext cx="3166529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Crop mode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711200" y="5906770"/>
            <a:ext cx="3166529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Center-crop with source rect. Fills container, preserves aspect, crops excess.</a:t>
            </a:r>
          </a:p>
        </p:txBody>
      </p:sp>
      <p:sp>
        <p:nvSpPr>
          <p:cNvPr id="7" name="Container 7"/>
          <p:cNvSpPr/>
          <p:nvPr/>
        </p:nvSpPr>
        <p:spPr>
          <a:xfrm xmlns:a="http://schemas.openxmlformats.org/drawingml/2006/main">
            <a:off x="4309529" y="508000"/>
            <a:ext cx="3572929" cy="5842000"/>
          </a:xfrm>
          <a:prstGeom xmlns:a="http://schemas.openxmlformats.org/drawingml/2006/main" prst="roundRect">
            <a:avLst>
              <a:gd name="adj1" fmla="val 2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pic>
        <p:nvPicPr>
          <p:cNvPr id="8" name="Image 8"/>
          <p:cNvPicPr/>
          <p:nvPr/>
        </p:nvPicPr>
        <p:blipFill>
          <a:blip xmlns:r="http://schemas.openxmlformats.org/officeDocument/2006/relationships" xmlns:a="http://schemas.openxmlformats.org/drawingml/2006/main" r:embed="R907c95b3e863429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309529" y="2496609"/>
            <a:ext cx="3572929" cy="893232"/>
          </a:xfrm>
          <a:prstGeom xmlns:a="http://schemas.openxmlformats.org/drawingml/2006/main" prst="rect">
            <a:avLst/>
          </a:prstGeom>
        </p:spPr>
      </p:pic>
      <p:sp>
        <p:nvSpPr>
          <p:cNvPr id="9" name="Text 9"/>
          <p:cNvSpPr/>
          <p:nvPr/>
        </p:nvSpPr>
        <p:spPr>
          <a:xfrm xmlns:a="http://schemas.openxmlformats.org/drawingml/2006/main">
            <a:off x="4512729" y="5581650"/>
            <a:ext cx="3166529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Contain mode</a:t>
            </a:r>
          </a:p>
        </p:txBody>
      </p:sp>
      <p:sp>
        <p:nvSpPr>
          <p:cNvPr id="10" name="Text 10"/>
          <p:cNvSpPr/>
          <p:nvPr/>
        </p:nvSpPr>
        <p:spPr>
          <a:xfrm xmlns:a="http://schemas.openxmlformats.org/drawingml/2006/main">
            <a:off x="4512729" y="5906770"/>
            <a:ext cx="3166529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Entire image visible, letterboxed. No cropping, no distortion.</a:t>
            </a:r>
          </a:p>
        </p:txBody>
      </p:sp>
      <p:sp>
        <p:nvSpPr>
          <p:cNvPr id="11" name="Container 11"/>
          <p:cNvSpPr/>
          <p:nvPr/>
        </p:nvSpPr>
        <p:spPr>
          <a:xfrm xmlns:a="http://schemas.openxmlformats.org/drawingml/2006/main">
            <a:off x="8111071" y="508000"/>
            <a:ext cx="3572929" cy="5842000"/>
          </a:xfrm>
          <a:prstGeom xmlns:a="http://schemas.openxmlformats.org/drawingml/2006/main" prst="roundRect">
            <a:avLst>
              <a:gd name="adj1" fmla="val 2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pic>
        <p:nvPicPr>
          <p:cNvPr id="12" name="Image 12"/>
          <p:cNvPicPr/>
          <p:nvPr/>
        </p:nvPicPr>
        <p:blipFill>
          <a:blip xmlns:r="http://schemas.openxmlformats.org/officeDocument/2006/relationships" xmlns:a="http://schemas.openxmlformats.org/drawingml/2006/main" r:embed="R424276c9dc164097"/>
          <a:srcRect xmlns:a="http://schemas.openxmlformats.org/drawingml/2006/main" l="40830" t="0" r="40830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111071" y="508000"/>
            <a:ext cx="3572929" cy="4870450"/>
          </a:xfrm>
          <a:prstGeom xmlns:a="http://schemas.openxmlformats.org/drawingml/2006/main" prst="rect">
            <a:avLst/>
          </a:prstGeom>
        </p:spPr>
      </p:pic>
      <p:sp>
        <p:nvSpPr>
          <p:cNvPr id="13" name="Text 13"/>
          <p:cNvSpPr/>
          <p:nvPr/>
        </p:nvSpPr>
        <p:spPr>
          <a:xfrm xmlns:a="http://schemas.openxmlformats.org/drawingml/2006/main">
            <a:off x="8314271" y="5581650"/>
            <a:ext cx="3166529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Fill mode</a:t>
            </a:r>
          </a:p>
        </p:txBody>
      </p:sp>
      <p:sp>
        <p:nvSpPr>
          <p:cNvPr id="14" name="Text 14"/>
          <p:cNvSpPr/>
          <p:nvPr/>
        </p:nvSpPr>
        <p:spPr>
          <a:xfrm xmlns:a="http://schemas.openxmlformats.org/drawingml/2006/main">
            <a:off x="8314271" y="5906770"/>
            <a:ext cx="3166529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Stretches to fill container exactly. Distorts if the aspect ratios differ.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Line 3"/>
          <p:cNvSpPr/>
          <p:nvPr/>
        </p:nvSpPr>
        <p:spPr>
          <a:xfrm xmlns:a="http://schemas.openxmlformats.org/drawingml/2006/main">
            <a:off x="508000" y="4879340"/>
            <a:ext cx="111760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6B00"/>
            </a:solidFill>
          </a:ln>
        </p:spPr>
      </p:sp>
      <p:sp>
        <p:nvSpPr>
          <p:cNvPr id="4" name="Container 4"/>
          <p:cNvSpPr/>
          <p:nvPr/>
        </p:nvSpPr>
        <p:spPr>
          <a:xfrm xmlns:a="http://schemas.openxmlformats.org/drawingml/2006/main">
            <a:off x="508000" y="5095240"/>
            <a:ext cx="3657600" cy="1254760"/>
          </a:xfrm>
          <a:prstGeom xmlns:a="http://schemas.openxmlformats.org/drawingml/2006/main" prst="roundRect">
            <a:avLst>
              <a:gd name="adj1" fmla="val 8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711200" y="5298440"/>
            <a:ext cx="32512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3400" b="1">
                <a:solidFill>
                  <a:srgbClr val="0B3D91"/>
                </a:solidFill>
              </a:rPr>
              <a:t>03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711200" y="5906770"/>
            <a:ext cx="3251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8A94A6"/>
                </a:solidFill>
              </a:rPr>
              <a:t>FEATURES</a:t>
            </a:r>
          </a:p>
        </p:txBody>
      </p:sp>
      <p:sp>
        <p:nvSpPr>
          <p:cNvPr id="7" name="Text 7"/>
          <p:cNvSpPr/>
          <p:nvPr/>
        </p:nvSpPr>
        <p:spPr>
          <a:xfrm xmlns:a="http://schemas.openxmlformats.org/drawingml/2006/main">
            <a:off x="4368800" y="5095240"/>
            <a:ext cx="73152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3400">
                <a:solidFill>
                  <a:srgbClr val="1A1A1A"/>
                </a:solidFill>
              </a:rPr>
              <a:t>Generation power</a:t>
            </a:r>
          </a:p>
        </p:txBody>
      </p:sp>
      <p:sp>
        <p:nvSpPr>
          <p:cNvPr id="8" name="Text 8"/>
          <p:cNvSpPr/>
          <p:nvPr/>
        </p:nvSpPr>
        <p:spPr>
          <a:xfrm xmlns:a="http://schemas.openxmlformats.org/drawingml/2006/main">
            <a:off x="4368800" y="5728970"/>
            <a:ext cx="7315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Brand extraction · Text fitting · Image modes · Archetype slides</a:t>
            </a:r>
          </a:p>
        </p:txBody>
      </p:sp>
    </p:spTree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508000" y="508000"/>
            <a:ext cx="111760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3400">
                <a:solidFill>
                  <a:srgbClr val="1A1A1A"/>
                </a:solidFill>
              </a:rPr>
              <a:t>Smart text and image handling</a:t>
            </a:r>
          </a:p>
        </p:txBody>
      </p:sp>
      <p:sp>
        <p:nvSpPr>
          <p:cNvPr id="4" name="Container 4"/>
          <p:cNvSpPr/>
          <p:nvPr/>
        </p:nvSpPr>
        <p:spPr>
          <a:xfrm xmlns:a="http://schemas.openxmlformats.org/drawingml/2006/main">
            <a:off x="508000" y="1294130"/>
            <a:ext cx="5486400" cy="5055870"/>
          </a:xfrm>
          <a:prstGeom xmlns:a="http://schemas.openxmlformats.org/drawingml/2006/main" prst="roundRect">
            <a:avLst>
              <a:gd name="adj1" fmla="val 20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711200" y="1497330"/>
            <a:ext cx="5080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TextFitService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711200" y="1822450"/>
            <a:ext cx="50800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Shrink, never clip</a:t>
            </a:r>
          </a:p>
        </p:txBody>
      </p:sp>
      <p:sp>
        <p:nvSpPr>
          <p:cNvPr id="7" name="Text 7"/>
          <p:cNvSpPr/>
          <p:nvPr/>
        </p:nvSpPr>
        <p:spPr>
          <a:xfrm xmlns:a="http://schemas.openxmlformats.org/drawingml/2006/main">
            <a:off x="711200" y="2113280"/>
            <a:ext cx="5080000" cy="403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Font metrics-driven text measurement. normAutofit emulation. fontScale ≥ MinScale or loud warning. Overflow policy per container: error, shrink, or clip. Never silently loses content.</a:t>
            </a:r>
          </a:p>
        </p:txBody>
      </p:sp>
      <p:sp>
        <p:nvSpPr>
          <p:cNvPr id="8" name="Container 8"/>
          <p:cNvSpPr/>
          <p:nvPr/>
        </p:nvSpPr>
        <p:spPr>
          <a:xfrm xmlns:a="http://schemas.openxmlformats.org/drawingml/2006/main">
            <a:off x="6197600" y="1294130"/>
            <a:ext cx="5486400" cy="5055870"/>
          </a:xfrm>
          <a:prstGeom xmlns:a="http://schemas.openxmlformats.org/drawingml/2006/main" prst="roundRect">
            <a:avLst>
              <a:gd name="adj1" fmla="val 20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9" name="Text 9"/>
          <p:cNvSpPr/>
          <p:nvPr/>
        </p:nvSpPr>
        <p:spPr>
          <a:xfrm xmlns:a="http://schemas.openxmlformats.org/drawingml/2006/main">
            <a:off x="6400800" y="1497330"/>
            <a:ext cx="5080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Image fit modes (F7)</a:t>
            </a:r>
          </a:p>
        </p:txBody>
      </p:sp>
      <p:sp>
        <p:nvSpPr>
          <p:cNvPr id="10" name="Text 10"/>
          <p:cNvSpPr/>
          <p:nvPr/>
        </p:nvSpPr>
        <p:spPr>
          <a:xfrm xmlns:a="http://schemas.openxmlformats.org/drawingml/2006/main">
            <a:off x="6400800" y="1822450"/>
            <a:ext cx="50800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Fill · Contain · Crop</a:t>
            </a:r>
          </a:p>
        </p:txBody>
      </p:sp>
      <p:sp>
        <p:nvSpPr>
          <p:cNvPr id="11" name="Text 11"/>
          <p:cNvSpPr/>
          <p:nvPr/>
        </p:nvSpPr>
        <p:spPr>
          <a:xfrm xmlns:a="http://schemas.openxmlformats.org/drawingml/2006/main">
            <a:off x="6400800" y="2113280"/>
            <a:ext cx="5080000" cy="403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Source-rect crop geometry. Proportional contain scaling. Cover-style fill with center-crop. Used by every image_card in this deck — every image here runs through the F7 pipeline.</a:t>
            </a:r>
          </a:p>
        </p:txBody>
      </p:sp>
    </p:spTree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508000" y="508000"/>
            <a:ext cx="111760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3400">
                <a:solidFill>
                  <a:srgbClr val="1A1A1A"/>
                </a:solidFill>
              </a:rPr>
              <a:t>Brand intelligence</a:t>
            </a:r>
          </a:p>
        </p:txBody>
      </p:sp>
      <p:sp>
        <p:nvSpPr>
          <p:cNvPr id="4" name="Container 4"/>
          <p:cNvSpPr/>
          <p:nvPr/>
        </p:nvSpPr>
        <p:spPr>
          <a:xfrm xmlns:a="http://schemas.openxmlformats.org/drawingml/2006/main">
            <a:off x="508000" y="1294130"/>
            <a:ext cx="7315200" cy="5055870"/>
          </a:xfrm>
          <a:prstGeom xmlns:a="http://schemas.openxmlformats.org/drawingml/2006/main" prst="roundRect">
            <a:avLst>
              <a:gd name="adj1" fmla="val 20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711200" y="1497330"/>
            <a:ext cx="690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BrandProfileExtractor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711200" y="1822450"/>
            <a:ext cx="6908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Mine tokens from existing decks</a:t>
            </a:r>
          </a:p>
        </p:txBody>
      </p:sp>
      <p:sp>
        <p:nvSpPr>
          <p:cNvPr id="7" name="Text 7"/>
          <p:cNvSpPr/>
          <p:nvPr/>
        </p:nvSpPr>
        <p:spPr>
          <a:xfrm xmlns:a="http://schemas.openxmlformats.org/drawingml/2006/main">
            <a:off x="711200" y="2113280"/>
            <a:ext cx="6908800" cy="403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Run on pres-pro, AetherLink, FusionFest, Presentation1. Extracts palette, fonts, and metrics. Hand-tuned into shippable token sets. Design tokens are first-class input — the generator is beautiful by default because great brands were loaded first.</a:t>
            </a:r>
          </a:p>
        </p:txBody>
      </p:sp>
      <p:sp>
        <p:nvSpPr>
          <p:cNvPr id="8" name="Container 8"/>
          <p:cNvSpPr/>
          <p:nvPr/>
        </p:nvSpPr>
        <p:spPr>
          <a:xfrm xmlns:a="http://schemas.openxmlformats.org/drawingml/2006/main">
            <a:off x="8026400" y="1294130"/>
            <a:ext cx="3657600" cy="5055870"/>
          </a:xfrm>
          <a:prstGeom xmlns:a="http://schemas.openxmlformats.org/drawingml/2006/main" prst="roundRect">
            <a:avLst>
              <a:gd name="adj1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pic>
        <p:nvPicPr>
          <p:cNvPr id="9" name="Image 9"/>
          <p:cNvPicPr/>
          <p:nvPr/>
        </p:nvPicPr>
        <p:blipFill>
          <a:blip xmlns:r="http://schemas.openxmlformats.org/officeDocument/2006/relationships" xmlns:a="http://schemas.openxmlformats.org/drawingml/2006/main" r:embed="R6a1c4dc51bd14a06"/>
          <a:srcRect xmlns:a="http://schemas.openxmlformats.org/drawingml/2006/main" l="38806" t="0" r="38806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026400" y="1294130"/>
            <a:ext cx="3657600" cy="4084320"/>
          </a:xfrm>
          <a:prstGeom xmlns:a="http://schemas.openxmlformats.org/drawingml/2006/main" prst="rect">
            <a:avLst/>
          </a:prstGeom>
        </p:spPr>
      </p:pic>
      <p:sp>
        <p:nvSpPr>
          <p:cNvPr id="10" name="Text 10"/>
          <p:cNvSpPr/>
          <p:nvPr/>
        </p:nvSpPr>
        <p:spPr>
          <a:xfrm xmlns:a="http://schemas.openxmlformats.org/drawingml/2006/main">
            <a:off x="8229600" y="5581650"/>
            <a:ext cx="325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3 token sets</a:t>
            </a:r>
          </a:p>
        </p:txBody>
      </p:sp>
      <p:sp>
        <p:nvSpPr>
          <p:cNvPr id="11" name="Text 11"/>
          <p:cNvSpPr/>
          <p:nvPr/>
        </p:nvSpPr>
        <p:spPr>
          <a:xfrm xmlns:a="http://schemas.openxmlformats.org/drawingml/2006/main">
            <a:off x="8229600" y="5906770"/>
            <a:ext cx="3251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pres-pro · AetherLink · Presentation1</a:t>
            </a:r>
          </a:p>
        </p:txBody>
      </p:sp>
    </p:spTree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>
            <a:noFill/>
          </a:ln>
        </p:spPr>
      </p:sp>
      <p:sp>
        <p:nvSpPr>
          <p:cNvPr id="3" name="Container 3"/>
          <p:cNvSpPr/>
          <p:nvPr/>
        </p:nvSpPr>
        <p:spPr>
          <a:xfrm xmlns:a="http://schemas.openxmlformats.org/drawingml/2006/main">
            <a:off x="508000" y="508000"/>
            <a:ext cx="2052320" cy="5842000"/>
          </a:xfrm>
          <a:prstGeom xmlns:a="http://schemas.openxmlformats.org/drawingml/2006/main" prst="roundRect">
            <a:avLst>
              <a:gd name="adj1" fmla="val 49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4" name="Text 4"/>
          <p:cNvSpPr/>
          <p:nvPr/>
        </p:nvSpPr>
        <p:spPr>
          <a:xfrm xmlns:a="http://schemas.openxmlformats.org/drawingml/2006/main">
            <a:off x="711200" y="71120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cover</a:t>
            </a:r>
          </a:p>
        </p:txBody>
      </p:sp>
      <p:sp>
        <p:nvSpPr>
          <p:cNvPr id="5" name="Text 5"/>
          <p:cNvSpPr/>
          <p:nvPr/>
        </p:nvSpPr>
        <p:spPr>
          <a:xfrm xmlns:a="http://schemas.openxmlformats.org/drawingml/2006/main">
            <a:off x="711200" y="1036320"/>
            <a:ext cx="16459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Archetype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711200" y="1327150"/>
            <a:ext cx="1645920" cy="481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Kicker + title + subtitle stack. Clean, minimal, first impression.</a:t>
            </a:r>
          </a:p>
        </p:txBody>
      </p:sp>
      <p:sp>
        <p:nvSpPr>
          <p:cNvPr id="7" name="Container 7"/>
          <p:cNvSpPr/>
          <p:nvPr/>
        </p:nvSpPr>
        <p:spPr>
          <a:xfrm xmlns:a="http://schemas.openxmlformats.org/drawingml/2006/main">
            <a:off x="2788920" y="508000"/>
            <a:ext cx="2052320" cy="5842000"/>
          </a:xfrm>
          <a:prstGeom xmlns:a="http://schemas.openxmlformats.org/drawingml/2006/main" prst="roundRect">
            <a:avLst>
              <a:gd name="adj1" fmla="val 49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8" name="Text 8"/>
          <p:cNvSpPr/>
          <p:nvPr/>
        </p:nvSpPr>
        <p:spPr>
          <a:xfrm xmlns:a="http://schemas.openxmlformats.org/drawingml/2006/main">
            <a:off x="2992120" y="71120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section</a:t>
            </a:r>
          </a:p>
        </p:txBody>
      </p:sp>
      <p:sp>
        <p:nvSpPr>
          <p:cNvPr id="9" name="Text 9"/>
          <p:cNvSpPr/>
          <p:nvPr/>
        </p:nvSpPr>
        <p:spPr>
          <a:xfrm xmlns:a="http://schemas.openxmlformats.org/drawingml/2006/main">
            <a:off x="2992120" y="1036320"/>
            <a:ext cx="16459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Archetype</a:t>
            </a:r>
          </a:p>
        </p:txBody>
      </p:sp>
      <p:sp>
        <p:nvSpPr>
          <p:cNvPr id="10" name="Text 10"/>
          <p:cNvSpPr/>
          <p:nvPr/>
        </p:nvSpPr>
        <p:spPr>
          <a:xfrm xmlns:a="http://schemas.openxmlformats.org/drawingml/2006/main">
            <a:off x="2992120" y="1327150"/>
            <a:ext cx="1645920" cy="481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Index number + divider. Creates rhythm and pacing in longer decks.</a:t>
            </a:r>
          </a:p>
        </p:txBody>
      </p:sp>
      <p:sp>
        <p:nvSpPr>
          <p:cNvPr id="11" name="Container 11"/>
          <p:cNvSpPr/>
          <p:nvPr/>
        </p:nvSpPr>
        <p:spPr>
          <a:xfrm xmlns:a="http://schemas.openxmlformats.org/drawingml/2006/main">
            <a:off x="5069840" y="508000"/>
            <a:ext cx="2052320" cy="5842000"/>
          </a:xfrm>
          <a:prstGeom xmlns:a="http://schemas.openxmlformats.org/drawingml/2006/main" prst="roundRect">
            <a:avLst>
              <a:gd name="adj1" fmla="val 49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2" name="Text 12"/>
          <p:cNvSpPr/>
          <p:nvPr/>
        </p:nvSpPr>
        <p:spPr>
          <a:xfrm xmlns:a="http://schemas.openxmlformats.org/drawingml/2006/main">
            <a:off x="5273040" y="71120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kpi_row</a:t>
            </a:r>
          </a:p>
        </p:txBody>
      </p:sp>
      <p:sp>
        <p:nvSpPr>
          <p:cNvPr id="13" name="Text 13"/>
          <p:cNvSpPr/>
          <p:nvPr/>
        </p:nvSpPr>
        <p:spPr>
          <a:xfrm xmlns:a="http://schemas.openxmlformats.org/drawingml/2006/main">
            <a:off x="5273040" y="1036320"/>
            <a:ext cx="16459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Archetype</a:t>
            </a:r>
          </a:p>
        </p:txBody>
      </p:sp>
      <p:sp>
        <p:nvSpPr>
          <p:cNvPr id="14" name="Text 14"/>
          <p:cNvSpPr/>
          <p:nvPr/>
        </p:nvSpPr>
        <p:spPr>
          <a:xfrm xmlns:a="http://schemas.openxmlformats.org/drawingml/2006/main">
            <a:off x="5273040" y="1327150"/>
            <a:ext cx="1645920" cy="481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4 metric cards in a row. Value + label + delta. Instant dashboard slide.</a:t>
            </a:r>
          </a:p>
        </p:txBody>
      </p:sp>
      <p:sp>
        <p:nvSpPr>
          <p:cNvPr id="15" name="Container 15"/>
          <p:cNvSpPr/>
          <p:nvPr/>
        </p:nvSpPr>
        <p:spPr>
          <a:xfrm xmlns:a="http://schemas.openxmlformats.org/drawingml/2006/main">
            <a:off x="7350760" y="508000"/>
            <a:ext cx="2052320" cy="5842000"/>
          </a:xfrm>
          <a:prstGeom xmlns:a="http://schemas.openxmlformats.org/drawingml/2006/main" prst="roundRect">
            <a:avLst>
              <a:gd name="adj1" fmla="val 49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6" name="Text 16"/>
          <p:cNvSpPr/>
          <p:nvPr/>
        </p:nvSpPr>
        <p:spPr>
          <a:xfrm xmlns:a="http://schemas.openxmlformats.org/drawingml/2006/main">
            <a:off x="7553960" y="71120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two_col</a:t>
            </a:r>
          </a:p>
        </p:txBody>
      </p:sp>
      <p:sp>
        <p:nvSpPr>
          <p:cNvPr id="17" name="Text 17"/>
          <p:cNvSpPr/>
          <p:nvPr/>
        </p:nvSpPr>
        <p:spPr>
          <a:xfrm xmlns:a="http://schemas.openxmlformats.org/drawingml/2006/main">
            <a:off x="7553960" y="1036320"/>
            <a:ext cx="16459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Archetype</a:t>
            </a:r>
          </a:p>
        </p:txBody>
      </p:sp>
      <p:sp>
        <p:nvSpPr>
          <p:cNvPr id="18" name="Text 18"/>
          <p:cNvSpPr/>
          <p:nvPr/>
        </p:nvSpPr>
        <p:spPr>
          <a:xfrm xmlns:a="http://schemas.openxmlformats.org/drawingml/2006/main">
            <a:off x="7553960" y="1327150"/>
            <a:ext cx="1645920" cy="481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Two slots with grow weights. Cards, images, or bullet lists side-by-side.</a:t>
            </a:r>
          </a:p>
        </p:txBody>
      </p:sp>
      <p:sp>
        <p:nvSpPr>
          <p:cNvPr id="19" name="Container 19"/>
          <p:cNvSpPr/>
          <p:nvPr/>
        </p:nvSpPr>
        <p:spPr>
          <a:xfrm xmlns:a="http://schemas.openxmlformats.org/drawingml/2006/main">
            <a:off x="9631680" y="508000"/>
            <a:ext cx="2052320" cy="5842000"/>
          </a:xfrm>
          <a:prstGeom xmlns:a="http://schemas.openxmlformats.org/drawingml/2006/main" prst="roundRect">
            <a:avLst>
              <a:gd name="adj1" fmla="val 49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20" name="Text 20"/>
          <p:cNvSpPr/>
          <p:nvPr/>
        </p:nvSpPr>
        <p:spPr>
          <a:xfrm xmlns:a="http://schemas.openxmlformats.org/drawingml/2006/main">
            <a:off x="9834880" y="71120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table_slide</a:t>
            </a:r>
          </a:p>
        </p:txBody>
      </p:sp>
      <p:sp>
        <p:nvSpPr>
          <p:cNvPr id="21" name="Text 21"/>
          <p:cNvSpPr/>
          <p:nvPr/>
        </p:nvSpPr>
        <p:spPr>
          <a:xfrm xmlns:a="http://schemas.openxmlformats.org/drawingml/2006/main">
            <a:off x="9834880" y="1036320"/>
            <a:ext cx="16459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Archetype</a:t>
            </a:r>
          </a:p>
        </p:txBody>
      </p:sp>
      <p:sp>
        <p:nvSpPr>
          <p:cNvPr id="22" name="Text 22"/>
          <p:cNvSpPr/>
          <p:nvPr/>
        </p:nvSpPr>
        <p:spPr>
          <a:xfrm xmlns:a="http://schemas.openxmlformats.org/drawingml/2006/main">
            <a:off x="9834880" y="1327150"/>
            <a:ext cx="1645920" cy="481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Header + rows + column weights. Tabular data with token-driven styling.</a:t>
            </a:r>
          </a:p>
        </p:txBody>
      </p:sp>
    </p:spTree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1016000" y="1866900"/>
            <a:ext cx="1016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200">
                <a:solidFill>
                  <a:srgbClr val="8A94A6"/>
                </a:solidFill>
              </a:rPr>
              <a:t>STACK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2921000" y="2298700"/>
            <a:ext cx="635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3200">
                <a:solidFill>
                  <a:srgbClr val="FFFFFF"/>
                </a:solidFill>
              </a:rPr>
              <a:t>deck_generate</a:t>
            </a:r>
          </a:p>
        </p:txBody>
      </p:sp>
      <p:sp>
        <p:nvSpPr>
          <p:cNvPr id="5" name="Text 5"/>
          <p:cNvSpPr/>
          <p:nvPr/>
        </p:nvSpPr>
        <p:spPr>
          <a:xfrm xmlns:a="http://schemas.openxmlformats.org/drawingml/2006/main">
            <a:off x="2286000" y="30607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200">
                <a:solidFill>
                  <a:srgbClr val="8A94A6"/>
                </a:solidFill>
              </a:rPr>
              <a:t>MCP tool + REST API  ·  JSON → PPTX + SVG previews  ·  warm 16.9ms for ≤16 slides</a:t>
            </a:r>
          </a:p>
        </p:txBody>
      </p:sp>
      <p:sp>
        <p:nvSpPr>
          <p:cNvPr id="6" name="Line 6"/>
          <p:cNvSpPr/>
          <p:nvPr/>
        </p:nvSpPr>
        <p:spPr>
          <a:xfrm xmlns:a="http://schemas.openxmlformats.org/drawingml/2006/main">
            <a:off x="5715000" y="350520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6B00"/>
            </a:solidFill>
          </a:ln>
        </p:spPr>
      </p:sp>
      <p:sp>
        <p:nvSpPr>
          <p:cNvPr id="7" name="Container 7"/>
          <p:cNvSpPr/>
          <p:nvPr/>
        </p:nvSpPr>
        <p:spPr>
          <a:xfrm xmlns:a="http://schemas.openxmlformats.org/drawingml/2006/main">
            <a:off x="3403600" y="3784600"/>
            <a:ext cx="2540000" cy="1143000"/>
          </a:xfrm>
          <a:prstGeom xmlns:a="http://schemas.openxmlformats.org/drawingml/2006/main" prst="roundRect">
            <a:avLst>
              <a:gd name="adj1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8" name="Text 8"/>
          <p:cNvSpPr/>
          <p:nvPr/>
        </p:nvSpPr>
        <p:spPr>
          <a:xfrm xmlns:a="http://schemas.openxmlformats.org/drawingml/2006/main">
            <a:off x="3606800" y="3987800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API</a:t>
            </a:r>
          </a:p>
        </p:txBody>
      </p:sp>
      <p:sp>
        <p:nvSpPr>
          <p:cNvPr id="9" name="Text 9"/>
          <p:cNvSpPr/>
          <p:nvPr/>
        </p:nvSpPr>
        <p:spPr>
          <a:xfrm xmlns:a="http://schemas.openxmlformats.org/drawingml/2006/main">
            <a:off x="3606800" y="4312920"/>
            <a:ext cx="2133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POST /api/decks/generate</a:t>
            </a:r>
          </a:p>
        </p:txBody>
      </p:sp>
      <p:sp>
        <p:nvSpPr>
          <p:cNvPr id="10" name="Text 10"/>
          <p:cNvSpPr/>
          <p:nvPr/>
        </p:nvSpPr>
        <p:spPr>
          <a:xfrm xmlns:a="http://schemas.openxmlformats.org/drawingml/2006/main">
            <a:off x="3606800" y="4603750"/>
            <a:ext cx="2133600" cy="12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HTTP 200: PPTX + previews  ·  HTTP 400: P1 validator errors verbatim</a:t>
            </a:r>
          </a:p>
        </p:txBody>
      </p:sp>
      <p:sp>
        <p:nvSpPr>
          <p:cNvPr id="11" name="Container 11"/>
          <p:cNvSpPr/>
          <p:nvPr/>
        </p:nvSpPr>
        <p:spPr>
          <a:xfrm xmlns:a="http://schemas.openxmlformats.org/drawingml/2006/main">
            <a:off x="6248400" y="3784600"/>
            <a:ext cx="2540000" cy="1143000"/>
          </a:xfrm>
          <a:prstGeom xmlns:a="http://schemas.openxmlformats.org/drawingml/2006/main" prst="roundRect">
            <a:avLst>
              <a:gd name="adj1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2" name="Text 12"/>
          <p:cNvSpPr/>
          <p:nvPr/>
        </p:nvSpPr>
        <p:spPr>
          <a:xfrm xmlns:a="http://schemas.openxmlformats.org/drawingml/2006/main">
            <a:off x="6451600" y="3987800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MCP</a:t>
            </a:r>
          </a:p>
        </p:txBody>
      </p:sp>
      <p:sp>
        <p:nvSpPr>
          <p:cNvPr id="13" name="Text 13"/>
          <p:cNvSpPr/>
          <p:nvPr/>
        </p:nvSpPr>
        <p:spPr>
          <a:xfrm xmlns:a="http://schemas.openxmlformats.org/drawingml/2006/main">
            <a:off x="6451600" y="4312920"/>
            <a:ext cx="2133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deck_generate tool</a:t>
            </a:r>
          </a:p>
        </p:txBody>
      </p:sp>
      <p:sp>
        <p:nvSpPr>
          <p:cNvPr id="14" name="Text 14"/>
          <p:cNvSpPr/>
          <p:nvPr/>
        </p:nvSpPr>
        <p:spPr>
          <a:xfrm xmlns:a="http://schemas.openxmlformats.org/drawingml/2006/main">
            <a:off x="6451600" y="4603750"/>
            <a:ext cx="2133600" cy="12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JSON-RPC stdio host  ·  base64 previews  ·  session creation for follow-up edits</a:t>
            </a:r>
          </a:p>
        </p:txBody>
      </p:sp>
    </p:spTree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1016000" y="2228850"/>
            <a:ext cx="101600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2800">
                <a:solidFill>
                  <a:srgbClr val="0B3D91"/>
                </a:solidFill>
              </a:rPr>
              <a:t>Phase 5 in numbers</a:t>
            </a:r>
          </a:p>
        </p:txBody>
      </p:sp>
      <p:sp>
        <p:nvSpPr>
          <p:cNvPr id="4" name="Line 4"/>
          <p:cNvSpPr/>
          <p:nvPr/>
        </p:nvSpPr>
        <p:spPr>
          <a:xfrm xmlns:a="http://schemas.openxmlformats.org/drawingml/2006/main">
            <a:off x="5715000" y="290830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F6B00"/>
            </a:solidFill>
          </a:ln>
        </p:spPr>
      </p:sp>
      <p:sp>
        <p:nvSpPr>
          <p:cNvPr id="5" name="Container 5"/>
          <p:cNvSpPr/>
          <p:nvPr/>
        </p:nvSpPr>
        <p:spPr>
          <a:xfrm xmlns:a="http://schemas.openxmlformats.org/drawingml/2006/main">
            <a:off x="1285240" y="3105150"/>
            <a:ext cx="2032000" cy="1270000"/>
          </a:xfrm>
          <a:prstGeom xmlns:a="http://schemas.openxmlformats.org/drawingml/2006/main" prst="roundRect">
            <a:avLst>
              <a:gd name="adj1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6" name="Text 6"/>
          <p:cNvSpPr/>
          <p:nvPr/>
        </p:nvSpPr>
        <p:spPr>
          <a:xfrm xmlns:a="http://schemas.openxmlformats.org/drawingml/2006/main">
            <a:off x="1488440" y="3308350"/>
            <a:ext cx="162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10</a:t>
            </a:r>
          </a:p>
        </p:txBody>
      </p:sp>
      <p:sp>
        <p:nvSpPr>
          <p:cNvPr id="7" name="Text 7"/>
          <p:cNvSpPr/>
          <p:nvPr/>
        </p:nvSpPr>
        <p:spPr>
          <a:xfrm xmlns:a="http://schemas.openxmlformats.org/drawingml/2006/main">
            <a:off x="1488440" y="3633470"/>
            <a:ext cx="1625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Workstreams</a:t>
            </a:r>
          </a:p>
        </p:txBody>
      </p:sp>
      <p:sp>
        <p:nvSpPr>
          <p:cNvPr id="8" name="Text 8"/>
          <p:cNvSpPr/>
          <p:nvPr/>
        </p:nvSpPr>
        <p:spPr>
          <a:xfrm xmlns:a="http://schemas.openxmlformats.org/drawingml/2006/main">
            <a:off x="1488440" y="3924300"/>
            <a:ext cx="162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P1 → P10 completed</a:t>
            </a:r>
          </a:p>
        </p:txBody>
      </p:sp>
      <p:sp>
        <p:nvSpPr>
          <p:cNvPr id="9" name="Container 9"/>
          <p:cNvSpPr/>
          <p:nvPr/>
        </p:nvSpPr>
        <p:spPr>
          <a:xfrm xmlns:a="http://schemas.openxmlformats.org/drawingml/2006/main">
            <a:off x="3815080" y="3105150"/>
            <a:ext cx="2032000" cy="1270000"/>
          </a:xfrm>
          <a:prstGeom xmlns:a="http://schemas.openxmlformats.org/drawingml/2006/main" prst="roundRect">
            <a:avLst>
              <a:gd name="adj1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0" name="Text 10"/>
          <p:cNvSpPr/>
          <p:nvPr/>
        </p:nvSpPr>
        <p:spPr>
          <a:xfrm xmlns:a="http://schemas.openxmlformats.org/drawingml/2006/main">
            <a:off x="4018280" y="3308350"/>
            <a:ext cx="162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5</a:t>
            </a:r>
          </a:p>
        </p:txBody>
      </p:sp>
      <p:sp>
        <p:nvSpPr>
          <p:cNvPr id="11" name="Text 11"/>
          <p:cNvSpPr/>
          <p:nvPr/>
        </p:nvSpPr>
        <p:spPr>
          <a:xfrm xmlns:a="http://schemas.openxmlformats.org/drawingml/2006/main">
            <a:off x="4018280" y="3633470"/>
            <a:ext cx="1625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Waves</a:t>
            </a:r>
          </a:p>
        </p:txBody>
      </p:sp>
      <p:sp>
        <p:nvSpPr>
          <p:cNvPr id="12" name="Text 12"/>
          <p:cNvSpPr/>
          <p:nvPr/>
        </p:nvSpPr>
        <p:spPr>
          <a:xfrm xmlns:a="http://schemas.openxmlformats.org/drawingml/2006/main">
            <a:off x="4018280" y="3924300"/>
            <a:ext cx="162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Parallel execution</a:t>
            </a:r>
          </a:p>
        </p:txBody>
      </p:sp>
      <p:sp>
        <p:nvSpPr>
          <p:cNvPr id="13" name="Container 13"/>
          <p:cNvSpPr/>
          <p:nvPr/>
        </p:nvSpPr>
        <p:spPr>
          <a:xfrm xmlns:a="http://schemas.openxmlformats.org/drawingml/2006/main">
            <a:off x="6344920" y="3105150"/>
            <a:ext cx="2032000" cy="1270000"/>
          </a:xfrm>
          <a:prstGeom xmlns:a="http://schemas.openxmlformats.org/drawingml/2006/main" prst="roundRect">
            <a:avLst>
              <a:gd name="adj1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4" name="Text 14"/>
          <p:cNvSpPr/>
          <p:nvPr/>
        </p:nvSpPr>
        <p:spPr>
          <a:xfrm xmlns:a="http://schemas.openxmlformats.org/drawingml/2006/main">
            <a:off x="6548120" y="3308350"/>
            <a:ext cx="162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1,217</a:t>
            </a:r>
          </a:p>
        </p:txBody>
      </p:sp>
      <p:sp>
        <p:nvSpPr>
          <p:cNvPr id="15" name="Text 15"/>
          <p:cNvSpPr/>
          <p:nvPr/>
        </p:nvSpPr>
        <p:spPr>
          <a:xfrm xmlns:a="http://schemas.openxmlformats.org/drawingml/2006/main">
            <a:off x="6548120" y="3633470"/>
            <a:ext cx="1625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Tests</a:t>
            </a:r>
          </a:p>
        </p:txBody>
      </p:sp>
      <p:sp>
        <p:nvSpPr>
          <p:cNvPr id="16" name="Text 16"/>
          <p:cNvSpPr/>
          <p:nvPr/>
        </p:nvSpPr>
        <p:spPr>
          <a:xfrm xmlns:a="http://schemas.openxmlformats.org/drawingml/2006/main">
            <a:off x="6548120" y="3924300"/>
            <a:ext cx="162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0 failures at merge</a:t>
            </a:r>
          </a:p>
        </p:txBody>
      </p:sp>
      <p:sp>
        <p:nvSpPr>
          <p:cNvPr id="17" name="Container 17"/>
          <p:cNvSpPr/>
          <p:nvPr/>
        </p:nvSpPr>
        <p:spPr>
          <a:xfrm xmlns:a="http://schemas.openxmlformats.org/drawingml/2006/main">
            <a:off x="8874760" y="3105150"/>
            <a:ext cx="2032000" cy="1270000"/>
          </a:xfrm>
          <a:prstGeom xmlns:a="http://schemas.openxmlformats.org/drawingml/2006/main" prst="roundRect">
            <a:avLst>
              <a:gd name="adj1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8" name="Text 18"/>
          <p:cNvSpPr/>
          <p:nvPr/>
        </p:nvSpPr>
        <p:spPr>
          <a:xfrm xmlns:a="http://schemas.openxmlformats.org/drawingml/2006/main">
            <a:off x="9077960" y="3308350"/>
            <a:ext cx="162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19" name="Text 19"/>
          <p:cNvSpPr/>
          <p:nvPr/>
        </p:nvSpPr>
        <p:spPr>
          <a:xfrm xmlns:a="http://schemas.openxmlformats.org/drawingml/2006/main">
            <a:off x="9077960" y="3633470"/>
            <a:ext cx="1625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Conflicts</a:t>
            </a:r>
          </a:p>
        </p:txBody>
      </p:sp>
      <p:sp>
        <p:nvSpPr>
          <p:cNvPr id="20" name="Text 20"/>
          <p:cNvSpPr/>
          <p:nvPr/>
        </p:nvSpPr>
        <p:spPr>
          <a:xfrm xmlns:a="http://schemas.openxmlformats.org/drawingml/2006/main">
            <a:off x="9077960" y="3924300"/>
            <a:ext cx="162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Worktree-per-agent</a:t>
            </a:r>
          </a:p>
        </p:txBody>
      </p:sp>
    </p:spTree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6B00"/>
              </a:gs>
              <a:gs pos="100000">
                <a:srgbClr val="0B3D91"/>
              </a:gs>
            </a:gsLst>
            <a:lin ang="13500000" scaled="1"/>
          </a:gra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2286000" y="180340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FFFFFF"/>
                </a:solidFill>
              </a:rPr>
              <a:t>This deck was not made in PowerPoint.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2286000" y="2286000"/>
            <a:ext cx="762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2800">
                <a:solidFill>
                  <a:srgbClr val="FFFFFF"/>
                </a:solidFill>
              </a:rPr>
              <a:t>Generated by code. From scratch. No template.</a:t>
            </a:r>
          </a:p>
        </p:txBody>
      </p:sp>
      <p:sp>
        <p:nvSpPr>
          <p:cNvPr id="5" name="Rectangle 5"/>
          <p:cNvSpPr/>
          <p:nvPr/>
        </p:nvSpPr>
        <p:spPr>
          <a:xfrm xmlns:a="http://schemas.openxmlformats.org/drawingml/2006/main">
            <a:off x="3302000" y="3213100"/>
            <a:ext cx="2286000" cy="1651000"/>
          </a:xfrm>
          <a:prstGeom xmlns:a="http://schemas.openxmlformats.org/drawingml/2006/main" prst="roundRect">
            <a:avLst>
              <a:gd name="adj1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6" name="Ellipse 6"/>
          <p:cNvSpPr/>
          <p:nvPr/>
        </p:nvSpPr>
        <p:spPr>
          <a:xfrm xmlns:a="http://schemas.openxmlformats.org/drawingml/2006/main">
            <a:off x="4953000" y="3022600"/>
            <a:ext cx="1397000" cy="139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>
            <a:noFill/>
          </a:ln>
        </p:spPr>
      </p:sp>
      <p:sp>
        <p:nvSpPr>
          <p:cNvPr id="7" name="Rectangle 7"/>
          <p:cNvSpPr/>
          <p:nvPr/>
        </p:nvSpPr>
        <p:spPr>
          <a:xfrm xmlns:a="http://schemas.openxmlformats.org/drawingml/2006/main">
            <a:off x="6731000" y="3530600"/>
            <a:ext cx="1778000" cy="1143000"/>
          </a:xfrm>
          <a:prstGeom xmlns:a="http://schemas.openxmlformats.org/drawingml/2006/main" prst="roundRect">
            <a:avLst>
              <a:gd name="adj1" fmla="val 11111"/>
            </a:avLst>
          </a:prstGeom>
          <a:solidFill xmlns:a="http://schemas.openxmlformats.org/drawingml/2006/main">
            <a:srgbClr val="0B3D91"/>
          </a:solidFill>
          <a:ln xmlns:a="http://schemas.openxmlformats.org/drawingml/2006/main">
            <a:noFill/>
          </a:ln>
        </p:spPr>
      </p:sp>
      <p:sp>
        <p:nvSpPr>
          <p:cNvPr id="8" name="Line 8"/>
          <p:cNvSpPr/>
          <p:nvPr/>
        </p:nvSpPr>
        <p:spPr>
          <a:xfrm xmlns:a="http://schemas.openxmlformats.org/drawingml/2006/main">
            <a:off x="4953000" y="4057650"/>
            <a:ext cx="25400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FFFFF"/>
            </a:solidFill>
          </a:ln>
        </p:spPr>
      </p:sp>
    </p:spTree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1016000" y="2749550"/>
            <a:ext cx="101600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200" b="1">
                <a:solidFill>
                  <a:srgbClr val="FF6B00"/>
                </a:solidFill>
              </a:rPr>
              <a:t>Open source · MIT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1016000" y="3006090"/>
            <a:ext cx="101600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3400">
                <a:solidFill>
                  <a:srgbClr val="1A1A1A"/>
                </a:solidFill>
              </a:rPr>
              <a:t>Thank you</a:t>
            </a:r>
          </a:p>
        </p:txBody>
      </p:sp>
      <p:sp>
        <p:nvSpPr>
          <p:cNvPr id="5" name="Text 5"/>
          <p:cNvSpPr/>
          <p:nvPr/>
        </p:nvSpPr>
        <p:spPr>
          <a:xfrm xmlns:a="http://schemas.openxmlformats.org/drawingml/2006/main">
            <a:off x="1016000" y="3639820"/>
            <a:ext cx="101600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github.com/MaximeLeBesnerais/DocxEditor</a:t>
            </a:r>
          </a:p>
        </p:txBody>
      </p:sp>
      <p:sp>
        <p:nvSpPr>
          <p:cNvPr id="6" name="Line 6"/>
          <p:cNvSpPr/>
          <p:nvPr/>
        </p:nvSpPr>
        <p:spPr>
          <a:xfrm xmlns:a="http://schemas.openxmlformats.org/drawingml/2006/main">
            <a:off x="1016000" y="4095750"/>
            <a:ext cx="101600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6B00"/>
            </a:solidFill>
          </a:ln>
        </p:spPr>
      </p:sp>
    </p:spTree>
  </p:cSld>
</p:sld>
</file>