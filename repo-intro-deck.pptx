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psmdcp" ContentType="application/vnd.openxmlformats-package.core-properties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Masters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01f6a74697c94c48" /><Relationship Type="http://schemas.openxmlformats.org/package/2006/relationships/metadata/core-properties" Target="/package/services/metadata/core-properties/6124ebc012794051aa2a71e9a9f331a9.psmdcp" Id="R1e4dc7748ff944c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220e7a9893140af"/>
  </p:sldMasterIdLst>
  <p:sldIdLst>
    <p:sldId xmlns:r="http://schemas.openxmlformats.org/officeDocument/2006/relationships" id="256" r:id="Rf1057f40211f4f5c"/>
    <p:sldId xmlns:r="http://schemas.openxmlformats.org/officeDocument/2006/relationships" id="257" r:id="Rc82d6959313c40ab"/>
    <p:sldId xmlns:r="http://schemas.openxmlformats.org/officeDocument/2006/relationships" id="258" r:id="Rdf1e2f0a0b1b45b4"/>
    <p:sldId xmlns:r="http://schemas.openxmlformats.org/officeDocument/2006/relationships" id="259" r:id="R90d4aa864beb4a85"/>
    <p:sldId xmlns:r="http://schemas.openxmlformats.org/officeDocument/2006/relationships" id="260" r:id="R7873ca7a09aa4cca"/>
    <p:sldId xmlns:r="http://schemas.openxmlformats.org/officeDocument/2006/relationships" id="261" r:id="R2b25ea99deb74c52"/>
    <p:sldId xmlns:r="http://schemas.openxmlformats.org/officeDocument/2006/relationships" id="262" r:id="R323af8a215dd4f30"/>
    <p:sldId xmlns:r="http://schemas.openxmlformats.org/officeDocument/2006/relationships" id="263" r:id="R63313a48e6d24943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220e7a9893140af" /><Relationship Type="http://schemas.openxmlformats.org/officeDocument/2006/relationships/slide" Target="/ppt/slides/slide1.xml" Id="Rf1057f40211f4f5c" /><Relationship Type="http://schemas.openxmlformats.org/officeDocument/2006/relationships/slide" Target="/ppt/slides/slide2.xml" Id="Rc82d6959313c40ab" /><Relationship Type="http://schemas.openxmlformats.org/officeDocument/2006/relationships/slide" Target="/ppt/slides/slide3.xml" Id="Rdf1e2f0a0b1b45b4" /><Relationship Type="http://schemas.openxmlformats.org/officeDocument/2006/relationships/slide" Target="/ppt/slides/slide4.xml" Id="R90d4aa864beb4a85" /><Relationship Type="http://schemas.openxmlformats.org/officeDocument/2006/relationships/slide" Target="/ppt/slides/slide5.xml" Id="R7873ca7a09aa4cca" /><Relationship Type="http://schemas.openxmlformats.org/officeDocument/2006/relationships/slide" Target="/ppt/slides/slide6.xml" Id="R2b25ea99deb74c52" /><Relationship Type="http://schemas.openxmlformats.org/officeDocument/2006/relationships/slide" Target="/ppt/slides/slide7.xml" Id="R323af8a215dd4f30" /><Relationship Type="http://schemas.openxmlformats.org/officeDocument/2006/relationships/slide" Target="/ppt/slides/slide8.xml" Id="R63313a48e6d24943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0f6c96b05148ca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eed511e6414014" /><Relationship Type="http://schemas.openxmlformats.org/officeDocument/2006/relationships/theme" Target="/ppt/slideMasters/theme/theme1.xml" Id="R8f248580a1524a20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3eed511e6414014"/>
  </p:sldLayoutIdLst>
</p:sldMaster>
</file>

<file path=ppt/slideMasters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/>
        <a:noFill/>
      </a:fillStyleLst>
      <a:lnStyleLst>
        <a:ln w="6350" cap="flat" cmpd="sng">
          <a:solidFill>
            <a:schemeClr val="phClr"/>
          </a:solidFill>
          <a:prstDash val="solid"/>
        </a:ln>
        <a:ln w="12700" cap="flat" cmpd="sng">
          <a:solidFill>
            <a:schemeClr val="phClr"/>
          </a:solidFill>
          <a:prstDash val="solid"/>
        </a:ln>
        <a:ln w="19050" cap="flat" cmpd="sng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gradFill/>
      </a:bgFillStyleLst>
    </a:fmtScheme>
  </a:themeElements>
  <a:objectDefaults/>
  <a:extraClrSchemeLst/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6bc5980ea14b2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7b5993f240401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c7f743d218492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5f1a6646c243a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41a301477c485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faf8155d6f45d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98902db3a2491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4f3d0cbc0349d2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Container 2"/>
          <p:cNvSpPr/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</p:sp>
      <p:sp>
        <p:nvSpPr>
          <p:cNvPr id="3" name="Text 3"/>
          <p:cNvSpPr/>
          <p:nvPr/>
        </p:nvSpPr>
        <p:spPr>
          <a:xfrm xmlns:a="http://schemas.openxmlformats.org/drawingml/2006/main">
            <a:off x="1092200" y="2719705"/>
            <a:ext cx="10007600" cy="2057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l"/>
            <a:r>
              <a:rPr sz="1200" b="1">
                <a:solidFill>
                  <a:srgbClr val="FF6B00"/>
                </a:solidFill>
              </a:rPr>
              <a:t>.NET 9 · C# 12</a:t>
            </a:r>
          </a:p>
        </p:txBody>
      </p:sp>
      <p:sp>
        <p:nvSpPr>
          <p:cNvPr id="4" name="Text 4"/>
          <p:cNvSpPr/>
          <p:nvPr/>
        </p:nvSpPr>
        <p:spPr>
          <a:xfrm xmlns:a="http://schemas.openxmlformats.org/drawingml/2006/main">
            <a:off x="1092200" y="2976245"/>
            <a:ext cx="10007600" cy="617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l"/>
            <a:r>
              <a:rPr sz="3600">
                <a:solidFill>
                  <a:srgbClr val="1A1A1A"/>
                </a:solidFill>
              </a:rPr>
              <a:t>OfficeEditor</a:t>
            </a:r>
          </a:p>
        </p:txBody>
      </p:sp>
      <p:sp>
        <p:nvSpPr>
          <p:cNvPr id="5" name="Text 5"/>
          <p:cNvSpPr/>
          <p:nvPr/>
        </p:nvSpPr>
        <p:spPr>
          <a:xfrm xmlns:a="http://schemas.openxmlformats.org/drawingml/2006/main">
            <a:off x="1092200" y="3644265"/>
            <a:ext cx="1000760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l"/>
            <a:r>
              <a:rPr sz="1400">
                <a:solidFill>
                  <a:srgbClr val="8A94A6"/>
                </a:solidFill>
              </a:rPr>
              <a:t>Create and edit DOCX, PPTX and XLSX documents — via JSON/YAML instruction sets or fluent C# APIs</a:t>
            </a:r>
          </a:p>
        </p:txBody>
      </p:sp>
      <p:sp>
        <p:nvSpPr>
          <p:cNvPr id="6" name="Line 6"/>
          <p:cNvSpPr/>
          <p:nvPr/>
        </p:nvSpPr>
        <p:spPr>
          <a:xfrm xmlns:a="http://schemas.openxmlformats.org/drawingml/2006/main">
            <a:off x="1092200" y="4125595"/>
            <a:ext cx="10007600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FF6B00"/>
            </a:solidFill>
          </a:ln>
        </p:spPr>
      </p:sp>
    </p:spTree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Container 2"/>
          <p:cNvSpPr/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</p:sp>
      <p:sp>
        <p:nvSpPr>
          <p:cNvPr id="3" name="Text 3"/>
          <p:cNvSpPr/>
          <p:nvPr/>
        </p:nvSpPr>
        <p:spPr>
          <a:xfrm xmlns:a="http://schemas.openxmlformats.org/drawingml/2006/main">
            <a:off x="546100" y="546100"/>
            <a:ext cx="11099800" cy="617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l"/>
            <a:r>
              <a:rPr sz="3600">
                <a:solidFill>
                  <a:srgbClr val="1A1A1A"/>
                </a:solidFill>
              </a:rPr>
              <a:t>By the numbers</a:t>
            </a:r>
          </a:p>
        </p:txBody>
      </p:sp>
      <p:sp>
        <p:nvSpPr>
          <p:cNvPr id="4" name="Container 4"/>
          <p:cNvSpPr/>
          <p:nvPr/>
        </p:nvSpPr>
        <p:spPr>
          <a:xfrm xmlns:a="http://schemas.openxmlformats.org/drawingml/2006/main">
            <a:off x="546100" y="1391920"/>
            <a:ext cx="2603500" cy="4919980"/>
          </a:xfrm>
          <a:prstGeom xmlns:a="http://schemas.openxmlformats.org/drawingml/2006/main" prst="roundRect">
            <a:avLst>
              <a:gd name="adj1" fmla="val 19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</p:sp>
      <p:sp>
        <p:nvSpPr>
          <p:cNvPr id="5" name="Text 5"/>
          <p:cNvSpPr/>
          <p:nvPr/>
        </p:nvSpPr>
        <p:spPr>
          <a:xfrm xmlns:a="http://schemas.openxmlformats.org/drawingml/2006/main">
            <a:off x="774700" y="3295015"/>
            <a:ext cx="2146300" cy="617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ctr"/>
            <a:r>
              <a:rPr sz="3600" b="1">
                <a:solidFill>
                  <a:srgbClr val="0B3D91"/>
                </a:solidFill>
              </a:rPr>
              <a:t>3</a:t>
            </a:r>
          </a:p>
        </p:txBody>
      </p:sp>
      <p:sp>
        <p:nvSpPr>
          <p:cNvPr id="6" name="Text 6"/>
          <p:cNvSpPr/>
          <p:nvPr/>
        </p:nvSpPr>
        <p:spPr>
          <a:xfrm xmlns:a="http://schemas.openxmlformats.org/drawingml/2006/main">
            <a:off x="774700" y="3937635"/>
            <a:ext cx="214630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ctr"/>
            <a:r>
              <a:rPr sz="1400">
                <a:solidFill>
                  <a:srgbClr val="8A94A6"/>
                </a:solidFill>
              </a:rPr>
              <a:t>Formats</a:t>
            </a:r>
          </a:p>
        </p:txBody>
      </p:sp>
      <p:sp>
        <p:nvSpPr>
          <p:cNvPr id="7" name="Text 7"/>
          <p:cNvSpPr/>
          <p:nvPr/>
        </p:nvSpPr>
        <p:spPr>
          <a:xfrm xmlns:a="http://schemas.openxmlformats.org/drawingml/2006/main">
            <a:off x="774700" y="4203065"/>
            <a:ext cx="2146300" cy="2057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ctr"/>
            <a:r>
              <a:rPr sz="1200">
                <a:solidFill>
                  <a:srgbClr val="FF6B00"/>
                </a:solidFill>
              </a:rPr>
              <a:t>DOCX · PPTX · XLSX</a:t>
            </a:r>
          </a:p>
        </p:txBody>
      </p:sp>
      <p:sp>
        <p:nvSpPr>
          <p:cNvPr id="8" name="Container 8"/>
          <p:cNvSpPr/>
          <p:nvPr/>
        </p:nvSpPr>
        <p:spPr>
          <a:xfrm xmlns:a="http://schemas.openxmlformats.org/drawingml/2006/main">
            <a:off x="3378200" y="1391920"/>
            <a:ext cx="2603500" cy="4919980"/>
          </a:xfrm>
          <a:prstGeom xmlns:a="http://schemas.openxmlformats.org/drawingml/2006/main" prst="roundRect">
            <a:avLst>
              <a:gd name="adj1" fmla="val 19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</p:sp>
      <p:sp>
        <p:nvSpPr>
          <p:cNvPr id="9" name="Text 9"/>
          <p:cNvSpPr/>
          <p:nvPr/>
        </p:nvSpPr>
        <p:spPr>
          <a:xfrm xmlns:a="http://schemas.openxmlformats.org/drawingml/2006/main">
            <a:off x="3606800" y="3295015"/>
            <a:ext cx="2146300" cy="617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ctr"/>
            <a:r>
              <a:rPr sz="3600" b="1">
                <a:solidFill>
                  <a:srgbClr val="0B3D91"/>
                </a:solidFill>
              </a:rPr>
              <a:t>12</a:t>
            </a:r>
          </a:p>
        </p:txBody>
      </p:sp>
      <p:sp>
        <p:nvSpPr>
          <p:cNvPr id="10" name="Text 10"/>
          <p:cNvSpPr/>
          <p:nvPr/>
        </p:nvSpPr>
        <p:spPr>
          <a:xfrm xmlns:a="http://schemas.openxmlformats.org/drawingml/2006/main">
            <a:off x="3606800" y="3937635"/>
            <a:ext cx="214630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ctr"/>
            <a:r>
              <a:rPr sz="1400">
                <a:solidFill>
                  <a:srgbClr val="8A94A6"/>
                </a:solidFill>
              </a:rPr>
              <a:t>Projects</a:t>
            </a:r>
          </a:p>
        </p:txBody>
      </p:sp>
      <p:sp>
        <p:nvSpPr>
          <p:cNvPr id="11" name="Text 11"/>
          <p:cNvSpPr/>
          <p:nvPr/>
        </p:nvSpPr>
        <p:spPr>
          <a:xfrm xmlns:a="http://schemas.openxmlformats.org/drawingml/2006/main">
            <a:off x="3606800" y="4203065"/>
            <a:ext cx="2146300" cy="2057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ctr"/>
            <a:r>
              <a:rPr sz="1200">
                <a:solidFill>
                  <a:srgbClr val="FF6B00"/>
                </a:solidFill>
              </a:rPr>
              <a:t>.NET solution</a:t>
            </a:r>
          </a:p>
        </p:txBody>
      </p:sp>
      <p:sp>
        <p:nvSpPr>
          <p:cNvPr id="12" name="Container 12"/>
          <p:cNvSpPr/>
          <p:nvPr/>
        </p:nvSpPr>
        <p:spPr>
          <a:xfrm xmlns:a="http://schemas.openxmlformats.org/drawingml/2006/main">
            <a:off x="6210300" y="1391920"/>
            <a:ext cx="2603500" cy="4919980"/>
          </a:xfrm>
          <a:prstGeom xmlns:a="http://schemas.openxmlformats.org/drawingml/2006/main" prst="roundRect">
            <a:avLst>
              <a:gd name="adj1" fmla="val 19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</p:sp>
      <p:sp>
        <p:nvSpPr>
          <p:cNvPr id="13" name="Text 13"/>
          <p:cNvSpPr/>
          <p:nvPr/>
        </p:nvSpPr>
        <p:spPr>
          <a:xfrm xmlns:a="http://schemas.openxmlformats.org/drawingml/2006/main">
            <a:off x="6438900" y="3295015"/>
            <a:ext cx="2146300" cy="617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ctr"/>
            <a:r>
              <a:rPr sz="3600" b="1">
                <a:solidFill>
                  <a:srgbClr val="0B3D91"/>
                </a:solidFill>
              </a:rPr>
              <a:t>1.2k</a:t>
            </a:r>
          </a:p>
        </p:txBody>
      </p:sp>
      <p:sp>
        <p:nvSpPr>
          <p:cNvPr id="14" name="Text 14"/>
          <p:cNvSpPr/>
          <p:nvPr/>
        </p:nvSpPr>
        <p:spPr>
          <a:xfrm xmlns:a="http://schemas.openxmlformats.org/drawingml/2006/main">
            <a:off x="6438900" y="3937635"/>
            <a:ext cx="214630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ctr"/>
            <a:r>
              <a:rPr sz="1400">
                <a:solidFill>
                  <a:srgbClr val="8A94A6"/>
                </a:solidFill>
              </a:rPr>
              <a:t>Tests</a:t>
            </a:r>
          </a:p>
        </p:txBody>
      </p:sp>
      <p:sp>
        <p:nvSpPr>
          <p:cNvPr id="15" name="Text 15"/>
          <p:cNvSpPr/>
          <p:nvPr/>
        </p:nvSpPr>
        <p:spPr>
          <a:xfrm xmlns:a="http://schemas.openxmlformats.org/drawingml/2006/main">
            <a:off x="6438900" y="4203065"/>
            <a:ext cx="2146300" cy="2057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ctr"/>
            <a:r>
              <a:rPr sz="1200">
                <a:solidFill>
                  <a:srgbClr val="FF6B00"/>
                </a:solidFill>
              </a:rPr>
              <a:t>xUnit, 0 failures</a:t>
            </a:r>
          </a:p>
        </p:txBody>
      </p:sp>
      <p:sp>
        <p:nvSpPr>
          <p:cNvPr id="16" name="Container 16"/>
          <p:cNvSpPr/>
          <p:nvPr/>
        </p:nvSpPr>
        <p:spPr>
          <a:xfrm xmlns:a="http://schemas.openxmlformats.org/drawingml/2006/main">
            <a:off x="9042400" y="1391920"/>
            <a:ext cx="2603500" cy="4919980"/>
          </a:xfrm>
          <a:prstGeom xmlns:a="http://schemas.openxmlformats.org/drawingml/2006/main" prst="roundRect">
            <a:avLst>
              <a:gd name="adj1" fmla="val 19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</p:sp>
      <p:sp>
        <p:nvSpPr>
          <p:cNvPr id="17" name="Text 17"/>
          <p:cNvSpPr/>
          <p:nvPr/>
        </p:nvSpPr>
        <p:spPr>
          <a:xfrm xmlns:a="http://schemas.openxmlformats.org/drawingml/2006/main">
            <a:off x="9271000" y="3295015"/>
            <a:ext cx="2146300" cy="617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ctr"/>
            <a:r>
              <a:rPr sz="3600" b="1">
                <a:solidFill>
                  <a:srgbClr val="0B3D91"/>
                </a:solidFill>
              </a:rPr>
              <a:t>&lt;500ms</a:t>
            </a:r>
          </a:p>
        </p:txBody>
      </p:sp>
      <p:sp>
        <p:nvSpPr>
          <p:cNvPr id="18" name="Text 18"/>
          <p:cNvSpPr/>
          <p:nvPr/>
        </p:nvSpPr>
        <p:spPr>
          <a:xfrm xmlns:a="http://schemas.openxmlformats.org/drawingml/2006/main">
            <a:off x="9271000" y="3937635"/>
            <a:ext cx="214630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ctr"/>
            <a:r>
              <a:rPr sz="1400">
                <a:solidFill>
                  <a:srgbClr val="8A94A6"/>
                </a:solidFill>
              </a:rPr>
              <a:t>Generation</a:t>
            </a:r>
          </a:p>
        </p:txBody>
      </p:sp>
      <p:sp>
        <p:nvSpPr>
          <p:cNvPr id="19" name="Text 19"/>
          <p:cNvSpPr/>
          <p:nvPr/>
        </p:nvSpPr>
        <p:spPr>
          <a:xfrm xmlns:a="http://schemas.openxmlformats.org/drawingml/2006/main">
            <a:off x="9271000" y="4203065"/>
            <a:ext cx="2146300" cy="2057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ctr"/>
            <a:r>
              <a:rPr sz="1200">
                <a:solidFill>
                  <a:srgbClr val="FF6B00"/>
                </a:solidFill>
              </a:rPr>
              <a:t>per deck, 16 slides</a:t>
            </a:r>
          </a:p>
        </p:txBody>
      </p:sp>
    </p:spTree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Container 2"/>
          <p:cNvSpPr/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</p:sp>
      <p:sp>
        <p:nvSpPr>
          <p:cNvPr id="3" name="Text 3"/>
          <p:cNvSpPr/>
          <p:nvPr/>
        </p:nvSpPr>
        <p:spPr>
          <a:xfrm xmlns:a="http://schemas.openxmlformats.org/drawingml/2006/main">
            <a:off x="546100" y="546100"/>
            <a:ext cx="11099800" cy="617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l"/>
            <a:r>
              <a:rPr sz="3600">
                <a:solidFill>
                  <a:srgbClr val="1A1A1A"/>
                </a:solidFill>
              </a:rPr>
              <a:t>What does it do?</a:t>
            </a:r>
          </a:p>
        </p:txBody>
      </p:sp>
      <p:sp>
        <p:nvSpPr>
          <p:cNvPr id="4" name="Text 4"/>
          <p:cNvSpPr/>
          <p:nvPr/>
        </p:nvSpPr>
        <p:spPr>
          <a:xfrm xmlns:a="http://schemas.openxmlformats.org/drawingml/2006/main">
            <a:off x="546100" y="1391920"/>
            <a:ext cx="54356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l"/>
            <a:r>
              <a:rPr sz="1600" b="1">
                <a:solidFill>
                  <a:srgbClr val="1A1A1A"/>
                </a:solidFill>
              </a:rPr>
              <a:t>Creation</a:t>
            </a:r>
          </a:p>
        </p:txBody>
      </p:sp>
      <p:sp>
        <p:nvSpPr>
          <p:cNvPr id="5" name="Ellipse 5"/>
          <p:cNvSpPr/>
          <p:nvPr/>
        </p:nvSpPr>
        <p:spPr>
          <a:xfrm xmlns:a="http://schemas.openxmlformats.org/drawingml/2006/main">
            <a:off x="546100" y="186245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00"/>
          </a:solidFill>
          <a:ln xmlns:a="http://schemas.openxmlformats.org/drawingml/2006/main">
            <a:noFill/>
          </a:ln>
        </p:spPr>
      </p:sp>
      <p:sp>
        <p:nvSpPr>
          <p:cNvPr id="6" name="Text 6"/>
          <p:cNvSpPr/>
          <p:nvPr/>
        </p:nvSpPr>
        <p:spPr>
          <a:xfrm xmlns:a="http://schemas.openxmlformats.org/drawingml/2006/main">
            <a:off x="723900" y="1780540"/>
            <a:ext cx="525780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p xmlns:a="http://schemas.openxmlformats.org/drawingml/2006/main">
            <a:pPr algn="l"/>
            <a:r>
              <a:rPr sz="1400">
                <a:solidFill>
                  <a:srgbClr val="1A1A1A"/>
                </a:solidFill>
              </a:rPr>
              <a:t>Generate PPTX from scratch via JSON vocabulary</a:t>
            </a:r>
          </a:p>
        </p:txBody>
      </p:sp>
      <p:sp>
        <p:nvSpPr>
          <p:cNvPr id="7" name="Ellipse 7"/>
          <p:cNvSpPr/>
          <p:nvPr/>
        </p:nvSpPr>
        <p:spPr>
          <a:xfrm xmlns:a="http://schemas.openxmlformats.org/drawingml/2006/main">
            <a:off x="546100" y="221678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00"/>
          </a:solidFill>
          <a:ln xmlns:a="http://schemas.openxmlformats.org/drawingml/2006/main">
            <a:noFill/>
          </a:ln>
        </p:spPr>
      </p:sp>
      <p:sp>
        <p:nvSpPr>
          <p:cNvPr id="8" name="Text 8"/>
          <p:cNvSpPr/>
          <p:nvPr/>
        </p:nvSpPr>
        <p:spPr>
          <a:xfrm xmlns:a="http://schemas.openxmlformats.org/drawingml/2006/main">
            <a:off x="723900" y="2134870"/>
            <a:ext cx="525780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p xmlns:a="http://schemas.openxmlformats.org/drawingml/2006/main">
            <a:pPr algn="l"/>
            <a:r>
              <a:rPr sz="1400">
                <a:solidFill>
                  <a:srgbClr val="1A1A1A"/>
                </a:solidFill>
              </a:rPr>
              <a:t>Build DOCX documents with instruction sets</a:t>
            </a:r>
          </a:p>
        </p:txBody>
      </p:sp>
      <p:sp>
        <p:nvSpPr>
          <p:cNvPr id="9" name="Ellipse 9"/>
          <p:cNvSpPr/>
          <p:nvPr/>
        </p:nvSpPr>
        <p:spPr>
          <a:xfrm xmlns:a="http://schemas.openxmlformats.org/drawingml/2006/main">
            <a:off x="546100" y="257111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00"/>
          </a:solidFill>
          <a:ln xmlns:a="http://schemas.openxmlformats.org/drawingml/2006/main">
            <a:noFill/>
          </a:ln>
        </p:spPr>
      </p:sp>
      <p:sp>
        <p:nvSpPr>
          <p:cNvPr id="10" name="Text 10"/>
          <p:cNvSpPr/>
          <p:nvPr/>
        </p:nvSpPr>
        <p:spPr>
          <a:xfrm xmlns:a="http://schemas.openxmlformats.org/drawingml/2006/main">
            <a:off x="723900" y="2489200"/>
            <a:ext cx="525780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p xmlns:a="http://schemas.openxmlformats.org/drawingml/2006/main">
            <a:pPr algn="l"/>
            <a:r>
              <a:rPr sz="1400">
                <a:solidFill>
                  <a:srgbClr val="1A1A1A"/>
                </a:solidFill>
              </a:rPr>
              <a:t>Template-based output with preserved styles</a:t>
            </a:r>
          </a:p>
        </p:txBody>
      </p:sp>
      <p:sp>
        <p:nvSpPr>
          <p:cNvPr id="11" name="Text 11"/>
          <p:cNvSpPr/>
          <p:nvPr/>
        </p:nvSpPr>
        <p:spPr>
          <a:xfrm xmlns:a="http://schemas.openxmlformats.org/drawingml/2006/main">
            <a:off x="6210300" y="1391920"/>
            <a:ext cx="54356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l"/>
            <a:r>
              <a:rPr sz="1600" b="1">
                <a:solidFill>
                  <a:srgbClr val="1A1A1A"/>
                </a:solidFill>
              </a:rPr>
              <a:t>Editing &amp; Export</a:t>
            </a:r>
          </a:p>
        </p:txBody>
      </p:sp>
      <p:sp>
        <p:nvSpPr>
          <p:cNvPr id="12" name="Ellipse 12"/>
          <p:cNvSpPr/>
          <p:nvPr/>
        </p:nvSpPr>
        <p:spPr>
          <a:xfrm xmlns:a="http://schemas.openxmlformats.org/drawingml/2006/main">
            <a:off x="6210300" y="186245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00"/>
          </a:solidFill>
          <a:ln xmlns:a="http://schemas.openxmlformats.org/drawingml/2006/main">
            <a:noFill/>
          </a:ln>
        </p:spPr>
      </p:sp>
      <p:sp>
        <p:nvSpPr>
          <p:cNvPr id="13" name="Text 13"/>
          <p:cNvSpPr/>
          <p:nvPr/>
        </p:nvSpPr>
        <p:spPr>
          <a:xfrm xmlns:a="http://schemas.openxmlformats.org/drawingml/2006/main">
            <a:off x="6388100" y="1780540"/>
            <a:ext cx="525780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p xmlns:a="http://schemas.openxmlformats.org/drawingml/2006/main">
            <a:pPr algn="l"/>
            <a:r>
              <a:rPr sz="1400">
                <a:solidFill>
                  <a:srgbClr val="1A1A1A"/>
                </a:solidFill>
              </a:rPr>
              <a:t>Replace images and text with fit modes</a:t>
            </a:r>
          </a:p>
        </p:txBody>
      </p:sp>
      <p:sp>
        <p:nvSpPr>
          <p:cNvPr id="14" name="Ellipse 14"/>
          <p:cNvSpPr/>
          <p:nvPr/>
        </p:nvSpPr>
        <p:spPr>
          <a:xfrm xmlns:a="http://schemas.openxmlformats.org/drawingml/2006/main">
            <a:off x="6210300" y="221678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00"/>
          </a:solidFill>
          <a:ln xmlns:a="http://schemas.openxmlformats.org/drawingml/2006/main">
            <a:noFill/>
          </a:ln>
        </p:spPr>
      </p:sp>
      <p:sp>
        <p:nvSpPr>
          <p:cNvPr id="15" name="Text 15"/>
          <p:cNvSpPr/>
          <p:nvPr/>
        </p:nvSpPr>
        <p:spPr>
          <a:xfrm xmlns:a="http://schemas.openxmlformats.org/drawingml/2006/main">
            <a:off x="6388100" y="2134870"/>
            <a:ext cx="525780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p xmlns:a="http://schemas.openxmlformats.org/drawingml/2006/main">
            <a:pPr algn="l"/>
            <a:r>
              <a:rPr sz="1400">
                <a:solidFill>
                  <a:srgbClr val="1A1A1A"/>
                </a:solidFill>
              </a:rPr>
              <a:t>Extract brand profiles from existing decks</a:t>
            </a:r>
          </a:p>
        </p:txBody>
      </p:sp>
      <p:sp>
        <p:nvSpPr>
          <p:cNvPr id="16" name="Ellipse 16"/>
          <p:cNvSpPr/>
          <p:nvPr/>
        </p:nvSpPr>
        <p:spPr>
          <a:xfrm xmlns:a="http://schemas.openxmlformats.org/drawingml/2006/main">
            <a:off x="6210300" y="257111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00"/>
          </a:solidFill>
          <a:ln xmlns:a="http://schemas.openxmlformats.org/drawingml/2006/main">
            <a:noFill/>
          </a:ln>
        </p:spPr>
      </p:sp>
      <p:sp>
        <p:nvSpPr>
          <p:cNvPr id="17" name="Text 17"/>
          <p:cNvSpPr/>
          <p:nvPr/>
        </p:nvSpPr>
        <p:spPr>
          <a:xfrm xmlns:a="http://schemas.openxmlformats.org/drawingml/2006/main">
            <a:off x="6388100" y="2489200"/>
            <a:ext cx="525780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p xmlns:a="http://schemas.openxmlformats.org/drawingml/2006/main">
            <a:pPr algn="l"/>
            <a:r>
              <a:rPr sz="1400">
                <a:solidFill>
                  <a:srgbClr val="1A1A1A"/>
                </a:solidFill>
              </a:rPr>
              <a:t>Export PPTX to PDF/PNG/SVG via TypstBridge</a:t>
            </a:r>
          </a:p>
        </p:txBody>
      </p:sp>
    </p:spTree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Container 2"/>
          <p:cNvSpPr/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</p:sp>
      <p:sp>
        <p:nvSpPr>
          <p:cNvPr id="3" name="Line 3"/>
          <p:cNvSpPr/>
          <p:nvPr/>
        </p:nvSpPr>
        <p:spPr>
          <a:xfrm xmlns:a="http://schemas.openxmlformats.org/drawingml/2006/main">
            <a:off x="546100" y="4730750"/>
            <a:ext cx="11099800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FF6B00"/>
            </a:solidFill>
          </a:ln>
        </p:spPr>
      </p:sp>
      <p:sp>
        <p:nvSpPr>
          <p:cNvPr id="4" name="Container 4"/>
          <p:cNvSpPr/>
          <p:nvPr/>
        </p:nvSpPr>
        <p:spPr>
          <a:xfrm xmlns:a="http://schemas.openxmlformats.org/drawingml/2006/main">
            <a:off x="546100" y="4972050"/>
            <a:ext cx="3623729" cy="1339850"/>
          </a:xfrm>
          <a:prstGeom xmlns:a="http://schemas.openxmlformats.org/drawingml/2006/main" prst="roundRect">
            <a:avLst>
              <a:gd name="adj1" fmla="val 37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</p:sp>
      <p:sp>
        <p:nvSpPr>
          <p:cNvPr id="5" name="Text 5"/>
          <p:cNvSpPr/>
          <p:nvPr/>
        </p:nvSpPr>
        <p:spPr>
          <a:xfrm xmlns:a="http://schemas.openxmlformats.org/drawingml/2006/main">
            <a:off x="774700" y="5200650"/>
            <a:ext cx="3166529" cy="617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ctr"/>
            <a:r>
              <a:rPr sz="3600" b="1">
                <a:solidFill>
                  <a:srgbClr val="0B3D91"/>
                </a:solidFill>
              </a:rPr>
              <a:t>01</a:t>
            </a:r>
          </a:p>
        </p:txBody>
      </p:sp>
      <p:sp>
        <p:nvSpPr>
          <p:cNvPr id="6" name="Text 6"/>
          <p:cNvSpPr/>
          <p:nvPr/>
        </p:nvSpPr>
        <p:spPr>
          <a:xfrm xmlns:a="http://schemas.openxmlformats.org/drawingml/2006/main">
            <a:off x="774700" y="5843270"/>
            <a:ext cx="3166529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ctr"/>
            <a:r>
              <a:rPr sz="1400">
                <a:solidFill>
                  <a:srgbClr val="8A94A6"/>
                </a:solidFill>
              </a:rPr>
              <a:t>ARCHITECTURE</a:t>
            </a:r>
          </a:p>
        </p:txBody>
      </p:sp>
      <p:sp>
        <p:nvSpPr>
          <p:cNvPr id="7" name="Text 7"/>
          <p:cNvSpPr/>
          <p:nvPr/>
        </p:nvSpPr>
        <p:spPr>
          <a:xfrm xmlns:a="http://schemas.openxmlformats.org/drawingml/2006/main">
            <a:off x="4398429" y="4972050"/>
            <a:ext cx="7247471" cy="617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l"/>
            <a:r>
              <a:rPr sz="3600">
                <a:solidFill>
                  <a:srgbClr val="1A1A1A"/>
                </a:solidFill>
              </a:rPr>
              <a:t>How it works</a:t>
            </a:r>
          </a:p>
        </p:txBody>
      </p:sp>
      <p:sp>
        <p:nvSpPr>
          <p:cNvPr id="8" name="Text 8"/>
          <p:cNvSpPr/>
          <p:nvPr/>
        </p:nvSpPr>
        <p:spPr>
          <a:xfrm xmlns:a="http://schemas.openxmlformats.org/drawingml/2006/main">
            <a:off x="4398429" y="5640070"/>
            <a:ext cx="7247471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l"/>
            <a:r>
              <a:rPr sz="1400">
                <a:solidFill>
                  <a:srgbClr val="8A94A6"/>
                </a:solidFill>
              </a:rPr>
              <a:t>Instruction pattern · Layered emitters · Exact preview</a:t>
            </a:r>
          </a:p>
        </p:txBody>
      </p:sp>
    </p:spTree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Container 2"/>
          <p:cNvSpPr/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</p:sp>
      <p:sp>
        <p:nvSpPr>
          <p:cNvPr id="3" name="Text 3"/>
          <p:cNvSpPr/>
          <p:nvPr/>
        </p:nvSpPr>
        <p:spPr>
          <a:xfrm xmlns:a="http://schemas.openxmlformats.org/drawingml/2006/main">
            <a:off x="546100" y="546100"/>
            <a:ext cx="11099800" cy="617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l"/>
            <a:r>
              <a:rPr sz="3600">
                <a:solidFill>
                  <a:srgbClr val="1A1A1A"/>
                </a:solidFill>
              </a:rPr>
              <a:t>Architecture deep-dive</a:t>
            </a:r>
          </a:p>
        </p:txBody>
      </p:sp>
      <p:sp>
        <p:nvSpPr>
          <p:cNvPr id="4" name="Text 4"/>
          <p:cNvSpPr/>
          <p:nvPr/>
        </p:nvSpPr>
        <p:spPr>
          <a:xfrm xmlns:a="http://schemas.openxmlformats.org/drawingml/2006/main">
            <a:off x="546100" y="1391920"/>
            <a:ext cx="652272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l"/>
            <a:r>
              <a:rPr sz="1600" b="1">
                <a:solidFill>
                  <a:srgbClr val="1A1A1A"/>
                </a:solidFill>
              </a:rPr>
              <a:t>Pipeline</a:t>
            </a:r>
          </a:p>
        </p:txBody>
      </p:sp>
      <p:sp>
        <p:nvSpPr>
          <p:cNvPr id="5" name="Ellipse 5"/>
          <p:cNvSpPr/>
          <p:nvPr/>
        </p:nvSpPr>
        <p:spPr>
          <a:xfrm xmlns:a="http://schemas.openxmlformats.org/drawingml/2006/main">
            <a:off x="546100" y="186245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00"/>
          </a:solidFill>
          <a:ln xmlns:a="http://schemas.openxmlformats.org/drawingml/2006/main">
            <a:noFill/>
          </a:ln>
        </p:spPr>
      </p:sp>
      <p:sp>
        <p:nvSpPr>
          <p:cNvPr id="6" name="Text 6"/>
          <p:cNvSpPr/>
          <p:nvPr/>
        </p:nvSpPr>
        <p:spPr>
          <a:xfrm xmlns:a="http://schemas.openxmlformats.org/drawingml/2006/main">
            <a:off x="723900" y="1780540"/>
            <a:ext cx="634492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p xmlns:a="http://schemas.openxmlformats.org/drawingml/2006/main">
            <a:pPr algn="l"/>
            <a:r>
              <a:rPr sz="1400">
                <a:solidFill>
                  <a:srgbClr val="1A1A1A"/>
                </a:solidFill>
              </a:rPr>
              <a:t>JSON/YAML → Instruction objects → Executors → OOXML</a:t>
            </a:r>
          </a:p>
        </p:txBody>
      </p:sp>
      <p:sp>
        <p:nvSpPr>
          <p:cNvPr id="7" name="Ellipse 7"/>
          <p:cNvSpPr/>
          <p:nvPr/>
        </p:nvSpPr>
        <p:spPr>
          <a:xfrm xmlns:a="http://schemas.openxmlformats.org/drawingml/2006/main">
            <a:off x="546100" y="221678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00"/>
          </a:solidFill>
          <a:ln xmlns:a="http://schemas.openxmlformats.org/drawingml/2006/main">
            <a:noFill/>
          </a:ln>
        </p:spPr>
      </p:sp>
      <p:sp>
        <p:nvSpPr>
          <p:cNvPr id="8" name="Text 8"/>
          <p:cNvSpPr/>
          <p:nvPr/>
        </p:nvSpPr>
        <p:spPr>
          <a:xfrm xmlns:a="http://schemas.openxmlformats.org/drawingml/2006/main">
            <a:off x="723900" y="2134870"/>
            <a:ext cx="634492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p xmlns:a="http://schemas.openxmlformats.org/drawingml/2006/main">
            <a:pPr algn="l"/>
            <a:r>
              <a:rPr sz="1400">
                <a:solidFill>
                  <a:srgbClr val="1A1A1A"/>
                </a:solidFill>
              </a:rPr>
              <a:t>Single layout pass shared by OOXML + Typst emitters</a:t>
            </a:r>
          </a:p>
        </p:txBody>
      </p:sp>
      <p:sp>
        <p:nvSpPr>
          <p:cNvPr id="9" name="Ellipse 9"/>
          <p:cNvSpPr/>
          <p:nvPr/>
        </p:nvSpPr>
        <p:spPr>
          <a:xfrm xmlns:a="http://schemas.openxmlformats.org/drawingml/2006/main">
            <a:off x="546100" y="257111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00"/>
          </a:solidFill>
          <a:ln xmlns:a="http://schemas.openxmlformats.org/drawingml/2006/main">
            <a:noFill/>
          </a:ln>
        </p:spPr>
      </p:sp>
      <p:sp>
        <p:nvSpPr>
          <p:cNvPr id="10" name="Text 10"/>
          <p:cNvSpPr/>
          <p:nvPr/>
        </p:nvSpPr>
        <p:spPr>
          <a:xfrm xmlns:a="http://schemas.openxmlformats.org/drawingml/2006/main">
            <a:off x="723900" y="2489200"/>
            <a:ext cx="634492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p xmlns:a="http://schemas.openxmlformats.org/drawingml/2006/main">
            <a:pPr algn="l"/>
            <a:r>
              <a:rPr sz="1400">
                <a:solidFill>
                  <a:srgbClr val="1A1A1A"/>
                </a:solidFill>
              </a:rPr>
              <a:t>Components: card, kpi, bullet_list, title_block, badge, table, divider, image_card</a:t>
            </a:r>
          </a:p>
        </p:txBody>
      </p:sp>
      <p:sp>
        <p:nvSpPr>
          <p:cNvPr id="11" name="Ellipse 11"/>
          <p:cNvSpPr/>
          <p:nvPr/>
        </p:nvSpPr>
        <p:spPr>
          <a:xfrm xmlns:a="http://schemas.openxmlformats.org/drawingml/2006/main">
            <a:off x="546100" y="292544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00"/>
          </a:solidFill>
          <a:ln xmlns:a="http://schemas.openxmlformats.org/drawingml/2006/main">
            <a:noFill/>
          </a:ln>
        </p:spPr>
      </p:sp>
      <p:sp>
        <p:nvSpPr>
          <p:cNvPr id="12" name="Text 12"/>
          <p:cNvSpPr/>
          <p:nvPr/>
        </p:nvSpPr>
        <p:spPr>
          <a:xfrm xmlns:a="http://schemas.openxmlformats.org/drawingml/2006/main">
            <a:off x="723900" y="2843530"/>
            <a:ext cx="634492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p xmlns:a="http://schemas.openxmlformats.org/drawingml/2006/main">
            <a:pPr algn="l"/>
            <a:r>
              <a:rPr sz="1400">
                <a:solidFill>
                  <a:srgbClr val="1A1A1A"/>
                </a:solidFill>
              </a:rPr>
              <a:t>Archetypes: cover, section, two_col, kpi_row, table_slide</a:t>
            </a:r>
          </a:p>
        </p:txBody>
      </p:sp>
      <p:sp>
        <p:nvSpPr>
          <p:cNvPr id="13" name="Container 13"/>
          <p:cNvSpPr/>
          <p:nvPr/>
        </p:nvSpPr>
        <p:spPr>
          <a:xfrm xmlns:a="http://schemas.openxmlformats.org/drawingml/2006/main">
            <a:off x="7297420" y="1391920"/>
            <a:ext cx="4348480" cy="4919980"/>
          </a:xfrm>
          <a:prstGeom xmlns:a="http://schemas.openxmlformats.org/drawingml/2006/main" prst="roundRect">
            <a:avLst>
              <a:gd name="adj1" fmla="val 116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</p:sp>
      <p:sp>
        <p:nvSpPr>
          <p:cNvPr id="14" name="Text 14"/>
          <p:cNvSpPr/>
          <p:nvPr/>
        </p:nvSpPr>
        <p:spPr>
          <a:xfrm xmlns:a="http://schemas.openxmlformats.org/drawingml/2006/main">
            <a:off x="7526020" y="1620520"/>
            <a:ext cx="389128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l"/>
            <a:r>
              <a:rPr sz="1600" b="1">
                <a:solidFill>
                  <a:srgbClr val="1A1A1A"/>
                </a:solidFill>
              </a:rPr>
              <a:t>TypstBridge</a:t>
            </a:r>
          </a:p>
        </p:txBody>
      </p:sp>
      <p:sp>
        <p:nvSpPr>
          <p:cNvPr id="15" name="Text 15"/>
          <p:cNvSpPr/>
          <p:nvPr/>
        </p:nvSpPr>
        <p:spPr>
          <a:xfrm xmlns:a="http://schemas.openxmlformats.org/drawingml/2006/main">
            <a:off x="7526020" y="1945640"/>
            <a:ext cx="389128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l"/>
            <a:r>
              <a:rPr sz="1400">
                <a:solidFill>
                  <a:srgbClr val="8A94A6"/>
                </a:solidFill>
              </a:rPr>
              <a:t>Preview engine</a:t>
            </a:r>
          </a:p>
        </p:txBody>
      </p:sp>
      <p:sp>
        <p:nvSpPr>
          <p:cNvPr id="16" name="Text 16"/>
          <p:cNvSpPr/>
          <p:nvPr/>
        </p:nvSpPr>
        <p:spPr>
          <a:xfrm xmlns:a="http://schemas.openxmlformats.org/drawingml/2006/main">
            <a:off x="7526020" y="2236470"/>
            <a:ext cx="3891280" cy="38468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l"/>
            <a:r>
              <a:rPr sz="1400">
                <a:solidFill>
                  <a:srgbClr val="1A1A1A"/>
                </a:solidFill>
              </a:rPr>
              <a:t>Native + managed wrapper. ABI v3 with font cache, comemo eviction and persistent compile sessions.</a:t>
            </a:r>
          </a:p>
        </p:txBody>
      </p:sp>
    </p:spTree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Container 2"/>
          <p:cNvSpPr/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</p:sp>
      <p:sp>
        <p:nvSpPr>
          <p:cNvPr id="3" name="Text 3"/>
          <p:cNvSpPr/>
          <p:nvPr/>
        </p:nvSpPr>
        <p:spPr>
          <a:xfrm xmlns:a="http://schemas.openxmlformats.org/drawingml/2006/main">
            <a:off x="546100" y="546100"/>
            <a:ext cx="11099800" cy="617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l"/>
            <a:r>
              <a:rPr sz="3600">
                <a:solidFill>
                  <a:srgbClr val="1A1A1A"/>
                </a:solidFill>
              </a:rPr>
              <a:t>Technology stack</a:t>
            </a:r>
          </a:p>
        </p:txBody>
      </p:sp>
      <p:sp>
        <p:nvSpPr>
          <p:cNvPr id="4" name="Container 4"/>
          <p:cNvSpPr/>
          <p:nvPr/>
        </p:nvSpPr>
        <p:spPr>
          <a:xfrm xmlns:a="http://schemas.openxmlformats.org/drawingml/2006/main">
            <a:off x="546100" y="1391920"/>
            <a:ext cx="11099800" cy="392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3D91"/>
          </a:solidFill>
          <a:ln xmlns:a="http://schemas.openxmlformats.org/drawingml/2006/main">
            <a:noFill/>
          </a:ln>
        </p:spPr>
      </p:sp>
      <p:sp>
        <p:nvSpPr>
          <p:cNvPr id="5" name="Text 5"/>
          <p:cNvSpPr/>
          <p:nvPr/>
        </p:nvSpPr>
        <p:spPr>
          <a:xfrm xmlns:a="http://schemas.openxmlformats.org/drawingml/2006/main">
            <a:off x="647700" y="1468120"/>
            <a:ext cx="257175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p xmlns:a="http://schemas.openxmlformats.org/drawingml/2006/main">
            <a:pPr algn="l"/>
            <a:r>
              <a:rPr sz="1400" b="1">
                <a:solidFill>
                  <a:srgbClr val="FFFFFF"/>
                </a:solidFill>
              </a:rPr>
              <a:t>Layer</a:t>
            </a:r>
          </a:p>
        </p:txBody>
      </p:sp>
      <p:sp>
        <p:nvSpPr>
          <p:cNvPr id="6" name="Text 6"/>
          <p:cNvSpPr/>
          <p:nvPr/>
        </p:nvSpPr>
        <p:spPr>
          <a:xfrm xmlns:a="http://schemas.openxmlformats.org/drawingml/2006/main">
            <a:off x="3422650" y="1468120"/>
            <a:ext cx="3959225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p xmlns:a="http://schemas.openxmlformats.org/drawingml/2006/main">
            <a:pPr algn="l"/>
            <a:r>
              <a:rPr sz="1400" b="1">
                <a:solidFill>
                  <a:srgbClr val="FFFFFF"/>
                </a:solidFill>
              </a:rPr>
              <a:t>Technology</a:t>
            </a:r>
          </a:p>
        </p:txBody>
      </p:sp>
      <p:sp>
        <p:nvSpPr>
          <p:cNvPr id="7" name="Text 7"/>
          <p:cNvSpPr/>
          <p:nvPr/>
        </p:nvSpPr>
        <p:spPr>
          <a:xfrm xmlns:a="http://schemas.openxmlformats.org/drawingml/2006/main">
            <a:off x="7585075" y="1468120"/>
            <a:ext cx="3959225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p xmlns:a="http://schemas.openxmlformats.org/drawingml/2006/main">
            <a:pPr algn="l"/>
            <a:r>
              <a:rPr sz="1400" b="1">
                <a:solidFill>
                  <a:srgbClr val="FFFFFF"/>
                </a:solidFill>
              </a:rPr>
              <a:t>Role</a:t>
            </a:r>
          </a:p>
        </p:txBody>
      </p:sp>
      <p:sp>
        <p:nvSpPr>
          <p:cNvPr id="8" name="Text 8"/>
          <p:cNvSpPr/>
          <p:nvPr/>
        </p:nvSpPr>
        <p:spPr>
          <a:xfrm xmlns:a="http://schemas.openxmlformats.org/drawingml/2006/main">
            <a:off x="647700" y="1860550"/>
            <a:ext cx="257175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p xmlns:a="http://schemas.openxmlformats.org/drawingml/2006/main">
            <a:pPr algn="l"/>
            <a:r>
              <a:rPr sz="1400">
                <a:solidFill>
                  <a:srgbClr val="1A1A1A"/>
                </a:solidFill>
              </a:rPr>
              <a:t>Runtime</a:t>
            </a:r>
          </a:p>
        </p:txBody>
      </p:sp>
      <p:sp>
        <p:nvSpPr>
          <p:cNvPr id="9" name="Text 9"/>
          <p:cNvSpPr/>
          <p:nvPr/>
        </p:nvSpPr>
        <p:spPr>
          <a:xfrm xmlns:a="http://schemas.openxmlformats.org/drawingml/2006/main">
            <a:off x="3422650" y="1860550"/>
            <a:ext cx="3959225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p xmlns:a="http://schemas.openxmlformats.org/drawingml/2006/main">
            <a:pPr algn="l"/>
            <a:r>
              <a:rPr sz="1400">
                <a:solidFill>
                  <a:srgbClr val="1A1A1A"/>
                </a:solidFill>
              </a:rPr>
              <a:t>.NET 9 · C# 12</a:t>
            </a:r>
          </a:p>
        </p:txBody>
      </p:sp>
      <p:sp>
        <p:nvSpPr>
          <p:cNvPr id="10" name="Text 10"/>
          <p:cNvSpPr/>
          <p:nvPr/>
        </p:nvSpPr>
        <p:spPr>
          <a:xfrm xmlns:a="http://schemas.openxmlformats.org/drawingml/2006/main">
            <a:off x="7585075" y="1860550"/>
            <a:ext cx="3959225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p xmlns:a="http://schemas.openxmlformats.org/drawingml/2006/main">
            <a:pPr algn="l"/>
            <a:r>
              <a:rPr sz="1400">
                <a:solidFill>
                  <a:srgbClr val="1A1A1A"/>
                </a:solidFill>
              </a:rPr>
              <a:t>Primary app code</a:t>
            </a:r>
          </a:p>
        </p:txBody>
      </p:sp>
      <p:sp>
        <p:nvSpPr>
          <p:cNvPr id="11" name="Text 11"/>
          <p:cNvSpPr/>
          <p:nvPr/>
        </p:nvSpPr>
        <p:spPr>
          <a:xfrm xmlns:a="http://schemas.openxmlformats.org/drawingml/2006/main">
            <a:off x="647700" y="2252980"/>
            <a:ext cx="257175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p xmlns:a="http://schemas.openxmlformats.org/drawingml/2006/main">
            <a:pPr algn="l"/>
            <a:r>
              <a:rPr sz="1400">
                <a:solidFill>
                  <a:srgbClr val="1A1A1A"/>
                </a:solidFill>
              </a:rPr>
              <a:t>OOXML</a:t>
            </a:r>
          </a:p>
        </p:txBody>
      </p:sp>
      <p:sp>
        <p:nvSpPr>
          <p:cNvPr id="12" name="Text 12"/>
          <p:cNvSpPr/>
          <p:nvPr/>
        </p:nvSpPr>
        <p:spPr>
          <a:xfrm xmlns:a="http://schemas.openxmlformats.org/drawingml/2006/main">
            <a:off x="3422650" y="2252980"/>
            <a:ext cx="3959225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p xmlns:a="http://schemas.openxmlformats.org/drawingml/2006/main">
            <a:pPr algn="l"/>
            <a:r>
              <a:rPr sz="1400">
                <a:solidFill>
                  <a:srgbClr val="1A1A1A"/>
                </a:solidFill>
              </a:rPr>
              <a:t>DocumentFormat.OpenXml</a:t>
            </a:r>
          </a:p>
        </p:txBody>
      </p:sp>
      <p:sp>
        <p:nvSpPr>
          <p:cNvPr id="13" name="Text 13"/>
          <p:cNvSpPr/>
          <p:nvPr/>
        </p:nvSpPr>
        <p:spPr>
          <a:xfrm xmlns:a="http://schemas.openxmlformats.org/drawingml/2006/main">
            <a:off x="7585075" y="2252980"/>
            <a:ext cx="3959225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p xmlns:a="http://schemas.openxmlformats.org/drawingml/2006/main">
            <a:pPr algn="l"/>
            <a:r>
              <a:rPr sz="1400">
                <a:solidFill>
                  <a:srgbClr val="1A1A1A"/>
                </a:solidFill>
              </a:rPr>
              <a:t>DOCX/PPTX/XLSX emission</a:t>
            </a:r>
          </a:p>
        </p:txBody>
      </p:sp>
      <p:sp>
        <p:nvSpPr>
          <p:cNvPr id="14" name="Text 14"/>
          <p:cNvSpPr/>
          <p:nvPr/>
        </p:nvSpPr>
        <p:spPr>
          <a:xfrm xmlns:a="http://schemas.openxmlformats.org/drawingml/2006/main">
            <a:off x="647700" y="2645410"/>
            <a:ext cx="257175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p xmlns:a="http://schemas.openxmlformats.org/drawingml/2006/main">
            <a:pPr algn="l"/>
            <a:r>
              <a:rPr sz="1400">
                <a:solidFill>
                  <a:srgbClr val="1A1A1A"/>
                </a:solidFill>
              </a:rPr>
              <a:t>Rendering</a:t>
            </a:r>
          </a:p>
        </p:txBody>
      </p:sp>
      <p:sp>
        <p:nvSpPr>
          <p:cNvPr id="15" name="Text 15"/>
          <p:cNvSpPr/>
          <p:nvPr/>
        </p:nvSpPr>
        <p:spPr>
          <a:xfrm xmlns:a="http://schemas.openxmlformats.org/drawingml/2006/main">
            <a:off x="3422650" y="2645410"/>
            <a:ext cx="3959225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p xmlns:a="http://schemas.openxmlformats.org/drawingml/2006/main">
            <a:pPr algn="l"/>
            <a:r>
              <a:rPr sz="1400">
                <a:solidFill>
                  <a:srgbClr val="1A1A1A"/>
                </a:solidFill>
              </a:rPr>
              <a:t>TypstBridge · typstsharp · typst CLI</a:t>
            </a:r>
          </a:p>
        </p:txBody>
      </p:sp>
      <p:sp>
        <p:nvSpPr>
          <p:cNvPr id="16" name="Text 16"/>
          <p:cNvSpPr/>
          <p:nvPr/>
        </p:nvSpPr>
        <p:spPr>
          <a:xfrm xmlns:a="http://schemas.openxmlformats.org/drawingml/2006/main">
            <a:off x="7585075" y="2645410"/>
            <a:ext cx="3959225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p xmlns:a="http://schemas.openxmlformats.org/drawingml/2006/main">
            <a:pPr algn="l"/>
            <a:r>
              <a:rPr sz="1400">
                <a:solidFill>
                  <a:srgbClr val="1A1A1A"/>
                </a:solidFill>
              </a:rPr>
              <a:t>PPTX → PDF/PNG/SVG</a:t>
            </a:r>
          </a:p>
        </p:txBody>
      </p:sp>
      <p:sp>
        <p:nvSpPr>
          <p:cNvPr id="17" name="Text 17"/>
          <p:cNvSpPr/>
          <p:nvPr/>
        </p:nvSpPr>
        <p:spPr>
          <a:xfrm xmlns:a="http://schemas.openxmlformats.org/drawingml/2006/main">
            <a:off x="647700" y="3037840"/>
            <a:ext cx="257175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p xmlns:a="http://schemas.openxmlformats.org/drawingml/2006/main">
            <a:pPr algn="l"/>
            <a:r>
              <a:rPr sz="1400">
                <a:solidFill>
                  <a:srgbClr val="1A1A1A"/>
                </a:solidFill>
              </a:rPr>
              <a:t>Serialization</a:t>
            </a:r>
          </a:p>
        </p:txBody>
      </p:sp>
      <p:sp>
        <p:nvSpPr>
          <p:cNvPr id="18" name="Text 18"/>
          <p:cNvSpPr/>
          <p:nvPr/>
        </p:nvSpPr>
        <p:spPr>
          <a:xfrm xmlns:a="http://schemas.openxmlformats.org/drawingml/2006/main">
            <a:off x="3422650" y="3037840"/>
            <a:ext cx="3959225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p xmlns:a="http://schemas.openxmlformats.org/drawingml/2006/main">
            <a:pPr algn="l"/>
            <a:r>
              <a:rPr sz="1400">
                <a:solidFill>
                  <a:srgbClr val="1A1A1A"/>
                </a:solidFill>
              </a:rPr>
              <a:t>System.Text.Json · YamlDotNet</a:t>
            </a:r>
          </a:p>
        </p:txBody>
      </p:sp>
      <p:sp>
        <p:nvSpPr>
          <p:cNvPr id="19" name="Text 19"/>
          <p:cNvSpPr/>
          <p:nvPr/>
        </p:nvSpPr>
        <p:spPr>
          <a:xfrm xmlns:a="http://schemas.openxmlformats.org/drawingml/2006/main">
            <a:off x="7585075" y="3037840"/>
            <a:ext cx="3959225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p xmlns:a="http://schemas.openxmlformats.org/drawingml/2006/main">
            <a:pPr algn="l"/>
            <a:r>
              <a:rPr sz="1400">
                <a:solidFill>
                  <a:srgbClr val="1A1A1A"/>
                </a:solidFill>
              </a:rPr>
              <a:t>Instruction documents</a:t>
            </a:r>
          </a:p>
        </p:txBody>
      </p:sp>
      <p:sp>
        <p:nvSpPr>
          <p:cNvPr id="20" name="Text 20"/>
          <p:cNvSpPr/>
          <p:nvPr/>
        </p:nvSpPr>
        <p:spPr>
          <a:xfrm xmlns:a="http://schemas.openxmlformats.org/drawingml/2006/main">
            <a:off x="647700" y="3430270"/>
            <a:ext cx="257175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p xmlns:a="http://schemas.openxmlformats.org/drawingml/2006/main">
            <a:pPr algn="l"/>
            <a:r>
              <a:rPr sz="1400">
                <a:solidFill>
                  <a:srgbClr val="1A1A1A"/>
                </a:solidFill>
              </a:rPr>
              <a:t>CLI</a:t>
            </a:r>
          </a:p>
        </p:txBody>
      </p:sp>
      <p:sp>
        <p:nvSpPr>
          <p:cNvPr id="21" name="Text 21"/>
          <p:cNvSpPr/>
          <p:nvPr/>
        </p:nvSpPr>
        <p:spPr>
          <a:xfrm xmlns:a="http://schemas.openxmlformats.org/drawingml/2006/main">
            <a:off x="3422650" y="3430270"/>
            <a:ext cx="3959225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p xmlns:a="http://schemas.openxmlformats.org/drawingml/2006/main">
            <a:pPr algn="l"/>
            <a:r>
              <a:rPr sz="1400">
                <a:solidFill>
                  <a:srgbClr val="1A1A1A"/>
                </a:solidFill>
              </a:rPr>
              <a:t>Spectre.Console</a:t>
            </a:r>
          </a:p>
        </p:txBody>
      </p:sp>
      <p:sp>
        <p:nvSpPr>
          <p:cNvPr id="22" name="Text 22"/>
          <p:cNvSpPr/>
          <p:nvPr/>
        </p:nvSpPr>
        <p:spPr>
          <a:xfrm xmlns:a="http://schemas.openxmlformats.org/drawingml/2006/main">
            <a:off x="7585075" y="3430270"/>
            <a:ext cx="3959225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p xmlns:a="http://schemas.openxmlformats.org/drawingml/2006/main">
            <a:pPr algn="l"/>
            <a:r>
              <a:rPr sz="1400">
                <a:solidFill>
                  <a:srgbClr val="1A1A1A"/>
                </a:solidFill>
              </a:rPr>
              <a:t>Rich terminal UX</a:t>
            </a:r>
          </a:p>
        </p:txBody>
      </p:sp>
      <p:sp>
        <p:nvSpPr>
          <p:cNvPr id="23" name="Text 23"/>
          <p:cNvSpPr/>
          <p:nvPr/>
        </p:nvSpPr>
        <p:spPr>
          <a:xfrm xmlns:a="http://schemas.openxmlformats.org/drawingml/2006/main">
            <a:off x="647700" y="3822700"/>
            <a:ext cx="257175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p xmlns:a="http://schemas.openxmlformats.org/drawingml/2006/main">
            <a:pPr algn="l"/>
            <a:r>
              <a:rPr sz="1400">
                <a:solidFill>
                  <a:srgbClr val="1A1A1A"/>
                </a:solidFill>
              </a:rPr>
              <a:t>API</a:t>
            </a:r>
          </a:p>
        </p:txBody>
      </p:sp>
      <p:sp>
        <p:nvSpPr>
          <p:cNvPr id="24" name="Text 24"/>
          <p:cNvSpPr/>
          <p:nvPr/>
        </p:nvSpPr>
        <p:spPr>
          <a:xfrm xmlns:a="http://schemas.openxmlformats.org/drawingml/2006/main">
            <a:off x="3422650" y="3822700"/>
            <a:ext cx="3959225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p xmlns:a="http://schemas.openxmlformats.org/drawingml/2006/main">
            <a:pPr algn="l"/>
            <a:r>
              <a:rPr sz="1400">
                <a:solidFill>
                  <a:srgbClr val="1A1A1A"/>
                </a:solidFill>
              </a:rPr>
              <a:t>ASP.NET Core</a:t>
            </a:r>
          </a:p>
        </p:txBody>
      </p:sp>
      <p:sp>
        <p:nvSpPr>
          <p:cNvPr id="25" name="Text 25"/>
          <p:cNvSpPr/>
          <p:nvPr/>
        </p:nvSpPr>
        <p:spPr>
          <a:xfrm xmlns:a="http://schemas.openxmlformats.org/drawingml/2006/main">
            <a:off x="7585075" y="3822700"/>
            <a:ext cx="3959225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p xmlns:a="http://schemas.openxmlformats.org/drawingml/2006/main">
            <a:pPr algn="l"/>
            <a:r>
              <a:rPr sz="1400">
                <a:solidFill>
                  <a:srgbClr val="1A1A1A"/>
                </a:solidFill>
              </a:rPr>
              <a:t>Deck sessions &amp; generation</a:t>
            </a:r>
          </a:p>
        </p:txBody>
      </p:sp>
      <p:sp>
        <p:nvSpPr>
          <p:cNvPr id="26" name="Text 26"/>
          <p:cNvSpPr/>
          <p:nvPr/>
        </p:nvSpPr>
        <p:spPr>
          <a:xfrm xmlns:a="http://schemas.openxmlformats.org/drawingml/2006/main">
            <a:off x="647700" y="4215130"/>
            <a:ext cx="257175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p xmlns:a="http://schemas.openxmlformats.org/drawingml/2006/main">
            <a:pPr algn="l"/>
            <a:r>
              <a:rPr sz="1400">
                <a:solidFill>
                  <a:srgbClr val="1A1A1A"/>
                </a:solidFill>
              </a:rPr>
              <a:t>Frontend</a:t>
            </a:r>
          </a:p>
        </p:txBody>
      </p:sp>
      <p:sp>
        <p:nvSpPr>
          <p:cNvPr id="27" name="Text 27"/>
          <p:cNvSpPr/>
          <p:nvPr/>
        </p:nvSpPr>
        <p:spPr>
          <a:xfrm xmlns:a="http://schemas.openxmlformats.org/drawingml/2006/main">
            <a:off x="3422650" y="4215130"/>
            <a:ext cx="3959225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p xmlns:a="http://schemas.openxmlformats.org/drawingml/2006/main">
            <a:pPr algn="l"/>
            <a:r>
              <a:rPr sz="1400">
                <a:solidFill>
                  <a:srgbClr val="1A1A1A"/>
                </a:solidFill>
              </a:rPr>
              <a:t>Vite · Tailwind CSS</a:t>
            </a:r>
          </a:p>
        </p:txBody>
      </p:sp>
      <p:sp>
        <p:nvSpPr>
          <p:cNvPr id="28" name="Text 28"/>
          <p:cNvSpPr/>
          <p:nvPr/>
        </p:nvSpPr>
        <p:spPr>
          <a:xfrm xmlns:a="http://schemas.openxmlformats.org/drawingml/2006/main">
            <a:off x="7585075" y="4215130"/>
            <a:ext cx="3959225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p xmlns:a="http://schemas.openxmlformats.org/drawingml/2006/main">
            <a:pPr algn="l"/>
            <a:r>
              <a:rPr sz="1400">
                <a:solidFill>
                  <a:srgbClr val="1A1A1A"/>
                </a:solidFill>
              </a:rPr>
              <a:t>Web-based deck editor</a:t>
            </a:r>
          </a:p>
        </p:txBody>
      </p:sp>
      <p:sp>
        <p:nvSpPr>
          <p:cNvPr id="29" name="Text 29"/>
          <p:cNvSpPr/>
          <p:nvPr/>
        </p:nvSpPr>
        <p:spPr>
          <a:xfrm xmlns:a="http://schemas.openxmlformats.org/drawingml/2006/main">
            <a:off x="647700" y="4607560"/>
            <a:ext cx="257175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p xmlns:a="http://schemas.openxmlformats.org/drawingml/2006/main">
            <a:pPr algn="l"/>
            <a:r>
              <a:rPr sz="1400">
                <a:solidFill>
                  <a:srgbClr val="1A1A1A"/>
                </a:solidFill>
              </a:rPr>
              <a:t>Testing</a:t>
            </a:r>
          </a:p>
        </p:txBody>
      </p:sp>
      <p:sp>
        <p:nvSpPr>
          <p:cNvPr id="30" name="Text 30"/>
          <p:cNvSpPr/>
          <p:nvPr/>
        </p:nvSpPr>
        <p:spPr>
          <a:xfrm xmlns:a="http://schemas.openxmlformats.org/drawingml/2006/main">
            <a:off x="3422650" y="4607560"/>
            <a:ext cx="3959225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p xmlns:a="http://schemas.openxmlformats.org/drawingml/2006/main">
            <a:pPr algn="l"/>
            <a:r>
              <a:rPr sz="1400">
                <a:solidFill>
                  <a:srgbClr val="1A1A1A"/>
                </a:solidFill>
              </a:rPr>
              <a:t>xUnit · visual-diff suite</a:t>
            </a:r>
          </a:p>
        </p:txBody>
      </p:sp>
      <p:sp>
        <p:nvSpPr>
          <p:cNvPr id="31" name="Text 31"/>
          <p:cNvSpPr/>
          <p:nvPr/>
        </p:nvSpPr>
        <p:spPr>
          <a:xfrm xmlns:a="http://schemas.openxmlformats.org/drawingml/2006/main">
            <a:off x="7585075" y="4607560"/>
            <a:ext cx="3959225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p xmlns:a="http://schemas.openxmlformats.org/drawingml/2006/main">
            <a:pPr algn="l"/>
            <a:r>
              <a:rPr sz="1400">
                <a:solidFill>
                  <a:srgbClr val="1A1A1A"/>
                </a:solidFill>
              </a:rPr>
              <a:t>1,217 tests · RMSE parity</a:t>
            </a:r>
          </a:p>
        </p:txBody>
      </p:sp>
    </p:spTree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Container 2"/>
          <p:cNvSpPr/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</p:sp>
      <p:sp>
        <p:nvSpPr>
          <p:cNvPr id="3" name="Text 3"/>
          <p:cNvSpPr/>
          <p:nvPr/>
        </p:nvSpPr>
        <p:spPr>
          <a:xfrm xmlns:a="http://schemas.openxmlformats.org/drawingml/2006/main">
            <a:off x="546100" y="546100"/>
            <a:ext cx="11099800" cy="617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l"/>
            <a:r>
              <a:rPr sz="3600">
                <a:solidFill>
                  <a:srgbClr val="1A1A1A"/>
                </a:solidFill>
              </a:rPr>
              <a:t>Recent milestones (Phase 5)</a:t>
            </a:r>
          </a:p>
        </p:txBody>
      </p:sp>
      <p:sp>
        <p:nvSpPr>
          <p:cNvPr id="4" name="Text 4"/>
          <p:cNvSpPr/>
          <p:nvPr/>
        </p:nvSpPr>
        <p:spPr>
          <a:xfrm xmlns:a="http://schemas.openxmlformats.org/drawingml/2006/main">
            <a:off x="546100" y="1214120"/>
            <a:ext cx="1109980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l"/>
            <a:r>
              <a:rPr sz="1400">
                <a:solidFill>
                  <a:srgbClr val="8A94A6"/>
                </a:solidFill>
              </a:rPr>
              <a:t>Slide Layout Engine &amp; Generation Vocabulary</a:t>
            </a:r>
          </a:p>
        </p:txBody>
      </p:sp>
      <p:sp>
        <p:nvSpPr>
          <p:cNvPr id="5" name="Container 5"/>
          <p:cNvSpPr/>
          <p:nvPr/>
        </p:nvSpPr>
        <p:spPr>
          <a:xfrm xmlns:a="http://schemas.openxmlformats.org/drawingml/2006/main">
            <a:off x="546100" y="1682750"/>
            <a:ext cx="2603500" cy="4629150"/>
          </a:xfrm>
          <a:prstGeom xmlns:a="http://schemas.openxmlformats.org/drawingml/2006/main" prst="roundRect">
            <a:avLst>
              <a:gd name="adj1" fmla="val 19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</p:sp>
      <p:sp>
        <p:nvSpPr>
          <p:cNvPr id="6" name="Text 6"/>
          <p:cNvSpPr/>
          <p:nvPr/>
        </p:nvSpPr>
        <p:spPr>
          <a:xfrm xmlns:a="http://schemas.openxmlformats.org/drawingml/2006/main">
            <a:off x="774700" y="3440430"/>
            <a:ext cx="2146300" cy="617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ctr"/>
            <a:r>
              <a:rPr sz="3600" b="1">
                <a:solidFill>
                  <a:srgbClr val="0B3D91"/>
                </a:solidFill>
              </a:rPr>
              <a:t>10</a:t>
            </a:r>
          </a:p>
        </p:txBody>
      </p:sp>
      <p:sp>
        <p:nvSpPr>
          <p:cNvPr id="7" name="Text 7"/>
          <p:cNvSpPr/>
          <p:nvPr/>
        </p:nvSpPr>
        <p:spPr>
          <a:xfrm xmlns:a="http://schemas.openxmlformats.org/drawingml/2006/main">
            <a:off x="774700" y="4083050"/>
            <a:ext cx="214630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ctr"/>
            <a:r>
              <a:rPr sz="1400">
                <a:solidFill>
                  <a:srgbClr val="8A94A6"/>
                </a:solidFill>
              </a:rPr>
              <a:t>Workstreams</a:t>
            </a:r>
          </a:p>
        </p:txBody>
      </p:sp>
      <p:sp>
        <p:nvSpPr>
          <p:cNvPr id="8" name="Text 8"/>
          <p:cNvSpPr/>
          <p:nvPr/>
        </p:nvSpPr>
        <p:spPr>
          <a:xfrm xmlns:a="http://schemas.openxmlformats.org/drawingml/2006/main">
            <a:off x="774700" y="4348480"/>
            <a:ext cx="2146300" cy="2057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ctr"/>
            <a:r>
              <a:rPr sz="1200">
                <a:solidFill>
                  <a:srgbClr val="FF6B00"/>
                </a:solidFill>
              </a:rPr>
              <a:t>P1 to P10 completed</a:t>
            </a:r>
          </a:p>
        </p:txBody>
      </p:sp>
      <p:sp>
        <p:nvSpPr>
          <p:cNvPr id="9" name="Container 9"/>
          <p:cNvSpPr/>
          <p:nvPr/>
        </p:nvSpPr>
        <p:spPr>
          <a:xfrm xmlns:a="http://schemas.openxmlformats.org/drawingml/2006/main">
            <a:off x="3378200" y="1682750"/>
            <a:ext cx="2603500" cy="4629150"/>
          </a:xfrm>
          <a:prstGeom xmlns:a="http://schemas.openxmlformats.org/drawingml/2006/main" prst="roundRect">
            <a:avLst>
              <a:gd name="adj1" fmla="val 19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</p:sp>
      <p:sp>
        <p:nvSpPr>
          <p:cNvPr id="10" name="Text 10"/>
          <p:cNvSpPr/>
          <p:nvPr/>
        </p:nvSpPr>
        <p:spPr>
          <a:xfrm xmlns:a="http://schemas.openxmlformats.org/drawingml/2006/main">
            <a:off x="3606800" y="3440430"/>
            <a:ext cx="2146300" cy="617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ctr"/>
            <a:r>
              <a:rPr sz="3600" b="1">
                <a:solidFill>
                  <a:srgbClr val="0B3D91"/>
                </a:solidFill>
              </a:rPr>
              <a:t>5</a:t>
            </a:r>
          </a:p>
        </p:txBody>
      </p:sp>
      <p:sp>
        <p:nvSpPr>
          <p:cNvPr id="11" name="Text 11"/>
          <p:cNvSpPr/>
          <p:nvPr/>
        </p:nvSpPr>
        <p:spPr>
          <a:xfrm xmlns:a="http://schemas.openxmlformats.org/drawingml/2006/main">
            <a:off x="3606800" y="4083050"/>
            <a:ext cx="214630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ctr"/>
            <a:r>
              <a:rPr sz="1400">
                <a:solidFill>
                  <a:srgbClr val="8A94A6"/>
                </a:solidFill>
              </a:rPr>
              <a:t>Waves</a:t>
            </a:r>
          </a:p>
        </p:txBody>
      </p:sp>
      <p:sp>
        <p:nvSpPr>
          <p:cNvPr id="12" name="Text 12"/>
          <p:cNvSpPr/>
          <p:nvPr/>
        </p:nvSpPr>
        <p:spPr>
          <a:xfrm xmlns:a="http://schemas.openxmlformats.org/drawingml/2006/main">
            <a:off x="3606800" y="4348480"/>
            <a:ext cx="2146300" cy="2057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ctr"/>
            <a:r>
              <a:rPr sz="1200">
                <a:solidFill>
                  <a:srgbClr val="FF6B00"/>
                </a:solidFill>
              </a:rPr>
              <a:t>Parallel worktree-per-agent</a:t>
            </a:r>
          </a:p>
        </p:txBody>
      </p:sp>
      <p:sp>
        <p:nvSpPr>
          <p:cNvPr id="13" name="Container 13"/>
          <p:cNvSpPr/>
          <p:nvPr/>
        </p:nvSpPr>
        <p:spPr>
          <a:xfrm xmlns:a="http://schemas.openxmlformats.org/drawingml/2006/main">
            <a:off x="6210300" y="1682750"/>
            <a:ext cx="2603500" cy="4629150"/>
          </a:xfrm>
          <a:prstGeom xmlns:a="http://schemas.openxmlformats.org/drawingml/2006/main" prst="roundRect">
            <a:avLst>
              <a:gd name="adj1" fmla="val 19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</p:sp>
      <p:sp>
        <p:nvSpPr>
          <p:cNvPr id="14" name="Text 14"/>
          <p:cNvSpPr/>
          <p:nvPr/>
        </p:nvSpPr>
        <p:spPr>
          <a:xfrm xmlns:a="http://schemas.openxmlformats.org/drawingml/2006/main">
            <a:off x="6438900" y="3440430"/>
            <a:ext cx="2146300" cy="617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ctr"/>
            <a:r>
              <a:rPr sz="3600" b="1">
                <a:solidFill>
                  <a:srgbClr val="0B3D91"/>
                </a:solidFill>
              </a:rPr>
              <a:t>16.9ms</a:t>
            </a:r>
          </a:p>
        </p:txBody>
      </p:sp>
      <p:sp>
        <p:nvSpPr>
          <p:cNvPr id="15" name="Text 15"/>
          <p:cNvSpPr/>
          <p:nvPr/>
        </p:nvSpPr>
        <p:spPr>
          <a:xfrm xmlns:a="http://schemas.openxmlformats.org/drawingml/2006/main">
            <a:off x="6438900" y="4083050"/>
            <a:ext cx="214630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ctr"/>
            <a:r>
              <a:rPr sz="1400">
                <a:solidFill>
                  <a:srgbClr val="8A94A6"/>
                </a:solidFill>
              </a:rPr>
              <a:t>Warm gen</a:t>
            </a:r>
          </a:p>
        </p:txBody>
      </p:sp>
      <p:sp>
        <p:nvSpPr>
          <p:cNvPr id="16" name="Text 16"/>
          <p:cNvSpPr/>
          <p:nvPr/>
        </p:nvSpPr>
        <p:spPr>
          <a:xfrm xmlns:a="http://schemas.openxmlformats.org/drawingml/2006/main">
            <a:off x="6438900" y="4348480"/>
            <a:ext cx="2146300" cy="2057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ctr"/>
            <a:r>
              <a:rPr sz="1200">
                <a:solidFill>
                  <a:srgbClr val="FF6B00"/>
                </a:solidFill>
              </a:rPr>
              <a:t>deck_generate pipeline</a:t>
            </a:r>
          </a:p>
        </p:txBody>
      </p:sp>
      <p:sp>
        <p:nvSpPr>
          <p:cNvPr id="17" name="Container 17"/>
          <p:cNvSpPr/>
          <p:nvPr/>
        </p:nvSpPr>
        <p:spPr>
          <a:xfrm xmlns:a="http://schemas.openxmlformats.org/drawingml/2006/main">
            <a:off x="9042400" y="1682750"/>
            <a:ext cx="2603500" cy="4629150"/>
          </a:xfrm>
          <a:prstGeom xmlns:a="http://schemas.openxmlformats.org/drawingml/2006/main" prst="roundRect">
            <a:avLst>
              <a:gd name="adj1" fmla="val 19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</p:sp>
      <p:sp>
        <p:nvSpPr>
          <p:cNvPr id="18" name="Text 18"/>
          <p:cNvSpPr/>
          <p:nvPr/>
        </p:nvSpPr>
        <p:spPr>
          <a:xfrm xmlns:a="http://schemas.openxmlformats.org/drawingml/2006/main">
            <a:off x="9271000" y="3440430"/>
            <a:ext cx="2146300" cy="617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ctr"/>
            <a:r>
              <a:rPr sz="3600" b="1">
                <a:solidFill>
                  <a:srgbClr val="0B3D91"/>
                </a:solidFill>
              </a:rPr>
              <a:t>0</a:t>
            </a:r>
          </a:p>
        </p:txBody>
      </p:sp>
      <p:sp>
        <p:nvSpPr>
          <p:cNvPr id="19" name="Text 19"/>
          <p:cNvSpPr/>
          <p:nvPr/>
        </p:nvSpPr>
        <p:spPr>
          <a:xfrm xmlns:a="http://schemas.openxmlformats.org/drawingml/2006/main">
            <a:off x="9271000" y="4083050"/>
            <a:ext cx="214630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ctr"/>
            <a:r>
              <a:rPr sz="1400">
                <a:solidFill>
                  <a:srgbClr val="8A94A6"/>
                </a:solidFill>
              </a:rPr>
              <a:t>Failures</a:t>
            </a:r>
          </a:p>
        </p:txBody>
      </p:sp>
      <p:sp>
        <p:nvSpPr>
          <p:cNvPr id="20" name="Text 20"/>
          <p:cNvSpPr/>
          <p:nvPr/>
        </p:nvSpPr>
        <p:spPr>
          <a:xfrm xmlns:a="http://schemas.openxmlformats.org/drawingml/2006/main">
            <a:off x="9271000" y="4348480"/>
            <a:ext cx="2146300" cy="2057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ctr"/>
            <a:r>
              <a:rPr sz="1200">
                <a:solidFill>
                  <a:srgbClr val="FF6B00"/>
                </a:solidFill>
              </a:rPr>
              <a:t>1,217 tests green</a:t>
            </a:r>
          </a:p>
        </p:txBody>
      </p:sp>
    </p:spTree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Container 2"/>
          <p:cNvSpPr/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</p:sp>
      <p:sp>
        <p:nvSpPr>
          <p:cNvPr id="3" name="Text 3"/>
          <p:cNvSpPr/>
          <p:nvPr/>
        </p:nvSpPr>
        <p:spPr>
          <a:xfrm xmlns:a="http://schemas.openxmlformats.org/drawingml/2006/main">
            <a:off x="1092200" y="2719705"/>
            <a:ext cx="10007600" cy="2057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l"/>
            <a:r>
              <a:rPr sz="1200" b="1">
                <a:solidFill>
                  <a:srgbClr val="FF6B00"/>
                </a:solidFill>
              </a:rPr>
              <a:t>Open source · MIT</a:t>
            </a:r>
          </a:p>
        </p:txBody>
      </p:sp>
      <p:sp>
        <p:nvSpPr>
          <p:cNvPr id="4" name="Text 4"/>
          <p:cNvSpPr/>
          <p:nvPr/>
        </p:nvSpPr>
        <p:spPr>
          <a:xfrm xmlns:a="http://schemas.openxmlformats.org/drawingml/2006/main">
            <a:off x="1092200" y="2976245"/>
            <a:ext cx="10007600" cy="617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l"/>
            <a:r>
              <a:rPr sz="3600">
                <a:solidFill>
                  <a:srgbClr val="1A1A1A"/>
                </a:solidFill>
              </a:rPr>
              <a:t>Thank you</a:t>
            </a:r>
          </a:p>
        </p:txBody>
      </p:sp>
      <p:sp>
        <p:nvSpPr>
          <p:cNvPr id="5" name="Text 5"/>
          <p:cNvSpPr/>
          <p:nvPr/>
        </p:nvSpPr>
        <p:spPr>
          <a:xfrm xmlns:a="http://schemas.openxmlformats.org/drawingml/2006/main">
            <a:off x="1092200" y="3644265"/>
            <a:ext cx="1000760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l"/>
            <a:r>
              <a:rPr sz="1400">
                <a:solidFill>
                  <a:srgbClr val="8A94A6"/>
                </a:solidFill>
              </a:rPr>
              <a:t>github.com/MaximeLeBesnerais/DocxEditor</a:t>
            </a:r>
          </a:p>
        </p:txBody>
      </p:sp>
      <p:sp>
        <p:nvSpPr>
          <p:cNvPr id="6" name="Line 6"/>
          <p:cNvSpPr/>
          <p:nvPr/>
        </p:nvSpPr>
        <p:spPr>
          <a:xfrm xmlns:a="http://schemas.openxmlformats.org/drawingml/2006/main">
            <a:off x="1092200" y="4125595"/>
            <a:ext cx="10007600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FF6B00"/>
            </a:solidFill>
          </a:ln>
        </p:spPr>
      </p:sp>
    </p:spTree>
  </p:cSld>
</p:sld>
</file>