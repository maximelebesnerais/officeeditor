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psmdcp" ContentType="application/vnd.openxmlformats-package.core-properties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ea5ba89f5524fd7" /><Relationship Type="http://schemas.openxmlformats.org/package/2006/relationships/metadata/core-properties" Target="/package/services/metadata/core-properties/e41f887de98d4f49bea906a0fbb0cbf9.psmdcp" Id="R6ef65d3eab324d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bb200a73504c57"/>
  </p:sldMasterIdLst>
  <p:sldIdLst>
    <p:sldId xmlns:r="http://schemas.openxmlformats.org/officeDocument/2006/relationships" id="256" r:id="R1fbd55be4bc24d29"/>
    <p:sldId xmlns:r="http://schemas.openxmlformats.org/officeDocument/2006/relationships" id="257" r:id="R0aa7f4ea2a6b46f9"/>
    <p:sldId xmlns:r="http://schemas.openxmlformats.org/officeDocument/2006/relationships" id="258" r:id="R888f9666335644cc"/>
    <p:sldId xmlns:r="http://schemas.openxmlformats.org/officeDocument/2006/relationships" id="259" r:id="Raec2ae8cb57c42ad"/>
    <p:sldId xmlns:r="http://schemas.openxmlformats.org/officeDocument/2006/relationships" id="260" r:id="R44218d18eb6c4358"/>
    <p:sldId xmlns:r="http://schemas.openxmlformats.org/officeDocument/2006/relationships" id="261" r:id="R287fdd78ad614064"/>
    <p:sldId xmlns:r="http://schemas.openxmlformats.org/officeDocument/2006/relationships" id="262" r:id="R4f879f93ba5a4c25"/>
    <p:sldId xmlns:r="http://schemas.openxmlformats.org/officeDocument/2006/relationships" id="263" r:id="Rc7972374c37e464f"/>
    <p:sldId xmlns:r="http://schemas.openxmlformats.org/officeDocument/2006/relationships" id="264" r:id="Rcb69b14a9ce44559"/>
    <p:sldId xmlns:r="http://schemas.openxmlformats.org/officeDocument/2006/relationships" id="265" r:id="Ra4a1c6c8d4594f8e"/>
    <p:sldId xmlns:r="http://schemas.openxmlformats.org/officeDocument/2006/relationships" id="266" r:id="Ra27e4cd1c7964e8e"/>
    <p:sldId xmlns:r="http://schemas.openxmlformats.org/officeDocument/2006/relationships" id="267" r:id="R7679c62bed674cc6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bb200a73504c57" /><Relationship Type="http://schemas.openxmlformats.org/officeDocument/2006/relationships/slide" Target="/ppt/slides/slide1.xml" Id="R1fbd55be4bc24d29" /><Relationship Type="http://schemas.openxmlformats.org/officeDocument/2006/relationships/slide" Target="/ppt/slides/slide2.xml" Id="R0aa7f4ea2a6b46f9" /><Relationship Type="http://schemas.openxmlformats.org/officeDocument/2006/relationships/slide" Target="/ppt/slides/slide3.xml" Id="R888f9666335644cc" /><Relationship Type="http://schemas.openxmlformats.org/officeDocument/2006/relationships/slide" Target="/ppt/slides/slide4.xml" Id="Raec2ae8cb57c42ad" /><Relationship Type="http://schemas.openxmlformats.org/officeDocument/2006/relationships/slide" Target="/ppt/slides/slide5.xml" Id="R44218d18eb6c4358" /><Relationship Type="http://schemas.openxmlformats.org/officeDocument/2006/relationships/slide" Target="/ppt/slides/slide6.xml" Id="R287fdd78ad614064" /><Relationship Type="http://schemas.openxmlformats.org/officeDocument/2006/relationships/slide" Target="/ppt/slides/slide7.xml" Id="R4f879f93ba5a4c25" /><Relationship Type="http://schemas.openxmlformats.org/officeDocument/2006/relationships/slide" Target="/ppt/slides/slide8.xml" Id="Rc7972374c37e464f" /><Relationship Type="http://schemas.openxmlformats.org/officeDocument/2006/relationships/slide" Target="/ppt/slides/slide9.xml" Id="Rcb69b14a9ce44559" /><Relationship Type="http://schemas.openxmlformats.org/officeDocument/2006/relationships/slide" Target="/ppt/slides/slide10.xml" Id="Ra4a1c6c8d4594f8e" /><Relationship Type="http://schemas.openxmlformats.org/officeDocument/2006/relationships/slide" Target="/ppt/slides/slide11.xml" Id="Ra27e4cd1c7964e8e" /><Relationship Type="http://schemas.openxmlformats.org/officeDocument/2006/relationships/slide" Target="/ppt/slides/slide12.xml" Id="R7679c62bed674cc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e35a630f1848d8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6db7b158e4697" /><Relationship Type="http://schemas.openxmlformats.org/officeDocument/2006/relationships/theme" Target="/ppt/slideMasters/theme/theme1.xml" Id="R80e669d197884be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36db7b158e4697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/>
        <a:noFill/>
      </a:fillStyleLst>
      <a:lnStyleLst>
        <a:ln w="6350" cap="flat" cmpd="sng">
          <a:solidFill>
            <a:schemeClr val="phClr"/>
          </a:solidFill>
          <a:prstDash val="solid"/>
        </a:ln>
        <a:ln w="12700" cap="flat" cmpd="sng">
          <a:solidFill>
            <a:schemeClr val="phClr"/>
          </a:solidFill>
          <a:prstDash val="solid"/>
        </a:ln>
        <a:ln w="19050" cap="flat" cmpd="sng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/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26e75620c4b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969da23da40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cded80cfd4c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69ef17b1647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4fa1ea1ee445d" /><Relationship Type="http://schemas.openxmlformats.org/officeDocument/2006/relationships/image" Target="/ppt/media/image.png" Id="R9242e21e2a3b4953" /><Relationship Type="http://schemas.openxmlformats.org/officeDocument/2006/relationships/image" Target="/ppt/media/image2.png" Id="Rcda6be290b334519" /><Relationship Type="http://schemas.openxmlformats.org/officeDocument/2006/relationships/image" Target="/ppt/media/image3.png" Id="R9927cd568ecd40e1" /><Relationship Type="http://schemas.openxmlformats.org/officeDocument/2006/relationships/image" Target="/ppt/media/image4.png" Id="R86d57a30758446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1ee20067f4e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16c034d324c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d195cd6514461" /><Relationship Type="http://schemas.openxmlformats.org/officeDocument/2006/relationships/image" Target="/ppt/media/image5.png" Id="Rf2d8f3fb0cea4da3" /><Relationship Type="http://schemas.openxmlformats.org/officeDocument/2006/relationships/image" Target="/ppt/media/image6.png" Id="Rf7a467f2635c48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b9e1c1ba145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0807a813043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f6579e81545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6e15402ee42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 xmlns:a="http://schemas.openxmlformats.org/drawingml/2006/main">
            <a:off x="711200" y="1866900"/>
            <a:ext cx="71628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 b="1">
                <a:solidFill>
                  <a:srgbClr val="C79A3B"/>
                </a:solidFill>
              </a:rPr>
              <a:t>.NET 9 · C# 12 · MIT</a:t>
            </a:r>
          </a:p>
        </p:txBody>
      </p:sp>
      <p:sp>
        <p:nvSpPr>
          <p:cNvPr id="3" name="Text 3"/>
          <p:cNvSpPr/>
          <p:nvPr/>
        </p:nvSpPr>
        <p:spPr>
          <a:xfrm xmlns:a="http://schemas.openxmlformats.org/drawingml/2006/main">
            <a:off x="711200" y="2298700"/>
            <a:ext cx="71628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5400">
                <a:solidFill>
                  <a:srgbClr val="2C3932"/>
                </a:solidFill>
              </a:rPr>
              <a:t>OfficeEditor</a:t>
            </a:r>
          </a:p>
        </p:txBody>
      </p:sp>
      <p:sp>
        <p:nvSpPr>
          <p:cNvPr id="4" name="Text 4"/>
          <p:cNvSpPr/>
          <p:nvPr/>
        </p:nvSpPr>
        <p:spPr>
          <a:xfrm xmlns:a="http://schemas.openxmlformats.org/drawingml/2006/main">
            <a:off x="711200" y="3340100"/>
            <a:ext cx="71628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>
                <a:solidFill>
                  <a:srgbClr val="2C3932"/>
                </a:solidFill>
              </a:rPr>
              <a:t>Programmatic Office documents — without hand-writing OpenXML.</a:t>
            </a:r>
          </a:p>
        </p:txBody>
      </p:sp>
      <p:sp>
        <p:nvSpPr>
          <p:cNvPr id="5" name="Text 5"/>
          <p:cNvSpPr/>
          <p:nvPr/>
        </p:nvSpPr>
        <p:spPr>
          <a:xfrm xmlns:a="http://schemas.openxmlformats.org/drawingml/2006/main">
            <a:off x="711200" y="3873500"/>
            <a:ext cx="71628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7A7567"/>
                </a:solidFill>
              </a:rPr>
              <a:t>Create, edit and render DOCX, PPTX and XLSX via JSON/YAML instructions or fluent C# APIs.</a:t>
            </a:r>
          </a:p>
        </p:txBody>
      </p:sp>
      <p:sp>
        <p:nvSpPr>
          <p:cNvPr id="6" name="Container 6"/>
          <p:cNvSpPr/>
          <p:nvPr/>
        </p:nvSpPr>
        <p:spPr>
          <a:xfrm xmlns:a="http://schemas.openxmlformats.org/drawingml/2006/main">
            <a:off x="711200" y="4635500"/>
            <a:ext cx="863600" cy="330200"/>
          </a:xfrm>
          <a:prstGeom xmlns:a="http://schemas.openxmlformats.org/drawingml/2006/main" prst="roundRect">
            <a:avLst>
              <a:gd name="adj1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>
            <a:noFill/>
          </a:ln>
        </p:spPr>
      </p:sp>
      <p:sp>
        <p:nvSpPr>
          <p:cNvPr id="7" name="Text 7"/>
          <p:cNvSpPr/>
          <p:nvPr/>
        </p:nvSpPr>
        <p:spPr>
          <a:xfrm xmlns:a="http://schemas.openxmlformats.org/drawingml/2006/main">
            <a:off x="838200" y="4673600"/>
            <a:ext cx="6096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ctr"/>
            <a:r>
              <a:rPr sz="1400" b="1">
                <a:solidFill>
                  <a:srgbClr val="FFFFFF"/>
                </a:solidFill>
              </a:rPr>
              <a:t>DOCX</a:t>
            </a:r>
          </a:p>
        </p:txBody>
      </p:sp>
      <p:sp>
        <p:nvSpPr>
          <p:cNvPr id="8" name="Container 8"/>
          <p:cNvSpPr/>
          <p:nvPr/>
        </p:nvSpPr>
        <p:spPr>
          <a:xfrm xmlns:a="http://schemas.openxmlformats.org/drawingml/2006/main">
            <a:off x="1701800" y="4635500"/>
            <a:ext cx="863600" cy="330200"/>
          </a:xfrm>
          <a:prstGeom xmlns:a="http://schemas.openxmlformats.org/drawingml/2006/main" prst="roundRect">
            <a:avLst>
              <a:gd name="adj1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>
            <a:noFill/>
          </a:ln>
        </p:spPr>
      </p:sp>
      <p:sp>
        <p:nvSpPr>
          <p:cNvPr id="9" name="Text 9"/>
          <p:cNvSpPr/>
          <p:nvPr/>
        </p:nvSpPr>
        <p:spPr>
          <a:xfrm xmlns:a="http://schemas.openxmlformats.org/drawingml/2006/main">
            <a:off x="1828800" y="4673600"/>
            <a:ext cx="6096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ctr"/>
            <a:r>
              <a:rPr sz="1400" b="1">
                <a:solidFill>
                  <a:srgbClr val="FFFFFF"/>
                </a:solidFill>
              </a:rPr>
              <a:t>PPTX</a:t>
            </a:r>
          </a:p>
        </p:txBody>
      </p:sp>
      <p:sp>
        <p:nvSpPr>
          <p:cNvPr id="10" name="Container 10"/>
          <p:cNvSpPr/>
          <p:nvPr/>
        </p:nvSpPr>
        <p:spPr>
          <a:xfrm xmlns:a="http://schemas.openxmlformats.org/drawingml/2006/main">
            <a:off x="2692400" y="4635500"/>
            <a:ext cx="863600" cy="330200"/>
          </a:xfrm>
          <a:prstGeom xmlns:a="http://schemas.openxmlformats.org/drawingml/2006/main" prst="roundRect">
            <a:avLst>
              <a:gd name="adj1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>
            <a:noFill/>
          </a:ln>
        </p:spPr>
      </p:sp>
      <p:sp>
        <p:nvSpPr>
          <p:cNvPr id="11" name="Text 11"/>
          <p:cNvSpPr/>
          <p:nvPr/>
        </p:nvSpPr>
        <p:spPr>
          <a:xfrm xmlns:a="http://schemas.openxmlformats.org/drawingml/2006/main">
            <a:off x="2819400" y="4673600"/>
            <a:ext cx="6096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ctr"/>
            <a:r>
              <a:rPr sz="1400" b="1">
                <a:solidFill>
                  <a:srgbClr val="FFFFFF"/>
                </a:solidFill>
              </a:rPr>
              <a:t>XLSX</a:t>
            </a:r>
          </a:p>
        </p:txBody>
      </p:sp>
      <p:sp>
        <p:nvSpPr>
          <p:cNvPr id="12" name="Text 12"/>
          <p:cNvSpPr/>
          <p:nvPr/>
        </p:nvSpPr>
        <p:spPr>
          <a:xfrm xmlns:a="http://schemas.openxmlformats.org/drawingml/2006/main">
            <a:off x="8369300" y="1905000"/>
            <a:ext cx="1270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20000">
                <a:solidFill>
                  <a:srgbClr val="7A7567"/>
                </a:solidFill>
              </a:rPr>
              <a:t>{</a:t>
            </a:r>
          </a:p>
        </p:txBody>
      </p:sp>
      <p:sp>
        <p:nvSpPr>
          <p:cNvPr id="13" name="Text 13"/>
          <p:cNvSpPr/>
          <p:nvPr/>
        </p:nvSpPr>
        <p:spPr>
          <a:xfrm xmlns:a="http://schemas.openxmlformats.org/drawingml/2006/main">
            <a:off x="10020300" y="1905000"/>
            <a:ext cx="1270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20000">
                <a:solidFill>
                  <a:srgbClr val="7A7567"/>
                </a:solidFill>
              </a:rPr>
              <a:t>}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 xmlns:a="http://schemas.openxmlformats.org/drawingml/2006/main">
            <a:off x="584200" y="584200"/>
            <a:ext cx="11023600" cy="75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400">
                <a:solidFill>
                  <a:srgbClr val="2C3932"/>
                </a:solidFill>
              </a:rPr>
              <a:t>The problem</a:t>
            </a:r>
          </a:p>
        </p:txBody>
      </p:sp>
      <p:sp>
        <p:nvSpPr>
          <p:cNvPr id="3" name="Text 3"/>
          <p:cNvSpPr/>
          <p:nvPr/>
        </p:nvSpPr>
        <p:spPr>
          <a:xfrm xmlns:a="http://schemas.openxmlformats.org/drawingml/2006/main">
            <a:off x="584200" y="1567180"/>
            <a:ext cx="64770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 b="1">
                <a:solidFill>
                  <a:srgbClr val="2C3932"/>
                </a:solidFill>
              </a:rPr>
              <a:t>Office automation is fragmented</a:t>
            </a:r>
          </a:p>
        </p:txBody>
      </p:sp>
      <p:sp>
        <p:nvSpPr>
          <p:cNvPr id="4" name="Ellipse 4"/>
          <p:cNvSpPr/>
          <p:nvPr/>
        </p:nvSpPr>
        <p:spPr>
          <a:xfrm xmlns:a="http://schemas.openxmlformats.org/drawingml/2006/main">
            <a:off x="584200" y="208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>
            <a:noFill/>
          </a:ln>
        </p:spPr>
      </p:sp>
      <p:sp>
        <p:nvSpPr>
          <p:cNvPr id="5" name="Text 5"/>
          <p:cNvSpPr/>
          <p:nvPr/>
        </p:nvSpPr>
        <p:spPr>
          <a:xfrm xmlns:a="http://schemas.openxmlformats.org/drawingml/2006/main">
            <a:off x="762000" y="1990090"/>
            <a:ext cx="629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Each format has its own low-level API</a:t>
            </a:r>
          </a:p>
        </p:txBody>
      </p:sp>
      <p:sp>
        <p:nvSpPr>
          <p:cNvPr id="6" name="Ellipse 6"/>
          <p:cNvSpPr/>
          <p:nvPr/>
        </p:nvSpPr>
        <p:spPr>
          <a:xfrm xmlns:a="http://schemas.openxmlformats.org/drawingml/2006/main">
            <a:off x="584200" y="24777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>
            <a:noFill/>
          </a:ln>
        </p:spPr>
      </p:sp>
      <p:sp>
        <p:nvSpPr>
          <p:cNvPr id="7" name="Text 7"/>
          <p:cNvSpPr/>
          <p:nvPr/>
        </p:nvSpPr>
        <p:spPr>
          <a:xfrm xmlns:a="http://schemas.openxmlformats.org/drawingml/2006/main">
            <a:off x="762000" y="2378710"/>
            <a:ext cx="629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Generation, editing and rendering live in separate tools</a:t>
            </a:r>
          </a:p>
        </p:txBody>
      </p:sp>
      <p:sp>
        <p:nvSpPr>
          <p:cNvPr id="8" name="Ellipse 8"/>
          <p:cNvSpPr/>
          <p:nvPr/>
        </p:nvSpPr>
        <p:spPr>
          <a:xfrm xmlns:a="http://schemas.openxmlformats.org/drawingml/2006/main">
            <a:off x="584200" y="286639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>
            <a:noFill/>
          </a:ln>
        </p:spPr>
      </p:sp>
      <p:sp>
        <p:nvSpPr>
          <p:cNvPr id="9" name="Text 9"/>
          <p:cNvSpPr/>
          <p:nvPr/>
        </p:nvSpPr>
        <p:spPr>
          <a:xfrm xmlns:a="http://schemas.openxmlformats.org/drawingml/2006/main">
            <a:off x="762000" y="2767330"/>
            <a:ext cx="629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Template automation gets fragile at scale</a:t>
            </a:r>
          </a:p>
        </p:txBody>
      </p:sp>
      <p:sp>
        <p:nvSpPr>
          <p:cNvPr id="10" name="Ellipse 10"/>
          <p:cNvSpPr/>
          <p:nvPr/>
        </p:nvSpPr>
        <p:spPr>
          <a:xfrm xmlns:a="http://schemas.openxmlformats.org/drawingml/2006/main">
            <a:off x="584200" y="32550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>
            <a:noFill/>
          </a:ln>
        </p:spPr>
      </p:sp>
      <p:sp>
        <p:nvSpPr>
          <p:cNvPr id="11" name="Text 11"/>
          <p:cNvSpPr/>
          <p:nvPr/>
        </p:nvSpPr>
        <p:spPr>
          <a:xfrm xmlns:a="http://schemas.openxmlformats.org/drawingml/2006/main">
            <a:off x="762000" y="3155950"/>
            <a:ext cx="629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Preview and final output use unrelated layout engines</a:t>
            </a:r>
          </a:p>
        </p:txBody>
      </p:sp>
      <p:sp>
        <p:nvSpPr>
          <p:cNvPr id="12" name="Container 12"/>
          <p:cNvSpPr/>
          <p:nvPr/>
        </p:nvSpPr>
        <p:spPr>
          <a:xfrm xmlns:a="http://schemas.openxmlformats.org/drawingml/2006/main">
            <a:off x="7289800" y="1567180"/>
            <a:ext cx="4318000" cy="4706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A7567"/>
            </a:solidFill>
          </a:ln>
        </p:spPr>
      </p:sp>
      <p:sp>
        <p:nvSpPr>
          <p:cNvPr id="13" name="Text 13"/>
          <p:cNvSpPr/>
          <p:nvPr/>
        </p:nvSpPr>
        <p:spPr>
          <a:xfrm xmlns:a="http://schemas.openxmlformats.org/drawingml/2006/main">
            <a:off x="7518400" y="1795780"/>
            <a:ext cx="38608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 b="1">
                <a:solidFill>
                  <a:srgbClr val="2C3932"/>
                </a:solidFill>
              </a:rPr>
              <a:t>One programmable workflow</a:t>
            </a:r>
          </a:p>
        </p:txBody>
      </p:sp>
      <p:sp>
        <p:nvSpPr>
          <p:cNvPr id="14" name="Text 14"/>
          <p:cNvSpPr/>
          <p:nvPr/>
        </p:nvSpPr>
        <p:spPr>
          <a:xfrm xmlns:a="http://schemas.openxmlformats.org/drawingml/2006/main">
            <a:off x="7518400" y="2155190"/>
            <a:ext cx="3860800" cy="3890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OfficeEditor unifies creation, editing and rendering across DOCX, PPTX and XLSX — one instruction model, one layout engine, two emitters.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 xmlns:a="http://schemas.openxmlformats.org/drawingml/2006/main">
            <a:off x="584200" y="584200"/>
            <a:ext cx="11023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 b="1">
                <a:solidFill>
                  <a:srgbClr val="C79A3B"/>
                </a:solidFill>
              </a:rPr>
              <a:t>END TO END</a:t>
            </a:r>
          </a:p>
        </p:txBody>
      </p:sp>
      <p:sp>
        <p:nvSpPr>
          <p:cNvPr id="3" name="Text 3"/>
          <p:cNvSpPr/>
          <p:nvPr/>
        </p:nvSpPr>
        <p:spPr>
          <a:xfrm xmlns:a="http://schemas.openxmlformats.org/drawingml/2006/main">
            <a:off x="584200" y="875030"/>
            <a:ext cx="11023600" cy="75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400">
                <a:solidFill>
                  <a:srgbClr val="2C3932"/>
                </a:solidFill>
              </a:rPr>
              <a:t>Template + data → finished documents</a:t>
            </a:r>
          </a:p>
        </p:txBody>
      </p:sp>
      <p:sp>
        <p:nvSpPr>
          <p:cNvPr id="4" name="Container 4"/>
          <p:cNvSpPr/>
          <p:nvPr/>
        </p:nvSpPr>
        <p:spPr>
          <a:xfrm xmlns:a="http://schemas.openxmlformats.org/drawingml/2006/main">
            <a:off x="1054100" y="3162300"/>
            <a:ext cx="29210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A7567"/>
            </a:solidFill>
          </a:ln>
        </p:spPr>
      </p:sp>
      <p:sp>
        <p:nvSpPr>
          <p:cNvPr id="5" name="Text 5"/>
          <p:cNvSpPr/>
          <p:nvPr/>
        </p:nvSpPr>
        <p:spPr>
          <a:xfrm xmlns:a="http://schemas.openxmlformats.org/drawingml/2006/main">
            <a:off x="1282700" y="3390900"/>
            <a:ext cx="24638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 b="1">
                <a:solidFill>
                  <a:srgbClr val="2C3932"/>
                </a:solidFill>
              </a:rPr>
              <a:t>Inputs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1282700" y="3750310"/>
            <a:ext cx="2463800" cy="580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template.pptx · data.json</a:t>
            </a:r>
          </a:p>
        </p:txBody>
      </p:sp>
      <p:sp>
        <p:nvSpPr>
          <p:cNvPr id="7" name="Text 7"/>
          <p:cNvSpPr/>
          <p:nvPr/>
        </p:nvSpPr>
        <p:spPr>
          <a:xfrm xmlns:a="http://schemas.openxmlformats.org/drawingml/2006/main">
            <a:off x="4127500" y="3632200"/>
            <a:ext cx="35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2800">
                <a:solidFill>
                  <a:srgbClr val="C79A3B"/>
                </a:solidFill>
              </a:rPr>
              <a:t>→</a:t>
            </a:r>
          </a:p>
        </p:txBody>
      </p:sp>
      <p:sp>
        <p:nvSpPr>
          <p:cNvPr id="8" name="Container 8"/>
          <p:cNvSpPr/>
          <p:nvPr/>
        </p:nvSpPr>
        <p:spPr>
          <a:xfrm xmlns:a="http://schemas.openxmlformats.org/drawingml/2006/main">
            <a:off x="4635500" y="3162300"/>
            <a:ext cx="29210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A7567"/>
            </a:solidFill>
          </a:ln>
        </p:spPr>
      </p:sp>
      <p:sp>
        <p:nvSpPr>
          <p:cNvPr id="9" name="Text 9"/>
          <p:cNvSpPr/>
          <p:nvPr/>
        </p:nvSpPr>
        <p:spPr>
          <a:xfrm xmlns:a="http://schemas.openxmlformats.org/drawingml/2006/main">
            <a:off x="4864100" y="3390900"/>
            <a:ext cx="24638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 b="1">
                <a:solidFill>
                  <a:srgbClr val="2C3932"/>
                </a:solidFill>
              </a:rPr>
              <a:t>officeeditor merge</a:t>
            </a:r>
          </a:p>
        </p:txBody>
      </p:sp>
      <p:sp>
        <p:nvSpPr>
          <p:cNvPr id="10" name="Text 10"/>
          <p:cNvSpPr/>
          <p:nvPr/>
        </p:nvSpPr>
        <p:spPr>
          <a:xfrm xmlns:a="http://schemas.openxmlformats.org/drawingml/2006/main">
            <a:off x="4864100" y="3750310"/>
            <a:ext cx="2463800" cy="580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detect · replace · render</a:t>
            </a:r>
          </a:p>
        </p:txBody>
      </p:sp>
      <p:sp>
        <p:nvSpPr>
          <p:cNvPr id="11" name="Text 11"/>
          <p:cNvSpPr/>
          <p:nvPr/>
        </p:nvSpPr>
        <p:spPr>
          <a:xfrm xmlns:a="http://schemas.openxmlformats.org/drawingml/2006/main">
            <a:off x="7708900" y="3632200"/>
            <a:ext cx="35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2800">
                <a:solidFill>
                  <a:srgbClr val="C79A3B"/>
                </a:solidFill>
              </a:rPr>
              <a:t>→</a:t>
            </a:r>
          </a:p>
        </p:txBody>
      </p:sp>
      <p:sp>
        <p:nvSpPr>
          <p:cNvPr id="12" name="Container 12"/>
          <p:cNvSpPr/>
          <p:nvPr/>
        </p:nvSpPr>
        <p:spPr>
          <a:xfrm xmlns:a="http://schemas.openxmlformats.org/drawingml/2006/main">
            <a:off x="8216900" y="3162300"/>
            <a:ext cx="29210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A7567"/>
            </a:solidFill>
          </a:ln>
        </p:spPr>
      </p:sp>
      <p:sp>
        <p:nvSpPr>
          <p:cNvPr id="13" name="Text 13"/>
          <p:cNvSpPr/>
          <p:nvPr/>
        </p:nvSpPr>
        <p:spPr>
          <a:xfrm xmlns:a="http://schemas.openxmlformats.org/drawingml/2006/main">
            <a:off x="8445500" y="3390900"/>
            <a:ext cx="24638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 b="1">
                <a:solidFill>
                  <a:srgbClr val="2C3932"/>
                </a:solidFill>
              </a:rPr>
              <a:t>Outputs</a:t>
            </a:r>
          </a:p>
        </p:txBody>
      </p:sp>
      <p:sp>
        <p:nvSpPr>
          <p:cNvPr id="14" name="Text 14"/>
          <p:cNvSpPr/>
          <p:nvPr/>
        </p:nvSpPr>
        <p:spPr>
          <a:xfrm xmlns:a="http://schemas.openxmlformats.org/drawingml/2006/main">
            <a:off x="8445500" y="3750310"/>
            <a:ext cx="2463800" cy="580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report.pptx · report.pdf</a:t>
            </a:r>
          </a:p>
        </p:txBody>
      </p:sp>
      <p:sp>
        <p:nvSpPr>
          <p:cNvPr id="15" name="Text 15"/>
          <p:cNvSpPr/>
          <p:nvPr/>
        </p:nvSpPr>
        <p:spPr>
          <a:xfrm xmlns:a="http://schemas.openxmlformats.org/drawingml/2006/main">
            <a:off x="584200" y="6045200"/>
            <a:ext cx="1102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300">
                <a:solidFill>
                  <a:srgbClr val="7A7567"/>
                </a:solidFill>
              </a:rPr>
              <a:t>The same instruction model drives DOCX, PPTX and XLSX.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 xmlns:a="http://schemas.openxmlformats.org/drawingml/2006/main">
            <a:off x="584200" y="584200"/>
            <a:ext cx="11023600" cy="75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400">
                <a:solidFill>
                  <a:srgbClr val="2C3932"/>
                </a:solidFill>
              </a:rPr>
              <a:t>Core capabilities</a:t>
            </a:r>
          </a:p>
        </p:txBody>
      </p:sp>
      <p:sp>
        <p:nvSpPr>
          <p:cNvPr id="3" name="Rectangle 3"/>
          <p:cNvSpPr/>
          <p:nvPr/>
        </p:nvSpPr>
        <p:spPr>
          <a:xfrm xmlns:a="http://schemas.openxmlformats.org/drawingml/2006/main">
            <a:off x="584200" y="1625600"/>
            <a:ext cx="352212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>
            <a:noFill/>
          </a:ln>
        </p:spPr>
      </p:sp>
      <p:sp>
        <p:nvSpPr>
          <p:cNvPr id="4" name="Container 4"/>
          <p:cNvSpPr/>
          <p:nvPr/>
        </p:nvSpPr>
        <p:spPr>
          <a:xfrm xmlns:a="http://schemas.openxmlformats.org/drawingml/2006/main">
            <a:off x="584200" y="1663700"/>
            <a:ext cx="3522129" cy="461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A7567"/>
            </a:solidFill>
          </a:ln>
        </p:spPr>
      </p:sp>
      <p:sp>
        <p:nvSpPr>
          <p:cNvPr id="5" name="Text 5"/>
          <p:cNvSpPr/>
          <p:nvPr/>
        </p:nvSpPr>
        <p:spPr>
          <a:xfrm xmlns:a="http://schemas.openxmlformats.org/drawingml/2006/main">
            <a:off x="812800" y="1892300"/>
            <a:ext cx="3064929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 b="1">
                <a:solidFill>
                  <a:srgbClr val="2C3932"/>
                </a:solidFill>
              </a:rPr>
              <a:t>Create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812800" y="2251710"/>
            <a:ext cx="3064929" cy="3793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Decks from declarative JSON. Documents from instruction sets.</a:t>
            </a:r>
          </a:p>
        </p:txBody>
      </p:sp>
      <p:sp>
        <p:nvSpPr>
          <p:cNvPr id="7" name="Rectangle 7"/>
          <p:cNvSpPr/>
          <p:nvPr/>
        </p:nvSpPr>
        <p:spPr>
          <a:xfrm xmlns:a="http://schemas.openxmlformats.org/drawingml/2006/main">
            <a:off x="4334929" y="1625600"/>
            <a:ext cx="352212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>
            <a:noFill/>
          </a:ln>
        </p:spPr>
      </p:sp>
      <p:sp>
        <p:nvSpPr>
          <p:cNvPr id="8" name="Container 8"/>
          <p:cNvSpPr/>
          <p:nvPr/>
        </p:nvSpPr>
        <p:spPr>
          <a:xfrm xmlns:a="http://schemas.openxmlformats.org/drawingml/2006/main">
            <a:off x="4334929" y="1663700"/>
            <a:ext cx="3522129" cy="461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A7567"/>
            </a:solidFill>
          </a:ln>
        </p:spPr>
      </p:sp>
      <p:sp>
        <p:nvSpPr>
          <p:cNvPr id="9" name="Text 9"/>
          <p:cNvSpPr/>
          <p:nvPr/>
        </p:nvSpPr>
        <p:spPr>
          <a:xfrm xmlns:a="http://schemas.openxmlformats.org/drawingml/2006/main">
            <a:off x="4563529" y="1892300"/>
            <a:ext cx="3064929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 b="1">
                <a:solidFill>
                  <a:srgbClr val="2C3932"/>
                </a:solidFill>
              </a:rPr>
              <a:t>Edit</a:t>
            </a:r>
          </a:p>
        </p:txBody>
      </p:sp>
      <p:sp>
        <p:nvSpPr>
          <p:cNvPr id="10" name="Text 10"/>
          <p:cNvSpPr/>
          <p:nvPr/>
        </p:nvSpPr>
        <p:spPr>
          <a:xfrm xmlns:a="http://schemas.openxmlformats.org/drawingml/2006/main">
            <a:off x="4563529" y="2251710"/>
            <a:ext cx="3064929" cy="3793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Smart text/image replacement. Variables, mail merge, template logic.</a:t>
            </a:r>
          </a:p>
        </p:txBody>
      </p:sp>
      <p:sp>
        <p:nvSpPr>
          <p:cNvPr id="11" name="Rectangle 11"/>
          <p:cNvSpPr/>
          <p:nvPr/>
        </p:nvSpPr>
        <p:spPr>
          <a:xfrm xmlns:a="http://schemas.openxmlformats.org/drawingml/2006/main">
            <a:off x="8085671" y="1625600"/>
            <a:ext cx="352212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>
            <a:noFill/>
          </a:ln>
        </p:spPr>
      </p:sp>
      <p:sp>
        <p:nvSpPr>
          <p:cNvPr id="12" name="Container 12"/>
          <p:cNvSpPr/>
          <p:nvPr/>
        </p:nvSpPr>
        <p:spPr>
          <a:xfrm xmlns:a="http://schemas.openxmlformats.org/drawingml/2006/main">
            <a:off x="8085671" y="1663700"/>
            <a:ext cx="3522129" cy="461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A7567"/>
            </a:solidFill>
          </a:ln>
        </p:spPr>
      </p:sp>
      <p:sp>
        <p:nvSpPr>
          <p:cNvPr id="13" name="Text 13"/>
          <p:cNvSpPr/>
          <p:nvPr/>
        </p:nvSpPr>
        <p:spPr>
          <a:xfrm xmlns:a="http://schemas.openxmlformats.org/drawingml/2006/main">
            <a:off x="8314271" y="1892300"/>
            <a:ext cx="3064929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 b="1">
                <a:solidFill>
                  <a:srgbClr val="2C3932"/>
                </a:solidFill>
              </a:rPr>
              <a:t>Export</a:t>
            </a:r>
          </a:p>
        </p:txBody>
      </p:sp>
      <p:sp>
        <p:nvSpPr>
          <p:cNvPr id="14" name="Text 14"/>
          <p:cNvSpPr/>
          <p:nvPr/>
        </p:nvSpPr>
        <p:spPr>
          <a:xfrm xmlns:a="http://schemas.openxmlformats.org/drawingml/2006/main">
            <a:off x="8314271" y="2251710"/>
            <a:ext cx="3064929" cy="3793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PPTX → PDF / PNG / SVG. Thumbnails and brand profiles.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 xmlns:a="http://schemas.openxmlformats.org/drawingml/2006/main">
            <a:off x="584200" y="584200"/>
            <a:ext cx="11023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 b="1">
                <a:solidFill>
                  <a:srgbClr val="C79A3B"/>
                </a:solidFill>
              </a:rPr>
              <a:t>PROOF</a:t>
            </a:r>
          </a:p>
        </p:txBody>
      </p:sp>
      <p:sp>
        <p:nvSpPr>
          <p:cNvPr id="3" name="Text 3"/>
          <p:cNvSpPr/>
          <p:nvPr/>
        </p:nvSpPr>
        <p:spPr>
          <a:xfrm xmlns:a="http://schemas.openxmlformats.org/drawingml/2006/main">
            <a:off x="584200" y="875030"/>
            <a:ext cx="11023600" cy="75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400">
                <a:solidFill>
                  <a:srgbClr val="2C3932"/>
                </a:solidFill>
              </a:rPr>
              <a:t>Rendered by OfficeEditor</a:t>
            </a:r>
          </a:p>
        </p:txBody>
      </p:sp>
      <p:pic>
        <p:nvPicPr>
          <p:cNvPr id="4" name="Image 4"/>
          <p:cNvPicPr/>
          <p:nvPr/>
        </p:nvPicPr>
        <p:blipFill>
          <a:blip xmlns:r="http://schemas.openxmlformats.org/officeDocument/2006/relationships" xmlns:a="http://schemas.openxmlformats.org/drawingml/2006/main" r:embed="R9242e21e2a3b495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568450" y="1828800"/>
            <a:ext cx="3454400" cy="1943100"/>
          </a:xfrm>
          <a:prstGeom xmlns:a="http://schemas.openxmlformats.org/drawingml/2006/main" prst="rect">
            <a:avLst/>
          </a:prstGeom>
        </p:spPr>
      </p:pic>
      <p:pic>
        <p:nvPicPr>
          <p:cNvPr id="5" name="Image 5"/>
          <p:cNvPicPr/>
          <p:nvPr/>
        </p:nvPicPr>
        <p:blipFill>
          <a:blip xmlns:r="http://schemas.openxmlformats.org/officeDocument/2006/relationships" xmlns:a="http://schemas.openxmlformats.org/drawingml/2006/main" r:embed="Rcda6be290b33451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169150" y="1828800"/>
            <a:ext cx="3454400" cy="1943100"/>
          </a:xfrm>
          <a:prstGeom xmlns:a="http://schemas.openxmlformats.org/drawingml/2006/main" prst="rect">
            <a:avLst/>
          </a:prstGeom>
        </p:spPr>
      </p:pic>
      <p:pic>
        <p:nvPicPr>
          <p:cNvPr id="6" name="Image 6"/>
          <p:cNvPicPr/>
          <p:nvPr/>
        </p:nvPicPr>
        <p:blipFill>
          <a:blip xmlns:r="http://schemas.openxmlformats.org/officeDocument/2006/relationships" xmlns:a="http://schemas.openxmlformats.org/drawingml/2006/main" r:embed="R9927cd568ecd40e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568450" y="3949700"/>
            <a:ext cx="3454400" cy="1943100"/>
          </a:xfrm>
          <a:prstGeom xmlns:a="http://schemas.openxmlformats.org/drawingml/2006/main" prst="rect">
            <a:avLst/>
          </a:prstGeom>
        </p:spPr>
      </p:pic>
      <p:pic>
        <p:nvPicPr>
          <p:cNvPr id="7" name="Image 7"/>
          <p:cNvPicPr/>
          <p:nvPr/>
        </p:nvPicPr>
        <p:blipFill>
          <a:blip xmlns:r="http://schemas.openxmlformats.org/officeDocument/2006/relationships" xmlns:a="http://schemas.openxmlformats.org/drawingml/2006/main" r:embed="R86d57a30758446e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169150" y="3949700"/>
            <a:ext cx="3454400" cy="1943100"/>
          </a:xfrm>
          <a:prstGeom xmlns:a="http://schemas.openxmlformats.org/drawingml/2006/main" prst="rect">
            <a:avLst/>
          </a:prstGeom>
        </p:spPr>
      </p:pic>
      <p:sp>
        <p:nvSpPr>
          <p:cNvPr id="8" name="Text 8"/>
          <p:cNvSpPr/>
          <p:nvPr/>
        </p:nvSpPr>
        <p:spPr>
          <a:xfrm xmlns:a="http://schemas.openxmlformats.org/drawingml/2006/main">
            <a:off x="584200" y="6045200"/>
            <a:ext cx="1102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300">
                <a:solidFill>
                  <a:srgbClr val="7A7567"/>
                </a:solidFill>
              </a:rPr>
              <a:t>Real PPTX file → Typst pipeline → PNG. Source: pres-pro (16 slides).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 xmlns:a="http://schemas.openxmlformats.org/drawingml/2006/main">
            <a:off x="584200" y="584200"/>
            <a:ext cx="11023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 b="1">
                <a:solidFill>
                  <a:srgbClr val="C79A3B"/>
                </a:solidFill>
              </a:rPr>
              <a:t>ARCHITECTURE</a:t>
            </a:r>
          </a:p>
        </p:txBody>
      </p:sp>
      <p:sp>
        <p:nvSpPr>
          <p:cNvPr id="3" name="Text 3"/>
          <p:cNvSpPr/>
          <p:nvPr/>
        </p:nvSpPr>
        <p:spPr>
          <a:xfrm xmlns:a="http://schemas.openxmlformats.org/drawingml/2006/main">
            <a:off x="584200" y="875030"/>
            <a:ext cx="11023600" cy="75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400">
                <a:solidFill>
                  <a:srgbClr val="2C3932"/>
                </a:solidFill>
              </a:rPr>
              <a:t>Layout once, emit twice</a:t>
            </a:r>
          </a:p>
        </p:txBody>
      </p:sp>
      <p:sp>
        <p:nvSpPr>
          <p:cNvPr id="4" name="Container 4"/>
          <p:cNvSpPr/>
          <p:nvPr/>
        </p:nvSpPr>
        <p:spPr>
          <a:xfrm xmlns:a="http://schemas.openxmlformats.org/drawingml/2006/main">
            <a:off x="1054100" y="1841500"/>
            <a:ext cx="2159000" cy="81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A7567"/>
            </a:solidFill>
          </a:ln>
        </p:spPr>
      </p:sp>
      <p:sp>
        <p:nvSpPr>
          <p:cNvPr id="5" name="Text 5"/>
          <p:cNvSpPr/>
          <p:nvPr/>
        </p:nvSpPr>
        <p:spPr>
          <a:xfrm xmlns:a="http://schemas.openxmlformats.org/drawingml/2006/main">
            <a:off x="1155700" y="1943100"/>
            <a:ext cx="195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ctr"/>
            <a:r>
              <a:rPr sz="1300">
                <a:solidFill>
                  <a:srgbClr val="2C3932"/>
                </a:solidFill>
              </a:rPr>
              <a:t>JSON / YAML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3314700" y="2070100"/>
            <a:ext cx="2794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2000">
                <a:solidFill>
                  <a:srgbClr val="C79A3B"/>
                </a:solidFill>
              </a:rPr>
              <a:t>→</a:t>
            </a:r>
          </a:p>
        </p:txBody>
      </p:sp>
      <p:sp>
        <p:nvSpPr>
          <p:cNvPr id="7" name="Container 7"/>
          <p:cNvSpPr/>
          <p:nvPr/>
        </p:nvSpPr>
        <p:spPr>
          <a:xfrm xmlns:a="http://schemas.openxmlformats.org/drawingml/2006/main">
            <a:off x="3695700" y="1841500"/>
            <a:ext cx="2159000" cy="81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A7567"/>
            </a:solidFill>
          </a:ln>
        </p:spPr>
      </p:sp>
      <p:sp>
        <p:nvSpPr>
          <p:cNvPr id="8" name="Text 8"/>
          <p:cNvSpPr/>
          <p:nvPr/>
        </p:nvSpPr>
        <p:spPr>
          <a:xfrm xmlns:a="http://schemas.openxmlformats.org/drawingml/2006/main">
            <a:off x="3797300" y="1943100"/>
            <a:ext cx="195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ctr"/>
            <a:r>
              <a:rPr sz="1300">
                <a:solidFill>
                  <a:srgbClr val="2C3932"/>
                </a:solidFill>
              </a:rPr>
              <a:t>Parse &amp; validate</a:t>
            </a:r>
          </a:p>
        </p:txBody>
      </p:sp>
      <p:sp>
        <p:nvSpPr>
          <p:cNvPr id="9" name="Text 9"/>
          <p:cNvSpPr/>
          <p:nvPr/>
        </p:nvSpPr>
        <p:spPr>
          <a:xfrm xmlns:a="http://schemas.openxmlformats.org/drawingml/2006/main">
            <a:off x="5956300" y="2070100"/>
            <a:ext cx="2794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2000">
                <a:solidFill>
                  <a:srgbClr val="C79A3B"/>
                </a:solidFill>
              </a:rPr>
              <a:t>→</a:t>
            </a:r>
          </a:p>
        </p:txBody>
      </p:sp>
      <p:sp>
        <p:nvSpPr>
          <p:cNvPr id="10" name="Container 10"/>
          <p:cNvSpPr/>
          <p:nvPr/>
        </p:nvSpPr>
        <p:spPr>
          <a:xfrm xmlns:a="http://schemas.openxmlformats.org/drawingml/2006/main">
            <a:off x="6337300" y="1841500"/>
            <a:ext cx="2159000" cy="81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A7567"/>
            </a:solidFill>
          </a:ln>
        </p:spPr>
      </p:sp>
      <p:sp>
        <p:nvSpPr>
          <p:cNvPr id="11" name="Text 11"/>
          <p:cNvSpPr/>
          <p:nvPr/>
        </p:nvSpPr>
        <p:spPr>
          <a:xfrm xmlns:a="http://schemas.openxmlformats.org/drawingml/2006/main">
            <a:off x="6438900" y="1943100"/>
            <a:ext cx="195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ctr"/>
            <a:r>
              <a:rPr sz="1300">
                <a:solidFill>
                  <a:srgbClr val="2C3932"/>
                </a:solidFill>
              </a:rPr>
              <a:t>Expand: archetypes → components → primitives</a:t>
            </a:r>
          </a:p>
        </p:txBody>
      </p:sp>
      <p:sp>
        <p:nvSpPr>
          <p:cNvPr id="12" name="Text 12"/>
          <p:cNvSpPr/>
          <p:nvPr/>
        </p:nvSpPr>
        <p:spPr>
          <a:xfrm xmlns:a="http://schemas.openxmlformats.org/drawingml/2006/main">
            <a:off x="8597900" y="2070100"/>
            <a:ext cx="2794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2000">
                <a:solidFill>
                  <a:srgbClr val="C79A3B"/>
                </a:solidFill>
              </a:rPr>
              <a:t>→</a:t>
            </a:r>
          </a:p>
        </p:txBody>
      </p:sp>
      <p:sp>
        <p:nvSpPr>
          <p:cNvPr id="13" name="Container 13"/>
          <p:cNvSpPr/>
          <p:nvPr/>
        </p:nvSpPr>
        <p:spPr>
          <a:xfrm xmlns:a="http://schemas.openxmlformats.org/drawingml/2006/main">
            <a:off x="8978900" y="1841500"/>
            <a:ext cx="2159000" cy="81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A7567"/>
            </a:solidFill>
          </a:ln>
        </p:spPr>
      </p:sp>
      <p:sp>
        <p:nvSpPr>
          <p:cNvPr id="14" name="Text 14"/>
          <p:cNvSpPr/>
          <p:nvPr/>
        </p:nvSpPr>
        <p:spPr>
          <a:xfrm xmlns:a="http://schemas.openxmlformats.org/drawingml/2006/main">
            <a:off x="9080500" y="1943100"/>
            <a:ext cx="195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ctr"/>
            <a:r>
              <a:rPr sz="1300">
                <a:solidFill>
                  <a:srgbClr val="2C3932"/>
                </a:solidFill>
              </a:rPr>
              <a:t>Resolved layout tree — single C# pass</a:t>
            </a:r>
          </a:p>
        </p:txBody>
      </p:sp>
      <p:sp>
        <p:nvSpPr>
          <p:cNvPr id="15" name="Text 15"/>
          <p:cNvSpPr/>
          <p:nvPr/>
        </p:nvSpPr>
        <p:spPr>
          <a:xfrm xmlns:a="http://schemas.openxmlformats.org/drawingml/2006/main">
            <a:off x="584200" y="2819400"/>
            <a:ext cx="110236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2000">
                <a:solidFill>
                  <a:srgbClr val="C79A3B"/>
                </a:solidFill>
              </a:rPr>
              <a:t>↓</a:t>
            </a:r>
          </a:p>
        </p:txBody>
      </p:sp>
      <p:sp>
        <p:nvSpPr>
          <p:cNvPr id="16" name="Container 16"/>
          <p:cNvSpPr/>
          <p:nvPr/>
        </p:nvSpPr>
        <p:spPr>
          <a:xfrm xmlns:a="http://schemas.openxmlformats.org/drawingml/2006/main">
            <a:off x="1117600" y="3314700"/>
            <a:ext cx="4826000" cy="78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47C7A"/>
            </a:solidFill>
          </a:ln>
        </p:spPr>
      </p:sp>
      <p:sp>
        <p:nvSpPr>
          <p:cNvPr id="17" name="Text 17"/>
          <p:cNvSpPr/>
          <p:nvPr/>
        </p:nvSpPr>
        <p:spPr>
          <a:xfrm xmlns:a="http://schemas.openxmlformats.org/drawingml/2006/main">
            <a:off x="1244600" y="3479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 b="1">
                <a:solidFill>
                  <a:srgbClr val="2C3932"/>
                </a:solidFill>
              </a:rPr>
              <a:t>OOXML emitter</a:t>
            </a:r>
          </a:p>
        </p:txBody>
      </p:sp>
      <p:sp>
        <p:nvSpPr>
          <p:cNvPr id="18" name="Text 18"/>
          <p:cNvSpPr/>
          <p:nvPr/>
        </p:nvSpPr>
        <p:spPr>
          <a:xfrm xmlns:a="http://schemas.openxmlformats.org/drawingml/2006/main">
            <a:off x="1244600" y="3733800"/>
            <a:ext cx="457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200">
                <a:solidFill>
                  <a:srgbClr val="7A7567"/>
                </a:solidFill>
              </a:rPr>
              <a:t>native .pptx / .docx / .xlsx</a:t>
            </a:r>
          </a:p>
        </p:txBody>
      </p:sp>
      <p:sp>
        <p:nvSpPr>
          <p:cNvPr id="19" name="Container 19"/>
          <p:cNvSpPr/>
          <p:nvPr/>
        </p:nvSpPr>
        <p:spPr>
          <a:xfrm xmlns:a="http://schemas.openxmlformats.org/drawingml/2006/main">
            <a:off x="6248400" y="3314700"/>
            <a:ext cx="4826000" cy="78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47C7A"/>
            </a:solidFill>
          </a:ln>
        </p:spPr>
      </p:sp>
      <p:sp>
        <p:nvSpPr>
          <p:cNvPr id="20" name="Text 20"/>
          <p:cNvSpPr/>
          <p:nvPr/>
        </p:nvSpPr>
        <p:spPr>
          <a:xfrm xmlns:a="http://schemas.openxmlformats.org/drawingml/2006/main">
            <a:off x="6375400" y="3479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 b="1">
                <a:solidFill>
                  <a:srgbClr val="2C3932"/>
                </a:solidFill>
              </a:rPr>
              <a:t>Typst emitter</a:t>
            </a:r>
          </a:p>
        </p:txBody>
      </p:sp>
      <p:sp>
        <p:nvSpPr>
          <p:cNvPr id="21" name="Text 21"/>
          <p:cNvSpPr/>
          <p:nvPr/>
        </p:nvSpPr>
        <p:spPr>
          <a:xfrm xmlns:a="http://schemas.openxmlformats.org/drawingml/2006/main">
            <a:off x="6375400" y="3733800"/>
            <a:ext cx="457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200">
                <a:solidFill>
                  <a:srgbClr val="7A7567"/>
                </a:solidFill>
              </a:rPr>
              <a:t>PDF · PNG · SVG preview</a:t>
            </a:r>
          </a:p>
        </p:txBody>
      </p:sp>
      <p:sp>
        <p:nvSpPr>
          <p:cNvPr id="22" name="Text 22"/>
          <p:cNvSpPr/>
          <p:nvPr/>
        </p:nvSpPr>
        <p:spPr>
          <a:xfrm xmlns:a="http://schemas.openxmlformats.org/drawingml/2006/main">
            <a:off x="584200" y="4267200"/>
            <a:ext cx="1102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300">
                <a:solidFill>
                  <a:srgbClr val="7A7567"/>
                </a:solidFill>
              </a:rPr>
              <a:t>Deterministic preview from the same resolved layout — no second layout engine.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 xmlns:a="http://schemas.openxmlformats.org/drawingml/2006/main">
            <a:off x="584200" y="584200"/>
            <a:ext cx="11023600" cy="75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400">
                <a:solidFill>
                  <a:srgbClr val="2C3932"/>
                </a:solidFill>
              </a:rPr>
              <a:t>What works where</a:t>
            </a:r>
          </a:p>
        </p:txBody>
      </p:sp>
      <p:sp>
        <p:nvSpPr>
          <p:cNvPr id="3" name="Container 3"/>
          <p:cNvSpPr/>
          <p:nvPr/>
        </p:nvSpPr>
        <p:spPr>
          <a:xfrm xmlns:a="http://schemas.openxmlformats.org/drawingml/2006/main">
            <a:off x="584200" y="1567180"/>
            <a:ext cx="11023600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A"/>
          </a:solidFill>
          <a:ln xmlns:a="http://schemas.openxmlformats.org/drawingml/2006/main">
            <a:noFill/>
          </a:ln>
        </p:spPr>
      </p:sp>
      <p:sp>
        <p:nvSpPr>
          <p:cNvPr id="4" name="Text 4"/>
          <p:cNvSpPr/>
          <p:nvPr/>
        </p:nvSpPr>
        <p:spPr>
          <a:xfrm xmlns:a="http://schemas.openxmlformats.org/drawingml/2006/main">
            <a:off x="685800" y="1643380"/>
            <a:ext cx="609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 b="1">
                <a:solidFill>
                  <a:srgbClr val="FFFFFF"/>
                </a:solidFill>
              </a:rPr>
              <a:t>Capability</a:t>
            </a:r>
          </a:p>
        </p:txBody>
      </p:sp>
      <p:sp>
        <p:nvSpPr>
          <p:cNvPr id="5" name="Text 5"/>
          <p:cNvSpPr/>
          <p:nvPr/>
        </p:nvSpPr>
        <p:spPr>
          <a:xfrm xmlns:a="http://schemas.openxmlformats.org/drawingml/2006/main">
            <a:off x="6985000" y="164338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 b="1">
                <a:solidFill>
                  <a:srgbClr val="FFFFFF"/>
                </a:solidFill>
              </a:rPr>
              <a:t>PPTX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8559800" y="164338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 b="1">
                <a:solidFill>
                  <a:srgbClr val="FFFFFF"/>
                </a:solidFill>
              </a:rPr>
              <a:t>DOCX</a:t>
            </a:r>
          </a:p>
        </p:txBody>
      </p:sp>
      <p:sp>
        <p:nvSpPr>
          <p:cNvPr id="7" name="Text 7"/>
          <p:cNvSpPr/>
          <p:nvPr/>
        </p:nvSpPr>
        <p:spPr>
          <a:xfrm xmlns:a="http://schemas.openxmlformats.org/drawingml/2006/main">
            <a:off x="10134600" y="164338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 b="1">
                <a:solidFill>
                  <a:srgbClr val="FFFFFF"/>
                </a:solidFill>
              </a:rPr>
              <a:t>XLSX</a:t>
            </a:r>
          </a:p>
        </p:txBody>
      </p:sp>
      <p:sp>
        <p:nvSpPr>
          <p:cNvPr id="8" name="Text 8"/>
          <p:cNvSpPr/>
          <p:nvPr/>
        </p:nvSpPr>
        <p:spPr>
          <a:xfrm xmlns:a="http://schemas.openxmlformats.org/drawingml/2006/main">
            <a:off x="685800" y="2070100"/>
            <a:ext cx="609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Create from scratch</a:t>
            </a:r>
          </a:p>
        </p:txBody>
      </p:sp>
      <p:sp>
        <p:nvSpPr>
          <p:cNvPr id="9" name="Text 9"/>
          <p:cNvSpPr/>
          <p:nvPr/>
        </p:nvSpPr>
        <p:spPr>
          <a:xfrm xmlns:a="http://schemas.openxmlformats.org/drawingml/2006/main">
            <a:off x="6985000" y="207010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✓</a:t>
            </a:r>
          </a:p>
        </p:txBody>
      </p:sp>
      <p:sp>
        <p:nvSpPr>
          <p:cNvPr id="10" name="Text 10"/>
          <p:cNvSpPr/>
          <p:nvPr/>
        </p:nvSpPr>
        <p:spPr>
          <a:xfrm xmlns:a="http://schemas.openxmlformats.org/drawingml/2006/main">
            <a:off x="8559800" y="207010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✓</a:t>
            </a:r>
          </a:p>
        </p:txBody>
      </p:sp>
      <p:sp>
        <p:nvSpPr>
          <p:cNvPr id="11" name="Text 11"/>
          <p:cNvSpPr/>
          <p:nvPr/>
        </p:nvSpPr>
        <p:spPr>
          <a:xfrm xmlns:a="http://schemas.openxmlformats.org/drawingml/2006/main">
            <a:off x="10134600" y="207010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✓</a:t>
            </a:r>
          </a:p>
        </p:txBody>
      </p:sp>
      <p:sp>
        <p:nvSpPr>
          <p:cNvPr id="12" name="Text 12"/>
          <p:cNvSpPr/>
          <p:nvPr/>
        </p:nvSpPr>
        <p:spPr>
          <a:xfrm xmlns:a="http://schemas.openxmlformats.org/drawingml/2006/main">
            <a:off x="685800" y="2496820"/>
            <a:ext cx="609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Edit existing documents</a:t>
            </a:r>
          </a:p>
        </p:txBody>
      </p:sp>
      <p:sp>
        <p:nvSpPr>
          <p:cNvPr id="13" name="Text 13"/>
          <p:cNvSpPr/>
          <p:nvPr/>
        </p:nvSpPr>
        <p:spPr>
          <a:xfrm xmlns:a="http://schemas.openxmlformats.org/drawingml/2006/main">
            <a:off x="6985000" y="24968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✓</a:t>
            </a:r>
          </a:p>
        </p:txBody>
      </p:sp>
      <p:sp>
        <p:nvSpPr>
          <p:cNvPr id="14" name="Text 14"/>
          <p:cNvSpPr/>
          <p:nvPr/>
        </p:nvSpPr>
        <p:spPr>
          <a:xfrm xmlns:a="http://schemas.openxmlformats.org/drawingml/2006/main">
            <a:off x="8559800" y="24968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✓</a:t>
            </a:r>
          </a:p>
        </p:txBody>
      </p:sp>
      <p:sp>
        <p:nvSpPr>
          <p:cNvPr id="15" name="Text 15"/>
          <p:cNvSpPr/>
          <p:nvPr/>
        </p:nvSpPr>
        <p:spPr>
          <a:xfrm xmlns:a="http://schemas.openxmlformats.org/drawingml/2006/main">
            <a:off x="10134600" y="24968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✓</a:t>
            </a:r>
          </a:p>
        </p:txBody>
      </p:sp>
      <p:sp>
        <p:nvSpPr>
          <p:cNvPr id="16" name="Text 16"/>
          <p:cNvSpPr/>
          <p:nvPr/>
        </p:nvSpPr>
        <p:spPr>
          <a:xfrm xmlns:a="http://schemas.openxmlformats.org/drawingml/2006/main">
            <a:off x="685800" y="2923540"/>
            <a:ext cx="609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Variables &amp; mail merge</a:t>
            </a:r>
          </a:p>
        </p:txBody>
      </p:sp>
      <p:sp>
        <p:nvSpPr>
          <p:cNvPr id="17" name="Text 17"/>
          <p:cNvSpPr/>
          <p:nvPr/>
        </p:nvSpPr>
        <p:spPr>
          <a:xfrm xmlns:a="http://schemas.openxmlformats.org/drawingml/2006/main">
            <a:off x="6985000" y="29235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✓</a:t>
            </a:r>
          </a:p>
        </p:txBody>
      </p:sp>
      <p:sp>
        <p:nvSpPr>
          <p:cNvPr id="18" name="Text 18"/>
          <p:cNvSpPr/>
          <p:nvPr/>
        </p:nvSpPr>
        <p:spPr>
          <a:xfrm xmlns:a="http://schemas.openxmlformats.org/drawingml/2006/main">
            <a:off x="8559800" y="29235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✓</a:t>
            </a:r>
          </a:p>
        </p:txBody>
      </p:sp>
      <p:sp>
        <p:nvSpPr>
          <p:cNvPr id="19" name="Text 19"/>
          <p:cNvSpPr/>
          <p:nvPr/>
        </p:nvSpPr>
        <p:spPr>
          <a:xfrm xmlns:a="http://schemas.openxmlformats.org/drawingml/2006/main">
            <a:off x="10134600" y="29235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✓</a:t>
            </a:r>
          </a:p>
        </p:txBody>
      </p:sp>
      <p:sp>
        <p:nvSpPr>
          <p:cNvPr id="20" name="Text 20"/>
          <p:cNvSpPr/>
          <p:nvPr/>
        </p:nvSpPr>
        <p:spPr>
          <a:xfrm xmlns:a="http://schemas.openxmlformats.org/drawingml/2006/main">
            <a:off x="685800" y="3350260"/>
            <a:ext cx="609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Template logic (if/each)</a:t>
            </a:r>
          </a:p>
        </p:txBody>
      </p:sp>
      <p:sp>
        <p:nvSpPr>
          <p:cNvPr id="21" name="Text 21"/>
          <p:cNvSpPr/>
          <p:nvPr/>
        </p:nvSpPr>
        <p:spPr>
          <a:xfrm xmlns:a="http://schemas.openxmlformats.org/drawingml/2006/main">
            <a:off x="6985000" y="335026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✓</a:t>
            </a:r>
          </a:p>
        </p:txBody>
      </p:sp>
      <p:sp>
        <p:nvSpPr>
          <p:cNvPr id="22" name="Text 22"/>
          <p:cNvSpPr/>
          <p:nvPr/>
        </p:nvSpPr>
        <p:spPr>
          <a:xfrm xmlns:a="http://schemas.openxmlformats.org/drawingml/2006/main">
            <a:off x="8559800" y="335026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✓</a:t>
            </a:r>
          </a:p>
        </p:txBody>
      </p:sp>
      <p:sp>
        <p:nvSpPr>
          <p:cNvPr id="23" name="Text 23"/>
          <p:cNvSpPr/>
          <p:nvPr/>
        </p:nvSpPr>
        <p:spPr>
          <a:xfrm xmlns:a="http://schemas.openxmlformats.org/drawingml/2006/main">
            <a:off x="10134600" y="335026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✓</a:t>
            </a:r>
          </a:p>
        </p:txBody>
      </p:sp>
      <p:sp>
        <p:nvSpPr>
          <p:cNvPr id="24" name="Text 24"/>
          <p:cNvSpPr/>
          <p:nvPr/>
        </p:nvSpPr>
        <p:spPr>
          <a:xfrm xmlns:a="http://schemas.openxmlformats.org/drawingml/2006/main">
            <a:off x="685800" y="3776980"/>
            <a:ext cx="609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Instruction sets</a:t>
            </a:r>
          </a:p>
        </p:txBody>
      </p:sp>
      <p:sp>
        <p:nvSpPr>
          <p:cNvPr id="25" name="Text 25"/>
          <p:cNvSpPr/>
          <p:nvPr/>
        </p:nvSpPr>
        <p:spPr>
          <a:xfrm xmlns:a="http://schemas.openxmlformats.org/drawingml/2006/main">
            <a:off x="6985000" y="377698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✓</a:t>
            </a:r>
          </a:p>
        </p:txBody>
      </p:sp>
      <p:sp>
        <p:nvSpPr>
          <p:cNvPr id="26" name="Text 26"/>
          <p:cNvSpPr/>
          <p:nvPr/>
        </p:nvSpPr>
        <p:spPr>
          <a:xfrm xmlns:a="http://schemas.openxmlformats.org/drawingml/2006/main">
            <a:off x="8559800" y="377698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✓</a:t>
            </a:r>
          </a:p>
        </p:txBody>
      </p:sp>
      <p:sp>
        <p:nvSpPr>
          <p:cNvPr id="27" name="Text 27"/>
          <p:cNvSpPr/>
          <p:nvPr/>
        </p:nvSpPr>
        <p:spPr>
          <a:xfrm xmlns:a="http://schemas.openxmlformats.org/drawingml/2006/main">
            <a:off x="10134600" y="377698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—</a:t>
            </a:r>
          </a:p>
        </p:txBody>
      </p:sp>
      <p:sp>
        <p:nvSpPr>
          <p:cNvPr id="28" name="Text 28"/>
          <p:cNvSpPr/>
          <p:nvPr/>
        </p:nvSpPr>
        <p:spPr>
          <a:xfrm xmlns:a="http://schemas.openxmlformats.org/drawingml/2006/main">
            <a:off x="685800" y="4203700"/>
            <a:ext cx="609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Markdown import</a:t>
            </a:r>
          </a:p>
        </p:txBody>
      </p:sp>
      <p:sp>
        <p:nvSpPr>
          <p:cNvPr id="29" name="Text 29"/>
          <p:cNvSpPr/>
          <p:nvPr/>
        </p:nvSpPr>
        <p:spPr>
          <a:xfrm xmlns:a="http://schemas.openxmlformats.org/drawingml/2006/main">
            <a:off x="6985000" y="420370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—</a:t>
            </a:r>
          </a:p>
        </p:txBody>
      </p:sp>
      <p:sp>
        <p:nvSpPr>
          <p:cNvPr id="30" name="Text 30"/>
          <p:cNvSpPr/>
          <p:nvPr/>
        </p:nvSpPr>
        <p:spPr>
          <a:xfrm xmlns:a="http://schemas.openxmlformats.org/drawingml/2006/main">
            <a:off x="8559800" y="420370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✓</a:t>
            </a:r>
          </a:p>
        </p:txBody>
      </p:sp>
      <p:sp>
        <p:nvSpPr>
          <p:cNvPr id="31" name="Text 31"/>
          <p:cNvSpPr/>
          <p:nvPr/>
        </p:nvSpPr>
        <p:spPr>
          <a:xfrm xmlns:a="http://schemas.openxmlformats.org/drawingml/2006/main">
            <a:off x="10134600" y="420370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—</a:t>
            </a:r>
          </a:p>
        </p:txBody>
      </p:sp>
      <p:sp>
        <p:nvSpPr>
          <p:cNvPr id="32" name="Text 32"/>
          <p:cNvSpPr/>
          <p:nvPr/>
        </p:nvSpPr>
        <p:spPr>
          <a:xfrm xmlns:a="http://schemas.openxmlformats.org/drawingml/2006/main">
            <a:off x="685800" y="4630420"/>
            <a:ext cx="609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Declarative JSON generation</a:t>
            </a:r>
          </a:p>
        </p:txBody>
      </p:sp>
      <p:sp>
        <p:nvSpPr>
          <p:cNvPr id="33" name="Text 33"/>
          <p:cNvSpPr/>
          <p:nvPr/>
        </p:nvSpPr>
        <p:spPr>
          <a:xfrm xmlns:a="http://schemas.openxmlformats.org/drawingml/2006/main">
            <a:off x="6985000" y="46304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✓</a:t>
            </a:r>
          </a:p>
        </p:txBody>
      </p:sp>
      <p:sp>
        <p:nvSpPr>
          <p:cNvPr id="34" name="Text 34"/>
          <p:cNvSpPr/>
          <p:nvPr/>
        </p:nvSpPr>
        <p:spPr>
          <a:xfrm xmlns:a="http://schemas.openxmlformats.org/drawingml/2006/main">
            <a:off x="8559800" y="46304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—</a:t>
            </a:r>
          </a:p>
        </p:txBody>
      </p:sp>
      <p:sp>
        <p:nvSpPr>
          <p:cNvPr id="35" name="Text 35"/>
          <p:cNvSpPr/>
          <p:nvPr/>
        </p:nvSpPr>
        <p:spPr>
          <a:xfrm xmlns:a="http://schemas.openxmlformats.org/drawingml/2006/main">
            <a:off x="10134600" y="46304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—</a:t>
            </a:r>
          </a:p>
        </p:txBody>
      </p:sp>
      <p:sp>
        <p:nvSpPr>
          <p:cNvPr id="36" name="Text 36"/>
          <p:cNvSpPr/>
          <p:nvPr/>
        </p:nvSpPr>
        <p:spPr>
          <a:xfrm xmlns:a="http://schemas.openxmlformats.org/drawingml/2006/main">
            <a:off x="685800" y="5057140"/>
            <a:ext cx="609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Typst preview &amp; PDF/PNG/SVG</a:t>
            </a:r>
          </a:p>
        </p:txBody>
      </p:sp>
      <p:sp>
        <p:nvSpPr>
          <p:cNvPr id="37" name="Text 37"/>
          <p:cNvSpPr/>
          <p:nvPr/>
        </p:nvSpPr>
        <p:spPr>
          <a:xfrm xmlns:a="http://schemas.openxmlformats.org/drawingml/2006/main">
            <a:off x="6985000" y="50571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✓</a:t>
            </a:r>
          </a:p>
        </p:txBody>
      </p:sp>
      <p:sp>
        <p:nvSpPr>
          <p:cNvPr id="38" name="Text 38"/>
          <p:cNvSpPr/>
          <p:nvPr/>
        </p:nvSpPr>
        <p:spPr>
          <a:xfrm xmlns:a="http://schemas.openxmlformats.org/drawingml/2006/main">
            <a:off x="8559800" y="50571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—</a:t>
            </a:r>
          </a:p>
        </p:txBody>
      </p:sp>
      <p:sp>
        <p:nvSpPr>
          <p:cNvPr id="39" name="Text 39"/>
          <p:cNvSpPr/>
          <p:nvPr/>
        </p:nvSpPr>
        <p:spPr>
          <a:xfrm xmlns:a="http://schemas.openxmlformats.org/drawingml/2006/main">
            <a:off x="10134600" y="50571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—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 xmlns:a="http://schemas.openxmlformats.org/drawingml/2006/main">
            <a:off x="584200" y="584200"/>
            <a:ext cx="11023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 b="1">
                <a:solidFill>
                  <a:srgbClr val="C79A3B"/>
                </a:solidFill>
              </a:rPr>
              <a:t>VISUAL FIDELITY</a:t>
            </a:r>
          </a:p>
        </p:txBody>
      </p:sp>
      <p:sp>
        <p:nvSpPr>
          <p:cNvPr id="3" name="Text 3"/>
          <p:cNvSpPr/>
          <p:nvPr/>
        </p:nvSpPr>
        <p:spPr>
          <a:xfrm xmlns:a="http://schemas.openxmlformats.org/drawingml/2006/main">
            <a:off x="584200" y="875030"/>
            <a:ext cx="11023600" cy="75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400">
                <a:solidFill>
                  <a:srgbClr val="2C3932"/>
                </a:solidFill>
              </a:rPr>
              <a:t>PowerPoint vs OfficeEditor — side by side</a:t>
            </a:r>
          </a:p>
        </p:txBody>
      </p:sp>
      <p:sp>
        <p:nvSpPr>
          <p:cNvPr id="4" name="Rectangle 4"/>
          <p:cNvSpPr/>
          <p:nvPr/>
        </p:nvSpPr>
        <p:spPr>
          <a:xfrm xmlns:a="http://schemas.openxmlformats.org/drawingml/2006/main">
            <a:off x="584200" y="18542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>
            <a:noFill/>
          </a:ln>
        </p:spPr>
      </p:sp>
      <p:sp>
        <p:nvSpPr>
          <p:cNvPr id="5" name="Text 5"/>
          <p:cNvSpPr/>
          <p:nvPr/>
        </p:nvSpPr>
        <p:spPr>
          <a:xfrm xmlns:a="http://schemas.openxmlformats.org/drawingml/2006/main">
            <a:off x="584200" y="2070100"/>
            <a:ext cx="110236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</a:rPr>
              <a:t>Geometry and positioning come from the shared layout pass — residual differences are mostly font metrics and rasterization.</a:t>
            </a:r>
          </a:p>
        </p:txBody>
      </p:sp>
      <p:pic>
        <p:nvPicPr>
          <p:cNvPr id="6" name="Image 6"/>
          <p:cNvPicPr/>
          <p:nvPr/>
        </p:nvPicPr>
        <p:blipFill>
          <a:blip xmlns:r="http://schemas.openxmlformats.org/officeDocument/2006/relationships" xmlns:a="http://schemas.openxmlformats.org/drawingml/2006/main" r:embed="Rf2d8f3fb0cea4da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07483" y="2501900"/>
            <a:ext cx="5350933" cy="3009900"/>
          </a:xfrm>
          <a:prstGeom xmlns:a="http://schemas.openxmlformats.org/drawingml/2006/main" prst="rect">
            <a:avLst/>
          </a:prstGeom>
        </p:spPr>
      </p:pic>
      <p:sp>
        <p:nvSpPr>
          <p:cNvPr id="7" name="Text 7"/>
          <p:cNvSpPr/>
          <p:nvPr/>
        </p:nvSpPr>
        <p:spPr>
          <a:xfrm xmlns:a="http://schemas.openxmlformats.org/drawingml/2006/main">
            <a:off x="584200" y="5613400"/>
            <a:ext cx="539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300">
                <a:solidFill>
                  <a:srgbClr val="7A7567"/>
                </a:solidFill>
              </a:rPr>
              <a:t>PowerPoint render — pres-pro slide 1</a:t>
            </a:r>
          </a:p>
        </p:txBody>
      </p:sp>
      <p:pic>
        <p:nvPicPr>
          <p:cNvPr id="8" name="Image 8"/>
          <p:cNvPicPr/>
          <p:nvPr/>
        </p:nvPicPr>
        <p:blipFill>
          <a:blip xmlns:r="http://schemas.openxmlformats.org/officeDocument/2006/relationships" xmlns:a="http://schemas.openxmlformats.org/drawingml/2006/main" r:embed="Rf7a467f2635c485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33583" y="2501900"/>
            <a:ext cx="5350933" cy="3009900"/>
          </a:xfrm>
          <a:prstGeom xmlns:a="http://schemas.openxmlformats.org/drawingml/2006/main" prst="rect">
            <a:avLst/>
          </a:prstGeom>
        </p:spPr>
      </p:pic>
      <p:sp>
        <p:nvSpPr>
          <p:cNvPr id="9" name="Text 9"/>
          <p:cNvSpPr/>
          <p:nvPr/>
        </p:nvSpPr>
        <p:spPr>
          <a:xfrm xmlns:a="http://schemas.openxmlformats.org/drawingml/2006/main">
            <a:off x="6210300" y="5613400"/>
            <a:ext cx="539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300">
                <a:solidFill>
                  <a:srgbClr val="7A7567"/>
                </a:solidFill>
              </a:rPr>
              <a:t>OfficeEditor Typst render — RMSE 14.03%</a:t>
            </a:r>
          </a:p>
        </p:txBody>
      </p:sp>
      <p:sp>
        <p:nvSpPr>
          <p:cNvPr id="10" name="Text 10"/>
          <p:cNvSpPr/>
          <p:nvPr/>
        </p:nvSpPr>
        <p:spPr>
          <a:xfrm xmlns:a="http://schemas.openxmlformats.org/drawingml/2006/main">
            <a:off x="584200" y="6019800"/>
            <a:ext cx="110236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2C3932"/>
                </a:solidFill>
              </a:rPr>
              <a:t>Average RMSE: 17.29% (pres-pro, 16 slides) — a coarse regression signal, not pixel parity.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 xmlns:a="http://schemas.openxmlformats.org/drawingml/2006/main">
            <a:off x="584200" y="584200"/>
            <a:ext cx="11023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 b="1">
                <a:solidFill>
                  <a:srgbClr val="C79A3B"/>
                </a:solidFill>
              </a:rPr>
              <a:t>FOR DEVELOPERS</a:t>
            </a:r>
          </a:p>
        </p:txBody>
      </p:sp>
      <p:sp>
        <p:nvSpPr>
          <p:cNvPr id="3" name="Text 3"/>
          <p:cNvSpPr/>
          <p:nvPr/>
        </p:nvSpPr>
        <p:spPr>
          <a:xfrm xmlns:a="http://schemas.openxmlformats.org/drawingml/2006/main">
            <a:off x="584200" y="875030"/>
            <a:ext cx="11023600" cy="75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400">
                <a:solidFill>
                  <a:srgbClr val="2C3932"/>
                </a:solidFill>
              </a:rPr>
              <a:t>Four ways in</a:t>
            </a:r>
          </a:p>
        </p:txBody>
      </p:sp>
      <p:sp>
        <p:nvSpPr>
          <p:cNvPr id="4" name="Container 4"/>
          <p:cNvSpPr/>
          <p:nvPr/>
        </p:nvSpPr>
        <p:spPr>
          <a:xfrm xmlns:a="http://schemas.openxmlformats.org/drawingml/2006/main">
            <a:off x="584200" y="1905000"/>
            <a:ext cx="5397500" cy="207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A7567"/>
            </a:solidFill>
          </a:ln>
        </p:spPr>
      </p:sp>
      <p:sp>
        <p:nvSpPr>
          <p:cNvPr id="5" name="Text 5"/>
          <p:cNvSpPr/>
          <p:nvPr/>
        </p:nvSpPr>
        <p:spPr>
          <a:xfrm xmlns:a="http://schemas.openxmlformats.org/drawingml/2006/main">
            <a:off x="812800" y="2133600"/>
            <a:ext cx="49403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 b="1">
                <a:solidFill>
                  <a:srgbClr val="2C3932"/>
                </a:solidFill>
              </a:rPr>
              <a:t>CLI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812800" y="2493010"/>
            <a:ext cx="4940300" cy="1253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officeeditor merge template.pptx data.json out.pptx</a:t>
            </a:r>
          </a:p>
        </p:txBody>
      </p:sp>
      <p:sp>
        <p:nvSpPr>
          <p:cNvPr id="7" name="Container 7"/>
          <p:cNvSpPr/>
          <p:nvPr/>
        </p:nvSpPr>
        <p:spPr>
          <a:xfrm xmlns:a="http://schemas.openxmlformats.org/drawingml/2006/main">
            <a:off x="6210300" y="1905000"/>
            <a:ext cx="5397500" cy="207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A7567"/>
            </a:solidFill>
          </a:ln>
        </p:spPr>
      </p:sp>
      <p:sp>
        <p:nvSpPr>
          <p:cNvPr id="8" name="Text 8"/>
          <p:cNvSpPr/>
          <p:nvPr/>
        </p:nvSpPr>
        <p:spPr>
          <a:xfrm xmlns:a="http://schemas.openxmlformats.org/drawingml/2006/main">
            <a:off x="6438900" y="2133600"/>
            <a:ext cx="49403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 b="1">
                <a:solidFill>
                  <a:srgbClr val="2C3932"/>
                </a:solidFill>
              </a:rPr>
              <a:t>Fluent C# API</a:t>
            </a:r>
          </a:p>
        </p:txBody>
      </p:sp>
      <p:sp>
        <p:nvSpPr>
          <p:cNvPr id="9" name="Text 9"/>
          <p:cNvSpPr/>
          <p:nvPr/>
        </p:nvSpPr>
        <p:spPr>
          <a:xfrm xmlns:a="http://schemas.openxmlformats.org/drawingml/2006/main">
            <a:off x="6438900" y="2493010"/>
            <a:ext cx="4940300" cy="1253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builder.MergeVariables(data); builder.ExportToPdf();</a:t>
            </a:r>
          </a:p>
        </p:txBody>
      </p:sp>
      <p:sp>
        <p:nvSpPr>
          <p:cNvPr id="10" name="Container 10"/>
          <p:cNvSpPr/>
          <p:nvPr/>
        </p:nvSpPr>
        <p:spPr>
          <a:xfrm xmlns:a="http://schemas.openxmlformats.org/drawingml/2006/main">
            <a:off x="584200" y="4203700"/>
            <a:ext cx="5397500" cy="207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A7567"/>
            </a:solidFill>
          </a:ln>
        </p:spPr>
      </p:sp>
      <p:sp>
        <p:nvSpPr>
          <p:cNvPr id="11" name="Text 11"/>
          <p:cNvSpPr/>
          <p:nvPr/>
        </p:nvSpPr>
        <p:spPr>
          <a:xfrm xmlns:a="http://schemas.openxmlformats.org/drawingml/2006/main">
            <a:off x="812800" y="4432300"/>
            <a:ext cx="49403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 b="1">
                <a:solidFill>
                  <a:srgbClr val="2C3932"/>
                </a:solidFill>
              </a:rPr>
              <a:t>ASP.NET Core + MCP</a:t>
            </a:r>
          </a:p>
        </p:txBody>
      </p:sp>
      <p:sp>
        <p:nvSpPr>
          <p:cNvPr id="12" name="Text 12"/>
          <p:cNvSpPr/>
          <p:nvPr/>
        </p:nvSpPr>
        <p:spPr>
          <a:xfrm xmlns:a="http://schemas.openxmlformats.org/drawingml/2006/main">
            <a:off x="812800" y="4791710"/>
            <a:ext cx="4940300" cy="1253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deck_generate · deck_render_slide · deck_anatomize</a:t>
            </a:r>
          </a:p>
        </p:txBody>
      </p:sp>
      <p:sp>
        <p:nvSpPr>
          <p:cNvPr id="13" name="Container 13"/>
          <p:cNvSpPr/>
          <p:nvPr/>
        </p:nvSpPr>
        <p:spPr>
          <a:xfrm xmlns:a="http://schemas.openxmlformats.org/drawingml/2006/main">
            <a:off x="6210300" y="4203700"/>
            <a:ext cx="5397500" cy="207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A7567"/>
            </a:solidFill>
          </a:ln>
        </p:spPr>
      </p:sp>
      <p:sp>
        <p:nvSpPr>
          <p:cNvPr id="14" name="Text 14"/>
          <p:cNvSpPr/>
          <p:nvPr/>
        </p:nvSpPr>
        <p:spPr>
          <a:xfrm xmlns:a="http://schemas.openxmlformats.org/drawingml/2006/main">
            <a:off x="6438900" y="4432300"/>
            <a:ext cx="49403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 b="1">
                <a:solidFill>
                  <a:srgbClr val="2C3932"/>
                </a:solidFill>
              </a:rPr>
              <a:t>Web client</a:t>
            </a:r>
          </a:p>
        </p:txBody>
      </p:sp>
      <p:sp>
        <p:nvSpPr>
          <p:cNvPr id="15" name="Text 15"/>
          <p:cNvSpPr/>
          <p:nvPr/>
        </p:nvSpPr>
        <p:spPr>
          <a:xfrm xmlns:a="http://schemas.openxmlformats.org/drawingml/2006/main">
            <a:off x="6438900" y="4791710"/>
            <a:ext cx="4940300" cy="1253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Vite + Tailwind browser deck editor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 xmlns:a="http://schemas.openxmlformats.org/drawingml/2006/main">
            <a:off x="584200" y="584200"/>
            <a:ext cx="11023600" cy="75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400">
                <a:solidFill>
                  <a:srgbClr val="2C3932"/>
                </a:solidFill>
              </a:rPr>
              <a:t>Positioning</a:t>
            </a:r>
          </a:p>
        </p:txBody>
      </p:sp>
      <p:sp>
        <p:nvSpPr>
          <p:cNvPr id="3" name="Container 3"/>
          <p:cNvSpPr/>
          <p:nvPr/>
        </p:nvSpPr>
        <p:spPr>
          <a:xfrm xmlns:a="http://schemas.openxmlformats.org/drawingml/2006/main">
            <a:off x="584200" y="1567180"/>
            <a:ext cx="5397500" cy="4706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A7567"/>
            </a:solidFill>
          </a:ln>
        </p:spPr>
      </p:sp>
      <p:sp>
        <p:nvSpPr>
          <p:cNvPr id="4" name="Text 4"/>
          <p:cNvSpPr/>
          <p:nvPr/>
        </p:nvSpPr>
        <p:spPr>
          <a:xfrm xmlns:a="http://schemas.openxmlformats.org/drawingml/2006/main">
            <a:off x="812800" y="1795780"/>
            <a:ext cx="49403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 b="1">
                <a:solidFill>
                  <a:srgbClr val="2C3932"/>
                </a:solidFill>
              </a:rPr>
              <a:t>Built on the Open XML SDK</a:t>
            </a:r>
          </a:p>
        </p:txBody>
      </p:sp>
      <p:sp>
        <p:nvSpPr>
          <p:cNvPr id="5" name="Text 5"/>
          <p:cNvSpPr/>
          <p:nvPr/>
        </p:nvSpPr>
        <p:spPr>
          <a:xfrm xmlns:a="http://schemas.openxmlformats.org/drawingml/2006/main">
            <a:off x="812800" y="2155190"/>
            <a:ext cx="4940300" cy="3890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Not a replacement. OfficeEditor adds higher-level instructions, reusable layout, template logic and deterministic preview on top of native OOXML.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6210300" y="1567180"/>
            <a:ext cx="53975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 b="1">
                <a:solidFill>
                  <a:srgbClr val="2C3932"/>
                </a:solidFill>
              </a:rPr>
              <a:t>The niche</a:t>
            </a:r>
          </a:p>
        </p:txBody>
      </p:sp>
      <p:sp>
        <p:nvSpPr>
          <p:cNvPr id="7" name="Ellipse 7"/>
          <p:cNvSpPr/>
          <p:nvPr/>
        </p:nvSpPr>
        <p:spPr>
          <a:xfrm xmlns:a="http://schemas.openxmlformats.org/drawingml/2006/main">
            <a:off x="6210300" y="208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>
            <a:noFill/>
          </a:ln>
        </p:spPr>
      </p:sp>
      <p:sp>
        <p:nvSpPr>
          <p:cNvPr id="8" name="Text 8"/>
          <p:cNvSpPr/>
          <p:nvPr/>
        </p:nvSpPr>
        <p:spPr>
          <a:xfrm xmlns:a="http://schemas.openxmlformats.org/drawingml/2006/main">
            <a:off x="6388100" y="1990090"/>
            <a:ext cx="52197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Fully programmatic — no Office installation needed</a:t>
            </a:r>
          </a:p>
        </p:txBody>
      </p:sp>
      <p:sp>
        <p:nvSpPr>
          <p:cNvPr id="9" name="Ellipse 9"/>
          <p:cNvSpPr/>
          <p:nvPr/>
        </p:nvSpPr>
        <p:spPr>
          <a:xfrm xmlns:a="http://schemas.openxmlformats.org/drawingml/2006/main">
            <a:off x="6210300" y="24777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>
            <a:noFill/>
          </a:ln>
        </p:spPr>
      </p:sp>
      <p:sp>
        <p:nvSpPr>
          <p:cNvPr id="10" name="Text 10"/>
          <p:cNvSpPr/>
          <p:nvPr/>
        </p:nvSpPr>
        <p:spPr>
          <a:xfrm xmlns:a="http://schemas.openxmlformats.org/drawingml/2006/main">
            <a:off x="6388100" y="2378710"/>
            <a:ext cx="52197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One abstraction across three formats</a:t>
            </a:r>
          </a:p>
        </p:txBody>
      </p:sp>
      <p:sp>
        <p:nvSpPr>
          <p:cNvPr id="11" name="Ellipse 11"/>
          <p:cNvSpPr/>
          <p:nvPr/>
        </p:nvSpPr>
        <p:spPr>
          <a:xfrm xmlns:a="http://schemas.openxmlformats.org/drawingml/2006/main">
            <a:off x="6210300" y="286639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>
            <a:noFill/>
          </a:ln>
        </p:spPr>
      </p:sp>
      <p:sp>
        <p:nvSpPr>
          <p:cNvPr id="12" name="Text 12"/>
          <p:cNvSpPr/>
          <p:nvPr/>
        </p:nvSpPr>
        <p:spPr>
          <a:xfrm xmlns:a="http://schemas.openxmlformats.org/drawingml/2006/main">
            <a:off x="6388100" y="2767330"/>
            <a:ext cx="52197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Preview and delivery share one layout engine</a:t>
            </a:r>
          </a:p>
        </p:txBody>
      </p:sp>
      <p:sp>
        <p:nvSpPr>
          <p:cNvPr id="13" name="Ellipse 13"/>
          <p:cNvSpPr/>
          <p:nvPr/>
        </p:nvSpPr>
        <p:spPr>
          <a:xfrm xmlns:a="http://schemas.openxmlformats.org/drawingml/2006/main">
            <a:off x="6210300" y="32550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>
            <a:noFill/>
          </a:ln>
        </p:spPr>
      </p:sp>
      <p:sp>
        <p:nvSpPr>
          <p:cNvPr id="14" name="Text 14"/>
          <p:cNvSpPr/>
          <p:nvPr/>
        </p:nvSpPr>
        <p:spPr>
          <a:xfrm xmlns:a="http://schemas.openxmlformats.org/drawingml/2006/main">
            <a:off x="6388100" y="3155950"/>
            <a:ext cx="52197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MIT-licensed, in-memory APIs for services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 xmlns:a="http://schemas.openxmlformats.org/drawingml/2006/main">
            <a:off x="584200" y="584200"/>
            <a:ext cx="11023600" cy="75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400">
                <a:solidFill>
                  <a:srgbClr val="2C3932"/>
                </a:solidFill>
              </a:rPr>
              <a:t>Status &amp; roadmap</a:t>
            </a:r>
          </a:p>
        </p:txBody>
      </p:sp>
      <p:sp>
        <p:nvSpPr>
          <p:cNvPr id="3" name="Text 3"/>
          <p:cNvSpPr/>
          <p:nvPr/>
        </p:nvSpPr>
        <p:spPr>
          <a:xfrm xmlns:a="http://schemas.openxmlformats.org/drawingml/2006/main">
            <a:off x="584200" y="1600200"/>
            <a:ext cx="53975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 b="1">
                <a:solidFill>
                  <a:srgbClr val="2C3932"/>
                </a:solidFill>
              </a:rPr>
              <a:t>Works today</a:t>
            </a:r>
          </a:p>
        </p:txBody>
      </p:sp>
      <p:sp>
        <p:nvSpPr>
          <p:cNvPr id="4" name="Ellipse 4"/>
          <p:cNvSpPr/>
          <p:nvPr/>
        </p:nvSpPr>
        <p:spPr>
          <a:xfrm xmlns:a="http://schemas.openxmlformats.org/drawingml/2006/main">
            <a:off x="584200" y="21221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>
            <a:noFill/>
          </a:ln>
        </p:spPr>
      </p:sp>
      <p:sp>
        <p:nvSpPr>
          <p:cNvPr id="5" name="Text 5"/>
          <p:cNvSpPr/>
          <p:nvPr/>
        </p:nvSpPr>
        <p:spPr>
          <a:xfrm xmlns:a="http://schemas.openxmlformats.org/drawingml/2006/main">
            <a:off x="762000" y="2023110"/>
            <a:ext cx="52197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v0.1.0 — developed &amp; tested on macOS</a:t>
            </a:r>
          </a:p>
        </p:txBody>
      </p:sp>
      <p:sp>
        <p:nvSpPr>
          <p:cNvPr id="6" name="Ellipse 6"/>
          <p:cNvSpPr/>
          <p:nvPr/>
        </p:nvSpPr>
        <p:spPr>
          <a:xfrm xmlns:a="http://schemas.openxmlformats.org/drawingml/2006/main">
            <a:off x="584200" y="251079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>
            <a:noFill/>
          </a:ln>
        </p:spPr>
      </p:sp>
      <p:sp>
        <p:nvSpPr>
          <p:cNvPr id="7" name="Text 7"/>
          <p:cNvSpPr/>
          <p:nvPr/>
        </p:nvSpPr>
        <p:spPr>
          <a:xfrm xmlns:a="http://schemas.openxmlformats.org/drawingml/2006/main">
            <a:off x="762000" y="2411730"/>
            <a:ext cx="52197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Create, edit, merge across 3 formats</a:t>
            </a:r>
          </a:p>
        </p:txBody>
      </p:sp>
      <p:sp>
        <p:nvSpPr>
          <p:cNvPr id="8" name="Ellipse 8"/>
          <p:cNvSpPr/>
          <p:nvPr/>
        </p:nvSpPr>
        <p:spPr>
          <a:xfrm xmlns:a="http://schemas.openxmlformats.org/drawingml/2006/main">
            <a:off x="584200" y="28994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>
            <a:noFill/>
          </a:ln>
        </p:spPr>
      </p:sp>
      <p:sp>
        <p:nvSpPr>
          <p:cNvPr id="9" name="Text 9"/>
          <p:cNvSpPr/>
          <p:nvPr/>
        </p:nvSpPr>
        <p:spPr>
          <a:xfrm xmlns:a="http://schemas.openxmlformats.org/drawingml/2006/main">
            <a:off x="762000" y="2800350"/>
            <a:ext cx="52197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PPTX → PDF / PNG / SVG via TypstBridge</a:t>
            </a:r>
          </a:p>
        </p:txBody>
      </p:sp>
      <p:sp>
        <p:nvSpPr>
          <p:cNvPr id="10" name="Ellipse 10"/>
          <p:cNvSpPr/>
          <p:nvPr/>
        </p:nvSpPr>
        <p:spPr>
          <a:xfrm xmlns:a="http://schemas.openxmlformats.org/drawingml/2006/main">
            <a:off x="584200" y="32880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>
            <a:noFill/>
          </a:ln>
        </p:spPr>
      </p:sp>
      <p:sp>
        <p:nvSpPr>
          <p:cNvPr id="11" name="Text 11"/>
          <p:cNvSpPr/>
          <p:nvPr/>
        </p:nvSpPr>
        <p:spPr>
          <a:xfrm xmlns:a="http://schemas.openxmlformats.org/drawingml/2006/main">
            <a:off x="762000" y="3188970"/>
            <a:ext cx="52197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1,218 tests green, visual-diff suite</a:t>
            </a:r>
          </a:p>
        </p:txBody>
      </p:sp>
      <p:sp>
        <p:nvSpPr>
          <p:cNvPr id="12" name="Text 12"/>
          <p:cNvSpPr/>
          <p:nvPr/>
        </p:nvSpPr>
        <p:spPr>
          <a:xfrm xmlns:a="http://schemas.openxmlformats.org/drawingml/2006/main">
            <a:off x="6210300" y="1600200"/>
            <a:ext cx="53975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 b="1">
                <a:solidFill>
                  <a:srgbClr val="2C3932"/>
                </a:solidFill>
              </a:rPr>
              <a:t>Next</a:t>
            </a:r>
          </a:p>
        </p:txBody>
      </p:sp>
      <p:sp>
        <p:nvSpPr>
          <p:cNvPr id="13" name="Ellipse 13"/>
          <p:cNvSpPr/>
          <p:nvPr/>
        </p:nvSpPr>
        <p:spPr>
          <a:xfrm xmlns:a="http://schemas.openxmlformats.org/drawingml/2006/main">
            <a:off x="6210300" y="21221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>
            <a:noFill/>
          </a:ln>
        </p:spPr>
      </p:sp>
      <p:sp>
        <p:nvSpPr>
          <p:cNvPr id="14" name="Text 14"/>
          <p:cNvSpPr/>
          <p:nvPr/>
        </p:nvSpPr>
        <p:spPr>
          <a:xfrm xmlns:a="http://schemas.openxmlformats.org/drawingml/2006/main">
            <a:off x="6388100" y="2023110"/>
            <a:ext cx="52197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NuGet packages + dotnet tool</a:t>
            </a:r>
          </a:p>
        </p:txBody>
      </p:sp>
      <p:sp>
        <p:nvSpPr>
          <p:cNvPr id="15" name="Ellipse 15"/>
          <p:cNvSpPr/>
          <p:nvPr/>
        </p:nvSpPr>
        <p:spPr>
          <a:xfrm xmlns:a="http://schemas.openxmlformats.org/drawingml/2006/main">
            <a:off x="6210300" y="251079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>
            <a:noFill/>
          </a:ln>
        </p:spPr>
      </p:sp>
      <p:sp>
        <p:nvSpPr>
          <p:cNvPr id="16" name="Text 16"/>
          <p:cNvSpPr/>
          <p:nvPr/>
        </p:nvSpPr>
        <p:spPr>
          <a:xfrm xmlns:a="http://schemas.openxmlformats.org/drawingml/2006/main">
            <a:off x="6388100" y="2411730"/>
            <a:ext cx="52197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Windows verification (pure managed code)</a:t>
            </a:r>
          </a:p>
        </p:txBody>
      </p:sp>
      <p:sp>
        <p:nvSpPr>
          <p:cNvPr id="17" name="Ellipse 17"/>
          <p:cNvSpPr/>
          <p:nvPr/>
        </p:nvSpPr>
        <p:spPr>
          <a:xfrm xmlns:a="http://schemas.openxmlformats.org/drawingml/2006/main">
            <a:off x="6210300" y="28994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>
            <a:noFill/>
          </a:ln>
        </p:spPr>
      </p:sp>
      <p:sp>
        <p:nvSpPr>
          <p:cNvPr id="18" name="Text 18"/>
          <p:cNvSpPr/>
          <p:nvPr/>
        </p:nvSpPr>
        <p:spPr>
          <a:xfrm xmlns:a="http://schemas.openxmlformats.org/drawingml/2006/main">
            <a:off x="6388100" y="2800350"/>
            <a:ext cx="52197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Richer chart &amp; SmartArt rendering</a:t>
            </a:r>
          </a:p>
        </p:txBody>
      </p:sp>
      <p:sp>
        <p:nvSpPr>
          <p:cNvPr id="19" name="Ellipse 19"/>
          <p:cNvSpPr/>
          <p:nvPr/>
        </p:nvSpPr>
        <p:spPr>
          <a:xfrm xmlns:a="http://schemas.openxmlformats.org/drawingml/2006/main">
            <a:off x="6210300" y="32880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>
            <a:noFill/>
          </a:ln>
        </p:spPr>
      </p:sp>
      <p:sp>
        <p:nvSpPr>
          <p:cNvPr id="20" name="Text 20"/>
          <p:cNvSpPr/>
          <p:nvPr/>
        </p:nvSpPr>
        <p:spPr>
          <a:xfrm xmlns:a="http://schemas.openxmlformats.org/drawingml/2006/main">
            <a:off x="6388100" y="3188970"/>
            <a:ext cx="52197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2C3932"/>
                </a:solidFill>
              </a:rPr>
              <a:t>Stable v1 generation schema</a:t>
            </a:r>
          </a:p>
        </p:txBody>
      </p:sp>
      <p:sp>
        <p:nvSpPr>
          <p:cNvPr id="21" name="Container 21"/>
          <p:cNvSpPr/>
          <p:nvPr/>
        </p:nvSpPr>
        <p:spPr>
          <a:xfrm xmlns:a="http://schemas.openxmlformats.org/drawingml/2006/main">
            <a:off x="584200" y="5918200"/>
            <a:ext cx="1016000" cy="330200"/>
          </a:xfrm>
          <a:prstGeom xmlns:a="http://schemas.openxmlformats.org/drawingml/2006/main" prst="roundRect">
            <a:avLst>
              <a:gd name="adj1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>
            <a:noFill/>
          </a:ln>
        </p:spPr>
      </p:sp>
      <p:sp>
        <p:nvSpPr>
          <p:cNvPr id="22" name="Text 22"/>
          <p:cNvSpPr/>
          <p:nvPr/>
        </p:nvSpPr>
        <p:spPr>
          <a:xfrm xmlns:a="http://schemas.openxmlformats.org/drawingml/2006/main">
            <a:off x="711200" y="5956300"/>
            <a:ext cx="762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ctr"/>
            <a:r>
              <a:rPr sz="1400" b="1">
                <a:solidFill>
                  <a:srgbClr val="FFFFFF"/>
                </a:solidFill>
              </a:rPr>
              <a:t>v0.1.0</a:t>
            </a:r>
          </a:p>
        </p:txBody>
      </p:sp>
      <p:sp>
        <p:nvSpPr>
          <p:cNvPr id="23" name="Container 23"/>
          <p:cNvSpPr/>
          <p:nvPr/>
        </p:nvSpPr>
        <p:spPr>
          <a:xfrm xmlns:a="http://schemas.openxmlformats.org/drawingml/2006/main">
            <a:off x="1752600" y="5918200"/>
            <a:ext cx="762000" cy="330200"/>
          </a:xfrm>
          <a:prstGeom xmlns:a="http://schemas.openxmlformats.org/drawingml/2006/main" prst="roundRect">
            <a:avLst>
              <a:gd name="adj1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>
            <a:noFill/>
          </a:ln>
        </p:spPr>
      </p:sp>
      <p:sp>
        <p:nvSpPr>
          <p:cNvPr id="24" name="Text 24"/>
          <p:cNvSpPr/>
          <p:nvPr/>
        </p:nvSpPr>
        <p:spPr>
          <a:xfrm xmlns:a="http://schemas.openxmlformats.org/drawingml/2006/main">
            <a:off x="1879600" y="5956300"/>
            <a:ext cx="508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ctr"/>
            <a:r>
              <a:rPr sz="1400" b="1">
                <a:solidFill>
                  <a:srgbClr val="FFFFFF"/>
                </a:solidFill>
              </a:rPr>
              <a:t>MIT</a:t>
            </a:r>
          </a:p>
        </p:txBody>
      </p:sp>
      <p:sp>
        <p:nvSpPr>
          <p:cNvPr id="25" name="Container 25"/>
          <p:cNvSpPr/>
          <p:nvPr/>
        </p:nvSpPr>
        <p:spPr>
          <a:xfrm xmlns:a="http://schemas.openxmlformats.org/drawingml/2006/main">
            <a:off x="2667000" y="5918200"/>
            <a:ext cx="1587500" cy="330200"/>
          </a:xfrm>
          <a:prstGeom xmlns:a="http://schemas.openxmlformats.org/drawingml/2006/main" prst="roundRect">
            <a:avLst>
              <a:gd name="adj1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>
            <a:noFill/>
          </a:ln>
        </p:spPr>
      </p:sp>
      <p:sp>
        <p:nvSpPr>
          <p:cNvPr id="26" name="Text 26"/>
          <p:cNvSpPr/>
          <p:nvPr/>
        </p:nvSpPr>
        <p:spPr>
          <a:xfrm xmlns:a="http://schemas.openxmlformats.org/drawingml/2006/main">
            <a:off x="2794000" y="5956300"/>
            <a:ext cx="13335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ctr"/>
            <a:r>
              <a:rPr sz="1400" b="1">
                <a:solidFill>
                  <a:srgbClr val="FFFFFF"/>
                </a:solidFill>
              </a:rPr>
              <a:t>macOS · Linux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 xmlns:a="http://schemas.openxmlformats.org/drawingml/2006/main">
            <a:off x="584200" y="1778000"/>
            <a:ext cx="110236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 b="1">
                <a:solidFill>
                  <a:srgbClr val="C79A3B"/>
                </a:solidFill>
              </a:rPr>
              <a:t>OPEN SOURCE · MIT</a:t>
            </a:r>
          </a:p>
        </p:txBody>
      </p:sp>
      <p:sp>
        <p:nvSpPr>
          <p:cNvPr id="3" name="Text 3"/>
          <p:cNvSpPr/>
          <p:nvPr/>
        </p:nvSpPr>
        <p:spPr>
          <a:xfrm xmlns:a="http://schemas.openxmlformats.org/drawingml/2006/main">
            <a:off x="584200" y="2184400"/>
            <a:ext cx="110236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4400">
                <a:solidFill>
                  <a:srgbClr val="2C3932"/>
                </a:solidFill>
              </a:rPr>
              <a:t>Try it</a:t>
            </a:r>
          </a:p>
        </p:txBody>
      </p:sp>
      <p:sp>
        <p:nvSpPr>
          <p:cNvPr id="4" name="Text 4"/>
          <p:cNvSpPr/>
          <p:nvPr/>
        </p:nvSpPr>
        <p:spPr>
          <a:xfrm xmlns:a="http://schemas.openxmlformats.org/drawingml/2006/main">
            <a:off x="584200" y="3048000"/>
            <a:ext cx="1102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600">
                <a:solidFill>
                  <a:srgbClr val="2C3932"/>
                </a:solidFill>
              </a:rPr>
              <a:t>dotnet run --project OfficeEditor.Cli -- create demo.pptx --title "Hello"</a:t>
            </a:r>
          </a:p>
        </p:txBody>
      </p:sp>
      <p:sp>
        <p:nvSpPr>
          <p:cNvPr id="5" name="Text 5"/>
          <p:cNvSpPr/>
          <p:nvPr/>
        </p:nvSpPr>
        <p:spPr>
          <a:xfrm xmlns:a="http://schemas.openxmlformats.org/drawingml/2006/main">
            <a:off x="584200" y="3505200"/>
            <a:ext cx="110236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7A7567"/>
                </a:solidFill>
              </a:rPr>
              <a:t>github.com/maximeleb/OfficeEditor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5308600" y="3911600"/>
            <a:ext cx="63500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8000">
                <a:solidFill>
                  <a:srgbClr val="7A7567"/>
                </a:solidFill>
              </a:rPr>
              <a:t>{</a:t>
            </a:r>
          </a:p>
        </p:txBody>
      </p:sp>
      <p:sp>
        <p:nvSpPr>
          <p:cNvPr id="7" name="Text 7"/>
          <p:cNvSpPr/>
          <p:nvPr/>
        </p:nvSpPr>
        <p:spPr>
          <a:xfrm xmlns:a="http://schemas.openxmlformats.org/drawingml/2006/main">
            <a:off x="6248400" y="3911600"/>
            <a:ext cx="63500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8000">
                <a:solidFill>
                  <a:srgbClr val="7A7567"/>
                </a:solidFill>
              </a:rPr>
              <a:t>}</a:t>
            </a:r>
          </a:p>
        </p:txBody>
      </p:sp>
    </p:spTree>
  </p:cSld>
</p:sld>
</file>