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Neo Tech Bold" charset="1" panose="020B0804030504040204"/>
      <p:regular r:id="rId22"/>
    </p:embeddedFont>
    <p:embeddedFont>
      <p:font typeface="Koho Bold" charset="1" panose="00000800000000000000"/>
      <p:regular r:id="rId23"/>
    </p:embeddedFont>
    <p:embeddedFont>
      <p:font typeface="Koho"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3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921704" y="2431568"/>
            <a:ext cx="10169694" cy="3358285"/>
          </a:xfrm>
          <a:prstGeom prst="rect">
            <a:avLst/>
          </a:prstGeom>
        </p:spPr>
        <p:txBody>
          <a:bodyPr anchor="t" rtlCol="false" tIns="0" lIns="0" bIns="0" rIns="0">
            <a:spAutoFit/>
          </a:bodyPr>
          <a:lstStyle/>
          <a:p>
            <a:pPr algn="l" marL="0" indent="0" lvl="0">
              <a:lnSpc>
                <a:spcPts val="8478"/>
              </a:lnSpc>
            </a:pPr>
            <a:r>
              <a:rPr lang="en-US" b="true" sz="7437">
                <a:solidFill>
                  <a:srgbClr val="005FC2"/>
                </a:solidFill>
                <a:latin typeface="Neo Tech Bold"/>
                <a:ea typeface="Neo Tech Bold"/>
                <a:cs typeface="Neo Tech Bold"/>
                <a:sym typeface="Neo Tech Bold"/>
              </a:rPr>
              <a:t>FUSIONFEST BACKEND &amp; FRONTEND ARCHITECTURE</a:t>
            </a:r>
          </a:p>
        </p:txBody>
      </p:sp>
      <p:sp>
        <p:nvSpPr>
          <p:cNvPr name="Freeform 3" id="3"/>
          <p:cNvSpPr/>
          <p:nvPr/>
        </p:nvSpPr>
        <p:spPr>
          <a:xfrm flipH="true" flipV="false" rot="0">
            <a:off x="13499617" y="-3375063"/>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921704" y="6938471"/>
            <a:ext cx="10738439" cy="473248"/>
          </a:xfrm>
          <a:prstGeom prst="rect">
            <a:avLst/>
          </a:prstGeom>
        </p:spPr>
        <p:txBody>
          <a:bodyPr anchor="t" rtlCol="false" tIns="0" lIns="0" bIns="0" rIns="0">
            <a:spAutoFit/>
          </a:bodyPr>
          <a:lstStyle/>
          <a:p>
            <a:pPr algn="l" marL="0" indent="0" lvl="0">
              <a:lnSpc>
                <a:spcPts val="3684"/>
              </a:lnSpc>
            </a:pPr>
            <a:r>
              <a:rPr lang="en-US" b="true" sz="3231">
                <a:solidFill>
                  <a:srgbClr val="005FC2"/>
                </a:solidFill>
                <a:latin typeface="Koho Bold"/>
                <a:ea typeface="Koho Bold"/>
                <a:cs typeface="Koho Bold"/>
                <a:sym typeface="Koho Bold"/>
              </a:rPr>
              <a:t>How the Go Server and Flutter Mobile App Work Together</a:t>
            </a:r>
          </a:p>
        </p:txBody>
      </p:sp>
      <p:sp>
        <p:nvSpPr>
          <p:cNvPr name="Freeform 5" id="5"/>
          <p:cNvSpPr/>
          <p:nvPr/>
        </p:nvSpPr>
        <p:spPr>
          <a:xfrm flipH="false" flipV="true" rot="-151067">
            <a:off x="-1812924" y="4400378"/>
            <a:ext cx="7161170" cy="10230243"/>
          </a:xfrm>
          <a:custGeom>
            <a:avLst/>
            <a:gdLst/>
            <a:ahLst/>
            <a:cxnLst/>
            <a:rect r="r" b="b" t="t" l="l"/>
            <a:pathLst>
              <a:path h="10230243" w="7161170">
                <a:moveTo>
                  <a:pt x="0" y="10230242"/>
                </a:moveTo>
                <a:lnTo>
                  <a:pt x="7161170" y="10230242"/>
                </a:lnTo>
                <a:lnTo>
                  <a:pt x="7161170" y="0"/>
                </a:lnTo>
                <a:lnTo>
                  <a:pt x="0" y="0"/>
                </a:lnTo>
                <a:lnTo>
                  <a:pt x="0" y="10230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25238" y="-129416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494558" y="781733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953809" y="1685119"/>
            <a:ext cx="10894849" cy="1238210"/>
          </a:xfrm>
          <a:prstGeom prst="rect">
            <a:avLst/>
          </a:prstGeom>
        </p:spPr>
        <p:txBody>
          <a:bodyPr anchor="t" rtlCol="false" tIns="0" lIns="0" bIns="0" rIns="0">
            <a:spAutoFit/>
          </a:bodyPr>
          <a:lstStyle/>
          <a:p>
            <a:pPr algn="ctr" marL="0" indent="0" lvl="0">
              <a:lnSpc>
                <a:spcPts val="8543"/>
              </a:lnSpc>
            </a:pPr>
            <a:r>
              <a:rPr lang="en-US" b="true" sz="7494">
                <a:solidFill>
                  <a:srgbClr val="005FC2"/>
                </a:solidFill>
                <a:latin typeface="Neo Tech Bold"/>
                <a:ea typeface="Neo Tech Bold"/>
                <a:cs typeface="Neo Tech Bold"/>
                <a:sym typeface="Neo Tech Bold"/>
              </a:rPr>
              <a:t>PROJECT OVERVIEW</a:t>
            </a:r>
          </a:p>
        </p:txBody>
      </p:sp>
      <p:sp>
        <p:nvSpPr>
          <p:cNvPr name="TextBox 3" id="3"/>
          <p:cNvSpPr txBox="true"/>
          <p:nvPr/>
        </p:nvSpPr>
        <p:spPr>
          <a:xfrm rot="0">
            <a:off x="7642726" y="5245989"/>
            <a:ext cx="4230126" cy="1482852"/>
          </a:xfrm>
          <a:prstGeom prst="rect">
            <a:avLst/>
          </a:prstGeom>
        </p:spPr>
        <p:txBody>
          <a:bodyPr anchor="t" rtlCol="false" tIns="0" lIns="0" bIns="0" rIns="0">
            <a:spAutoFit/>
          </a:bodyPr>
          <a:lstStyle/>
          <a:p>
            <a:pPr algn="l" marL="0" indent="0" lvl="0">
              <a:lnSpc>
                <a:spcPts val="2394"/>
              </a:lnSpc>
            </a:pPr>
            <a:r>
              <a:rPr lang="en-US" sz="2100">
                <a:solidFill>
                  <a:srgbClr val="005FC2"/>
                </a:solidFill>
                <a:latin typeface="Koho"/>
                <a:ea typeface="Koho"/>
                <a:cs typeface="Koho"/>
                <a:sym typeface="Koho"/>
              </a:rPr>
              <a:t>Purpose</a:t>
            </a:r>
          </a:p>
          <a:p>
            <a:pPr algn="l" marL="0" indent="0" lvl="0">
              <a:lnSpc>
                <a:spcPts val="2394"/>
              </a:lnSpc>
            </a:pPr>
            <a:r>
              <a:rPr lang="en-US" sz="2100">
                <a:solidFill>
                  <a:srgbClr val="005FC2"/>
                </a:solidFill>
                <a:latin typeface="Koho"/>
                <a:ea typeface="Koho"/>
                <a:cs typeface="Koho"/>
                <a:sym typeface="Koho"/>
              </a:rPr>
              <a:t>Backend serves the REST API and static admin UI. Frontend provides the mobile experience for festival attendees with offline support.</a:t>
            </a:r>
          </a:p>
        </p:txBody>
      </p:sp>
      <p:sp>
        <p:nvSpPr>
          <p:cNvPr name="Freeform 4" id="4"/>
          <p:cNvSpPr/>
          <p:nvPr/>
        </p:nvSpPr>
        <p:spPr>
          <a:xfrm flipH="true" flipV="false" rot="0">
            <a:off x="-3207360" y="-5086743"/>
            <a:ext cx="7161170" cy="10230243"/>
          </a:xfrm>
          <a:custGeom>
            <a:avLst/>
            <a:gdLst/>
            <a:ahLst/>
            <a:cxnLst/>
            <a:rect r="r" b="b" t="t" l="l"/>
            <a:pathLst>
              <a:path h="10230243" w="7161170">
                <a:moveTo>
                  <a:pt x="7161169" y="0"/>
                </a:moveTo>
                <a:lnTo>
                  <a:pt x="0" y="0"/>
                </a:lnTo>
                <a:lnTo>
                  <a:pt x="0" y="10230243"/>
                </a:lnTo>
                <a:lnTo>
                  <a:pt x="7161169" y="10230243"/>
                </a:lnTo>
                <a:lnTo>
                  <a:pt x="716116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3885569">
            <a:off x="15560500" y="4143179"/>
            <a:ext cx="7161170" cy="10230243"/>
          </a:xfrm>
          <a:custGeom>
            <a:avLst/>
            <a:gdLst/>
            <a:ahLst/>
            <a:cxnLst/>
            <a:rect r="r" b="b" t="t" l="l"/>
            <a:pathLst>
              <a:path h="10230243" w="7161170">
                <a:moveTo>
                  <a:pt x="7161169" y="0"/>
                </a:moveTo>
                <a:lnTo>
                  <a:pt x="0" y="0"/>
                </a:lnTo>
                <a:lnTo>
                  <a:pt x="0" y="10230242"/>
                </a:lnTo>
                <a:lnTo>
                  <a:pt x="7161169" y="10230242"/>
                </a:lnTo>
                <a:lnTo>
                  <a:pt x="716116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2229407" y="3847909"/>
            <a:ext cx="4656668" cy="1482852"/>
          </a:xfrm>
          <a:prstGeom prst="rect">
            <a:avLst/>
          </a:prstGeom>
        </p:spPr>
        <p:txBody>
          <a:bodyPr anchor="t" rtlCol="false" tIns="0" lIns="0" bIns="0" rIns="0">
            <a:spAutoFit/>
          </a:bodyPr>
          <a:lstStyle/>
          <a:p>
            <a:pPr algn="l" marL="0" indent="0" lvl="0">
              <a:lnSpc>
                <a:spcPts val="2394"/>
              </a:lnSpc>
            </a:pPr>
            <a:r>
              <a:rPr lang="en-US" sz="2100">
                <a:solidFill>
                  <a:srgbClr val="005FC2"/>
                </a:solidFill>
                <a:latin typeface="Koho"/>
                <a:ea typeface="Koho"/>
                <a:cs typeface="Koho"/>
                <a:sym typeface="Koho"/>
              </a:rPr>
              <a:t>Frontend Repository</a:t>
            </a:r>
          </a:p>
          <a:p>
            <a:pPr algn="l" marL="0" indent="0" lvl="0">
              <a:lnSpc>
                <a:spcPts val="2394"/>
              </a:lnSpc>
            </a:pPr>
            <a:r>
              <a:rPr lang="en-US" sz="2100">
                <a:solidFill>
                  <a:srgbClr val="005FC2"/>
                </a:solidFill>
                <a:latin typeface="Koho"/>
                <a:ea typeface="Koho"/>
                <a:cs typeface="Koho"/>
                <a:sym typeface="Koho"/>
              </a:rPr>
              <a:t>MaximeLeBesnerais/fusion_fest</a:t>
            </a:r>
          </a:p>
          <a:p>
            <a:pPr algn="l" marL="0" indent="0" lvl="0">
              <a:lnSpc>
                <a:spcPts val="2394"/>
              </a:lnSpc>
            </a:pPr>
            <a:r>
              <a:rPr lang="en-US" sz="2100">
                <a:solidFill>
                  <a:srgbClr val="005FC2"/>
                </a:solidFill>
                <a:latin typeface="Koho"/>
                <a:ea typeface="Koho"/>
                <a:cs typeface="Koho"/>
                <a:sym typeface="Koho"/>
              </a:rPr>
              <a:t>Flutter mobile app with Dart SDK, Riverpod state management, and offline-first architecture.</a:t>
            </a:r>
          </a:p>
        </p:txBody>
      </p:sp>
      <p:sp>
        <p:nvSpPr>
          <p:cNvPr name="TextBox 7" id="7"/>
          <p:cNvSpPr txBox="true"/>
          <p:nvPr/>
        </p:nvSpPr>
        <p:spPr>
          <a:xfrm rot="0">
            <a:off x="2629502" y="3847909"/>
            <a:ext cx="4656668" cy="1482852"/>
          </a:xfrm>
          <a:prstGeom prst="rect">
            <a:avLst/>
          </a:prstGeom>
        </p:spPr>
        <p:txBody>
          <a:bodyPr anchor="t" rtlCol="false" tIns="0" lIns="0" bIns="0" rIns="0">
            <a:spAutoFit/>
          </a:bodyPr>
          <a:lstStyle/>
          <a:p>
            <a:pPr algn="l" marL="0" indent="0" lvl="0">
              <a:lnSpc>
                <a:spcPts val="2394"/>
              </a:lnSpc>
            </a:pPr>
            <a:r>
              <a:rPr lang="en-US" sz="2100">
                <a:solidFill>
                  <a:srgbClr val="005FC2"/>
                </a:solidFill>
                <a:latin typeface="Koho"/>
                <a:ea typeface="Koho"/>
                <a:cs typeface="Koho"/>
                <a:sym typeface="Koho"/>
              </a:rPr>
              <a:t>Backend Repository</a:t>
            </a:r>
          </a:p>
          <a:p>
            <a:pPr algn="l" marL="0" indent="0" lvl="0">
              <a:lnSpc>
                <a:spcPts val="2394"/>
              </a:lnSpc>
            </a:pPr>
            <a:r>
              <a:rPr lang="en-US" sz="2100">
                <a:solidFill>
                  <a:srgbClr val="005FC2"/>
                </a:solidFill>
                <a:latin typeface="Koho"/>
                <a:ea typeface="Koho"/>
                <a:cs typeface="Koho"/>
                <a:sym typeface="Koho"/>
              </a:rPr>
              <a:t>MaximeLeBesnerais/FusionFest-Server</a:t>
            </a:r>
          </a:p>
          <a:p>
            <a:pPr algn="l" marL="0" indent="0" lvl="0">
              <a:lnSpc>
                <a:spcPts val="2394"/>
              </a:lnSpc>
            </a:pPr>
            <a:r>
              <a:rPr lang="en-US" sz="2100">
                <a:solidFill>
                  <a:srgbClr val="005FC2"/>
                </a:solidFill>
                <a:latin typeface="Koho"/>
                <a:ea typeface="Koho"/>
                <a:cs typeface="Koho"/>
                <a:sym typeface="Koho"/>
              </a:rPr>
              <a:t>Go API server with chi router and PostgreSQL database for all core services.</a:t>
            </a:r>
          </a:p>
        </p:txBody>
      </p:sp>
      <p:sp>
        <p:nvSpPr>
          <p:cNvPr name="Freeform 8" id="8"/>
          <p:cNvSpPr/>
          <p:nvPr/>
        </p:nvSpPr>
        <p:spPr>
          <a:xfrm flipH="false" flipV="false" rot="0">
            <a:off x="3953809" y="7660195"/>
            <a:ext cx="679170" cy="679170"/>
          </a:xfrm>
          <a:custGeom>
            <a:avLst/>
            <a:gdLst/>
            <a:ahLst/>
            <a:cxnLst/>
            <a:rect r="r" b="b" t="t" l="l"/>
            <a:pathLst>
              <a:path h="679170" w="679170">
                <a:moveTo>
                  <a:pt x="0" y="0"/>
                </a:moveTo>
                <a:lnTo>
                  <a:pt x="679170" y="0"/>
                </a:lnTo>
                <a:lnTo>
                  <a:pt x="679170" y="679170"/>
                </a:lnTo>
                <a:lnTo>
                  <a:pt x="0" y="67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509074" y="7660195"/>
            <a:ext cx="679170" cy="679170"/>
          </a:xfrm>
          <a:custGeom>
            <a:avLst/>
            <a:gdLst/>
            <a:ahLst/>
            <a:cxnLst/>
            <a:rect r="r" b="b" t="t" l="l"/>
            <a:pathLst>
              <a:path h="679170" w="679170">
                <a:moveTo>
                  <a:pt x="0" y="0"/>
                </a:moveTo>
                <a:lnTo>
                  <a:pt x="679169" y="0"/>
                </a:lnTo>
                <a:lnTo>
                  <a:pt x="679169" y="679170"/>
                </a:lnTo>
                <a:lnTo>
                  <a:pt x="0" y="67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061649" y="4391102"/>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696575" y="1498362"/>
            <a:ext cx="10894849" cy="1168244"/>
          </a:xfrm>
          <a:prstGeom prst="rect">
            <a:avLst/>
          </a:prstGeom>
        </p:spPr>
        <p:txBody>
          <a:bodyPr anchor="t" rtlCol="false" tIns="0" lIns="0" bIns="0" rIns="0">
            <a:spAutoFit/>
          </a:bodyPr>
          <a:lstStyle/>
          <a:p>
            <a:pPr algn="ctr" marL="0" indent="0" lvl="0">
              <a:lnSpc>
                <a:spcPts val="8051"/>
              </a:lnSpc>
            </a:pPr>
            <a:r>
              <a:rPr lang="en-US" b="true" sz="7062">
                <a:solidFill>
                  <a:srgbClr val="005FC2"/>
                </a:solidFill>
                <a:latin typeface="Neo Tech Bold"/>
                <a:ea typeface="Neo Tech Bold"/>
                <a:cs typeface="Neo Tech Bold"/>
                <a:sym typeface="Neo Tech Bold"/>
              </a:rPr>
              <a:t>BACKEND ARCHITECTURE</a:t>
            </a:r>
          </a:p>
        </p:txBody>
      </p:sp>
      <p:sp>
        <p:nvSpPr>
          <p:cNvPr name="TextBox 3" id="3"/>
          <p:cNvSpPr txBox="true"/>
          <p:nvPr/>
        </p:nvSpPr>
        <p:spPr>
          <a:xfrm rot="0">
            <a:off x="5403738" y="3299784"/>
            <a:ext cx="8868773" cy="1762051"/>
          </a:xfrm>
          <a:prstGeom prst="rect">
            <a:avLst/>
          </a:prstGeom>
        </p:spPr>
        <p:txBody>
          <a:bodyPr anchor="t" rtlCol="false" tIns="0" lIns="0" bIns="0" rIns="0">
            <a:spAutoFit/>
          </a:bodyPr>
          <a:lstStyle/>
          <a:p>
            <a:pPr algn="just" marL="0" indent="0" lvl="0">
              <a:lnSpc>
                <a:spcPts val="2838"/>
              </a:lnSpc>
            </a:pPr>
            <a:r>
              <a:rPr lang="en-US" sz="2490">
                <a:solidFill>
                  <a:srgbClr val="005FC2"/>
                </a:solidFill>
                <a:latin typeface="Koho"/>
                <a:ea typeface="Koho"/>
                <a:cs typeface="Koho"/>
                <a:sym typeface="Koho"/>
              </a:rPr>
              <a:t>Tech Stack: Go 1.25 with go-chi/chi/v5 HTTP router for lightweight, composable routing. PostgreSQL database via jackc/pgx/v5 driver for robust data persistence. Email OTP authentication with mock or Resend provider integration. Static web UI served directly from the Go server.</a:t>
            </a:r>
          </a:p>
        </p:txBody>
      </p:sp>
      <p:sp>
        <p:nvSpPr>
          <p:cNvPr name="Freeform 4" id="4"/>
          <p:cNvSpPr/>
          <p:nvPr/>
        </p:nvSpPr>
        <p:spPr>
          <a:xfrm flipH="false" flipV="false" rot="-7720815">
            <a:off x="-5386022" y="56356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8367064">
            <a:off x="10341117" y="-1585888"/>
            <a:ext cx="13836366" cy="7245224"/>
          </a:xfrm>
          <a:custGeom>
            <a:avLst/>
            <a:gdLst/>
            <a:ahLst/>
            <a:cxnLst/>
            <a:rect r="r" b="b" t="t" l="l"/>
            <a:pathLst>
              <a:path h="7245224" w="13836366">
                <a:moveTo>
                  <a:pt x="13836366" y="0"/>
                </a:moveTo>
                <a:lnTo>
                  <a:pt x="0" y="0"/>
                </a:lnTo>
                <a:lnTo>
                  <a:pt x="0" y="7245225"/>
                </a:lnTo>
                <a:lnTo>
                  <a:pt x="13836366" y="7245225"/>
                </a:lnTo>
                <a:lnTo>
                  <a:pt x="1383636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15489" y="4017828"/>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476496" y="6397695"/>
            <a:ext cx="8868773" cy="2114476"/>
          </a:xfrm>
          <a:prstGeom prst="rect">
            <a:avLst/>
          </a:prstGeom>
        </p:spPr>
        <p:txBody>
          <a:bodyPr anchor="t" rtlCol="false" tIns="0" lIns="0" bIns="0" rIns="0">
            <a:spAutoFit/>
          </a:bodyPr>
          <a:lstStyle/>
          <a:p>
            <a:pPr algn="just" marL="0" indent="0" lvl="0">
              <a:lnSpc>
                <a:spcPts val="2838"/>
              </a:lnSpc>
            </a:pPr>
            <a:r>
              <a:rPr lang="en-US" sz="2490">
                <a:solidFill>
                  <a:srgbClr val="005FC2"/>
                </a:solidFill>
                <a:latin typeface="Koho"/>
                <a:ea typeface="Koho"/>
                <a:cs typeface="Koho"/>
                <a:sym typeface="Koho"/>
              </a:rPr>
              <a:t>Key Features: User management with email OTP verification flow. Points system with event ledger for tracking all point transactions. QR code scanning for check-ins and interactions. Trivia questions with timed rotation windows. Hype voting system. Referral system with activation logic. Rewards wallet with token-based redemption. Rate limiting and HMAC authentication.</a:t>
            </a:r>
          </a:p>
        </p:txBody>
      </p:sp>
      <p:sp>
        <p:nvSpPr>
          <p:cNvPr name="Freeform 8" id="8"/>
          <p:cNvSpPr/>
          <p:nvPr/>
        </p:nvSpPr>
        <p:spPr>
          <a:xfrm flipH="false" flipV="false" rot="0">
            <a:off x="4088248" y="7115739"/>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696575" y="1498362"/>
            <a:ext cx="10894849" cy="1118226"/>
          </a:xfrm>
          <a:prstGeom prst="rect">
            <a:avLst/>
          </a:prstGeom>
        </p:spPr>
        <p:txBody>
          <a:bodyPr anchor="t" rtlCol="false" tIns="0" lIns="0" bIns="0" rIns="0">
            <a:spAutoFit/>
          </a:bodyPr>
          <a:lstStyle/>
          <a:p>
            <a:pPr algn="ctr" marL="0" indent="0" lvl="0">
              <a:lnSpc>
                <a:spcPts val="7693"/>
              </a:lnSpc>
            </a:pPr>
            <a:r>
              <a:rPr lang="en-US" b="true" sz="6748">
                <a:solidFill>
                  <a:srgbClr val="005FC2"/>
                </a:solidFill>
                <a:latin typeface="Neo Tech Bold"/>
                <a:ea typeface="Neo Tech Bold"/>
                <a:cs typeface="Neo Tech Bold"/>
                <a:sym typeface="Neo Tech Bold"/>
              </a:rPr>
              <a:t>FRONTEND ARCHITECTURE</a:t>
            </a:r>
          </a:p>
        </p:txBody>
      </p:sp>
      <p:sp>
        <p:nvSpPr>
          <p:cNvPr name="TextBox 3" id="3"/>
          <p:cNvSpPr txBox="true"/>
          <p:nvPr/>
        </p:nvSpPr>
        <p:spPr>
          <a:xfrm rot="0">
            <a:off x="5403738" y="3309309"/>
            <a:ext cx="8868773" cy="1992996"/>
          </a:xfrm>
          <a:prstGeom prst="rect">
            <a:avLst/>
          </a:prstGeom>
        </p:spPr>
        <p:txBody>
          <a:bodyPr anchor="t" rtlCol="false" tIns="0" lIns="0" bIns="0" rIns="0">
            <a:spAutoFit/>
          </a:bodyPr>
          <a:lstStyle/>
          <a:p>
            <a:pPr algn="just" marL="0" indent="0" lvl="0">
              <a:lnSpc>
                <a:spcPts val="3189"/>
              </a:lnSpc>
            </a:pPr>
            <a:r>
              <a:rPr lang="en-US" sz="2798">
                <a:solidFill>
                  <a:srgbClr val="005FC2"/>
                </a:solidFill>
                <a:latin typeface="Koho"/>
                <a:ea typeface="Koho"/>
                <a:cs typeface="Koho"/>
                <a:sym typeface="Koho"/>
              </a:rPr>
              <a:t>Tech Stack: Flutter with Dart SDK ^3.11.3, Riverpod for state management, GoRouter for navigation, Dio for HTTP requests, flutter_secure_storage for credentials, mobile_scanner for QR codes, connectivity_plus for offline detection, shared_preferences for offline queue.</a:t>
            </a:r>
          </a:p>
        </p:txBody>
      </p:sp>
      <p:sp>
        <p:nvSpPr>
          <p:cNvPr name="Freeform 4" id="4"/>
          <p:cNvSpPr/>
          <p:nvPr/>
        </p:nvSpPr>
        <p:spPr>
          <a:xfrm flipH="false" flipV="false" rot="-7720815">
            <a:off x="-5386022" y="56356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8367064">
            <a:off x="10341117" y="-1585888"/>
            <a:ext cx="13836366" cy="7245224"/>
          </a:xfrm>
          <a:custGeom>
            <a:avLst/>
            <a:gdLst/>
            <a:ahLst/>
            <a:cxnLst/>
            <a:rect r="r" b="b" t="t" l="l"/>
            <a:pathLst>
              <a:path h="7245224" w="13836366">
                <a:moveTo>
                  <a:pt x="13836366" y="0"/>
                </a:moveTo>
                <a:lnTo>
                  <a:pt x="0" y="0"/>
                </a:lnTo>
                <a:lnTo>
                  <a:pt x="0" y="7245225"/>
                </a:lnTo>
                <a:lnTo>
                  <a:pt x="13836366" y="7245225"/>
                </a:lnTo>
                <a:lnTo>
                  <a:pt x="1383636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15489" y="4017828"/>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476496" y="6407220"/>
            <a:ext cx="8868773" cy="1992996"/>
          </a:xfrm>
          <a:prstGeom prst="rect">
            <a:avLst/>
          </a:prstGeom>
        </p:spPr>
        <p:txBody>
          <a:bodyPr anchor="t" rtlCol="false" tIns="0" lIns="0" bIns="0" rIns="0">
            <a:spAutoFit/>
          </a:bodyPr>
          <a:lstStyle/>
          <a:p>
            <a:pPr algn="just" marL="0" indent="0" lvl="0">
              <a:lnSpc>
                <a:spcPts val="3189"/>
              </a:lnSpc>
            </a:pPr>
            <a:r>
              <a:rPr lang="en-US" sz="2798">
                <a:solidFill>
                  <a:srgbClr val="005FC2"/>
                </a:solidFill>
                <a:latin typeface="Koho"/>
                <a:ea typeface="Koho"/>
                <a:cs typeface="Koho"/>
                <a:sym typeface="Koho"/>
              </a:rPr>
              <a:t>Key Features: Email OTP onboarding flow, HMAC request signing for secure API calls, QR code scanner integration, Trivia participation, Hype voting, Leaderboard display, Rewards wallet with QR redemption, Referral code sharing, Offline queue with automatic sync on reconnection.</a:t>
            </a:r>
          </a:p>
        </p:txBody>
      </p:sp>
      <p:sp>
        <p:nvSpPr>
          <p:cNvPr name="Freeform 8" id="8"/>
          <p:cNvSpPr/>
          <p:nvPr/>
        </p:nvSpPr>
        <p:spPr>
          <a:xfrm flipH="false" flipV="false" rot="0">
            <a:off x="4088248" y="7115739"/>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510467" y="4542047"/>
            <a:ext cx="931722" cy="617893"/>
          </a:xfrm>
          <a:custGeom>
            <a:avLst/>
            <a:gdLst/>
            <a:ahLst/>
            <a:cxnLst/>
            <a:rect r="r" b="b" t="t" l="l"/>
            <a:pathLst>
              <a:path h="617893" w="931722">
                <a:moveTo>
                  <a:pt x="0" y="0"/>
                </a:moveTo>
                <a:lnTo>
                  <a:pt x="931721" y="0"/>
                </a:lnTo>
                <a:lnTo>
                  <a:pt x="931721" y="617893"/>
                </a:lnTo>
                <a:lnTo>
                  <a:pt x="0" y="617893"/>
                </a:lnTo>
                <a:lnTo>
                  <a:pt x="0" y="0"/>
                </a:lnTo>
                <a:close/>
              </a:path>
            </a:pathLst>
          </a:custGeom>
          <a:blipFill>
            <a:blip r:embed="rId4"/>
            <a:stretch>
              <a:fillRect l="0" t="0" r="0" b="0"/>
            </a:stretch>
          </a:blipFill>
        </p:spPr>
      </p:sp>
      <p:sp>
        <p:nvSpPr>
          <p:cNvPr name="TextBox 5" id="5"/>
          <p:cNvSpPr txBox="true"/>
          <p:nvPr/>
        </p:nvSpPr>
        <p:spPr>
          <a:xfrm rot="0">
            <a:off x="4336389" y="1587629"/>
            <a:ext cx="9615222" cy="2314575"/>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AUTHENTICATION FLOW</a:t>
            </a:r>
          </a:p>
        </p:txBody>
      </p:sp>
      <p:sp>
        <p:nvSpPr>
          <p:cNvPr name="TextBox 6" id="6"/>
          <p:cNvSpPr txBox="true"/>
          <p:nvPr/>
        </p:nvSpPr>
        <p:spPr>
          <a:xfrm rot="0">
            <a:off x="4813846" y="4315722"/>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Steps 1-3: User enters email → Server sends OTP via Resend/mock → User verifies OTP code → Server validates and creates user record in database.</a:t>
            </a:r>
          </a:p>
        </p:txBody>
      </p:sp>
      <p:sp>
        <p:nvSpPr>
          <p:cNvPr name="TextBox 7" id="7"/>
          <p:cNvSpPr txBox="true"/>
          <p:nvPr/>
        </p:nvSpPr>
        <p:spPr>
          <a:xfrm rot="0">
            <a:off x="4813846" y="5856350"/>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Steps 4-6: Server generates unique device_id and secret_key → Returns credentials to mobile app → App stores securely via flutter_secure_storage.</a:t>
            </a:r>
          </a:p>
        </p:txBody>
      </p:sp>
      <p:sp>
        <p:nvSpPr>
          <p:cNvPr name="TextBox 8" id="8"/>
          <p:cNvSpPr txBox="true"/>
          <p:nvPr/>
        </p:nvSpPr>
        <p:spPr>
          <a:xfrm rot="0">
            <a:off x="4813846" y="7401685"/>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Steps 7-8: HMAC signature format: METHOD|path|timestamp → Headers: X-Device-ID, X-Timestamp, X-Signature (HMAC-SHA256 of message with secret_key).</a:t>
            </a:r>
          </a:p>
        </p:txBody>
      </p:sp>
      <p:sp>
        <p:nvSpPr>
          <p:cNvPr name="Freeform 9" id="9"/>
          <p:cNvSpPr/>
          <p:nvPr/>
        </p:nvSpPr>
        <p:spPr>
          <a:xfrm flipH="false" flipV="false" rot="0">
            <a:off x="3659398" y="5910167"/>
            <a:ext cx="633272" cy="895434"/>
          </a:xfrm>
          <a:custGeom>
            <a:avLst/>
            <a:gdLst/>
            <a:ahLst/>
            <a:cxnLst/>
            <a:rect r="r" b="b" t="t" l="l"/>
            <a:pathLst>
              <a:path h="895434" w="633272">
                <a:moveTo>
                  <a:pt x="0" y="0"/>
                </a:moveTo>
                <a:lnTo>
                  <a:pt x="633272" y="0"/>
                </a:lnTo>
                <a:lnTo>
                  <a:pt x="633272" y="895434"/>
                </a:lnTo>
                <a:lnTo>
                  <a:pt x="0" y="895434"/>
                </a:lnTo>
                <a:lnTo>
                  <a:pt x="0" y="0"/>
                </a:lnTo>
                <a:close/>
              </a:path>
            </a:pathLst>
          </a:custGeom>
          <a:blipFill>
            <a:blip r:embed="rId5"/>
            <a:stretch>
              <a:fillRect l="0" t="0" r="0" b="0"/>
            </a:stretch>
          </a:blipFill>
        </p:spPr>
      </p:sp>
      <p:sp>
        <p:nvSpPr>
          <p:cNvPr name="Freeform 10" id="10"/>
          <p:cNvSpPr/>
          <p:nvPr/>
        </p:nvSpPr>
        <p:spPr>
          <a:xfrm flipH="false" flipV="false" rot="0">
            <a:off x="3724209" y="7689290"/>
            <a:ext cx="672416" cy="678283"/>
          </a:xfrm>
          <a:custGeom>
            <a:avLst/>
            <a:gdLst/>
            <a:ahLst/>
            <a:cxnLst/>
            <a:rect r="r" b="b" t="t" l="l"/>
            <a:pathLst>
              <a:path h="678283" w="672416">
                <a:moveTo>
                  <a:pt x="0" y="0"/>
                </a:moveTo>
                <a:lnTo>
                  <a:pt x="672416" y="0"/>
                </a:lnTo>
                <a:lnTo>
                  <a:pt x="672416" y="678283"/>
                </a:lnTo>
                <a:lnTo>
                  <a:pt x="0" y="678283"/>
                </a:lnTo>
                <a:lnTo>
                  <a:pt x="0" y="0"/>
                </a:lnTo>
                <a:close/>
              </a:path>
            </a:pathLst>
          </a:custGeom>
          <a:blipFill>
            <a:blip r:embed="rId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642595" y="4516793"/>
            <a:ext cx="668288" cy="667291"/>
          </a:xfrm>
          <a:custGeom>
            <a:avLst/>
            <a:gdLst/>
            <a:ahLst/>
            <a:cxnLst/>
            <a:rect r="r" b="b" t="t" l="l"/>
            <a:pathLst>
              <a:path h="667291" w="668288">
                <a:moveTo>
                  <a:pt x="0" y="0"/>
                </a:moveTo>
                <a:lnTo>
                  <a:pt x="668288" y="0"/>
                </a:lnTo>
                <a:lnTo>
                  <a:pt x="668288" y="667290"/>
                </a:lnTo>
                <a:lnTo>
                  <a:pt x="0" y="667290"/>
                </a:lnTo>
                <a:lnTo>
                  <a:pt x="0" y="0"/>
                </a:lnTo>
                <a:close/>
              </a:path>
            </a:pathLst>
          </a:custGeom>
          <a:blipFill>
            <a:blip r:embed="rId4"/>
            <a:stretch>
              <a:fillRect l="0" t="0" r="0" b="0"/>
            </a:stretch>
          </a:blipFill>
        </p:spPr>
      </p:sp>
      <p:sp>
        <p:nvSpPr>
          <p:cNvPr name="TextBox 5" id="5"/>
          <p:cNvSpPr txBox="true"/>
          <p:nvPr/>
        </p:nvSpPr>
        <p:spPr>
          <a:xfrm rot="0">
            <a:off x="4336389" y="1587629"/>
            <a:ext cx="9615222" cy="1238250"/>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QR SCAN FLOW</a:t>
            </a:r>
          </a:p>
        </p:txBody>
      </p:sp>
      <p:sp>
        <p:nvSpPr>
          <p:cNvPr name="TextBox 6" id="6"/>
          <p:cNvSpPr txBox="true"/>
          <p:nvPr/>
        </p:nvSpPr>
        <p:spPr>
          <a:xfrm rot="0">
            <a:off x="4813846" y="4315722"/>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Scan: Mobile app uses mobile_scanner to capture QR codes. Camera activates, detects QR pattern, extracts the qrId from the code data for API submission.</a:t>
            </a:r>
          </a:p>
        </p:txBody>
      </p:sp>
      <p:sp>
        <p:nvSpPr>
          <p:cNvPr name="TextBox 7" id="7"/>
          <p:cNvSpPr txBox="true"/>
          <p:nvPr/>
        </p:nvSpPr>
        <p:spPr>
          <a:xfrm rot="0">
            <a:off x="4813846" y="5856350"/>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Validate: POST /qr/{qrId}/scan with HMAC auth headers (X-Device-ID, X-Timestamp, X-Signature). Server validates festival window, QR active status, and prevents duplicate scans.</a:t>
            </a:r>
          </a:p>
        </p:txBody>
      </p:sp>
      <p:sp>
        <p:nvSpPr>
          <p:cNvPr name="TextBox 8" id="8"/>
          <p:cNvSpPr txBox="true"/>
          <p:nvPr/>
        </p:nvSpPr>
        <p:spPr>
          <a:xfrm rot="0">
            <a:off x="4813846" y="7401685"/>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Record: Server records scan in qr_scans table and creates point_events entry. Mobile receives response and displays success confirmation or error message to user.</a:t>
            </a:r>
          </a:p>
        </p:txBody>
      </p:sp>
      <p:sp>
        <p:nvSpPr>
          <p:cNvPr name="Freeform 9" id="9"/>
          <p:cNvSpPr/>
          <p:nvPr/>
        </p:nvSpPr>
        <p:spPr>
          <a:xfrm flipH="false" flipV="false" rot="0">
            <a:off x="3612461" y="5935796"/>
            <a:ext cx="728909" cy="918923"/>
          </a:xfrm>
          <a:custGeom>
            <a:avLst/>
            <a:gdLst/>
            <a:ahLst/>
            <a:cxnLst/>
            <a:rect r="r" b="b" t="t" l="l"/>
            <a:pathLst>
              <a:path h="918923" w="728909">
                <a:moveTo>
                  <a:pt x="0" y="0"/>
                </a:moveTo>
                <a:lnTo>
                  <a:pt x="728909" y="0"/>
                </a:lnTo>
                <a:lnTo>
                  <a:pt x="728909" y="918923"/>
                </a:lnTo>
                <a:lnTo>
                  <a:pt x="0" y="918923"/>
                </a:lnTo>
                <a:lnTo>
                  <a:pt x="0" y="0"/>
                </a:lnTo>
                <a:close/>
              </a:path>
            </a:pathLst>
          </a:custGeom>
          <a:blipFill>
            <a:blip r:embed="rId5"/>
            <a:stretch>
              <a:fillRect l="0" t="0" r="0" b="0"/>
            </a:stretch>
          </a:blipFill>
        </p:spPr>
      </p:sp>
      <p:sp>
        <p:nvSpPr>
          <p:cNvPr name="Freeform 10" id="10"/>
          <p:cNvSpPr/>
          <p:nvPr/>
        </p:nvSpPr>
        <p:spPr>
          <a:xfrm flipH="false" flipV="false" rot="0">
            <a:off x="3717226" y="7696855"/>
            <a:ext cx="688162" cy="658879"/>
          </a:xfrm>
          <a:custGeom>
            <a:avLst/>
            <a:gdLst/>
            <a:ahLst/>
            <a:cxnLst/>
            <a:rect r="r" b="b" t="t" l="l"/>
            <a:pathLst>
              <a:path h="658879" w="688162">
                <a:moveTo>
                  <a:pt x="0" y="0"/>
                </a:moveTo>
                <a:lnTo>
                  <a:pt x="688162" y="0"/>
                </a:lnTo>
                <a:lnTo>
                  <a:pt x="688162" y="658879"/>
                </a:lnTo>
                <a:lnTo>
                  <a:pt x="0" y="658879"/>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538444" y="4356803"/>
            <a:ext cx="837057" cy="956637"/>
          </a:xfrm>
          <a:custGeom>
            <a:avLst/>
            <a:gdLst/>
            <a:ahLst/>
            <a:cxnLst/>
            <a:rect r="r" b="b" t="t" l="l"/>
            <a:pathLst>
              <a:path h="956637" w="837057">
                <a:moveTo>
                  <a:pt x="0" y="0"/>
                </a:moveTo>
                <a:lnTo>
                  <a:pt x="837057" y="0"/>
                </a:lnTo>
                <a:lnTo>
                  <a:pt x="837057" y="956636"/>
                </a:lnTo>
                <a:lnTo>
                  <a:pt x="0" y="956636"/>
                </a:lnTo>
                <a:lnTo>
                  <a:pt x="0" y="0"/>
                </a:lnTo>
                <a:close/>
              </a:path>
            </a:pathLst>
          </a:custGeom>
          <a:blipFill>
            <a:blip r:embed="rId4"/>
            <a:stretch>
              <a:fillRect l="0" t="0" r="0" b="0"/>
            </a:stretch>
          </a:blipFill>
        </p:spPr>
      </p:sp>
      <p:sp>
        <p:nvSpPr>
          <p:cNvPr name="TextBox 5" id="5"/>
          <p:cNvSpPr txBox="true"/>
          <p:nvPr/>
        </p:nvSpPr>
        <p:spPr>
          <a:xfrm rot="0">
            <a:off x="4336389" y="1587629"/>
            <a:ext cx="9615222" cy="1238250"/>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TRIVIA FLOW</a:t>
            </a:r>
          </a:p>
        </p:txBody>
      </p:sp>
      <p:sp>
        <p:nvSpPr>
          <p:cNvPr name="TextBox 6" id="6"/>
          <p:cNvSpPr txBox="true"/>
          <p:nvPr/>
        </p:nvSpPr>
        <p:spPr>
          <a:xfrm rot="0">
            <a:off x="4813846" y="4315722"/>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Fetch: App calls GET /trivia/current to retrieve the currently active trivia question. Server returns question text, options, and time window for the active question.</a:t>
            </a:r>
          </a:p>
        </p:txBody>
      </p:sp>
      <p:sp>
        <p:nvSpPr>
          <p:cNvPr name="TextBox 7" id="7"/>
          <p:cNvSpPr txBox="true"/>
          <p:nvPr/>
        </p:nvSpPr>
        <p:spPr>
          <a:xfrm rot="0">
            <a:off x="4813846" y="5856350"/>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Answer: User selects response and app sends POST /trivia/answer with question ID and selected option. Request includes HMAC authentication headers for validation.</a:t>
            </a:r>
          </a:p>
        </p:txBody>
      </p:sp>
      <p:sp>
        <p:nvSpPr>
          <p:cNvPr name="TextBox 8" id="8"/>
          <p:cNvSpPr txBox="true"/>
          <p:nvPr/>
        </p:nvSpPr>
        <p:spPr>
          <a:xfrm rot="0">
            <a:off x="4813846" y="7401685"/>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Validate: Server checks question status, verifies user hasn't answered, confirms festival is active. Records trivia_answers entry and awards points if correct. Returns result to mobile.</a:t>
            </a:r>
          </a:p>
        </p:txBody>
      </p:sp>
      <p:sp>
        <p:nvSpPr>
          <p:cNvPr name="Freeform 9" id="9"/>
          <p:cNvSpPr/>
          <p:nvPr/>
        </p:nvSpPr>
        <p:spPr>
          <a:xfrm flipH="false" flipV="false" rot="0">
            <a:off x="3546428" y="5911458"/>
            <a:ext cx="837057" cy="881113"/>
          </a:xfrm>
          <a:custGeom>
            <a:avLst/>
            <a:gdLst/>
            <a:ahLst/>
            <a:cxnLst/>
            <a:rect r="r" b="b" t="t" l="l"/>
            <a:pathLst>
              <a:path h="881113" w="837057">
                <a:moveTo>
                  <a:pt x="0" y="0"/>
                </a:moveTo>
                <a:lnTo>
                  <a:pt x="837057" y="0"/>
                </a:lnTo>
                <a:lnTo>
                  <a:pt x="837057" y="881112"/>
                </a:lnTo>
                <a:lnTo>
                  <a:pt x="0" y="881112"/>
                </a:lnTo>
                <a:lnTo>
                  <a:pt x="0" y="0"/>
                </a:lnTo>
                <a:close/>
              </a:path>
            </a:pathLst>
          </a:custGeom>
          <a:blipFill>
            <a:blip r:embed="rId5"/>
            <a:stretch>
              <a:fillRect l="0" t="0" r="0" b="0"/>
            </a:stretch>
          </a:blipFill>
        </p:spPr>
      </p:sp>
      <p:sp>
        <p:nvSpPr>
          <p:cNvPr name="Freeform 10" id="10"/>
          <p:cNvSpPr/>
          <p:nvPr/>
        </p:nvSpPr>
        <p:spPr>
          <a:xfrm flipH="false" flipV="false" rot="0">
            <a:off x="3475170" y="7531022"/>
            <a:ext cx="1171882" cy="931621"/>
          </a:xfrm>
          <a:custGeom>
            <a:avLst/>
            <a:gdLst/>
            <a:ahLst/>
            <a:cxnLst/>
            <a:rect r="r" b="b" t="t" l="l"/>
            <a:pathLst>
              <a:path h="931621" w="1171882">
                <a:moveTo>
                  <a:pt x="0" y="0"/>
                </a:moveTo>
                <a:lnTo>
                  <a:pt x="1171882" y="0"/>
                </a:lnTo>
                <a:lnTo>
                  <a:pt x="1171882" y="931622"/>
                </a:lnTo>
                <a:lnTo>
                  <a:pt x="0" y="931622"/>
                </a:lnTo>
                <a:lnTo>
                  <a:pt x="0" y="0"/>
                </a:lnTo>
                <a:close/>
              </a:path>
            </a:pathLst>
          </a:custGeom>
          <a:blipFill>
            <a:blip r:embed="rId6"/>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6918183" y="5888904"/>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54424" y="1459858"/>
            <a:ext cx="3804876" cy="3547520"/>
            <a:chOff x="0" y="0"/>
            <a:chExt cx="812800" cy="757823"/>
          </a:xfrm>
        </p:grpSpPr>
        <p:sp>
          <p:nvSpPr>
            <p:cNvPr name="Freeform 4" id="4"/>
            <p:cNvSpPr/>
            <p:nvPr/>
          </p:nvSpPr>
          <p:spPr>
            <a:xfrm flipH="false" flipV="false" rot="0">
              <a:off x="0" y="0"/>
              <a:ext cx="812800" cy="757823"/>
            </a:xfrm>
            <a:custGeom>
              <a:avLst/>
              <a:gdLst/>
              <a:ahLst/>
              <a:cxnLst/>
              <a:rect r="r" b="b" t="t" l="l"/>
              <a:pathLst>
                <a:path h="757823" w="812800">
                  <a:moveTo>
                    <a:pt x="46799" y="0"/>
                  </a:moveTo>
                  <a:lnTo>
                    <a:pt x="766001" y="0"/>
                  </a:lnTo>
                  <a:cubicBezTo>
                    <a:pt x="791847" y="0"/>
                    <a:pt x="812800" y="20953"/>
                    <a:pt x="812800" y="46799"/>
                  </a:cubicBezTo>
                  <a:lnTo>
                    <a:pt x="812800" y="711024"/>
                  </a:lnTo>
                  <a:cubicBezTo>
                    <a:pt x="812800" y="736871"/>
                    <a:pt x="791847" y="757823"/>
                    <a:pt x="766001" y="757823"/>
                  </a:cubicBezTo>
                  <a:lnTo>
                    <a:pt x="46799" y="757823"/>
                  </a:lnTo>
                  <a:cubicBezTo>
                    <a:pt x="20953" y="757823"/>
                    <a:pt x="0" y="736871"/>
                    <a:pt x="0" y="711024"/>
                  </a:cubicBezTo>
                  <a:lnTo>
                    <a:pt x="0" y="46799"/>
                  </a:lnTo>
                  <a:cubicBezTo>
                    <a:pt x="0" y="20953"/>
                    <a:pt x="20953" y="0"/>
                    <a:pt x="46799" y="0"/>
                  </a:cubicBezTo>
                  <a:close/>
                </a:path>
              </a:pathLst>
            </a:custGeom>
            <a:blipFill>
              <a:blip r:embed="rId4"/>
              <a:stretch>
                <a:fillRect l="0" t="-3627" r="0" b="-3627"/>
              </a:stretch>
            </a:blipFill>
          </p:spPr>
        </p:sp>
      </p:grpSp>
      <p:grpSp>
        <p:nvGrpSpPr>
          <p:cNvPr name="Group 5" id="5"/>
          <p:cNvGrpSpPr/>
          <p:nvPr/>
        </p:nvGrpSpPr>
        <p:grpSpPr>
          <a:xfrm rot="0">
            <a:off x="13454424" y="5279623"/>
            <a:ext cx="3804876" cy="3547520"/>
            <a:chOff x="0" y="0"/>
            <a:chExt cx="812800" cy="757823"/>
          </a:xfrm>
        </p:grpSpPr>
        <p:sp>
          <p:nvSpPr>
            <p:cNvPr name="Freeform 6" id="6"/>
            <p:cNvSpPr/>
            <p:nvPr/>
          </p:nvSpPr>
          <p:spPr>
            <a:xfrm flipH="false" flipV="false" rot="0">
              <a:off x="0" y="0"/>
              <a:ext cx="812800" cy="757823"/>
            </a:xfrm>
            <a:custGeom>
              <a:avLst/>
              <a:gdLst/>
              <a:ahLst/>
              <a:cxnLst/>
              <a:rect r="r" b="b" t="t" l="l"/>
              <a:pathLst>
                <a:path h="757823" w="812800">
                  <a:moveTo>
                    <a:pt x="46799" y="0"/>
                  </a:moveTo>
                  <a:lnTo>
                    <a:pt x="766001" y="0"/>
                  </a:lnTo>
                  <a:cubicBezTo>
                    <a:pt x="791847" y="0"/>
                    <a:pt x="812800" y="20953"/>
                    <a:pt x="812800" y="46799"/>
                  </a:cubicBezTo>
                  <a:lnTo>
                    <a:pt x="812800" y="711024"/>
                  </a:lnTo>
                  <a:cubicBezTo>
                    <a:pt x="812800" y="736871"/>
                    <a:pt x="791847" y="757823"/>
                    <a:pt x="766001" y="757823"/>
                  </a:cubicBezTo>
                  <a:lnTo>
                    <a:pt x="46799" y="757823"/>
                  </a:lnTo>
                  <a:cubicBezTo>
                    <a:pt x="20953" y="757823"/>
                    <a:pt x="0" y="736871"/>
                    <a:pt x="0" y="711024"/>
                  </a:cubicBezTo>
                  <a:lnTo>
                    <a:pt x="0" y="46799"/>
                  </a:lnTo>
                  <a:cubicBezTo>
                    <a:pt x="0" y="20953"/>
                    <a:pt x="20953" y="0"/>
                    <a:pt x="46799" y="0"/>
                  </a:cubicBezTo>
                  <a:close/>
                </a:path>
              </a:pathLst>
            </a:custGeom>
            <a:blipFill>
              <a:blip r:embed="rId5"/>
              <a:stretch>
                <a:fillRect l="0" t="-3627" r="0" b="-3627"/>
              </a:stretch>
            </a:blipFill>
          </p:spPr>
        </p:sp>
      </p:grpSp>
      <p:sp>
        <p:nvSpPr>
          <p:cNvPr name="Freeform 7" id="7"/>
          <p:cNvSpPr/>
          <p:nvPr/>
        </p:nvSpPr>
        <p:spPr>
          <a:xfrm flipH="false" flipV="false" rot="0">
            <a:off x="1829272" y="3519317"/>
            <a:ext cx="679170" cy="679170"/>
          </a:xfrm>
          <a:custGeom>
            <a:avLst/>
            <a:gdLst/>
            <a:ahLst/>
            <a:cxnLst/>
            <a:rect r="r" b="b" t="t" l="l"/>
            <a:pathLst>
              <a:path h="679170" w="679170">
                <a:moveTo>
                  <a:pt x="0" y="0"/>
                </a:moveTo>
                <a:lnTo>
                  <a:pt x="679170" y="0"/>
                </a:lnTo>
                <a:lnTo>
                  <a:pt x="679170" y="679170"/>
                </a:lnTo>
                <a:lnTo>
                  <a:pt x="0" y="6791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829272" y="5478561"/>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829272" y="7433472"/>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829272" y="1355083"/>
            <a:ext cx="10894849" cy="1238210"/>
          </a:xfrm>
          <a:prstGeom prst="rect">
            <a:avLst/>
          </a:prstGeom>
        </p:spPr>
        <p:txBody>
          <a:bodyPr anchor="t" rtlCol="false" tIns="0" lIns="0" bIns="0" rIns="0">
            <a:spAutoFit/>
          </a:bodyPr>
          <a:lstStyle/>
          <a:p>
            <a:pPr algn="l" marL="0" indent="0" lvl="0">
              <a:lnSpc>
                <a:spcPts val="8543"/>
              </a:lnSpc>
            </a:pPr>
            <a:r>
              <a:rPr lang="en-US" b="true" sz="7494">
                <a:solidFill>
                  <a:srgbClr val="FFFFFF"/>
                </a:solidFill>
                <a:latin typeface="Neo Tech Bold"/>
                <a:ea typeface="Neo Tech Bold"/>
                <a:cs typeface="Neo Tech Bold"/>
                <a:sym typeface="Neo Tech Bold"/>
              </a:rPr>
              <a:t>REWARDS FLOW</a:t>
            </a:r>
          </a:p>
        </p:txBody>
      </p:sp>
      <p:sp>
        <p:nvSpPr>
          <p:cNvPr name="TextBox 11" id="11"/>
          <p:cNvSpPr txBox="true"/>
          <p:nvPr/>
        </p:nvSpPr>
        <p:spPr>
          <a:xfrm rot="0">
            <a:off x="2895628" y="3076709"/>
            <a:ext cx="10148400" cy="1192896"/>
          </a:xfrm>
          <a:prstGeom prst="rect">
            <a:avLst/>
          </a:prstGeom>
        </p:spPr>
        <p:txBody>
          <a:bodyPr anchor="t" rtlCol="false" tIns="0" lIns="0" bIns="0" rIns="0">
            <a:spAutoFit/>
          </a:bodyPr>
          <a:lstStyle/>
          <a:p>
            <a:pPr algn="l" marL="0" indent="0" lvl="0">
              <a:lnSpc>
                <a:spcPts val="3189"/>
              </a:lnSpc>
            </a:pPr>
            <a:r>
              <a:rPr lang="en-US" sz="2798">
                <a:solidFill>
                  <a:srgbClr val="FFFFFF"/>
                </a:solidFill>
                <a:latin typeface="Koho"/>
                <a:ea typeface="Koho"/>
                <a:cs typeface="Koho"/>
                <a:sym typeface="Koho"/>
              </a:rPr>
              <a:t>Wallet: GET /rewards/wallet returns user's current points balance, leaderboard rank, and available rewards catalog. Mobile displays wallet UI with claimable items based on point thresholds.</a:t>
            </a:r>
          </a:p>
        </p:txBody>
      </p:sp>
      <p:sp>
        <p:nvSpPr>
          <p:cNvPr name="TextBox 12" id="12"/>
          <p:cNvSpPr txBox="true"/>
          <p:nvPr/>
        </p:nvSpPr>
        <p:spPr>
          <a:xfrm rot="0">
            <a:off x="2895628" y="5035952"/>
            <a:ext cx="10148400" cy="1592946"/>
          </a:xfrm>
          <a:prstGeom prst="rect">
            <a:avLst/>
          </a:prstGeom>
        </p:spPr>
        <p:txBody>
          <a:bodyPr anchor="t" rtlCol="false" tIns="0" lIns="0" bIns="0" rIns="0">
            <a:spAutoFit/>
          </a:bodyPr>
          <a:lstStyle/>
          <a:p>
            <a:pPr algn="l" marL="0" indent="0" lvl="0">
              <a:lnSpc>
                <a:spcPts val="3189"/>
              </a:lnSpc>
            </a:pPr>
            <a:r>
              <a:rPr lang="en-US" sz="2798">
                <a:solidFill>
                  <a:srgbClr val="FFFFFF"/>
                </a:solidFill>
                <a:latin typeface="Koho"/>
                <a:ea typeface="Koho"/>
                <a:cs typeface="Koho"/>
                <a:sym typeface="Koho"/>
              </a:rPr>
              <a:t>Claim: POST /rewards/claim validates points, stock availability, and no active claims. Server creates reward_claims record with unique redeem token. Mobile generates QR: fusionfest://redeem/{token}</a:t>
            </a:r>
          </a:p>
        </p:txBody>
      </p:sp>
      <p:sp>
        <p:nvSpPr>
          <p:cNvPr name="TextBox 13" id="13"/>
          <p:cNvSpPr txBox="true"/>
          <p:nvPr/>
        </p:nvSpPr>
        <p:spPr>
          <a:xfrm rot="0">
            <a:off x="2895628" y="6990863"/>
            <a:ext cx="10148400" cy="1592946"/>
          </a:xfrm>
          <a:prstGeom prst="rect">
            <a:avLst/>
          </a:prstGeom>
        </p:spPr>
        <p:txBody>
          <a:bodyPr anchor="t" rtlCol="false" tIns="0" lIns="0" bIns="0" rIns="0">
            <a:spAutoFit/>
          </a:bodyPr>
          <a:lstStyle/>
          <a:p>
            <a:pPr algn="l" marL="0" indent="0" lvl="0">
              <a:lnSpc>
                <a:spcPts val="3189"/>
              </a:lnSpc>
            </a:pPr>
            <a:r>
              <a:rPr lang="en-US" sz="2798">
                <a:solidFill>
                  <a:srgbClr val="FFFFFF"/>
                </a:solidFill>
                <a:latin typeface="Koho"/>
                <a:ea typeface="Koho"/>
                <a:cs typeface="Koho"/>
                <a:sym typeface="Koho"/>
              </a:rPr>
              <a:t>Redeem: Staff scans user's QR code and calls POST /staff/rewards/redeem with token. Server validates token, marks claim as redeemed with timestamp. User receives confirmation of successful redemption.</a:t>
            </a:r>
          </a:p>
        </p:txBody>
      </p:sp>
      <p:sp>
        <p:nvSpPr>
          <p:cNvPr name="Freeform 14" id="14"/>
          <p:cNvSpPr/>
          <p:nvPr/>
        </p:nvSpPr>
        <p:spPr>
          <a:xfrm flipH="false" flipV="false" rot="0">
            <a:off x="6125845" y="-4806690"/>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679288" y="4418785"/>
            <a:ext cx="593301" cy="868275"/>
          </a:xfrm>
          <a:custGeom>
            <a:avLst/>
            <a:gdLst/>
            <a:ahLst/>
            <a:cxnLst/>
            <a:rect r="r" b="b" t="t" l="l"/>
            <a:pathLst>
              <a:path h="868275" w="593301">
                <a:moveTo>
                  <a:pt x="0" y="0"/>
                </a:moveTo>
                <a:lnTo>
                  <a:pt x="593301" y="0"/>
                </a:lnTo>
                <a:lnTo>
                  <a:pt x="593301" y="868275"/>
                </a:lnTo>
                <a:lnTo>
                  <a:pt x="0" y="868275"/>
                </a:lnTo>
                <a:lnTo>
                  <a:pt x="0" y="0"/>
                </a:lnTo>
                <a:close/>
              </a:path>
            </a:pathLst>
          </a:custGeom>
          <a:blipFill>
            <a:blip r:embed="rId4"/>
            <a:stretch>
              <a:fillRect l="0" t="0" r="0" b="0"/>
            </a:stretch>
          </a:blipFill>
        </p:spPr>
      </p:sp>
      <p:sp>
        <p:nvSpPr>
          <p:cNvPr name="TextBox 5" id="5"/>
          <p:cNvSpPr txBox="true"/>
          <p:nvPr/>
        </p:nvSpPr>
        <p:spPr>
          <a:xfrm rot="0">
            <a:off x="4336389" y="1587629"/>
            <a:ext cx="9615222" cy="1238250"/>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OFFLINE SYNC FLOW</a:t>
            </a:r>
          </a:p>
        </p:txBody>
      </p:sp>
      <p:sp>
        <p:nvSpPr>
          <p:cNvPr name="TextBox 6" id="6"/>
          <p:cNvSpPr txBox="true"/>
          <p:nvPr/>
        </p:nvSpPr>
        <p:spPr>
          <a:xfrm rot="0">
            <a:off x="4813846" y="4315722"/>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Queue: Actions stored in SharedPreferences (max 100 entries) when device is offline. Each action includes timestamp, type, and payload for later processing.</a:t>
            </a:r>
          </a:p>
        </p:txBody>
      </p:sp>
      <p:sp>
        <p:nvSpPr>
          <p:cNvPr name="TextBox 7" id="7"/>
          <p:cNvSpPr txBox="true"/>
          <p:nvPr/>
        </p:nvSpPr>
        <p:spPr>
          <a:xfrm rot="0">
            <a:off x="4813846" y="5856350"/>
            <a:ext cx="10580784" cy="79286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Detect: connectivity_plus package monitors network status changes. Automatically triggers sync when connection is restored.</a:t>
            </a:r>
          </a:p>
        </p:txBody>
      </p:sp>
      <p:sp>
        <p:nvSpPr>
          <p:cNvPr name="TextBox 8" id="8"/>
          <p:cNvSpPr txBox="true"/>
          <p:nvPr/>
        </p:nvSpPr>
        <p:spPr>
          <a:xfrm rot="0">
            <a:off x="4813846" y="7401685"/>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Sync: SyncService calls POST /points/sync with queued events. Server validates, mobile clears synced entries, invalidates points and leaderboard cache.</a:t>
            </a:r>
          </a:p>
        </p:txBody>
      </p:sp>
      <p:sp>
        <p:nvSpPr>
          <p:cNvPr name="Freeform 9" id="9"/>
          <p:cNvSpPr/>
          <p:nvPr/>
        </p:nvSpPr>
        <p:spPr>
          <a:xfrm flipH="false" flipV="false" rot="0">
            <a:off x="3440516" y="6056527"/>
            <a:ext cx="1071433" cy="837697"/>
          </a:xfrm>
          <a:custGeom>
            <a:avLst/>
            <a:gdLst/>
            <a:ahLst/>
            <a:cxnLst/>
            <a:rect r="r" b="b" t="t" l="l"/>
            <a:pathLst>
              <a:path h="837697" w="1071433">
                <a:moveTo>
                  <a:pt x="0" y="0"/>
                </a:moveTo>
                <a:lnTo>
                  <a:pt x="1071433" y="0"/>
                </a:lnTo>
                <a:lnTo>
                  <a:pt x="1071433" y="837697"/>
                </a:lnTo>
                <a:lnTo>
                  <a:pt x="0" y="837697"/>
                </a:lnTo>
                <a:lnTo>
                  <a:pt x="0" y="0"/>
                </a:lnTo>
                <a:close/>
              </a:path>
            </a:pathLst>
          </a:custGeom>
          <a:blipFill>
            <a:blip r:embed="rId5"/>
            <a:stretch>
              <a:fillRect l="0" t="0" r="0" b="0"/>
            </a:stretch>
          </a:blipFill>
        </p:spPr>
      </p:sp>
      <p:sp>
        <p:nvSpPr>
          <p:cNvPr name="Freeform 10" id="10"/>
          <p:cNvSpPr/>
          <p:nvPr/>
        </p:nvSpPr>
        <p:spPr>
          <a:xfrm flipH="false" flipV="false" rot="0">
            <a:off x="3653525" y="7668389"/>
            <a:ext cx="814567" cy="718536"/>
          </a:xfrm>
          <a:custGeom>
            <a:avLst/>
            <a:gdLst/>
            <a:ahLst/>
            <a:cxnLst/>
            <a:rect r="r" b="b" t="t" l="l"/>
            <a:pathLst>
              <a:path h="718536" w="814567">
                <a:moveTo>
                  <a:pt x="0" y="0"/>
                </a:moveTo>
                <a:lnTo>
                  <a:pt x="814566" y="0"/>
                </a:lnTo>
                <a:lnTo>
                  <a:pt x="814566" y="718535"/>
                </a:lnTo>
                <a:lnTo>
                  <a:pt x="0" y="718535"/>
                </a:lnTo>
                <a:lnTo>
                  <a:pt x="0" y="0"/>
                </a:lnTo>
                <a:close/>
              </a:path>
            </a:pathLst>
          </a:custGeom>
          <a:blipFill>
            <a:blip r:embed="rId6"/>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953809" y="1713694"/>
            <a:ext cx="10894849" cy="888382"/>
          </a:xfrm>
          <a:prstGeom prst="rect">
            <a:avLst/>
          </a:prstGeom>
        </p:spPr>
        <p:txBody>
          <a:bodyPr anchor="t" rtlCol="false" tIns="0" lIns="0" bIns="0" rIns="0">
            <a:spAutoFit/>
          </a:bodyPr>
          <a:lstStyle/>
          <a:p>
            <a:pPr algn="ctr" marL="0" indent="0" lvl="0">
              <a:lnSpc>
                <a:spcPts val="6082"/>
              </a:lnSpc>
            </a:pPr>
            <a:r>
              <a:rPr lang="en-US" b="true" sz="5335">
                <a:solidFill>
                  <a:srgbClr val="005FC2"/>
                </a:solidFill>
                <a:latin typeface="Neo Tech Bold"/>
                <a:ea typeface="Neo Tech Bold"/>
                <a:cs typeface="Neo Tech Bold"/>
                <a:sym typeface="Neo Tech Bold"/>
              </a:rPr>
              <a:t>API CONTRACT &amp; CONFIGURATION</a:t>
            </a:r>
          </a:p>
        </p:txBody>
      </p:sp>
      <p:sp>
        <p:nvSpPr>
          <p:cNvPr name="TextBox 3" id="3"/>
          <p:cNvSpPr txBox="true"/>
          <p:nvPr/>
        </p:nvSpPr>
        <p:spPr>
          <a:xfrm rot="0">
            <a:off x="7642726" y="5265039"/>
            <a:ext cx="4230126" cy="3193161"/>
          </a:xfrm>
          <a:prstGeom prst="rect">
            <a:avLst/>
          </a:prstGeom>
        </p:spPr>
        <p:txBody>
          <a:bodyPr anchor="t" rtlCol="false" tIns="0" lIns="0" bIns="0" rIns="0">
            <a:spAutoFit/>
          </a:bodyPr>
          <a:lstStyle/>
          <a:p>
            <a:pPr algn="l" marL="0" indent="0" lvl="0">
              <a:lnSpc>
                <a:spcPts val="3191"/>
              </a:lnSpc>
            </a:pPr>
            <a:r>
              <a:rPr lang="en-US" sz="2799">
                <a:solidFill>
                  <a:srgbClr val="005FC2"/>
                </a:solidFill>
                <a:latin typeface="Koho"/>
                <a:ea typeface="Koho"/>
                <a:cs typeface="Koho"/>
                <a:sym typeface="Koho"/>
              </a:rPr>
              <a:t>Configuration Alignment</a:t>
            </a:r>
          </a:p>
          <a:p>
            <a:pPr algn="l" marL="0" indent="0" lvl="0">
              <a:lnSpc>
                <a:spcPts val="3191"/>
              </a:lnSpc>
            </a:pPr>
            <a:r>
              <a:rPr lang="en-US" sz="2799">
                <a:solidFill>
                  <a:srgbClr val="005FC2"/>
                </a:solidFill>
                <a:latin typeface="Koho"/>
                <a:ea typeface="Koho"/>
                <a:cs typeface="Koho"/>
                <a:sym typeface="Koho"/>
              </a:rPr>
              <a:t>Mobile uses AppConfig.baseUrl set at build time via --dart-define flag. Server must be publicly accessible at matching URL for all API calls.</a:t>
            </a:r>
          </a:p>
        </p:txBody>
      </p:sp>
      <p:sp>
        <p:nvSpPr>
          <p:cNvPr name="Freeform 4" id="4"/>
          <p:cNvSpPr/>
          <p:nvPr/>
        </p:nvSpPr>
        <p:spPr>
          <a:xfrm flipH="true" flipV="false" rot="0">
            <a:off x="-3207360" y="-5086743"/>
            <a:ext cx="7161170" cy="10230243"/>
          </a:xfrm>
          <a:custGeom>
            <a:avLst/>
            <a:gdLst/>
            <a:ahLst/>
            <a:cxnLst/>
            <a:rect r="r" b="b" t="t" l="l"/>
            <a:pathLst>
              <a:path h="10230243" w="7161170">
                <a:moveTo>
                  <a:pt x="7161169" y="0"/>
                </a:moveTo>
                <a:lnTo>
                  <a:pt x="0" y="0"/>
                </a:lnTo>
                <a:lnTo>
                  <a:pt x="0" y="10230243"/>
                </a:lnTo>
                <a:lnTo>
                  <a:pt x="7161169" y="10230243"/>
                </a:lnTo>
                <a:lnTo>
                  <a:pt x="716116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3885569">
            <a:off x="15560500" y="4143179"/>
            <a:ext cx="7161170" cy="10230243"/>
          </a:xfrm>
          <a:custGeom>
            <a:avLst/>
            <a:gdLst/>
            <a:ahLst/>
            <a:cxnLst/>
            <a:rect r="r" b="b" t="t" l="l"/>
            <a:pathLst>
              <a:path h="10230243" w="7161170">
                <a:moveTo>
                  <a:pt x="7161169" y="0"/>
                </a:moveTo>
                <a:lnTo>
                  <a:pt x="0" y="0"/>
                </a:lnTo>
                <a:lnTo>
                  <a:pt x="0" y="10230242"/>
                </a:lnTo>
                <a:lnTo>
                  <a:pt x="7161169" y="10230242"/>
                </a:lnTo>
                <a:lnTo>
                  <a:pt x="716116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2229407" y="3866959"/>
            <a:ext cx="4656668" cy="2393061"/>
          </a:xfrm>
          <a:prstGeom prst="rect">
            <a:avLst/>
          </a:prstGeom>
        </p:spPr>
        <p:txBody>
          <a:bodyPr anchor="t" rtlCol="false" tIns="0" lIns="0" bIns="0" rIns="0">
            <a:spAutoFit/>
          </a:bodyPr>
          <a:lstStyle/>
          <a:p>
            <a:pPr algn="l" marL="0" indent="0" lvl="0">
              <a:lnSpc>
                <a:spcPts val="3191"/>
              </a:lnSpc>
            </a:pPr>
            <a:r>
              <a:rPr lang="en-US" sz="2799">
                <a:solidFill>
                  <a:srgbClr val="005FC2"/>
                </a:solidFill>
                <a:latin typeface="Koho"/>
                <a:ea typeface="Koho"/>
                <a:cs typeface="Koho"/>
                <a:sym typeface="Koho"/>
              </a:rPr>
              <a:t>Additional Services</a:t>
            </a:r>
          </a:p>
          <a:p>
            <a:pPr algn="l" marL="0" indent="0" lvl="0">
              <a:lnSpc>
                <a:spcPts val="3191"/>
              </a:lnSpc>
            </a:pPr>
            <a:r>
              <a:rPr lang="en-US" sz="2799">
                <a:solidFill>
                  <a:srgbClr val="005FC2"/>
                </a:solidFill>
                <a:latin typeface="Koho"/>
                <a:ea typeface="Koho"/>
                <a:cs typeface="Koho"/>
                <a:sym typeface="Koho"/>
              </a:rPr>
              <a:t>• HypeService → /hype/*</a:t>
            </a:r>
          </a:p>
          <a:p>
            <a:pPr algn="l" marL="0" indent="0" lvl="0">
              <a:lnSpc>
                <a:spcPts val="3191"/>
              </a:lnSpc>
            </a:pPr>
            <a:r>
              <a:rPr lang="en-US" sz="2799">
                <a:solidFill>
                  <a:srgbClr val="005FC2"/>
                </a:solidFill>
                <a:latin typeface="Koho"/>
                <a:ea typeface="Koho"/>
                <a:cs typeface="Koho"/>
                <a:sym typeface="Koho"/>
              </a:rPr>
              <a:t>• WalletService → /rewards/wallet</a:t>
            </a:r>
          </a:p>
          <a:p>
            <a:pPr algn="l" marL="0" indent="0" lvl="0">
              <a:lnSpc>
                <a:spcPts val="3191"/>
              </a:lnSpc>
            </a:pPr>
            <a:r>
              <a:rPr lang="en-US" sz="2799">
                <a:solidFill>
                  <a:srgbClr val="005FC2"/>
                </a:solidFill>
                <a:latin typeface="Koho"/>
                <a:ea typeface="Koho"/>
                <a:cs typeface="Koho"/>
                <a:sym typeface="Koho"/>
              </a:rPr>
              <a:t>• ReferralService → /referral/*</a:t>
            </a:r>
          </a:p>
          <a:p>
            <a:pPr algn="l" marL="0" indent="0" lvl="0">
              <a:lnSpc>
                <a:spcPts val="3191"/>
              </a:lnSpc>
            </a:pPr>
            <a:r>
              <a:rPr lang="en-US" sz="2799">
                <a:solidFill>
                  <a:srgbClr val="005FC2"/>
                </a:solidFill>
                <a:latin typeface="Koho"/>
                <a:ea typeface="Koho"/>
                <a:cs typeface="Koho"/>
                <a:sym typeface="Koho"/>
              </a:rPr>
              <a:t>• IdentityService → /identity/*</a:t>
            </a:r>
          </a:p>
        </p:txBody>
      </p:sp>
      <p:sp>
        <p:nvSpPr>
          <p:cNvPr name="TextBox 7" id="7"/>
          <p:cNvSpPr txBox="true"/>
          <p:nvPr/>
        </p:nvSpPr>
        <p:spPr>
          <a:xfrm rot="0">
            <a:off x="2629502" y="3866959"/>
            <a:ext cx="4656668" cy="2393061"/>
          </a:xfrm>
          <a:prstGeom prst="rect">
            <a:avLst/>
          </a:prstGeom>
        </p:spPr>
        <p:txBody>
          <a:bodyPr anchor="t" rtlCol="false" tIns="0" lIns="0" bIns="0" rIns="0">
            <a:spAutoFit/>
          </a:bodyPr>
          <a:lstStyle/>
          <a:p>
            <a:pPr algn="l" marL="0" indent="0" lvl="0">
              <a:lnSpc>
                <a:spcPts val="3191"/>
              </a:lnSpc>
            </a:pPr>
            <a:r>
              <a:rPr lang="en-US" sz="2799">
                <a:solidFill>
                  <a:srgbClr val="005FC2"/>
                </a:solidFill>
                <a:latin typeface="Koho"/>
                <a:ea typeface="Koho"/>
                <a:cs typeface="Koho"/>
                <a:sym typeface="Koho"/>
              </a:rPr>
              <a:t>API Route Mapping</a:t>
            </a:r>
          </a:p>
          <a:p>
            <a:pPr algn="l" marL="0" indent="0" lvl="0">
              <a:lnSpc>
                <a:spcPts val="3191"/>
              </a:lnSpc>
            </a:pPr>
            <a:r>
              <a:rPr lang="en-US" sz="2799">
                <a:solidFill>
                  <a:srgbClr val="005FC2"/>
                </a:solidFill>
                <a:latin typeface="Koho"/>
                <a:ea typeface="Koho"/>
                <a:cs typeface="Koho"/>
                <a:sym typeface="Koho"/>
              </a:rPr>
              <a:t>• PointsService → /points, /leaderboard</a:t>
            </a:r>
          </a:p>
          <a:p>
            <a:pPr algn="l" marL="0" indent="0" lvl="0">
              <a:lnSpc>
                <a:spcPts val="3191"/>
              </a:lnSpc>
            </a:pPr>
            <a:r>
              <a:rPr lang="en-US" sz="2799">
                <a:solidFill>
                  <a:srgbClr val="005FC2"/>
                </a:solidFill>
                <a:latin typeface="Koho"/>
                <a:ea typeface="Koho"/>
                <a:cs typeface="Koho"/>
                <a:sym typeface="Koho"/>
              </a:rPr>
              <a:t>• QRService → /qr/{id}/scan</a:t>
            </a:r>
          </a:p>
          <a:p>
            <a:pPr algn="l" marL="0" indent="0" lvl="0">
              <a:lnSpc>
                <a:spcPts val="3191"/>
              </a:lnSpc>
            </a:pPr>
            <a:r>
              <a:rPr lang="en-US" sz="2799">
                <a:solidFill>
                  <a:srgbClr val="005FC2"/>
                </a:solidFill>
                <a:latin typeface="Koho"/>
                <a:ea typeface="Koho"/>
                <a:cs typeface="Koho"/>
                <a:sym typeface="Koho"/>
              </a:rPr>
              <a:t>• TriviaService → /trivia/current, /trivia/answer</a:t>
            </a:r>
          </a:p>
        </p:txBody>
      </p:sp>
      <p:sp>
        <p:nvSpPr>
          <p:cNvPr name="Freeform 8" id="8"/>
          <p:cNvSpPr/>
          <p:nvPr/>
        </p:nvSpPr>
        <p:spPr>
          <a:xfrm flipH="false" flipV="false" rot="0">
            <a:off x="3953809" y="7660195"/>
            <a:ext cx="679170" cy="679170"/>
          </a:xfrm>
          <a:custGeom>
            <a:avLst/>
            <a:gdLst/>
            <a:ahLst/>
            <a:cxnLst/>
            <a:rect r="r" b="b" t="t" l="l"/>
            <a:pathLst>
              <a:path h="679170" w="679170">
                <a:moveTo>
                  <a:pt x="0" y="0"/>
                </a:moveTo>
                <a:lnTo>
                  <a:pt x="679170" y="0"/>
                </a:lnTo>
                <a:lnTo>
                  <a:pt x="679170" y="679170"/>
                </a:lnTo>
                <a:lnTo>
                  <a:pt x="0" y="67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509074" y="7660195"/>
            <a:ext cx="679170" cy="679170"/>
          </a:xfrm>
          <a:custGeom>
            <a:avLst/>
            <a:gdLst/>
            <a:ahLst/>
            <a:cxnLst/>
            <a:rect r="r" b="b" t="t" l="l"/>
            <a:pathLst>
              <a:path h="679170" w="679170">
                <a:moveTo>
                  <a:pt x="0" y="0"/>
                </a:moveTo>
                <a:lnTo>
                  <a:pt x="679169" y="0"/>
                </a:lnTo>
                <a:lnTo>
                  <a:pt x="679169" y="679170"/>
                </a:lnTo>
                <a:lnTo>
                  <a:pt x="0" y="67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061649" y="4391102"/>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6918183" y="5888904"/>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54424" y="1459858"/>
            <a:ext cx="3804876" cy="3547520"/>
            <a:chOff x="0" y="0"/>
            <a:chExt cx="812800" cy="757823"/>
          </a:xfrm>
        </p:grpSpPr>
        <p:sp>
          <p:nvSpPr>
            <p:cNvPr name="Freeform 4" id="4"/>
            <p:cNvSpPr/>
            <p:nvPr/>
          </p:nvSpPr>
          <p:spPr>
            <a:xfrm flipH="false" flipV="false" rot="0">
              <a:off x="0" y="0"/>
              <a:ext cx="812800" cy="757823"/>
            </a:xfrm>
            <a:custGeom>
              <a:avLst/>
              <a:gdLst/>
              <a:ahLst/>
              <a:cxnLst/>
              <a:rect r="r" b="b" t="t" l="l"/>
              <a:pathLst>
                <a:path h="757823" w="812800">
                  <a:moveTo>
                    <a:pt x="46799" y="0"/>
                  </a:moveTo>
                  <a:lnTo>
                    <a:pt x="766001" y="0"/>
                  </a:lnTo>
                  <a:cubicBezTo>
                    <a:pt x="791847" y="0"/>
                    <a:pt x="812800" y="20953"/>
                    <a:pt x="812800" y="46799"/>
                  </a:cubicBezTo>
                  <a:lnTo>
                    <a:pt x="812800" y="711024"/>
                  </a:lnTo>
                  <a:cubicBezTo>
                    <a:pt x="812800" y="736871"/>
                    <a:pt x="791847" y="757823"/>
                    <a:pt x="766001" y="757823"/>
                  </a:cubicBezTo>
                  <a:lnTo>
                    <a:pt x="46799" y="757823"/>
                  </a:lnTo>
                  <a:cubicBezTo>
                    <a:pt x="20953" y="757823"/>
                    <a:pt x="0" y="736871"/>
                    <a:pt x="0" y="711024"/>
                  </a:cubicBezTo>
                  <a:lnTo>
                    <a:pt x="0" y="46799"/>
                  </a:lnTo>
                  <a:cubicBezTo>
                    <a:pt x="0" y="20953"/>
                    <a:pt x="20953" y="0"/>
                    <a:pt x="46799" y="0"/>
                  </a:cubicBezTo>
                  <a:close/>
                </a:path>
              </a:pathLst>
            </a:custGeom>
            <a:blipFill>
              <a:blip r:embed="rId4"/>
              <a:stretch>
                <a:fillRect l="0" t="-3627" r="0" b="-3627"/>
              </a:stretch>
            </a:blipFill>
          </p:spPr>
        </p:sp>
      </p:grpSp>
      <p:grpSp>
        <p:nvGrpSpPr>
          <p:cNvPr name="Group 5" id="5"/>
          <p:cNvGrpSpPr/>
          <p:nvPr/>
        </p:nvGrpSpPr>
        <p:grpSpPr>
          <a:xfrm rot="0">
            <a:off x="13454424" y="5279623"/>
            <a:ext cx="3804876" cy="3547520"/>
            <a:chOff x="0" y="0"/>
            <a:chExt cx="812800" cy="757823"/>
          </a:xfrm>
        </p:grpSpPr>
        <p:sp>
          <p:nvSpPr>
            <p:cNvPr name="Freeform 6" id="6"/>
            <p:cNvSpPr/>
            <p:nvPr/>
          </p:nvSpPr>
          <p:spPr>
            <a:xfrm flipH="false" flipV="false" rot="0">
              <a:off x="0" y="0"/>
              <a:ext cx="812800" cy="757823"/>
            </a:xfrm>
            <a:custGeom>
              <a:avLst/>
              <a:gdLst/>
              <a:ahLst/>
              <a:cxnLst/>
              <a:rect r="r" b="b" t="t" l="l"/>
              <a:pathLst>
                <a:path h="757823" w="812800">
                  <a:moveTo>
                    <a:pt x="46799" y="0"/>
                  </a:moveTo>
                  <a:lnTo>
                    <a:pt x="766001" y="0"/>
                  </a:lnTo>
                  <a:cubicBezTo>
                    <a:pt x="791847" y="0"/>
                    <a:pt x="812800" y="20953"/>
                    <a:pt x="812800" y="46799"/>
                  </a:cubicBezTo>
                  <a:lnTo>
                    <a:pt x="812800" y="711024"/>
                  </a:lnTo>
                  <a:cubicBezTo>
                    <a:pt x="812800" y="736871"/>
                    <a:pt x="791847" y="757823"/>
                    <a:pt x="766001" y="757823"/>
                  </a:cubicBezTo>
                  <a:lnTo>
                    <a:pt x="46799" y="757823"/>
                  </a:lnTo>
                  <a:cubicBezTo>
                    <a:pt x="20953" y="757823"/>
                    <a:pt x="0" y="736871"/>
                    <a:pt x="0" y="711024"/>
                  </a:cubicBezTo>
                  <a:lnTo>
                    <a:pt x="0" y="46799"/>
                  </a:lnTo>
                  <a:cubicBezTo>
                    <a:pt x="0" y="20953"/>
                    <a:pt x="20953" y="0"/>
                    <a:pt x="46799" y="0"/>
                  </a:cubicBezTo>
                  <a:close/>
                </a:path>
              </a:pathLst>
            </a:custGeom>
            <a:blipFill>
              <a:blip r:embed="rId5"/>
              <a:stretch>
                <a:fillRect l="0" t="-3627" r="0" b="-3627"/>
              </a:stretch>
            </a:blipFill>
          </p:spPr>
        </p:sp>
      </p:grpSp>
      <p:sp>
        <p:nvSpPr>
          <p:cNvPr name="Freeform 7" id="7"/>
          <p:cNvSpPr/>
          <p:nvPr/>
        </p:nvSpPr>
        <p:spPr>
          <a:xfrm flipH="false" flipV="false" rot="0">
            <a:off x="1829272" y="3519317"/>
            <a:ext cx="679170" cy="679170"/>
          </a:xfrm>
          <a:custGeom>
            <a:avLst/>
            <a:gdLst/>
            <a:ahLst/>
            <a:cxnLst/>
            <a:rect r="r" b="b" t="t" l="l"/>
            <a:pathLst>
              <a:path h="679170" w="679170">
                <a:moveTo>
                  <a:pt x="0" y="0"/>
                </a:moveTo>
                <a:lnTo>
                  <a:pt x="679170" y="0"/>
                </a:lnTo>
                <a:lnTo>
                  <a:pt x="679170" y="679170"/>
                </a:lnTo>
                <a:lnTo>
                  <a:pt x="0" y="6791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829272" y="5478561"/>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829272" y="7433472"/>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829272" y="1383658"/>
            <a:ext cx="10894849" cy="908628"/>
          </a:xfrm>
          <a:prstGeom prst="rect">
            <a:avLst/>
          </a:prstGeom>
        </p:spPr>
        <p:txBody>
          <a:bodyPr anchor="t" rtlCol="false" tIns="0" lIns="0" bIns="0" rIns="0">
            <a:spAutoFit/>
          </a:bodyPr>
          <a:lstStyle/>
          <a:p>
            <a:pPr algn="l" marL="0" indent="0" lvl="0">
              <a:lnSpc>
                <a:spcPts val="6261"/>
              </a:lnSpc>
            </a:pPr>
            <a:r>
              <a:rPr lang="en-US" b="true" sz="5492">
                <a:solidFill>
                  <a:srgbClr val="FFFFFF"/>
                </a:solidFill>
                <a:latin typeface="Neo Tech Bold"/>
                <a:ea typeface="Neo Tech Bold"/>
                <a:cs typeface="Neo Tech Bold"/>
                <a:sym typeface="Neo Tech Bold"/>
              </a:rPr>
              <a:t>DATABASE SCHEMA HIGHLIGHTS</a:t>
            </a:r>
          </a:p>
        </p:txBody>
      </p:sp>
      <p:sp>
        <p:nvSpPr>
          <p:cNvPr name="TextBox 11" id="11"/>
          <p:cNvSpPr txBox="true"/>
          <p:nvPr/>
        </p:nvSpPr>
        <p:spPr>
          <a:xfrm rot="0">
            <a:off x="2895628" y="3076709"/>
            <a:ext cx="10148400"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Core Tables: users (verified accounts), pending_users (OTP verification queue), point_events (immutable ledger tracking all point transactions with event types and timestamps)</a:t>
            </a:r>
          </a:p>
        </p:txBody>
      </p:sp>
      <p:sp>
        <p:nvSpPr>
          <p:cNvPr name="TextBox 12" id="12"/>
          <p:cNvSpPr txBox="true"/>
          <p:nvPr/>
        </p:nvSpPr>
        <p:spPr>
          <a:xfrm rot="0">
            <a:off x="2895628" y="5035952"/>
            <a:ext cx="10148400"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Feature Tables: qr_codes &amp; qr_scans (double-scan prevention), trivia_questions &amp; trivia_answers (rotation windows), hype_sets &amp; hype_votes (one vote per user constraint)</a:t>
            </a:r>
          </a:p>
        </p:txBody>
      </p:sp>
      <p:sp>
        <p:nvSpPr>
          <p:cNvPr name="TextBox 13" id="13"/>
          <p:cNvSpPr txBox="true"/>
          <p:nvPr/>
        </p:nvSpPr>
        <p:spPr>
          <a:xfrm rot="0">
            <a:off x="2895628" y="6990863"/>
            <a:ext cx="10148400"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Rewards Tables: referrals &amp; referral_pending (activation logic), rewards &amp; reward_claims (token-based redemption), events (general activity logging for auditing)</a:t>
            </a:r>
          </a:p>
        </p:txBody>
      </p:sp>
      <p:sp>
        <p:nvSpPr>
          <p:cNvPr name="Freeform 14" id="14"/>
          <p:cNvSpPr/>
          <p:nvPr/>
        </p:nvSpPr>
        <p:spPr>
          <a:xfrm flipH="false" flipV="false" rot="0">
            <a:off x="6125845" y="-4806690"/>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341974" y="4178708"/>
            <a:ext cx="8975409" cy="1192896"/>
          </a:xfrm>
          <a:prstGeom prst="rect">
            <a:avLst/>
          </a:prstGeom>
        </p:spPr>
        <p:txBody>
          <a:bodyPr anchor="t" rtlCol="false" tIns="0" lIns="0" bIns="0" rIns="0">
            <a:spAutoFit/>
          </a:bodyPr>
          <a:lstStyle/>
          <a:p>
            <a:pPr algn="l" marL="0" indent="0" lvl="0">
              <a:lnSpc>
                <a:spcPts val="3189"/>
              </a:lnSpc>
            </a:pPr>
            <a:r>
              <a:rPr lang="en-US" sz="2798">
                <a:solidFill>
                  <a:srgbClr val="005FC2"/>
                </a:solidFill>
                <a:latin typeface="Koho"/>
                <a:ea typeface="Koho"/>
                <a:cs typeface="Koho"/>
                <a:sym typeface="Koho"/>
              </a:rPr>
              <a:t>Global IP Limit: 60 requests/min</a:t>
            </a:r>
          </a:p>
          <a:p>
            <a:pPr algn="l" marL="0" indent="0" lvl="0">
              <a:lnSpc>
                <a:spcPts val="3189"/>
              </a:lnSpc>
            </a:pPr>
            <a:r>
              <a:rPr lang="en-US" sz="2798">
                <a:solidFill>
                  <a:srgbClr val="005FC2"/>
                </a:solidFill>
                <a:latin typeface="Koho"/>
                <a:ea typeface="Koho"/>
                <a:cs typeface="Koho"/>
                <a:sym typeface="Koho"/>
              </a:rPr>
              <a:t>User Routes: 30 requests/min per X-Device-ID</a:t>
            </a:r>
          </a:p>
          <a:p>
            <a:pPr algn="l" marL="0" indent="0" lvl="0">
              <a:lnSpc>
                <a:spcPts val="3189"/>
              </a:lnSpc>
            </a:pPr>
            <a:r>
              <a:rPr lang="en-US" sz="2798">
                <a:solidFill>
                  <a:srgbClr val="005FC2"/>
                </a:solidFill>
                <a:latin typeface="Koho"/>
                <a:ea typeface="Koho"/>
                <a:cs typeface="Koho"/>
                <a:sym typeface="Koho"/>
              </a:rPr>
              <a:t>Applies to all authenticated endpoints</a:t>
            </a:r>
          </a:p>
        </p:txBody>
      </p:sp>
      <p:sp>
        <p:nvSpPr>
          <p:cNvPr name="Freeform 3" id="3"/>
          <p:cNvSpPr/>
          <p:nvPr/>
        </p:nvSpPr>
        <p:spPr>
          <a:xfrm flipH="true" flipV="false" rot="-10149532">
            <a:off x="-3580585" y="4143179"/>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29211">
            <a:off x="14707415" y="-4280324"/>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197496" y="3006770"/>
            <a:ext cx="4087499" cy="5446740"/>
          </a:xfrm>
          <a:custGeom>
            <a:avLst/>
            <a:gdLst/>
            <a:ahLst/>
            <a:cxnLst/>
            <a:rect r="r" b="b" t="t" l="l"/>
            <a:pathLst>
              <a:path h="5446740" w="4087499">
                <a:moveTo>
                  <a:pt x="0" y="0"/>
                </a:moveTo>
                <a:lnTo>
                  <a:pt x="4087499" y="0"/>
                </a:lnTo>
                <a:lnTo>
                  <a:pt x="4087499" y="5446740"/>
                </a:lnTo>
                <a:lnTo>
                  <a:pt x="0" y="5446740"/>
                </a:lnTo>
                <a:lnTo>
                  <a:pt x="0" y="0"/>
                </a:lnTo>
                <a:close/>
              </a:path>
            </a:pathLst>
          </a:custGeom>
          <a:blipFill>
            <a:blip r:embed="rId4"/>
            <a:stretch>
              <a:fillRect l="0" t="0" r="0" b="0"/>
            </a:stretch>
          </a:blipFill>
        </p:spPr>
      </p:sp>
      <p:sp>
        <p:nvSpPr>
          <p:cNvPr name="TextBox 6" id="6"/>
          <p:cNvSpPr txBox="true"/>
          <p:nvPr/>
        </p:nvSpPr>
        <p:spPr>
          <a:xfrm rot="0">
            <a:off x="3622883" y="1246437"/>
            <a:ext cx="10894849" cy="1238250"/>
          </a:xfrm>
          <a:prstGeom prst="rect">
            <a:avLst/>
          </a:prstGeom>
        </p:spPr>
        <p:txBody>
          <a:bodyPr anchor="t" rtlCol="false" tIns="0" lIns="0" bIns="0" rIns="0">
            <a:spAutoFit/>
          </a:bodyPr>
          <a:lstStyle/>
          <a:p>
            <a:pPr algn="ctr" marL="0" indent="0" lvl="0">
              <a:lnSpc>
                <a:spcPts val="8549"/>
              </a:lnSpc>
            </a:pPr>
            <a:r>
              <a:rPr lang="en-US" b="true" sz="7500">
                <a:solidFill>
                  <a:srgbClr val="005FC2"/>
                </a:solidFill>
                <a:latin typeface="Neo Tech Bold"/>
                <a:ea typeface="Neo Tech Bold"/>
                <a:cs typeface="Neo Tech Bold"/>
                <a:sym typeface="Neo Tech Bold"/>
              </a:rPr>
              <a:t>RATE LIMITING</a:t>
            </a:r>
          </a:p>
        </p:txBody>
      </p:sp>
      <p:sp>
        <p:nvSpPr>
          <p:cNvPr name="TextBox 7" id="7"/>
          <p:cNvSpPr txBox="true"/>
          <p:nvPr/>
        </p:nvSpPr>
        <p:spPr>
          <a:xfrm rot="0">
            <a:off x="7341974" y="6578754"/>
            <a:ext cx="8975409" cy="2393046"/>
          </a:xfrm>
          <a:prstGeom prst="rect">
            <a:avLst/>
          </a:prstGeom>
        </p:spPr>
        <p:txBody>
          <a:bodyPr anchor="t" rtlCol="false" tIns="0" lIns="0" bIns="0" rIns="0">
            <a:spAutoFit/>
          </a:bodyPr>
          <a:lstStyle/>
          <a:p>
            <a:pPr algn="l" marL="0" indent="0" lvl="0">
              <a:lnSpc>
                <a:spcPts val="3189"/>
              </a:lnSpc>
            </a:pPr>
            <a:r>
              <a:rPr lang="en-US" sz="2798">
                <a:solidFill>
                  <a:srgbClr val="005FC2"/>
                </a:solidFill>
                <a:latin typeface="Koho"/>
                <a:ea typeface="Koho"/>
                <a:cs typeface="Koho"/>
                <a:sym typeface="Koho"/>
              </a:rPr>
              <a:t>Specific POST Limits:</a:t>
            </a:r>
          </a:p>
          <a:p>
            <a:pPr algn="l" marL="0" indent="0" lvl="0">
              <a:lnSpc>
                <a:spcPts val="3189"/>
              </a:lnSpc>
            </a:pPr>
            <a:r>
              <a:rPr lang="en-US" sz="2798">
                <a:solidFill>
                  <a:srgbClr val="005FC2"/>
                </a:solidFill>
                <a:latin typeface="Koho"/>
                <a:ea typeface="Koho"/>
                <a:cs typeface="Koho"/>
                <a:sym typeface="Koho"/>
              </a:rPr>
              <a:t>• /points/sync - stricter throttling</a:t>
            </a:r>
          </a:p>
          <a:p>
            <a:pPr algn="l" marL="0" indent="0" lvl="0">
              <a:lnSpc>
                <a:spcPts val="3189"/>
              </a:lnSpc>
            </a:pPr>
            <a:r>
              <a:rPr lang="en-US" sz="2798">
                <a:solidFill>
                  <a:srgbClr val="005FC2"/>
                </a:solidFill>
                <a:latin typeface="Koho"/>
                <a:ea typeface="Koho"/>
                <a:cs typeface="Koho"/>
                <a:sym typeface="Koho"/>
              </a:rPr>
              <a:t>• /qr/{id}/scan - prevent spam scanning</a:t>
            </a:r>
          </a:p>
          <a:p>
            <a:pPr algn="l" marL="0" indent="0" lvl="0">
              <a:lnSpc>
                <a:spcPts val="3189"/>
              </a:lnSpc>
            </a:pPr>
            <a:r>
              <a:rPr lang="en-US" sz="2798">
                <a:solidFill>
                  <a:srgbClr val="005FC2"/>
                </a:solidFill>
                <a:latin typeface="Koho"/>
                <a:ea typeface="Koho"/>
                <a:cs typeface="Koho"/>
                <a:sym typeface="Koho"/>
              </a:rPr>
              <a:t>• /trivia/answer - one answer per window</a:t>
            </a:r>
          </a:p>
          <a:p>
            <a:pPr algn="l" marL="0" indent="0" lvl="0">
              <a:lnSpc>
                <a:spcPts val="3189"/>
              </a:lnSpc>
            </a:pPr>
            <a:r>
              <a:rPr lang="en-US" sz="2798">
                <a:solidFill>
                  <a:srgbClr val="005FC2"/>
                </a:solidFill>
                <a:latin typeface="Koho"/>
                <a:ea typeface="Koho"/>
                <a:cs typeface="Koho"/>
                <a:sym typeface="Koho"/>
              </a:rPr>
              <a:t>• /hype/vote - single vote enforcement</a:t>
            </a:r>
          </a:p>
          <a:p>
            <a:pPr algn="l" marL="0" indent="0" lvl="0">
              <a:lnSpc>
                <a:spcPts val="3189"/>
              </a:lnSpc>
            </a:pPr>
            <a:r>
              <a:rPr lang="en-US" sz="2798">
                <a:solidFill>
                  <a:srgbClr val="005FC2"/>
                </a:solidFill>
                <a:latin typeface="Koho"/>
                <a:ea typeface="Koho"/>
                <a:cs typeface="Koho"/>
                <a:sym typeface="Koho"/>
              </a:rPr>
              <a:t>• /rewards/claim - controlled redemption rate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341974" y="4178708"/>
            <a:ext cx="8975409" cy="1992996"/>
          </a:xfrm>
          <a:prstGeom prst="rect">
            <a:avLst/>
          </a:prstGeom>
        </p:spPr>
        <p:txBody>
          <a:bodyPr anchor="t" rtlCol="false" tIns="0" lIns="0" bIns="0" rIns="0">
            <a:spAutoFit/>
          </a:bodyPr>
          <a:lstStyle/>
          <a:p>
            <a:pPr algn="l" marL="0" indent="0" lvl="0">
              <a:lnSpc>
                <a:spcPts val="3189"/>
              </a:lnSpc>
            </a:pPr>
            <a:r>
              <a:rPr lang="en-US" sz="2798">
                <a:solidFill>
                  <a:srgbClr val="005FC2"/>
                </a:solidFill>
                <a:latin typeface="Koho"/>
                <a:ea typeface="Koho"/>
                <a:cs typeface="Koho"/>
                <a:sym typeface="Koho"/>
              </a:rPr>
              <a:t>Generate Referral Code</a:t>
            </a:r>
          </a:p>
          <a:p>
            <a:pPr algn="l" marL="0" indent="0" lvl="0">
              <a:lnSpc>
                <a:spcPts val="3189"/>
              </a:lnSpc>
            </a:pPr>
            <a:r>
              <a:rPr lang="en-US" sz="2798">
                <a:solidFill>
                  <a:srgbClr val="005FC2"/>
                </a:solidFill>
                <a:latin typeface="Koho"/>
                <a:ea typeface="Koho"/>
                <a:cs typeface="Koho"/>
                <a:sym typeface="Koho"/>
              </a:rPr>
              <a:t>POST /referral/generate returns referral_code + install_url. Users share the link with friends. New users sign up with the code, creating a referral_pending entry that activates on their first participation event.</a:t>
            </a:r>
          </a:p>
        </p:txBody>
      </p:sp>
      <p:sp>
        <p:nvSpPr>
          <p:cNvPr name="Freeform 3" id="3"/>
          <p:cNvSpPr/>
          <p:nvPr/>
        </p:nvSpPr>
        <p:spPr>
          <a:xfrm flipH="true" flipV="false" rot="-10149532">
            <a:off x="-3580585" y="4143179"/>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29211">
            <a:off x="14707415" y="-4280324"/>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2484687"/>
            <a:ext cx="5725221" cy="5653656"/>
          </a:xfrm>
          <a:custGeom>
            <a:avLst/>
            <a:gdLst/>
            <a:ahLst/>
            <a:cxnLst/>
            <a:rect r="r" b="b" t="t" l="l"/>
            <a:pathLst>
              <a:path h="5653656" w="5725221">
                <a:moveTo>
                  <a:pt x="0" y="0"/>
                </a:moveTo>
                <a:lnTo>
                  <a:pt x="5725221" y="0"/>
                </a:lnTo>
                <a:lnTo>
                  <a:pt x="5725221" y="5653656"/>
                </a:lnTo>
                <a:lnTo>
                  <a:pt x="0" y="5653656"/>
                </a:lnTo>
                <a:lnTo>
                  <a:pt x="0" y="0"/>
                </a:lnTo>
                <a:close/>
              </a:path>
            </a:pathLst>
          </a:custGeom>
          <a:blipFill>
            <a:blip r:embed="rId4"/>
            <a:stretch>
              <a:fillRect l="0" t="0" r="0" b="0"/>
            </a:stretch>
          </a:blipFill>
        </p:spPr>
      </p:sp>
      <p:sp>
        <p:nvSpPr>
          <p:cNvPr name="TextBox 6" id="6"/>
          <p:cNvSpPr txBox="true"/>
          <p:nvPr/>
        </p:nvSpPr>
        <p:spPr>
          <a:xfrm rot="0">
            <a:off x="3622883" y="1246437"/>
            <a:ext cx="10894849" cy="1238250"/>
          </a:xfrm>
          <a:prstGeom prst="rect">
            <a:avLst/>
          </a:prstGeom>
        </p:spPr>
        <p:txBody>
          <a:bodyPr anchor="t" rtlCol="false" tIns="0" lIns="0" bIns="0" rIns="0">
            <a:spAutoFit/>
          </a:bodyPr>
          <a:lstStyle/>
          <a:p>
            <a:pPr algn="ctr" marL="0" indent="0" lvl="0">
              <a:lnSpc>
                <a:spcPts val="8549"/>
              </a:lnSpc>
            </a:pPr>
            <a:r>
              <a:rPr lang="en-US" b="true" sz="7500">
                <a:solidFill>
                  <a:srgbClr val="005FC2"/>
                </a:solidFill>
                <a:latin typeface="Neo Tech Bold"/>
                <a:ea typeface="Neo Tech Bold"/>
                <a:cs typeface="Neo Tech Bold"/>
                <a:sym typeface="Neo Tech Bold"/>
              </a:rPr>
              <a:t>REFERRAL SYSTEM</a:t>
            </a:r>
          </a:p>
        </p:txBody>
      </p:sp>
      <p:sp>
        <p:nvSpPr>
          <p:cNvPr name="TextBox 7" id="7"/>
          <p:cNvSpPr txBox="true"/>
          <p:nvPr/>
        </p:nvSpPr>
        <p:spPr>
          <a:xfrm rot="0">
            <a:off x="7341974" y="6578754"/>
            <a:ext cx="8975409" cy="1992996"/>
          </a:xfrm>
          <a:prstGeom prst="rect">
            <a:avLst/>
          </a:prstGeom>
        </p:spPr>
        <p:txBody>
          <a:bodyPr anchor="t" rtlCol="false" tIns="0" lIns="0" bIns="0" rIns="0">
            <a:spAutoFit/>
          </a:bodyPr>
          <a:lstStyle/>
          <a:p>
            <a:pPr algn="l" marL="0" indent="0" lvl="0">
              <a:lnSpc>
                <a:spcPts val="3189"/>
              </a:lnSpc>
            </a:pPr>
            <a:r>
              <a:rPr lang="en-US" sz="2798">
                <a:solidFill>
                  <a:srgbClr val="005FC2"/>
                </a:solidFill>
                <a:latin typeface="Koho"/>
                <a:ea typeface="Koho"/>
                <a:cs typeface="Koho"/>
                <a:sym typeface="Koho"/>
              </a:rPr>
              <a:t>Referral Rewards</a:t>
            </a:r>
          </a:p>
          <a:p>
            <a:pPr algn="l" marL="0" indent="0" lvl="0">
              <a:lnSpc>
                <a:spcPts val="3189"/>
              </a:lnSpc>
            </a:pPr>
            <a:r>
              <a:rPr lang="en-US" sz="2798">
                <a:solidFill>
                  <a:srgbClr val="005FC2"/>
                </a:solidFill>
                <a:latin typeface="Koho"/>
                <a:ea typeface="Koho"/>
                <a:cs typeface="Koho"/>
                <a:sym typeface="Koho"/>
              </a:rPr>
              <a:t>+100 points for the referrer when their referral activates. +25 points for the referred user as a welcome bonus. +250 bonus points awarded when a user reaches 3 successful referrals.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586706" y="4451852"/>
            <a:ext cx="752689" cy="758377"/>
          </a:xfrm>
          <a:custGeom>
            <a:avLst/>
            <a:gdLst/>
            <a:ahLst/>
            <a:cxnLst/>
            <a:rect r="r" b="b" t="t" l="l"/>
            <a:pathLst>
              <a:path h="758377" w="752689">
                <a:moveTo>
                  <a:pt x="0" y="0"/>
                </a:moveTo>
                <a:lnTo>
                  <a:pt x="752689" y="0"/>
                </a:lnTo>
                <a:lnTo>
                  <a:pt x="752689" y="758377"/>
                </a:lnTo>
                <a:lnTo>
                  <a:pt x="0" y="758377"/>
                </a:lnTo>
                <a:lnTo>
                  <a:pt x="0" y="0"/>
                </a:lnTo>
                <a:close/>
              </a:path>
            </a:pathLst>
          </a:custGeom>
          <a:blipFill>
            <a:blip r:embed="rId4"/>
            <a:stretch>
              <a:fillRect l="0" t="0" r="0" b="0"/>
            </a:stretch>
          </a:blipFill>
        </p:spPr>
      </p:sp>
      <p:sp>
        <p:nvSpPr>
          <p:cNvPr name="TextBox 5" id="5"/>
          <p:cNvSpPr txBox="true"/>
          <p:nvPr/>
        </p:nvSpPr>
        <p:spPr>
          <a:xfrm rot="0">
            <a:off x="4336389" y="1587629"/>
            <a:ext cx="9615222" cy="2314575"/>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DEPLOYMENT &amp; APK DISTRIBUTION</a:t>
            </a:r>
          </a:p>
        </p:txBody>
      </p:sp>
      <p:sp>
        <p:nvSpPr>
          <p:cNvPr name="TextBox 6" id="6"/>
          <p:cNvSpPr txBox="true"/>
          <p:nvPr/>
        </p:nvSpPr>
        <p:spPr>
          <a:xfrm rot="0">
            <a:off x="4813846" y="4315722"/>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Build: GitHub Actions compiles APK with --dart-define=API_BASE_URL configuration, embedding the production server endpoint directly into the Flutter application binary.</a:t>
            </a:r>
          </a:p>
        </p:txBody>
      </p:sp>
      <p:sp>
        <p:nvSpPr>
          <p:cNvPr name="TextBox 7" id="7"/>
          <p:cNvSpPr txBox="true"/>
          <p:nvPr/>
        </p:nvSpPr>
        <p:spPr>
          <a:xfrm rot="0">
            <a:off x="4813846" y="5856350"/>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Publish: Compiled APK is deployed to VPS filesystem, making it available for direct download without app store dependencies or review processes.</a:t>
            </a:r>
          </a:p>
        </p:txBody>
      </p:sp>
      <p:sp>
        <p:nvSpPr>
          <p:cNvPr name="TextBox 8" id="8"/>
          <p:cNvSpPr txBox="true"/>
          <p:nvPr/>
        </p:nvSpPr>
        <p:spPr>
          <a:xfrm rot="0">
            <a:off x="4813846" y="7401685"/>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Distribute: Server exposes GET /downloads/fusionfest-android-latest.apk for APK retrieval and GET /downloads/version.json for version checking and update notifications.</a:t>
            </a:r>
          </a:p>
        </p:txBody>
      </p:sp>
      <p:sp>
        <p:nvSpPr>
          <p:cNvPr name="Freeform 9" id="9"/>
          <p:cNvSpPr/>
          <p:nvPr/>
        </p:nvSpPr>
        <p:spPr>
          <a:xfrm flipH="false" flipV="false" rot="0">
            <a:off x="3559026" y="5756259"/>
            <a:ext cx="837057" cy="1007885"/>
          </a:xfrm>
          <a:custGeom>
            <a:avLst/>
            <a:gdLst/>
            <a:ahLst/>
            <a:cxnLst/>
            <a:rect r="r" b="b" t="t" l="l"/>
            <a:pathLst>
              <a:path h="1007885" w="837057">
                <a:moveTo>
                  <a:pt x="0" y="0"/>
                </a:moveTo>
                <a:lnTo>
                  <a:pt x="837057" y="0"/>
                </a:lnTo>
                <a:lnTo>
                  <a:pt x="837057" y="1007885"/>
                </a:lnTo>
                <a:lnTo>
                  <a:pt x="0" y="1007885"/>
                </a:lnTo>
                <a:lnTo>
                  <a:pt x="0" y="0"/>
                </a:lnTo>
                <a:close/>
              </a:path>
            </a:pathLst>
          </a:custGeom>
          <a:blipFill>
            <a:blip r:embed="rId5"/>
            <a:stretch>
              <a:fillRect l="0" t="0" r="0" b="0"/>
            </a:stretch>
          </a:blipFill>
        </p:spPr>
      </p:sp>
      <p:sp>
        <p:nvSpPr>
          <p:cNvPr name="Freeform 10" id="10"/>
          <p:cNvSpPr/>
          <p:nvPr/>
        </p:nvSpPr>
        <p:spPr>
          <a:xfrm flipH="false" flipV="false" rot="0">
            <a:off x="3690909" y="7605261"/>
            <a:ext cx="767011" cy="817056"/>
          </a:xfrm>
          <a:custGeom>
            <a:avLst/>
            <a:gdLst/>
            <a:ahLst/>
            <a:cxnLst/>
            <a:rect r="r" b="b" t="t" l="l"/>
            <a:pathLst>
              <a:path h="817056" w="767011">
                <a:moveTo>
                  <a:pt x="0" y="0"/>
                </a:moveTo>
                <a:lnTo>
                  <a:pt x="767012" y="0"/>
                </a:lnTo>
                <a:lnTo>
                  <a:pt x="767012" y="817056"/>
                </a:lnTo>
                <a:lnTo>
                  <a:pt x="0" y="817056"/>
                </a:lnTo>
                <a:lnTo>
                  <a:pt x="0" y="0"/>
                </a:lnTo>
                <a:close/>
              </a:path>
            </a:pathLst>
          </a:custGeom>
          <a:blipFill>
            <a:blip r:embed="rId6"/>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grpSp>
        <p:nvGrpSpPr>
          <p:cNvPr name="Group 2" id="2"/>
          <p:cNvGrpSpPr/>
          <p:nvPr/>
        </p:nvGrpSpPr>
        <p:grpSpPr>
          <a:xfrm rot="0">
            <a:off x="1456048" y="3785953"/>
            <a:ext cx="10894849" cy="4698362"/>
            <a:chOff x="0" y="0"/>
            <a:chExt cx="971835" cy="419100"/>
          </a:xfrm>
        </p:grpSpPr>
        <p:sp>
          <p:nvSpPr>
            <p:cNvPr name="Freeform 3" id="3"/>
            <p:cNvSpPr/>
            <p:nvPr/>
          </p:nvSpPr>
          <p:spPr>
            <a:xfrm flipH="false" flipV="false" rot="0">
              <a:off x="0" y="0"/>
              <a:ext cx="971835" cy="419100"/>
            </a:xfrm>
            <a:custGeom>
              <a:avLst/>
              <a:gdLst/>
              <a:ahLst/>
              <a:cxnLst/>
              <a:rect r="r" b="b" t="t" l="l"/>
              <a:pathLst>
                <a:path h="419100" w="971835">
                  <a:moveTo>
                    <a:pt x="0" y="0"/>
                  </a:moveTo>
                  <a:lnTo>
                    <a:pt x="971835" y="0"/>
                  </a:lnTo>
                  <a:lnTo>
                    <a:pt x="971835" y="419100"/>
                  </a:lnTo>
                  <a:lnTo>
                    <a:pt x="0" y="419100"/>
                  </a:lnTo>
                  <a:close/>
                </a:path>
              </a:pathLst>
            </a:custGeom>
            <a:solidFill>
              <a:srgbClr val="005FC2"/>
            </a:solidFill>
          </p:spPr>
        </p:sp>
        <p:sp>
          <p:nvSpPr>
            <p:cNvPr name="TextBox 4" id="4"/>
            <p:cNvSpPr txBox="true"/>
            <p:nvPr/>
          </p:nvSpPr>
          <p:spPr>
            <a:xfrm>
              <a:off x="0" y="-38100"/>
              <a:ext cx="971835" cy="4572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5400000">
            <a:off x="-4714869"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372344" y="2690387"/>
            <a:ext cx="5246370" cy="5793929"/>
            <a:chOff x="0" y="0"/>
            <a:chExt cx="812800" cy="897631"/>
          </a:xfrm>
        </p:grpSpPr>
        <p:sp>
          <p:nvSpPr>
            <p:cNvPr name="Freeform 7" id="7"/>
            <p:cNvSpPr/>
            <p:nvPr/>
          </p:nvSpPr>
          <p:spPr>
            <a:xfrm flipH="false" flipV="false" rot="0">
              <a:off x="0" y="0"/>
              <a:ext cx="812800" cy="897631"/>
            </a:xfrm>
            <a:custGeom>
              <a:avLst/>
              <a:gdLst/>
              <a:ahLst/>
              <a:cxnLst/>
              <a:rect r="r" b="b" t="t" l="l"/>
              <a:pathLst>
                <a:path h="897631" w="812800">
                  <a:moveTo>
                    <a:pt x="33940" y="0"/>
                  </a:moveTo>
                  <a:lnTo>
                    <a:pt x="778860" y="0"/>
                  </a:lnTo>
                  <a:cubicBezTo>
                    <a:pt x="797604" y="0"/>
                    <a:pt x="812800" y="15196"/>
                    <a:pt x="812800" y="33940"/>
                  </a:cubicBezTo>
                  <a:lnTo>
                    <a:pt x="812800" y="863691"/>
                  </a:lnTo>
                  <a:cubicBezTo>
                    <a:pt x="812800" y="882436"/>
                    <a:pt x="797604" y="897631"/>
                    <a:pt x="778860" y="897631"/>
                  </a:cubicBezTo>
                  <a:lnTo>
                    <a:pt x="33940" y="897631"/>
                  </a:lnTo>
                  <a:cubicBezTo>
                    <a:pt x="15196" y="897631"/>
                    <a:pt x="0" y="882436"/>
                    <a:pt x="0" y="863691"/>
                  </a:cubicBezTo>
                  <a:lnTo>
                    <a:pt x="0" y="33940"/>
                  </a:lnTo>
                  <a:cubicBezTo>
                    <a:pt x="0" y="15196"/>
                    <a:pt x="15196" y="0"/>
                    <a:pt x="33940" y="0"/>
                  </a:cubicBezTo>
                  <a:close/>
                </a:path>
              </a:pathLst>
            </a:custGeom>
            <a:blipFill>
              <a:blip r:embed="rId4"/>
              <a:stretch>
                <a:fillRect l="-5218" t="0" r="-5218" b="0"/>
              </a:stretch>
            </a:blipFill>
          </p:spPr>
        </p:sp>
      </p:grpSp>
      <p:sp>
        <p:nvSpPr>
          <p:cNvPr name="TextBox 8" id="8"/>
          <p:cNvSpPr txBox="true"/>
          <p:nvPr/>
        </p:nvSpPr>
        <p:spPr>
          <a:xfrm rot="0">
            <a:off x="7247116" y="5291155"/>
            <a:ext cx="9668540" cy="239306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fusion_fest Flutter App → Dio HTTP with HMAC Headers → FusionFest-Server (Go + chi + PostgreSQL) → PostgreSQL Database. Server also serves Static Web UI and APK Downloads. Core integration: Mobile app signs all requests with HMAC-SHA256, server validates and processes against PostgreSQL.</a:t>
            </a:r>
          </a:p>
        </p:txBody>
      </p:sp>
      <p:sp>
        <p:nvSpPr>
          <p:cNvPr name="TextBox 9" id="9"/>
          <p:cNvSpPr txBox="true"/>
          <p:nvPr/>
        </p:nvSpPr>
        <p:spPr>
          <a:xfrm rot="0">
            <a:off x="7247116" y="2699952"/>
            <a:ext cx="8282278" cy="2314535"/>
          </a:xfrm>
          <a:prstGeom prst="rect">
            <a:avLst/>
          </a:prstGeom>
        </p:spPr>
        <p:txBody>
          <a:bodyPr anchor="t" rtlCol="false" tIns="0" lIns="0" bIns="0" rIns="0">
            <a:spAutoFit/>
          </a:bodyPr>
          <a:lstStyle/>
          <a:p>
            <a:pPr algn="l" marL="0" indent="0" lvl="0">
              <a:lnSpc>
                <a:spcPts val="8543"/>
              </a:lnSpc>
            </a:pPr>
            <a:r>
              <a:rPr lang="en-US" b="true" sz="7494">
                <a:solidFill>
                  <a:srgbClr val="FFFFFF"/>
                </a:solidFill>
                <a:latin typeface="Neo Tech Bold"/>
                <a:ea typeface="Neo Tech Bold"/>
                <a:cs typeface="Neo Tech Bold"/>
                <a:sym typeface="Neo Tech Bold"/>
              </a:rPr>
              <a:t>SYSTEM ARCHITECTURE</a:t>
            </a:r>
          </a:p>
        </p:txBody>
      </p:sp>
      <p:sp>
        <p:nvSpPr>
          <p:cNvPr name="Freeform 10" id="10"/>
          <p:cNvSpPr/>
          <p:nvPr/>
        </p:nvSpPr>
        <p:spPr>
          <a:xfrm flipH="false" flipV="false" rot="-8596510">
            <a:off x="11034248" y="-1404779"/>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222833" y="3629195"/>
            <a:ext cx="9842334" cy="2086620"/>
          </a:xfrm>
          <a:prstGeom prst="rect">
            <a:avLst/>
          </a:prstGeom>
        </p:spPr>
        <p:txBody>
          <a:bodyPr anchor="t" rtlCol="false" tIns="0" lIns="0" bIns="0" rIns="0">
            <a:spAutoFit/>
          </a:bodyPr>
          <a:lstStyle/>
          <a:p>
            <a:pPr algn="ctr" marL="0" indent="0" lvl="0">
              <a:lnSpc>
                <a:spcPts val="14361"/>
              </a:lnSpc>
            </a:pPr>
            <a:r>
              <a:rPr lang="en-US" b="true" sz="12597">
                <a:solidFill>
                  <a:srgbClr val="005FC2"/>
                </a:solidFill>
                <a:latin typeface="Neo Tech Bold"/>
                <a:ea typeface="Neo Tech Bold"/>
                <a:cs typeface="Neo Tech Bold"/>
                <a:sym typeface="Neo Tech Bold"/>
              </a:rPr>
              <a:t>THANK YOU</a:t>
            </a:r>
          </a:p>
        </p:txBody>
      </p:sp>
      <p:sp>
        <p:nvSpPr>
          <p:cNvPr name="Freeform 3" id="3"/>
          <p:cNvSpPr/>
          <p:nvPr/>
        </p:nvSpPr>
        <p:spPr>
          <a:xfrm flipH="true" flipV="false" rot="0">
            <a:off x="13499617" y="-3375063"/>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961309" y="5410624"/>
            <a:ext cx="8365383" cy="527769"/>
          </a:xfrm>
          <a:prstGeom prst="rect">
            <a:avLst/>
          </a:prstGeom>
        </p:spPr>
        <p:txBody>
          <a:bodyPr anchor="t" rtlCol="false" tIns="0" lIns="0" bIns="0" rIns="0">
            <a:spAutoFit/>
          </a:bodyPr>
          <a:lstStyle/>
          <a:p>
            <a:pPr algn="ctr" marL="0" indent="0" lvl="0">
              <a:lnSpc>
                <a:spcPts val="4100"/>
              </a:lnSpc>
            </a:pPr>
            <a:r>
              <a:rPr lang="en-US" b="true" sz="3597">
                <a:solidFill>
                  <a:srgbClr val="005FC2"/>
                </a:solidFill>
                <a:latin typeface="Koho Bold"/>
                <a:ea typeface="Koho Bold"/>
                <a:cs typeface="Koho Bold"/>
                <a:sym typeface="Koho Bold"/>
              </a:rPr>
              <a:t>Questions? Let's discuss the architecture!</a:t>
            </a:r>
          </a:p>
        </p:txBody>
      </p:sp>
      <p:sp>
        <p:nvSpPr>
          <p:cNvPr name="Freeform 5" id="5"/>
          <p:cNvSpPr/>
          <p:nvPr/>
        </p:nvSpPr>
        <p:spPr>
          <a:xfrm flipH="false" flipV="true" rot="-151067">
            <a:off x="-1812924" y="4400378"/>
            <a:ext cx="7161170" cy="10230243"/>
          </a:xfrm>
          <a:custGeom>
            <a:avLst/>
            <a:gdLst/>
            <a:ahLst/>
            <a:cxnLst/>
            <a:rect r="r" b="b" t="t" l="l"/>
            <a:pathLst>
              <a:path h="10230243" w="7161170">
                <a:moveTo>
                  <a:pt x="0" y="10230242"/>
                </a:moveTo>
                <a:lnTo>
                  <a:pt x="7161170" y="10230242"/>
                </a:lnTo>
                <a:lnTo>
                  <a:pt x="7161170" y="0"/>
                </a:lnTo>
                <a:lnTo>
                  <a:pt x="0" y="0"/>
                </a:lnTo>
                <a:lnTo>
                  <a:pt x="0" y="10230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25238" y="-129416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494558" y="781733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DAHLbt5DELM</dc:identifier>
  <dcterms:modified xsi:type="dcterms:W3CDTF">2011-08-01T06:04:30Z</dcterms:modified>
  <cp:revision>1</cp:revision>
  <dc:title>FusionFest Architecture Overview</dc:title>
</cp:coreProperties>
</file>