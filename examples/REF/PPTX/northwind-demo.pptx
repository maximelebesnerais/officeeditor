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psmdcp" ContentType="application/vnd.openxmlformats-package.core-properties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b601322e0b14dd1" /><Relationship Type="http://schemas.openxmlformats.org/package/2006/relationships/metadata/core-properties" Target="/package/services/metadata/core-properties/46ef5d3e9a424763a72e79fbc2ab52f7.psmdcp" Id="R26de846f95b349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a35996c6740e2"/>
  </p:sldMasterIdLst>
  <p:sldIdLst>
    <p:sldId xmlns:r="http://schemas.openxmlformats.org/officeDocument/2006/relationships" id="256" r:id="R8fef4854e07e47eb"/>
    <p:sldId xmlns:r="http://schemas.openxmlformats.org/officeDocument/2006/relationships" id="257" r:id="Rf0562905292f4636"/>
    <p:sldId xmlns:r="http://schemas.openxmlformats.org/officeDocument/2006/relationships" id="258" r:id="R7171a466de034fcd"/>
    <p:sldId xmlns:r="http://schemas.openxmlformats.org/officeDocument/2006/relationships" id="259" r:id="R39a7fc0fccff4100"/>
    <p:sldId xmlns:r="http://schemas.openxmlformats.org/officeDocument/2006/relationships" id="260" r:id="R090ff0347e0947a7"/>
    <p:sldId xmlns:r="http://schemas.openxmlformats.org/officeDocument/2006/relationships" id="261" r:id="R410d3b4d49a340bf"/>
    <p:sldId xmlns:r="http://schemas.openxmlformats.org/officeDocument/2006/relationships" id="262" r:id="R9359750847644c98"/>
    <p:sldId xmlns:r="http://schemas.openxmlformats.org/officeDocument/2006/relationships" id="263" r:id="Rc0ab1b8d17cc49bc"/>
    <p:sldId xmlns:r="http://schemas.openxmlformats.org/officeDocument/2006/relationships" id="264" r:id="R7c3e8e0b10114e7a"/>
    <p:sldId xmlns:r="http://schemas.openxmlformats.org/officeDocument/2006/relationships" id="265" r:id="R38da4b1c20404dcf"/>
    <p:sldId xmlns:r="http://schemas.openxmlformats.org/officeDocument/2006/relationships" id="266" r:id="Rd97acd169658401b"/>
    <p:sldId xmlns:r="http://schemas.openxmlformats.org/officeDocument/2006/relationships" id="267" r:id="R112ec73fd70f4bf6"/>
    <p:sldId xmlns:r="http://schemas.openxmlformats.org/officeDocument/2006/relationships" id="268" r:id="R6adcfefc7d5848e7"/>
    <p:sldId xmlns:r="http://schemas.openxmlformats.org/officeDocument/2006/relationships" id="269" r:id="Rf80dea3f2ca5408e"/>
    <p:sldId xmlns:r="http://schemas.openxmlformats.org/officeDocument/2006/relationships" id="270" r:id="Rcedc31c7cad3499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a35996c6740e2" /><Relationship Type="http://schemas.openxmlformats.org/officeDocument/2006/relationships/slide" Target="/ppt/slides/slide1.xml" Id="R8fef4854e07e47eb" /><Relationship Type="http://schemas.openxmlformats.org/officeDocument/2006/relationships/slide" Target="/ppt/slides/slide2.xml" Id="Rf0562905292f4636" /><Relationship Type="http://schemas.openxmlformats.org/officeDocument/2006/relationships/slide" Target="/ppt/slides/slide3.xml" Id="R7171a466de034fcd" /><Relationship Type="http://schemas.openxmlformats.org/officeDocument/2006/relationships/slide" Target="/ppt/slides/slide4.xml" Id="R39a7fc0fccff4100" /><Relationship Type="http://schemas.openxmlformats.org/officeDocument/2006/relationships/slide" Target="/ppt/slides/slide5.xml" Id="R090ff0347e0947a7" /><Relationship Type="http://schemas.openxmlformats.org/officeDocument/2006/relationships/slide" Target="/ppt/slides/slide6.xml" Id="R410d3b4d49a340bf" /><Relationship Type="http://schemas.openxmlformats.org/officeDocument/2006/relationships/slide" Target="/ppt/slides/slide7.xml" Id="R9359750847644c98" /><Relationship Type="http://schemas.openxmlformats.org/officeDocument/2006/relationships/slide" Target="/ppt/slides/slide8.xml" Id="Rc0ab1b8d17cc49bc" /><Relationship Type="http://schemas.openxmlformats.org/officeDocument/2006/relationships/slide" Target="/ppt/slides/slide9.xml" Id="R7c3e8e0b10114e7a" /><Relationship Type="http://schemas.openxmlformats.org/officeDocument/2006/relationships/slide" Target="/ppt/slides/slide10.xml" Id="R38da4b1c20404dcf" /><Relationship Type="http://schemas.openxmlformats.org/officeDocument/2006/relationships/slide" Target="/ppt/slides/slide11.xml" Id="Rd97acd169658401b" /><Relationship Type="http://schemas.openxmlformats.org/officeDocument/2006/relationships/slide" Target="/ppt/slides/slide12.xml" Id="R112ec73fd70f4bf6" /><Relationship Type="http://schemas.openxmlformats.org/officeDocument/2006/relationships/slide" Target="/ppt/slides/slide13.xml" Id="R6adcfefc7d5848e7" /><Relationship Type="http://schemas.openxmlformats.org/officeDocument/2006/relationships/slide" Target="/ppt/slides/slide14.xml" Id="Rf80dea3f2ca5408e" /><Relationship Type="http://schemas.openxmlformats.org/officeDocument/2006/relationships/slide" Target="/ppt/slides/slide15.xml" Id="Rcedc31c7cad3499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0ca02903ab4c1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62525e728454c" /><Relationship Type="http://schemas.openxmlformats.org/officeDocument/2006/relationships/theme" Target="/ppt/slideMasters/theme/theme1.xml" Id="R46e38bdc890c44e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e62525e728454c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  <a:ln w="12700" cap="flat" cmpd="sng">
          <a:solidFill>
            <a:schemeClr val="phClr"/>
          </a:solidFill>
          <a:prstDash val="solid"/>
        </a:ln>
        <a:ln w="19050" cap="flat" cmpd="sng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/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9f74e43664e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491c490384f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5d38d55ad42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f22f347e443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d465d966745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4c0cb289c47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0359a2baf40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846c59dbc47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238b8c3504b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69b6c3e294d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f1e7528b945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0860ea8af4ff9" /><Relationship Type="http://schemas.openxmlformats.org/officeDocument/2006/relationships/image" Target="/ppt/media/image.png" Id="Rc730a5d96b5e41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5036008724c1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8d2596dfd43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a9195b2af4a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A3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812800" y="1574800"/>
            <a:ext cx="10566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35B5B3"/>
                </a:solidFill>
              </a:rPr>
              <a:t>NORTHWIND LABS · RENEWABLE FLEET INTELLIGENCE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812800" y="2032000"/>
            <a:ext cx="10566400" cy="187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5800">
                <a:solidFill>
                  <a:srgbClr val="FFFFFF"/>
                </a:solidFill>
              </a:rPr>
              <a:t>Northwind Labs</a:t>
            </a:r>
          </a:p>
        </p:txBody>
      </p:sp>
      <p:sp>
        <p:nvSpPr>
          <p:cNvPr id="4" name="Rectangle 4"/>
          <p:cNvSpPr/>
          <p:nvPr/>
        </p:nvSpPr>
        <p:spPr>
          <a:xfrm xmlns:a="http://schemas.openxmlformats.org/drawingml/2006/main">
            <a:off x="812800" y="4114800"/>
            <a:ext cx="1066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812800" y="4368800"/>
            <a:ext cx="105664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700">
                <a:solidFill>
                  <a:srgbClr val="7A8288"/>
                </a:solidFill>
              </a:rPr>
              <a:t>Investor briefing · FY2025 results and the road to 3,000 connected sites</a:t>
            </a:r>
          </a:p>
        </p:txBody>
      </p:sp>
      <p:sp>
        <p:nvSpPr>
          <p:cNvPr id="6" name="Container 6"/>
          <p:cNvSpPr/>
          <p:nvPr/>
        </p:nvSpPr>
        <p:spPr>
          <a:xfrm xmlns:a="http://schemas.openxmlformats.org/drawingml/2006/main">
            <a:off x="812800" y="4927600"/>
            <a:ext cx="8128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7" name="Text 7"/>
          <p:cNvSpPr/>
          <p:nvPr/>
        </p:nvSpPr>
        <p:spPr>
          <a:xfrm xmlns:a="http://schemas.openxmlformats.org/drawingml/2006/main">
            <a:off x="939800" y="4965700"/>
            <a:ext cx="5588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WIND</a:t>
            </a:r>
          </a:p>
        </p:txBody>
      </p:sp>
      <p:sp>
        <p:nvSpPr>
          <p:cNvPr id="8" name="Container 8"/>
          <p:cNvSpPr/>
          <p:nvPr/>
        </p:nvSpPr>
        <p:spPr>
          <a:xfrm xmlns:a="http://schemas.openxmlformats.org/drawingml/2006/main">
            <a:off x="1752600" y="4927600"/>
            <a:ext cx="8636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1879600" y="4965700"/>
            <a:ext cx="609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SOLAR</a:t>
            </a:r>
          </a:p>
        </p:txBody>
      </p:sp>
      <p:sp>
        <p:nvSpPr>
          <p:cNvPr id="10" name="Container 10"/>
          <p:cNvSpPr/>
          <p:nvPr/>
        </p:nvSpPr>
        <p:spPr>
          <a:xfrm xmlns:a="http://schemas.openxmlformats.org/drawingml/2006/main">
            <a:off x="2743200" y="4927600"/>
            <a:ext cx="1168400" cy="330200"/>
          </a:xfrm>
          <a:prstGeom xmlns:a="http://schemas.openxmlformats.org/drawingml/2006/main" prst="roundRect">
            <a:avLst>
              <a:gd name="adj1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2870200" y="4965700"/>
            <a:ext cx="914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ctr"/>
            <a:r>
              <a:rPr sz="1400" b="1">
                <a:solidFill>
                  <a:srgbClr val="FFFFFF"/>
                </a:solidFill>
              </a:rPr>
              <a:t>STORAGE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AGENDA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What we will cover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2178050"/>
            <a:ext cx="660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000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1625600" y="2139950"/>
            <a:ext cx="98552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900" b="1">
                <a:solidFill>
                  <a:srgbClr val="1E2A32"/>
                </a:solidFill>
              </a:rPr>
              <a:t>The business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1625600" y="2495550"/>
            <a:ext cx="985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300">
                <a:solidFill>
                  <a:srgbClr val="7A8288"/>
                </a:solidFill>
              </a:rPr>
              <a:t>Who we are, what we operate, and the market we serve</a:t>
            </a:r>
          </a:p>
        </p:txBody>
      </p:sp>
      <p:sp>
        <p:nvSpPr>
          <p:cNvPr id="7" name="Rectangle 7"/>
          <p:cNvSpPr/>
          <p:nvPr/>
        </p:nvSpPr>
        <p:spPr>
          <a:xfrm xmlns:a="http://schemas.openxmlformats.org/drawingml/2006/main">
            <a:off x="711200" y="2978150"/>
            <a:ext cx="10769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711200" y="3282950"/>
            <a:ext cx="660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000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1625600" y="3244850"/>
            <a:ext cx="98552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900" b="1">
                <a:solidFill>
                  <a:srgbClr val="1E2A32"/>
                </a:solidFill>
              </a:rPr>
              <a:t>The numbers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1625600" y="3600450"/>
            <a:ext cx="985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300">
                <a:solidFill>
                  <a:srgbClr val="7A8288"/>
                </a:solidFill>
              </a:rPr>
              <a:t>FY2025 revenue, growth and unit economics</a:t>
            </a:r>
          </a:p>
        </p:txBody>
      </p:sp>
      <p:sp>
        <p:nvSpPr>
          <p:cNvPr id="11" name="Rectangle 11"/>
          <p:cNvSpPr/>
          <p:nvPr/>
        </p:nvSpPr>
        <p:spPr>
          <a:xfrm xmlns:a="http://schemas.openxmlformats.org/drawingml/2006/main">
            <a:off x="711200" y="4083050"/>
            <a:ext cx="10769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711200" y="4387850"/>
            <a:ext cx="660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000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1625600" y="4349750"/>
            <a:ext cx="98552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900" b="1">
                <a:solidFill>
                  <a:srgbClr val="1E2A32"/>
                </a:solidFill>
              </a:rPr>
              <a:t>The product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1625600" y="4705350"/>
            <a:ext cx="985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300">
                <a:solidFill>
                  <a:srgbClr val="7A8288"/>
                </a:solidFill>
              </a:rPr>
              <a:t>Northwind Pulse — platform tour and roadmap</a:t>
            </a:r>
          </a:p>
        </p:txBody>
      </p:sp>
      <p:sp>
        <p:nvSpPr>
          <p:cNvPr id="15" name="Rectangle 15"/>
          <p:cNvSpPr/>
          <p:nvPr/>
        </p:nvSpPr>
        <p:spPr>
          <a:xfrm xmlns:a="http://schemas.openxmlformats.org/drawingml/2006/main">
            <a:off x="711200" y="5187950"/>
            <a:ext cx="10769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16" name="Text 16"/>
          <p:cNvSpPr/>
          <p:nvPr/>
        </p:nvSpPr>
        <p:spPr>
          <a:xfrm xmlns:a="http://schemas.openxmlformats.org/drawingml/2006/main">
            <a:off x="711200" y="5492750"/>
            <a:ext cx="6604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3000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1625600" y="5454650"/>
            <a:ext cx="98552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900" b="1">
                <a:solidFill>
                  <a:srgbClr val="1E2A32"/>
                </a:solidFill>
              </a:rPr>
              <a:t>Why now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1625600" y="5810250"/>
            <a:ext cx="985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300">
                <a:solidFill>
                  <a:srgbClr val="7A8288"/>
                </a:solidFill>
              </a:rPr>
              <a:t>The outlook for 2026 and how to work with us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BUSINESS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Northwind Labs at a glance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3162300"/>
            <a:ext cx="252095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5200">
                <a:solidFill>
                  <a:srgbClr val="0E7C7B"/>
                </a:solidFill>
              </a:rPr>
              <a:t>1,284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711200" y="4051300"/>
            <a:ext cx="25209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8288"/>
                </a:solidFill>
              </a:rPr>
              <a:t>turbines &amp; arrays monitored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3460750" y="3162300"/>
            <a:ext cx="252095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5200">
                <a:solidFill>
                  <a:srgbClr val="0E7C7B"/>
                </a:solidFill>
              </a:rPr>
              <a:t>4.1 GW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3460750" y="4051300"/>
            <a:ext cx="25209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8288"/>
                </a:solidFill>
              </a:rPr>
              <a:t>capacity under management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6210300" y="3162300"/>
            <a:ext cx="252095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5200">
                <a:solidFill>
                  <a:srgbClr val="0E7C7B"/>
                </a:solidFill>
              </a:rPr>
              <a:t>14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6210300" y="4051300"/>
            <a:ext cx="25209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8288"/>
                </a:solidFill>
              </a:rPr>
              <a:t>markets across EU &amp; North America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8959850" y="3162300"/>
            <a:ext cx="252095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5200">
                <a:solidFill>
                  <a:srgbClr val="0E7C7B"/>
                </a:solidFill>
              </a:rPr>
              <a:t>212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8959850" y="4051300"/>
            <a:ext cx="252095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8288"/>
                </a:solidFill>
              </a:rPr>
              <a:t>people in Oslo, Berlin &amp; Chicago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711200" y="6019800"/>
            <a:ext cx="1076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Founded 2016 · Independent power producers, utilities and O&amp;M providers run their fleets on Northwind Pulse.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BUSINESS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What we do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2489200"/>
            <a:ext cx="617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One data layer for mixed renewable fleets</a:t>
            </a:r>
          </a:p>
        </p:txBody>
      </p:sp>
      <p:sp>
        <p:nvSpPr>
          <p:cNvPr id="5" name="Ellipse 5"/>
          <p:cNvSpPr/>
          <p:nvPr/>
        </p:nvSpPr>
        <p:spPr>
          <a:xfrm xmlns:a="http://schemas.openxmlformats.org/drawingml/2006/main">
            <a:off x="711200" y="30111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889000" y="291211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SCADA, sensor and grid data ingested every 10 seconds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711200" y="33997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889000" y="330073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Anomaly detection flags underperformance weeks before failure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711200" y="3788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889000" y="368935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Production forecasts tuned per site, per turbine model</a:t>
            </a:r>
          </a:p>
        </p:txBody>
      </p:sp>
      <p:sp>
        <p:nvSpPr>
          <p:cNvPr id="11" name="Ellipse 11"/>
          <p:cNvSpPr/>
          <p:nvPr/>
        </p:nvSpPr>
        <p:spPr>
          <a:xfrm xmlns:a="http://schemas.openxmlformats.org/drawingml/2006/main">
            <a:off x="711200" y="4177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889000" y="407797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Compliance and availability reporting generated automatically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7289800" y="2743200"/>
            <a:ext cx="4191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7518400" y="2971800"/>
            <a:ext cx="3733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Why operators switch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7518400" y="3331210"/>
            <a:ext cx="3733800" cy="185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Fleets on Northwind Pulse recover an average of 3.8% of lost production in the first year — mostly from faults that legacy monitoring never surfaced.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BUSINESS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A market that keeps compounding</a:t>
            </a:r>
          </a:p>
        </p:txBody>
      </p:sp>
      <p:sp>
        <p:nvSpPr>
          <p:cNvPr id="4" name="Rectangle 4"/>
          <p:cNvSpPr/>
          <p:nvPr/>
        </p:nvSpPr>
        <p:spPr>
          <a:xfrm xmlns:a="http://schemas.openxmlformats.org/drawingml/2006/main">
            <a:off x="711200" y="1905000"/>
            <a:ext cx="1076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Rectangle 5"/>
          <p:cNvSpPr/>
          <p:nvPr/>
        </p:nvSpPr>
        <p:spPr>
          <a:xfrm xmlns:a="http://schemas.openxmlformats.org/drawingml/2006/main">
            <a:off x="711200" y="2413000"/>
            <a:ext cx="34374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6" name="Container 6"/>
          <p:cNvSpPr/>
          <p:nvPr/>
        </p:nvSpPr>
        <p:spPr>
          <a:xfrm xmlns:a="http://schemas.openxmlformats.org/drawingml/2006/main">
            <a:off x="711200" y="2451100"/>
            <a:ext cx="3437471" cy="288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7" name="Text 7"/>
          <p:cNvSpPr/>
          <p:nvPr/>
        </p:nvSpPr>
        <p:spPr>
          <a:xfrm xmlns:a="http://schemas.openxmlformats.org/drawingml/2006/main">
            <a:off x="939800" y="2679700"/>
            <a:ext cx="2980271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€9.2B by 2028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939800" y="3039110"/>
            <a:ext cx="2980271" cy="206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Renewable asset-management software spend, growing ~14% per year as fleets age and digitize.</a:t>
            </a:r>
          </a:p>
        </p:txBody>
      </p:sp>
      <p:sp>
        <p:nvSpPr>
          <p:cNvPr id="9" name="Rectangle 9"/>
          <p:cNvSpPr/>
          <p:nvPr/>
        </p:nvSpPr>
        <p:spPr>
          <a:xfrm xmlns:a="http://schemas.openxmlformats.org/drawingml/2006/main">
            <a:off x="4377271" y="2413000"/>
            <a:ext cx="34374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0" name="Container 10"/>
          <p:cNvSpPr/>
          <p:nvPr/>
        </p:nvSpPr>
        <p:spPr>
          <a:xfrm xmlns:a="http://schemas.openxmlformats.org/drawingml/2006/main">
            <a:off x="4377271" y="2451100"/>
            <a:ext cx="3437471" cy="288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4605871" y="2679700"/>
            <a:ext cx="2980271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61% still on legacy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4605871" y="3039110"/>
            <a:ext cx="2980271" cy="206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Most fleets above 50 MW run on fragmented SCADA exports and spreadsheets — our replacement wedge.</a:t>
            </a:r>
          </a:p>
        </p:txBody>
      </p:sp>
      <p:sp>
        <p:nvSpPr>
          <p:cNvPr id="13" name="Rectangle 13"/>
          <p:cNvSpPr/>
          <p:nvPr/>
        </p:nvSpPr>
        <p:spPr>
          <a:xfrm xmlns:a="http://schemas.openxmlformats.org/drawingml/2006/main">
            <a:off x="8043329" y="2413000"/>
            <a:ext cx="34374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4" name="Container 14"/>
          <p:cNvSpPr/>
          <p:nvPr/>
        </p:nvSpPr>
        <p:spPr>
          <a:xfrm xmlns:a="http://schemas.openxmlformats.org/drawingml/2006/main">
            <a:off x="8043329" y="2451100"/>
            <a:ext cx="3437471" cy="288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15" name="Text 15"/>
          <p:cNvSpPr/>
          <p:nvPr/>
        </p:nvSpPr>
        <p:spPr>
          <a:xfrm xmlns:a="http://schemas.openxmlformats.org/drawingml/2006/main">
            <a:off x="8271929" y="2679700"/>
            <a:ext cx="2980271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2.4× data growth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8271929" y="3039110"/>
            <a:ext cx="2980271" cy="206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Sensor density per MW has more than doubled since 2021 — operators need tooling built for this volume.</a:t>
            </a:r>
          </a:p>
        </p:txBody>
      </p:sp>
      <p:sp>
        <p:nvSpPr>
          <p:cNvPr id="17" name="Rectangle 17"/>
          <p:cNvSpPr/>
          <p:nvPr/>
        </p:nvSpPr>
        <p:spPr>
          <a:xfrm xmlns:a="http://schemas.openxmlformats.org/drawingml/2006/main">
            <a:off x="711200" y="5537200"/>
            <a:ext cx="1076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8" name="Text 18"/>
          <p:cNvSpPr/>
          <p:nvPr/>
        </p:nvSpPr>
        <p:spPr>
          <a:xfrm xmlns:a="http://schemas.openxmlformats.org/drawingml/2006/main">
            <a:off x="711200" y="6045200"/>
            <a:ext cx="10769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7A8288"/>
                </a:solidFill>
              </a:rPr>
              <a:t>Sources: company analysis of public tender data and customer interviews, Q1 2026.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BUSINESS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Who we serve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711200" y="2870200"/>
            <a:ext cx="41910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939800" y="3098800"/>
            <a:ext cx="3733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Anchor customers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939800" y="3458210"/>
            <a:ext cx="3733800" cy="1596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Meridian Renewables, Kaskade Energy, Bluefjord Vind, Helios Grid Partners and 38 other operators across 14 markets.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5308600" y="2489200"/>
            <a:ext cx="617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Three segments, one platform</a:t>
            </a:r>
          </a:p>
        </p:txBody>
      </p:sp>
      <p:sp>
        <p:nvSpPr>
          <p:cNvPr id="8" name="Ellipse 8"/>
          <p:cNvSpPr/>
          <p:nvPr/>
        </p:nvSpPr>
        <p:spPr>
          <a:xfrm xmlns:a="http://schemas.openxmlformats.org/drawingml/2006/main">
            <a:off x="5308600" y="30111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5486400" y="291211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Independent power producers — portfolio-wide performance</a:t>
            </a:r>
          </a:p>
        </p:txBody>
      </p:sp>
      <p:sp>
        <p:nvSpPr>
          <p:cNvPr id="10" name="Ellipse 10"/>
          <p:cNvSpPr/>
          <p:nvPr/>
        </p:nvSpPr>
        <p:spPr>
          <a:xfrm xmlns:a="http://schemas.openxmlformats.org/drawingml/2006/main">
            <a:off x="5308600" y="33997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5486400" y="330073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Utilities — regulated reporting and grid compliance</a:t>
            </a:r>
          </a:p>
        </p:txBody>
      </p:sp>
      <p:sp>
        <p:nvSpPr>
          <p:cNvPr id="12" name="Ellipse 12"/>
          <p:cNvSpPr/>
          <p:nvPr/>
        </p:nvSpPr>
        <p:spPr>
          <a:xfrm xmlns:a="http://schemas.openxmlformats.org/drawingml/2006/main">
            <a:off x="5308600" y="3788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3" name="Text 13"/>
          <p:cNvSpPr/>
          <p:nvPr/>
        </p:nvSpPr>
        <p:spPr>
          <a:xfrm xmlns:a="http://schemas.openxmlformats.org/drawingml/2006/main">
            <a:off x="5486400" y="368935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O&amp;M providers — white-label monitoring for their clients</a:t>
            </a:r>
          </a:p>
        </p:txBody>
      </p:sp>
      <p:sp>
        <p:nvSpPr>
          <p:cNvPr id="14" name="Ellipse 14"/>
          <p:cNvSpPr/>
          <p:nvPr/>
        </p:nvSpPr>
        <p:spPr>
          <a:xfrm xmlns:a="http://schemas.openxmlformats.org/drawingml/2006/main">
            <a:off x="5308600" y="4177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5" name="Text 15"/>
          <p:cNvSpPr/>
          <p:nvPr/>
        </p:nvSpPr>
        <p:spPr>
          <a:xfrm xmlns:a="http://schemas.openxmlformats.org/drawingml/2006/main">
            <a:off x="5486400" y="407797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Average contract: €212K ARR across 3.2 sites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NUMBERS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FY2025 scoreboard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711200" y="1905000"/>
            <a:ext cx="2520950" cy="393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863600" y="3352800"/>
            <a:ext cx="221615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400">
                <a:solidFill>
                  <a:srgbClr val="0E7C7B"/>
                </a:solidFill>
              </a:rPr>
              <a:t>€18.4M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863600" y="4140200"/>
            <a:ext cx="221615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8288"/>
                </a:solidFill>
              </a:rPr>
              <a:t>ARR, up 42% YoY</a:t>
            </a:r>
          </a:p>
        </p:txBody>
      </p:sp>
      <p:sp>
        <p:nvSpPr>
          <p:cNvPr id="7" name="Container 7"/>
          <p:cNvSpPr/>
          <p:nvPr/>
        </p:nvSpPr>
        <p:spPr>
          <a:xfrm xmlns:a="http://schemas.openxmlformats.org/drawingml/2006/main">
            <a:off x="3460750" y="1905000"/>
            <a:ext cx="2520950" cy="393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3613150" y="3352800"/>
            <a:ext cx="221615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400">
                <a:solidFill>
                  <a:srgbClr val="0E7C7B"/>
                </a:solidFill>
              </a:rPr>
              <a:t>118%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3613150" y="4140200"/>
            <a:ext cx="221615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8288"/>
                </a:solidFill>
              </a:rPr>
              <a:t>net revenue retention</a:t>
            </a:r>
          </a:p>
        </p:txBody>
      </p:sp>
      <p:sp>
        <p:nvSpPr>
          <p:cNvPr id="10" name="Container 10"/>
          <p:cNvSpPr/>
          <p:nvPr/>
        </p:nvSpPr>
        <p:spPr>
          <a:xfrm xmlns:a="http://schemas.openxmlformats.org/drawingml/2006/main">
            <a:off x="6210300" y="1905000"/>
            <a:ext cx="2520950" cy="393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6362700" y="3352800"/>
            <a:ext cx="221615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400">
                <a:solidFill>
                  <a:srgbClr val="0E7C7B"/>
                </a:solidFill>
              </a:rPr>
              <a:t>71%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6362700" y="4140200"/>
            <a:ext cx="221615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8288"/>
                </a:solidFill>
              </a:rPr>
              <a:t>gross margin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8959850" y="1905000"/>
            <a:ext cx="2520950" cy="393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9112250" y="3352800"/>
            <a:ext cx="221615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400">
                <a:solidFill>
                  <a:srgbClr val="0E7C7B"/>
                </a:solidFill>
              </a:rPr>
              <a:t>87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9112250" y="4140200"/>
            <a:ext cx="221615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7A8288"/>
                </a:solidFill>
              </a:rPr>
              <a:t>fleet customers, +19 in FY25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711200" y="6045200"/>
            <a:ext cx="107696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200">
                <a:solidFill>
                  <a:srgbClr val="7A8288"/>
                </a:solidFill>
              </a:rPr>
              <a:t>Audited figures, fiscal year ending December 2025.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609600" y="609600"/>
            <a:ext cx="109728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Quarterly revenue by segment (€K)</a:t>
            </a:r>
          </a:p>
        </p:txBody>
      </p:sp>
      <p:sp>
        <p:nvSpPr>
          <p:cNvPr id="3" name="Container 3"/>
          <p:cNvSpPr/>
          <p:nvPr/>
        </p:nvSpPr>
        <p:spPr>
          <a:xfrm xmlns:a="http://schemas.openxmlformats.org/drawingml/2006/main">
            <a:off x="609600" y="1558290"/>
            <a:ext cx="1097280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1634490"/>
            <a:ext cx="278937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Quarter</a:t>
            </a:r>
          </a:p>
        </p:txBody>
      </p:sp>
      <p:sp>
        <p:nvSpPr>
          <p:cNvPr id="5" name="Text 5"/>
          <p:cNvSpPr/>
          <p:nvPr/>
        </p:nvSpPr>
        <p:spPr>
          <a:xfrm xmlns:a="http://schemas.openxmlformats.org/drawingml/2006/main">
            <a:off x="3703777" y="163449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Wind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5698833" y="163449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Solar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7693889" y="163449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Storage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9688944" y="163449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9" name="Text 9"/>
          <p:cNvSpPr/>
          <p:nvPr/>
        </p:nvSpPr>
        <p:spPr>
          <a:xfrm xmlns:a="http://schemas.openxmlformats.org/drawingml/2006/main">
            <a:off x="711200" y="2061210"/>
            <a:ext cx="278937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Q1 FY25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3703777" y="206121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2,140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5698833" y="206121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980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7693889" y="206121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310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9688944" y="206121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3,430</a:t>
            </a:r>
          </a:p>
        </p:txBody>
      </p:sp>
      <p:sp>
        <p:nvSpPr>
          <p:cNvPr id="14" name="Text 14"/>
          <p:cNvSpPr/>
          <p:nvPr/>
        </p:nvSpPr>
        <p:spPr>
          <a:xfrm xmlns:a="http://schemas.openxmlformats.org/drawingml/2006/main">
            <a:off x="711200" y="2487930"/>
            <a:ext cx="278937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Q2 FY25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3703777" y="248793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2,460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5698833" y="248793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1,150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7693889" y="248793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420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9688944" y="248793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4,030</a:t>
            </a:r>
          </a:p>
        </p:txBody>
      </p:sp>
      <p:sp>
        <p:nvSpPr>
          <p:cNvPr id="19" name="Text 19"/>
          <p:cNvSpPr/>
          <p:nvPr/>
        </p:nvSpPr>
        <p:spPr>
          <a:xfrm xmlns:a="http://schemas.openxmlformats.org/drawingml/2006/main">
            <a:off x="711200" y="2914650"/>
            <a:ext cx="278937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Q3 FY25</a:t>
            </a:r>
          </a:p>
        </p:txBody>
      </p:sp>
      <p:sp>
        <p:nvSpPr>
          <p:cNvPr id="20" name="Text 20"/>
          <p:cNvSpPr/>
          <p:nvPr/>
        </p:nvSpPr>
        <p:spPr>
          <a:xfrm xmlns:a="http://schemas.openxmlformats.org/drawingml/2006/main">
            <a:off x="3703777" y="291465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2,720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5698833" y="291465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1,390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7693889" y="291465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560</a:t>
            </a:r>
          </a:p>
        </p:txBody>
      </p:sp>
      <p:sp>
        <p:nvSpPr>
          <p:cNvPr id="23" name="Text 23"/>
          <p:cNvSpPr/>
          <p:nvPr/>
        </p:nvSpPr>
        <p:spPr>
          <a:xfrm xmlns:a="http://schemas.openxmlformats.org/drawingml/2006/main">
            <a:off x="9688944" y="291465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4,670</a:t>
            </a:r>
          </a:p>
        </p:txBody>
      </p:sp>
      <p:sp>
        <p:nvSpPr>
          <p:cNvPr id="24" name="Text 24"/>
          <p:cNvSpPr/>
          <p:nvPr/>
        </p:nvSpPr>
        <p:spPr>
          <a:xfrm xmlns:a="http://schemas.openxmlformats.org/drawingml/2006/main">
            <a:off x="711200" y="3341370"/>
            <a:ext cx="278937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Q4 FY25</a:t>
            </a:r>
          </a:p>
        </p:txBody>
      </p:sp>
      <p:sp>
        <p:nvSpPr>
          <p:cNvPr id="25" name="Text 25"/>
          <p:cNvSpPr/>
          <p:nvPr/>
        </p:nvSpPr>
        <p:spPr>
          <a:xfrm xmlns:a="http://schemas.openxmlformats.org/drawingml/2006/main">
            <a:off x="3703777" y="334137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3,050</a:t>
            </a:r>
          </a:p>
        </p:txBody>
      </p:sp>
      <p:sp>
        <p:nvSpPr>
          <p:cNvPr id="26" name="Text 26"/>
          <p:cNvSpPr/>
          <p:nvPr/>
        </p:nvSpPr>
        <p:spPr>
          <a:xfrm xmlns:a="http://schemas.openxmlformats.org/drawingml/2006/main">
            <a:off x="5698833" y="334137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1,620</a:t>
            </a:r>
          </a:p>
        </p:txBody>
      </p:sp>
      <p:sp>
        <p:nvSpPr>
          <p:cNvPr id="27" name="Text 27"/>
          <p:cNvSpPr/>
          <p:nvPr/>
        </p:nvSpPr>
        <p:spPr>
          <a:xfrm xmlns:a="http://schemas.openxmlformats.org/drawingml/2006/main">
            <a:off x="7693889" y="334137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740</a:t>
            </a:r>
          </a:p>
        </p:txBody>
      </p:sp>
      <p:sp>
        <p:nvSpPr>
          <p:cNvPr id="28" name="Text 28"/>
          <p:cNvSpPr/>
          <p:nvPr/>
        </p:nvSpPr>
        <p:spPr>
          <a:xfrm xmlns:a="http://schemas.openxmlformats.org/drawingml/2006/main">
            <a:off x="9688944" y="334137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5,410</a:t>
            </a:r>
          </a:p>
        </p:txBody>
      </p:sp>
      <p:sp>
        <p:nvSpPr>
          <p:cNvPr id="29" name="Text 29"/>
          <p:cNvSpPr/>
          <p:nvPr/>
        </p:nvSpPr>
        <p:spPr>
          <a:xfrm xmlns:a="http://schemas.openxmlformats.org/drawingml/2006/main">
            <a:off x="711200" y="3768090"/>
            <a:ext cx="278937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FY25 total</a:t>
            </a:r>
          </a:p>
        </p:txBody>
      </p:sp>
      <p:sp>
        <p:nvSpPr>
          <p:cNvPr id="30" name="Text 30"/>
          <p:cNvSpPr/>
          <p:nvPr/>
        </p:nvSpPr>
        <p:spPr>
          <a:xfrm xmlns:a="http://schemas.openxmlformats.org/drawingml/2006/main">
            <a:off x="3703777" y="376809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10,370</a:t>
            </a:r>
          </a:p>
        </p:txBody>
      </p:sp>
      <p:sp>
        <p:nvSpPr>
          <p:cNvPr id="31" name="Text 31"/>
          <p:cNvSpPr/>
          <p:nvPr/>
        </p:nvSpPr>
        <p:spPr>
          <a:xfrm xmlns:a="http://schemas.openxmlformats.org/drawingml/2006/main">
            <a:off x="5698833" y="376809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5,140</a:t>
            </a:r>
          </a:p>
        </p:txBody>
      </p:sp>
      <p:sp>
        <p:nvSpPr>
          <p:cNvPr id="32" name="Text 32"/>
          <p:cNvSpPr/>
          <p:nvPr/>
        </p:nvSpPr>
        <p:spPr>
          <a:xfrm xmlns:a="http://schemas.openxmlformats.org/drawingml/2006/main">
            <a:off x="7693889" y="376809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2,030</a:t>
            </a:r>
          </a:p>
        </p:txBody>
      </p:sp>
      <p:sp>
        <p:nvSpPr>
          <p:cNvPr id="33" name="Text 33"/>
          <p:cNvSpPr/>
          <p:nvPr/>
        </p:nvSpPr>
        <p:spPr>
          <a:xfrm xmlns:a="http://schemas.openxmlformats.org/drawingml/2006/main">
            <a:off x="9688944" y="376809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17,540</a:t>
            </a:r>
          </a:p>
        </p:txBody>
      </p:sp>
      <p:sp>
        <p:nvSpPr>
          <p:cNvPr id="34" name="Text 34"/>
          <p:cNvSpPr/>
          <p:nvPr/>
        </p:nvSpPr>
        <p:spPr>
          <a:xfrm xmlns:a="http://schemas.openxmlformats.org/drawingml/2006/main">
            <a:off x="711200" y="4194810"/>
            <a:ext cx="2789377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FY24 total</a:t>
            </a:r>
          </a:p>
        </p:txBody>
      </p:sp>
      <p:sp>
        <p:nvSpPr>
          <p:cNvPr id="35" name="Text 35"/>
          <p:cNvSpPr/>
          <p:nvPr/>
        </p:nvSpPr>
        <p:spPr>
          <a:xfrm xmlns:a="http://schemas.openxmlformats.org/drawingml/2006/main">
            <a:off x="3703777" y="419481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7,610</a:t>
            </a:r>
          </a:p>
        </p:txBody>
      </p:sp>
      <p:sp>
        <p:nvSpPr>
          <p:cNvPr id="36" name="Text 36"/>
          <p:cNvSpPr/>
          <p:nvPr/>
        </p:nvSpPr>
        <p:spPr>
          <a:xfrm xmlns:a="http://schemas.openxmlformats.org/drawingml/2006/main">
            <a:off x="5698833" y="419481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3,420</a:t>
            </a:r>
          </a:p>
        </p:txBody>
      </p:sp>
      <p:sp>
        <p:nvSpPr>
          <p:cNvPr id="37" name="Text 37"/>
          <p:cNvSpPr/>
          <p:nvPr/>
        </p:nvSpPr>
        <p:spPr>
          <a:xfrm xmlns:a="http://schemas.openxmlformats.org/drawingml/2006/main">
            <a:off x="7693889" y="419481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1,180</a:t>
            </a:r>
          </a:p>
        </p:txBody>
      </p:sp>
      <p:sp>
        <p:nvSpPr>
          <p:cNvPr id="38" name="Text 38"/>
          <p:cNvSpPr/>
          <p:nvPr/>
        </p:nvSpPr>
        <p:spPr>
          <a:xfrm xmlns:a="http://schemas.openxmlformats.org/drawingml/2006/main">
            <a:off x="9688944" y="4194810"/>
            <a:ext cx="1791856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12,210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NUMBERS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Quality of the growth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2489200"/>
            <a:ext cx="617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What sits behind the numbers</a:t>
            </a:r>
          </a:p>
        </p:txBody>
      </p:sp>
      <p:sp>
        <p:nvSpPr>
          <p:cNvPr id="5" name="Ellipse 5"/>
          <p:cNvSpPr/>
          <p:nvPr/>
        </p:nvSpPr>
        <p:spPr>
          <a:xfrm xmlns:a="http://schemas.openxmlformats.org/drawingml/2006/main">
            <a:off x="711200" y="30111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889000" y="291211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Storage segment grew 72% — fastest-growing line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711200" y="33997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889000" y="330073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Expansion revenue drove 58% of net new ARR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711200" y="3788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889000" y="368935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Logo churn held at 4.1%, all sub-€50K accounts</a:t>
            </a:r>
          </a:p>
        </p:txBody>
      </p:sp>
      <p:sp>
        <p:nvSpPr>
          <p:cNvPr id="11" name="Ellipse 11"/>
          <p:cNvSpPr/>
          <p:nvPr/>
        </p:nvSpPr>
        <p:spPr>
          <a:xfrm xmlns:a="http://schemas.openxmlformats.org/drawingml/2006/main">
            <a:off x="711200" y="4177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889000" y="407797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CAC payback steady at 13 months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7289800" y="2743200"/>
            <a:ext cx="4191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7518400" y="2971800"/>
            <a:ext cx="3733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Unit economics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7518400" y="3331210"/>
            <a:ext cx="3733800" cy="1850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Average contract €212K ARR · 71% gross margin · 13-month CAC payback. Every cohort since 2021 has turned contribution-positive within 18 months.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NUMBERS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Four years of compounding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2032000" y="4445000"/>
            <a:ext cx="165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 b="1">
                <a:solidFill>
                  <a:srgbClr val="1E2A32"/>
                </a:solidFill>
              </a:rPr>
              <a:t>€5.2M</a:t>
            </a:r>
          </a:p>
        </p:txBody>
      </p:sp>
      <p:sp>
        <p:nvSpPr>
          <p:cNvPr id="5" name="Rectangle 5"/>
          <p:cNvSpPr/>
          <p:nvPr/>
        </p:nvSpPr>
        <p:spPr>
          <a:xfrm xmlns:a="http://schemas.openxmlformats.org/drawingml/2006/main">
            <a:off x="2247900" y="4749800"/>
            <a:ext cx="12192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2032000" y="5613400"/>
            <a:ext cx="165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FY22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4191000" y="3937000"/>
            <a:ext cx="165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 b="1">
                <a:solidFill>
                  <a:srgbClr val="1E2A32"/>
                </a:solidFill>
              </a:rPr>
              <a:t>€8.6M</a:t>
            </a:r>
          </a:p>
        </p:txBody>
      </p:sp>
      <p:sp>
        <p:nvSpPr>
          <p:cNvPr id="8" name="Rectangle 8"/>
          <p:cNvSpPr/>
          <p:nvPr/>
        </p:nvSpPr>
        <p:spPr>
          <a:xfrm xmlns:a="http://schemas.openxmlformats.org/drawingml/2006/main">
            <a:off x="4406900" y="4241800"/>
            <a:ext cx="1219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9" name="Text 9"/>
          <p:cNvSpPr/>
          <p:nvPr/>
        </p:nvSpPr>
        <p:spPr>
          <a:xfrm xmlns:a="http://schemas.openxmlformats.org/drawingml/2006/main">
            <a:off x="4191000" y="5613400"/>
            <a:ext cx="165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FY23</a:t>
            </a:r>
          </a:p>
        </p:txBody>
      </p:sp>
      <p:sp>
        <p:nvSpPr>
          <p:cNvPr id="10" name="Text 10"/>
          <p:cNvSpPr/>
          <p:nvPr/>
        </p:nvSpPr>
        <p:spPr>
          <a:xfrm xmlns:a="http://schemas.openxmlformats.org/drawingml/2006/main">
            <a:off x="6350000" y="3276600"/>
            <a:ext cx="165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 b="1">
                <a:solidFill>
                  <a:srgbClr val="1E2A32"/>
                </a:solidFill>
              </a:rPr>
              <a:t>€12.9M</a:t>
            </a:r>
          </a:p>
        </p:txBody>
      </p:sp>
      <p:sp>
        <p:nvSpPr>
          <p:cNvPr id="11" name="Rectangle 11"/>
          <p:cNvSpPr/>
          <p:nvPr/>
        </p:nvSpPr>
        <p:spPr>
          <a:xfrm xmlns:a="http://schemas.openxmlformats.org/drawingml/2006/main">
            <a:off x="6565900" y="3581400"/>
            <a:ext cx="1219200" cy="195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6350000" y="5613400"/>
            <a:ext cx="165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FY24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8509000" y="2438400"/>
            <a:ext cx="165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 b="1">
                <a:solidFill>
                  <a:srgbClr val="1E2A32"/>
                </a:solidFill>
              </a:rPr>
              <a:t>€18.4M</a:t>
            </a:r>
          </a:p>
        </p:txBody>
      </p:sp>
      <p:sp>
        <p:nvSpPr>
          <p:cNvPr id="14" name="Rectangle 14"/>
          <p:cNvSpPr/>
          <p:nvPr/>
        </p:nvSpPr>
        <p:spPr>
          <a:xfrm xmlns:a="http://schemas.openxmlformats.org/drawingml/2006/main">
            <a:off x="8724900" y="2743200"/>
            <a:ext cx="1219200" cy="279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5" name="Text 15"/>
          <p:cNvSpPr/>
          <p:nvPr/>
        </p:nvSpPr>
        <p:spPr>
          <a:xfrm xmlns:a="http://schemas.openxmlformats.org/drawingml/2006/main">
            <a:off x="8509000" y="5613400"/>
            <a:ext cx="165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FY25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711200" y="6019800"/>
            <a:ext cx="1076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Annual recurring revenue, year-end. FY25 mix: 59% wind · 29% solar · 12% storage.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PRODUCT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Northwind Pulse — three layers</a:t>
            </a:r>
          </a:p>
        </p:txBody>
      </p:sp>
      <p:sp>
        <p:nvSpPr>
          <p:cNvPr id="4" name="Rectangle 4"/>
          <p:cNvSpPr/>
          <p:nvPr/>
        </p:nvSpPr>
        <p:spPr>
          <a:xfrm xmlns:a="http://schemas.openxmlformats.org/drawingml/2006/main">
            <a:off x="711200" y="1930400"/>
            <a:ext cx="10769600" cy="2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5" name="Rectangle 5"/>
          <p:cNvSpPr/>
          <p:nvPr/>
        </p:nvSpPr>
        <p:spPr>
          <a:xfrm xmlns:a="http://schemas.openxmlformats.org/drawingml/2006/main">
            <a:off x="711200" y="2400300"/>
            <a:ext cx="34374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6" name="Container 6"/>
          <p:cNvSpPr/>
          <p:nvPr/>
        </p:nvSpPr>
        <p:spPr>
          <a:xfrm xmlns:a="http://schemas.openxmlformats.org/drawingml/2006/main">
            <a:off x="711200" y="2438400"/>
            <a:ext cx="3437471" cy="288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7" name="Text 7"/>
          <p:cNvSpPr/>
          <p:nvPr/>
        </p:nvSpPr>
        <p:spPr>
          <a:xfrm xmlns:a="http://schemas.openxmlformats.org/drawingml/2006/main">
            <a:off x="939800" y="2667000"/>
            <a:ext cx="2980271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Pulse Edge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939800" y="3026410"/>
            <a:ext cx="2980271" cy="206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On-site collectors that normalize SCADA, vibration and met-mast feeds — even over intermittent links.</a:t>
            </a:r>
          </a:p>
        </p:txBody>
      </p:sp>
      <p:sp>
        <p:nvSpPr>
          <p:cNvPr id="9" name="Rectangle 9"/>
          <p:cNvSpPr/>
          <p:nvPr/>
        </p:nvSpPr>
        <p:spPr>
          <a:xfrm xmlns:a="http://schemas.openxmlformats.org/drawingml/2006/main">
            <a:off x="4377271" y="2400300"/>
            <a:ext cx="34374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10" name="Container 10"/>
          <p:cNvSpPr/>
          <p:nvPr/>
        </p:nvSpPr>
        <p:spPr>
          <a:xfrm xmlns:a="http://schemas.openxmlformats.org/drawingml/2006/main">
            <a:off x="4377271" y="2438400"/>
            <a:ext cx="3437471" cy="288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11" name="Text 11"/>
          <p:cNvSpPr/>
          <p:nvPr/>
        </p:nvSpPr>
        <p:spPr>
          <a:xfrm xmlns:a="http://schemas.openxmlformats.org/drawingml/2006/main">
            <a:off x="4605871" y="2667000"/>
            <a:ext cx="2980271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Pulse Cloud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4605871" y="3026410"/>
            <a:ext cx="2980271" cy="206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Fleet analytics: anomaly detection, production forecasting and automated availability reporting.</a:t>
            </a:r>
          </a:p>
        </p:txBody>
      </p:sp>
      <p:sp>
        <p:nvSpPr>
          <p:cNvPr id="13" name="Rectangle 13"/>
          <p:cNvSpPr/>
          <p:nvPr/>
        </p:nvSpPr>
        <p:spPr>
          <a:xfrm xmlns:a="http://schemas.openxmlformats.org/drawingml/2006/main">
            <a:off x="8043329" y="2400300"/>
            <a:ext cx="343747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7B"/>
          </a:solidFill>
          <a:ln xmlns:a="http://schemas.openxmlformats.org/drawingml/2006/main">
            <a:noFill/>
          </a:ln>
        </p:spPr>
      </p:sp>
      <p:sp>
        <p:nvSpPr>
          <p:cNvPr id="14" name="Container 14"/>
          <p:cNvSpPr/>
          <p:nvPr/>
        </p:nvSpPr>
        <p:spPr>
          <a:xfrm xmlns:a="http://schemas.openxmlformats.org/drawingml/2006/main">
            <a:off x="8043329" y="2438400"/>
            <a:ext cx="3437471" cy="288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15" name="Text 15"/>
          <p:cNvSpPr/>
          <p:nvPr/>
        </p:nvSpPr>
        <p:spPr>
          <a:xfrm xmlns:a="http://schemas.openxmlformats.org/drawingml/2006/main">
            <a:off x="8271929" y="2667000"/>
            <a:ext cx="2980271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Pulse API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8271929" y="3026410"/>
            <a:ext cx="2980271" cy="20662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Every metric, alert and forecast over a versioned API — feeds trading desks, ERP and BI stacks.</a:t>
            </a:r>
          </a:p>
        </p:txBody>
      </p:sp>
      <p:sp>
        <p:nvSpPr>
          <p:cNvPr id="17" name="Rectangle 17"/>
          <p:cNvSpPr/>
          <p:nvPr/>
        </p:nvSpPr>
        <p:spPr>
          <a:xfrm xmlns:a="http://schemas.openxmlformats.org/drawingml/2006/main">
            <a:off x="711200" y="5549900"/>
            <a:ext cx="10769600" cy="24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</p:sp>
      <p:sp>
        <p:nvSpPr>
          <p:cNvPr id="18" name="Text 18"/>
          <p:cNvSpPr/>
          <p:nvPr/>
        </p:nvSpPr>
        <p:spPr>
          <a:xfrm xmlns:a="http://schemas.openxmlformats.org/drawingml/2006/main">
            <a:off x="711200" y="6019800"/>
            <a:ext cx="1076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Deployed at 1,284 sites; median time from contract to live data is 11 days.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PRODUCT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Inside the operations view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711200" y="1854200"/>
            <a:ext cx="10769600" cy="401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A32"/>
          </a:solidFill>
          <a:ln xmlns:a="http://schemas.openxmlformats.org/drawingml/2006/main">
            <a:noFill/>
          </a:ln>
        </p:spPr>
      </p:sp>
      <p:pic>
        <p:nvPicPr>
          <p:cNvPr id="5" name="Image 5"/>
          <p:cNvPicPr/>
          <p:nvPr/>
        </p:nvPicPr>
        <p:blipFill>
          <a:blip xmlns:r="http://schemas.openxmlformats.org/officeDocument/2006/relationships" xmlns:a="http://schemas.openxmlformats.org/drawingml/2006/main" r:embed="Rc730a5d96b5e419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754489" y="1981200"/>
            <a:ext cx="6683022" cy="3759200"/>
          </a:xfrm>
          <a:prstGeom xmlns:a="http://schemas.openxmlformats.org/drawingml/2006/main" prst="rect">
            <a:avLst/>
          </a:prstGeom>
        </p:spPr>
      </p:pic>
      <p:sp>
        <p:nvSpPr>
          <p:cNvPr id="6" name="Text 6"/>
          <p:cNvSpPr/>
          <p:nvPr/>
        </p:nvSpPr>
        <p:spPr>
          <a:xfrm xmlns:a="http://schemas.openxmlformats.org/drawingml/2006/main">
            <a:off x="711200" y="6019800"/>
            <a:ext cx="1076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Northwind Pulse fleet overview — live generation, alerts and uptime across a 1,284-asset portfolio.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THE PRODUCT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Roadmap to 2027</a:t>
            </a:r>
          </a:p>
        </p:txBody>
      </p:sp>
      <p:sp>
        <p:nvSpPr>
          <p:cNvPr id="4" name="Container 4"/>
          <p:cNvSpPr/>
          <p:nvPr/>
        </p:nvSpPr>
        <p:spPr>
          <a:xfrm xmlns:a="http://schemas.openxmlformats.org/drawingml/2006/main">
            <a:off x="711200" y="2908300"/>
            <a:ext cx="2311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889000" y="3149600"/>
            <a:ext cx="19558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D9A441"/>
                </a:solidFill>
              </a:rPr>
              <a:t>H2 2026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889000" y="3403600"/>
            <a:ext cx="1955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500" b="1">
                <a:solidFill>
                  <a:srgbClr val="1E2A32"/>
                </a:solidFill>
              </a:rPr>
              <a:t>Storage dispatch</a:t>
            </a:r>
          </a:p>
        </p:txBody>
      </p:sp>
      <p:sp>
        <p:nvSpPr>
          <p:cNvPr id="7" name="Text 7"/>
          <p:cNvSpPr/>
          <p:nvPr/>
        </p:nvSpPr>
        <p:spPr>
          <a:xfrm xmlns:a="http://schemas.openxmlformats.org/drawingml/2006/main">
            <a:off x="889000" y="3733800"/>
            <a:ext cx="195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>
                <a:solidFill>
                  <a:srgbClr val="7A8288"/>
                </a:solidFill>
              </a:rPr>
              <a:t>Battery charge/discharge optimization against day-ahead prices.</a:t>
            </a:r>
          </a:p>
        </p:txBody>
      </p:sp>
      <p:sp>
        <p:nvSpPr>
          <p:cNvPr id="8" name="Text 8"/>
          <p:cNvSpPr/>
          <p:nvPr/>
        </p:nvSpPr>
        <p:spPr>
          <a:xfrm xmlns:a="http://schemas.openxmlformats.org/drawingml/2006/main">
            <a:off x="3124200" y="36703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200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9" name="Container 9"/>
          <p:cNvSpPr/>
          <p:nvPr/>
        </p:nvSpPr>
        <p:spPr>
          <a:xfrm xmlns:a="http://schemas.openxmlformats.org/drawingml/2006/main">
            <a:off x="3530600" y="2908300"/>
            <a:ext cx="2311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3708400" y="3149600"/>
            <a:ext cx="19558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D9A441"/>
                </a:solidFill>
              </a:rPr>
              <a:t>Q4 2026</a:t>
            </a:r>
          </a:p>
        </p:txBody>
      </p:sp>
      <p:sp>
        <p:nvSpPr>
          <p:cNvPr id="11" name="Text 11"/>
          <p:cNvSpPr/>
          <p:nvPr/>
        </p:nvSpPr>
        <p:spPr>
          <a:xfrm xmlns:a="http://schemas.openxmlformats.org/drawingml/2006/main">
            <a:off x="3708400" y="3403600"/>
            <a:ext cx="1955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500" b="1">
                <a:solidFill>
                  <a:srgbClr val="1E2A32"/>
                </a:solidFill>
              </a:rPr>
              <a:t>Fleet copilot</a:t>
            </a:r>
          </a:p>
        </p:txBody>
      </p:sp>
      <p:sp>
        <p:nvSpPr>
          <p:cNvPr id="12" name="Text 12"/>
          <p:cNvSpPr/>
          <p:nvPr/>
        </p:nvSpPr>
        <p:spPr>
          <a:xfrm xmlns:a="http://schemas.openxmlformats.org/drawingml/2006/main">
            <a:off x="3708400" y="3733800"/>
            <a:ext cx="195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>
                <a:solidFill>
                  <a:srgbClr val="7A8288"/>
                </a:solidFill>
              </a:rPr>
              <a:t>Natural-language queries over live and historical fleet data.</a:t>
            </a:r>
          </a:p>
        </p:txBody>
      </p:sp>
      <p:sp>
        <p:nvSpPr>
          <p:cNvPr id="13" name="Text 13"/>
          <p:cNvSpPr/>
          <p:nvPr/>
        </p:nvSpPr>
        <p:spPr>
          <a:xfrm xmlns:a="http://schemas.openxmlformats.org/drawingml/2006/main">
            <a:off x="5943600" y="36703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200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14" name="Container 14"/>
          <p:cNvSpPr/>
          <p:nvPr/>
        </p:nvSpPr>
        <p:spPr>
          <a:xfrm xmlns:a="http://schemas.openxmlformats.org/drawingml/2006/main">
            <a:off x="6350000" y="2908300"/>
            <a:ext cx="2311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15" name="Text 15"/>
          <p:cNvSpPr/>
          <p:nvPr/>
        </p:nvSpPr>
        <p:spPr>
          <a:xfrm xmlns:a="http://schemas.openxmlformats.org/drawingml/2006/main">
            <a:off x="6527800" y="3149600"/>
            <a:ext cx="19558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D9A441"/>
                </a:solidFill>
              </a:rPr>
              <a:t>H1 2027</a:t>
            </a:r>
          </a:p>
        </p:txBody>
      </p:sp>
      <p:sp>
        <p:nvSpPr>
          <p:cNvPr id="16" name="Text 16"/>
          <p:cNvSpPr/>
          <p:nvPr/>
        </p:nvSpPr>
        <p:spPr>
          <a:xfrm xmlns:a="http://schemas.openxmlformats.org/drawingml/2006/main">
            <a:off x="6527800" y="3403600"/>
            <a:ext cx="1955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500" b="1">
                <a:solidFill>
                  <a:srgbClr val="1E2A32"/>
                </a:solidFill>
              </a:rPr>
              <a:t>Grid services</a:t>
            </a:r>
          </a:p>
        </p:txBody>
      </p:sp>
      <p:sp>
        <p:nvSpPr>
          <p:cNvPr id="17" name="Text 17"/>
          <p:cNvSpPr/>
          <p:nvPr/>
        </p:nvSpPr>
        <p:spPr>
          <a:xfrm xmlns:a="http://schemas.openxmlformats.org/drawingml/2006/main">
            <a:off x="6527800" y="3733800"/>
            <a:ext cx="195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>
                <a:solidFill>
                  <a:srgbClr val="7A8288"/>
                </a:solidFill>
              </a:rPr>
              <a:t>Automated bidding into balancing and capacity markets.</a:t>
            </a:r>
          </a:p>
        </p:txBody>
      </p:sp>
      <p:sp>
        <p:nvSpPr>
          <p:cNvPr id="18" name="Text 18"/>
          <p:cNvSpPr/>
          <p:nvPr/>
        </p:nvSpPr>
        <p:spPr>
          <a:xfrm xmlns:a="http://schemas.openxmlformats.org/drawingml/2006/main">
            <a:off x="8763000" y="3670300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2200">
                <a:solidFill>
                  <a:srgbClr val="D9A441"/>
                </a:solidFill>
              </a:rPr>
              <a:t>→</a:t>
            </a:r>
          </a:p>
        </p:txBody>
      </p:sp>
      <p:sp>
        <p:nvSpPr>
          <p:cNvPr id="19" name="Container 19"/>
          <p:cNvSpPr/>
          <p:nvPr/>
        </p:nvSpPr>
        <p:spPr>
          <a:xfrm xmlns:a="http://schemas.openxmlformats.org/drawingml/2006/main">
            <a:off x="9169400" y="2908300"/>
            <a:ext cx="23114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2"/>
          </a:solidFill>
          <a:ln xmlns:a="http://schemas.openxmlformats.org/drawingml/2006/main">
            <a:noFill/>
          </a:ln>
        </p:spPr>
      </p:sp>
      <p:sp>
        <p:nvSpPr>
          <p:cNvPr id="20" name="Text 20"/>
          <p:cNvSpPr/>
          <p:nvPr/>
        </p:nvSpPr>
        <p:spPr>
          <a:xfrm xmlns:a="http://schemas.openxmlformats.org/drawingml/2006/main">
            <a:off x="9347200" y="3149600"/>
            <a:ext cx="19558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 b="1">
                <a:solidFill>
                  <a:srgbClr val="D9A441"/>
                </a:solidFill>
              </a:rPr>
              <a:t>H2 2027</a:t>
            </a:r>
          </a:p>
        </p:txBody>
      </p:sp>
      <p:sp>
        <p:nvSpPr>
          <p:cNvPr id="21" name="Text 21"/>
          <p:cNvSpPr/>
          <p:nvPr/>
        </p:nvSpPr>
        <p:spPr>
          <a:xfrm xmlns:a="http://schemas.openxmlformats.org/drawingml/2006/main">
            <a:off x="9347200" y="3403600"/>
            <a:ext cx="19558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500" b="1">
                <a:solidFill>
                  <a:srgbClr val="1E2A32"/>
                </a:solidFill>
              </a:rPr>
              <a:t>3,000 sites</a:t>
            </a:r>
          </a:p>
        </p:txBody>
      </p:sp>
      <p:sp>
        <p:nvSpPr>
          <p:cNvPr id="22" name="Text 22"/>
          <p:cNvSpPr/>
          <p:nvPr/>
        </p:nvSpPr>
        <p:spPr>
          <a:xfrm xmlns:a="http://schemas.openxmlformats.org/drawingml/2006/main">
            <a:off x="9347200" y="3733800"/>
            <a:ext cx="1955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200">
                <a:solidFill>
                  <a:srgbClr val="7A8288"/>
                </a:solidFill>
              </a:rPr>
              <a:t>Self-serve onboarding for fleets under 20 MW.</a:t>
            </a:r>
          </a:p>
        </p:txBody>
      </p:sp>
      <p:sp>
        <p:nvSpPr>
          <p:cNvPr id="23" name="Text 23"/>
          <p:cNvSpPr/>
          <p:nvPr/>
        </p:nvSpPr>
        <p:spPr>
          <a:xfrm xmlns:a="http://schemas.openxmlformats.org/drawingml/2006/main">
            <a:off x="711200" y="6019800"/>
            <a:ext cx="1076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300">
                <a:solidFill>
                  <a:srgbClr val="7A8288"/>
                </a:solidFill>
              </a:rPr>
              <a:t>Shipped on a 6-week release train; every feature above is already in private preview with anchor customers.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711200" y="609600"/>
            <a:ext cx="107696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400" b="1">
                <a:solidFill>
                  <a:srgbClr val="D9A441"/>
                </a:solidFill>
              </a:rPr>
              <a:t>OUTLOOK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711200" y="900430"/>
            <a:ext cx="107696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4200">
                <a:solidFill>
                  <a:srgbClr val="1E2A32"/>
                </a:solidFill>
              </a:rPr>
              <a:t>Why now</a:t>
            </a:r>
          </a:p>
        </p:txBody>
      </p:sp>
      <p:sp>
        <p:nvSpPr>
          <p:cNvPr id="4" name="Text 4"/>
          <p:cNvSpPr/>
          <p:nvPr/>
        </p:nvSpPr>
        <p:spPr>
          <a:xfrm xmlns:a="http://schemas.openxmlformats.org/drawingml/2006/main">
            <a:off x="711200" y="2489200"/>
            <a:ext cx="61722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The window is open</a:t>
            </a:r>
          </a:p>
        </p:txBody>
      </p:sp>
      <p:sp>
        <p:nvSpPr>
          <p:cNvPr id="5" name="Ellipse 5"/>
          <p:cNvSpPr/>
          <p:nvPr/>
        </p:nvSpPr>
        <p:spPr>
          <a:xfrm xmlns:a="http://schemas.openxmlformats.org/drawingml/2006/main">
            <a:off x="711200" y="301117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6" name="Text 6"/>
          <p:cNvSpPr/>
          <p:nvPr/>
        </p:nvSpPr>
        <p:spPr>
          <a:xfrm xmlns:a="http://schemas.openxmlformats.org/drawingml/2006/main">
            <a:off x="889000" y="291211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Fleet repowering wave starts 2026 — monitoring gets rebuilt</a:t>
            </a:r>
          </a:p>
        </p:txBody>
      </p:sp>
      <p:sp>
        <p:nvSpPr>
          <p:cNvPr id="7" name="Ellipse 7"/>
          <p:cNvSpPr/>
          <p:nvPr/>
        </p:nvSpPr>
        <p:spPr>
          <a:xfrm xmlns:a="http://schemas.openxmlformats.org/drawingml/2006/main">
            <a:off x="711200" y="339979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8" name="Text 8"/>
          <p:cNvSpPr/>
          <p:nvPr/>
        </p:nvSpPr>
        <p:spPr>
          <a:xfrm xmlns:a="http://schemas.openxmlformats.org/drawingml/2006/main">
            <a:off x="889000" y="330073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Grid codes tighten: automated reporting becomes mandatory</a:t>
            </a:r>
          </a:p>
        </p:txBody>
      </p:sp>
      <p:sp>
        <p:nvSpPr>
          <p:cNvPr id="9" name="Ellipse 9"/>
          <p:cNvSpPr/>
          <p:nvPr/>
        </p:nvSpPr>
        <p:spPr>
          <a:xfrm xmlns:a="http://schemas.openxmlformats.org/drawingml/2006/main">
            <a:off x="711200" y="378841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0" name="Text 10"/>
          <p:cNvSpPr/>
          <p:nvPr/>
        </p:nvSpPr>
        <p:spPr>
          <a:xfrm xmlns:a="http://schemas.openxmlformats.org/drawingml/2006/main">
            <a:off x="889000" y="368935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Storage attach rate on new solar passed 40% in 2025</a:t>
            </a:r>
          </a:p>
        </p:txBody>
      </p:sp>
      <p:sp>
        <p:nvSpPr>
          <p:cNvPr id="11" name="Ellipse 11"/>
          <p:cNvSpPr/>
          <p:nvPr/>
        </p:nvSpPr>
        <p:spPr>
          <a:xfrm xmlns:a="http://schemas.openxmlformats.org/drawingml/2006/main">
            <a:off x="711200" y="417703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12" name="Text 12"/>
          <p:cNvSpPr/>
          <p:nvPr/>
        </p:nvSpPr>
        <p:spPr>
          <a:xfrm xmlns:a="http://schemas.openxmlformats.org/drawingml/2006/main">
            <a:off x="889000" y="4077970"/>
            <a:ext cx="599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Our storage product line is 18 months ahead of the pack</a:t>
            </a:r>
          </a:p>
        </p:txBody>
      </p:sp>
      <p:sp>
        <p:nvSpPr>
          <p:cNvPr id="13" name="Container 13"/>
          <p:cNvSpPr/>
          <p:nvPr/>
        </p:nvSpPr>
        <p:spPr>
          <a:xfrm xmlns:a="http://schemas.openxmlformats.org/drawingml/2006/main">
            <a:off x="7289800" y="2870200"/>
            <a:ext cx="4191000" cy="241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7A8288"/>
            </a:solidFill>
          </a:ln>
        </p:spPr>
      </p:sp>
      <p:sp>
        <p:nvSpPr>
          <p:cNvPr id="14" name="Text 14"/>
          <p:cNvSpPr/>
          <p:nvPr/>
        </p:nvSpPr>
        <p:spPr>
          <a:xfrm xmlns:a="http://schemas.openxmlformats.org/drawingml/2006/main">
            <a:off x="7518400" y="3098800"/>
            <a:ext cx="37338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800" b="1">
                <a:solidFill>
                  <a:srgbClr val="1E2A32"/>
                </a:solidFill>
              </a:rPr>
              <a:t>The plan</a:t>
            </a:r>
          </a:p>
        </p:txBody>
      </p:sp>
      <p:sp>
        <p:nvSpPr>
          <p:cNvPr id="15" name="Text 15"/>
          <p:cNvSpPr/>
          <p:nvPr/>
        </p:nvSpPr>
        <p:spPr>
          <a:xfrm xmlns:a="http://schemas.openxmlformats.org/drawingml/2006/main">
            <a:off x="7518400" y="3458210"/>
            <a:ext cx="3733800" cy="1596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l"/>
            <a:r>
              <a:rPr sz="1600">
                <a:solidFill>
                  <a:srgbClr val="1E2A32"/>
                </a:solidFill>
              </a:rPr>
              <a:t>Series B of €24M funds the storage launch, US expansion and the self-serve tier — targeting €30M ARR by end of 2027.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E2A32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 xmlns:a="http://schemas.openxmlformats.org/drawingml/2006/main">
            <a:off x="812800" y="2222500"/>
            <a:ext cx="10566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 b="1">
                <a:solidFill>
                  <a:srgbClr val="35B5B3"/>
                </a:solidFill>
              </a:rPr>
              <a:t>NORTHWIND LABS</a:t>
            </a:r>
          </a:p>
        </p:txBody>
      </p:sp>
      <p:sp>
        <p:nvSpPr>
          <p:cNvPr id="3" name="Text 3"/>
          <p:cNvSpPr/>
          <p:nvPr/>
        </p:nvSpPr>
        <p:spPr>
          <a:xfrm xmlns:a="http://schemas.openxmlformats.org/drawingml/2006/main">
            <a:off x="812800" y="2679700"/>
            <a:ext cx="10566400" cy="7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4400">
                <a:solidFill>
                  <a:srgbClr val="FFFFFF"/>
                </a:solidFill>
              </a:rPr>
              <a:t>Let's put your fleet on Pulse</a:t>
            </a:r>
          </a:p>
        </p:txBody>
      </p:sp>
      <p:sp>
        <p:nvSpPr>
          <p:cNvPr id="4" name="Rectangle 4"/>
          <p:cNvSpPr/>
          <p:nvPr/>
        </p:nvSpPr>
        <p:spPr>
          <a:xfrm xmlns:a="http://schemas.openxmlformats.org/drawingml/2006/main">
            <a:off x="5562600" y="3619500"/>
            <a:ext cx="10668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>
            <a:noFill/>
          </a:ln>
        </p:spPr>
      </p:sp>
      <p:sp>
        <p:nvSpPr>
          <p:cNvPr id="5" name="Text 5"/>
          <p:cNvSpPr/>
          <p:nvPr/>
        </p:nvSpPr>
        <p:spPr>
          <a:xfrm xmlns:a="http://schemas.openxmlformats.org/drawingml/2006/main">
            <a:off x="812800" y="3873500"/>
            <a:ext cx="1056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600">
                <a:solidFill>
                  <a:srgbClr val="7A8288"/>
                </a:solidFill>
              </a:rPr>
              <a:t>30-minute demo with your own portfolio data — no slides, just the product.</a:t>
            </a:r>
          </a:p>
        </p:txBody>
      </p:sp>
      <p:sp>
        <p:nvSpPr>
          <p:cNvPr id="6" name="Text 6"/>
          <p:cNvSpPr/>
          <p:nvPr/>
        </p:nvSpPr>
        <p:spPr>
          <a:xfrm xmlns:a="http://schemas.openxmlformats.org/drawingml/2006/main">
            <a:off x="812800" y="4381500"/>
            <a:ext cx="105664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p xmlns:a="http://schemas.openxmlformats.org/drawingml/2006/main">
            <a:pPr algn="ctr"/>
            <a:r>
              <a:rPr sz="1400">
                <a:solidFill>
                  <a:srgbClr val="FFFFFF"/>
                </a:solidFill>
              </a:rPr>
              <a:t>hello@northwindlabs.io · northwindlabs.io · Oslo · Berlin · Chicago</a:t>
            </a:r>
          </a:p>
        </p:txBody>
      </p:sp>
    </p:spTree>
  </p:cSld>
</p:sld>
</file>