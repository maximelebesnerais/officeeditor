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custom"/>
  <p:notesSz cx="12192000" cy="6858000"/>
  <p:embeddedFontLs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deco-frame"/>
          <p:cNvSpPr/>
          <p:nvPr/>
        </p:nvSpPr>
        <p:spPr>
          <a:xfrm>
            <a:off x="8382000" y="1651000"/>
            <a:ext cx="2794000" cy="279400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</p:sp>
      <p:sp>
        <p:nvSpPr>
          <p:cNvPr id="5" name="deco-frame-inner"/>
          <p:cNvSpPr/>
          <p:nvPr/>
        </p:nvSpPr>
        <p:spPr>
          <a:xfrm>
            <a:off x="8585200" y="1854200"/>
            <a:ext cx="2387600" cy="2387600"/>
          </a:xfrm>
          <a:prstGeom prst="rect">
            <a:avLst/>
          </a:prstGeom>
          <a:noFill/>
          <a:ln w="12700">
            <a:solidFill>
              <a:srgbClr val="FF6B00">
                <a:alpha val="30196"/>
              </a:srgbClr>
            </a:solidFill>
          </a:ln>
        </p:spPr>
      </p:sp>
      <p:sp>
        <p:nvSpPr>
          <p:cNvPr id="6" name="accent-bar"/>
          <p:cNvSpPr/>
          <p:nvPr/>
        </p:nvSpPr>
        <p:spPr>
          <a:xfrm>
            <a:off x="812800" y="2489200"/>
            <a:ext cx="914400" cy="76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762000" y="2692400"/>
            <a:ext cx="106680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200" b="1" spc="600" kern="0">
                <a:solidFill>
                  <a:srgbClr val="FFFFFF"/>
                </a:solidFill>
                <a:latin typeface="Liter"/>
                <a:ea typeface="Liter"/>
              </a:rPr>
              <a:t>NORTHWIND</a:t>
            </a:r>
            <a:endParaRPr lang="en-US" sz="9200"/>
          </a:p>
        </p:txBody>
      </p:sp>
      <p:sp>
        <p:nvSpPr>
          <p:cNvPr id="8" name="subtitle"/>
          <p:cNvSpPr txBox="1"/>
          <p:nvPr/>
        </p:nvSpPr>
        <p:spPr>
          <a:xfrm>
            <a:off x="812800" y="42672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A9BBD4"/>
                </a:solidFill>
                <a:latin typeface="Liter"/>
                <a:ea typeface="Liter"/>
              </a:rPr>
              <a:t>Launch Review — Q3 2026</a:t>
            </a:r>
            <a:endParaRPr lang="en-US" sz="2000"/>
          </a:p>
        </p:txBody>
      </p:sp>
      <p:sp>
        <p:nvSpPr>
          <p:cNvPr id="9" name="date"/>
          <p:cNvSpPr txBox="1"/>
          <p:nvPr/>
        </p:nvSpPr>
        <p:spPr>
          <a:xfrm>
            <a:off x="812800" y="617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7E93B0"/>
                </a:solidFill>
                <a:latin typeface="Liter"/>
                <a:ea typeface="Liter"/>
              </a:rPr>
              <a:t>July 2026 · Investor Presentation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AGENDA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What we'll cover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item1-num"/>
          <p:cNvSpPr txBox="1"/>
          <p:nvPr/>
        </p:nvSpPr>
        <p:spPr>
          <a:xfrm>
            <a:off x="812800" y="23114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6B00"/>
                </a:solidFill>
                <a:latin typeface="Liter"/>
                <a:ea typeface="Liter"/>
              </a:rPr>
              <a:t>01</a:t>
            </a:r>
            <a:endParaRPr lang="en-US" sz="3400"/>
          </a:p>
        </p:txBody>
      </p:sp>
      <p:sp>
        <p:nvSpPr>
          <p:cNvPr id="6" name="item1-title"/>
          <p:cNvSpPr txBox="1"/>
          <p:nvPr/>
        </p:nvSpPr>
        <p:spPr>
          <a:xfrm>
            <a:off x="2032000" y="23368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A1A1A"/>
                </a:solidFill>
                <a:latin typeface="Liter"/>
                <a:ea typeface="Liter"/>
              </a:rPr>
              <a:t>The Problem</a:t>
            </a:r>
            <a:endParaRPr lang="en-US" sz="2000"/>
          </a:p>
        </p:txBody>
      </p:sp>
      <p:sp>
        <p:nvSpPr>
          <p:cNvPr id="7" name="item1-desc"/>
          <p:cNvSpPr txBox="1"/>
          <p:nvPr/>
        </p:nvSpPr>
        <p:spPr>
          <a:xfrm>
            <a:off x="2032000" y="2743200"/>
            <a:ext cx="838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Why operations teams lose hours every day to manual, repetitive workflows.</a:t>
            </a:r>
            <a:endParaRPr lang="en-US" sz="1400"/>
          </a:p>
        </p:txBody>
      </p:sp>
      <p:sp>
        <p:nvSpPr>
          <p:cNvPr id="8" name="sep1"/>
          <p:cNvSpPr/>
          <p:nvPr/>
        </p:nvSpPr>
        <p:spPr>
          <a:xfrm>
            <a:off x="812800" y="3327400"/>
            <a:ext cx="105664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9" name="item2-num"/>
          <p:cNvSpPr txBox="1"/>
          <p:nvPr/>
        </p:nvSpPr>
        <p:spPr>
          <a:xfrm>
            <a:off x="812800" y="36830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6B00"/>
                </a:solidFill>
                <a:latin typeface="Liter"/>
                <a:ea typeface="Liter"/>
              </a:rPr>
              <a:t>02</a:t>
            </a:r>
            <a:endParaRPr lang="en-US" sz="3400"/>
          </a:p>
        </p:txBody>
      </p:sp>
      <p:sp>
        <p:nvSpPr>
          <p:cNvPr id="10" name="item2-title"/>
          <p:cNvSpPr txBox="1"/>
          <p:nvPr/>
        </p:nvSpPr>
        <p:spPr>
          <a:xfrm>
            <a:off x="2032000" y="37084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A1A1A"/>
                </a:solidFill>
                <a:latin typeface="Liter"/>
                <a:ea typeface="Liter"/>
              </a:rPr>
              <a:t>The Product</a:t>
            </a:r>
            <a:endParaRPr lang="en-US" sz="2000"/>
          </a:p>
        </p:txBody>
      </p:sp>
      <p:sp>
        <p:nvSpPr>
          <p:cNvPr id="11" name="item2-desc"/>
          <p:cNvSpPr txBox="1"/>
          <p:nvPr/>
        </p:nvSpPr>
        <p:spPr>
          <a:xfrm>
            <a:off x="2032000" y="4114800"/>
            <a:ext cx="838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The Northwind automation platform — pipelines, deploys, and live metrics.</a:t>
            </a:r>
            <a:endParaRPr lang="en-US" sz="1400"/>
          </a:p>
        </p:txBody>
      </p:sp>
      <p:sp>
        <p:nvSpPr>
          <p:cNvPr id="12" name="sep2"/>
          <p:cNvSpPr/>
          <p:nvPr/>
        </p:nvSpPr>
        <p:spPr>
          <a:xfrm>
            <a:off x="812800" y="4699000"/>
            <a:ext cx="105664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13" name="item3-num"/>
          <p:cNvSpPr txBox="1"/>
          <p:nvPr/>
        </p:nvSpPr>
        <p:spPr>
          <a:xfrm>
            <a:off x="812800" y="50546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6B00"/>
                </a:solidFill>
                <a:latin typeface="Liter"/>
                <a:ea typeface="Liter"/>
              </a:rPr>
              <a:t>03</a:t>
            </a:r>
            <a:endParaRPr lang="en-US" sz="3400"/>
          </a:p>
        </p:txBody>
      </p:sp>
      <p:sp>
        <p:nvSpPr>
          <p:cNvPr id="14" name="item3-title"/>
          <p:cNvSpPr txBox="1"/>
          <p:nvPr/>
        </p:nvSpPr>
        <p:spPr>
          <a:xfrm>
            <a:off x="2032000" y="508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1A1A1A"/>
                </a:solidFill>
                <a:latin typeface="Liter"/>
                <a:ea typeface="Liter"/>
              </a:rPr>
              <a:t>The Traction</a:t>
            </a:r>
            <a:endParaRPr lang="en-US" sz="2000"/>
          </a:p>
        </p:txBody>
      </p:sp>
      <p:sp>
        <p:nvSpPr>
          <p:cNvPr id="15" name="item3-desc"/>
          <p:cNvSpPr txBox="1"/>
          <p:nvPr/>
        </p:nvSpPr>
        <p:spPr>
          <a:xfrm>
            <a:off x="2032000" y="5486400"/>
            <a:ext cx="838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Four quarters of growth, the metrics behind it, and what comes next.</a:t>
            </a:r>
            <a:endParaRPr lang="en-US" sz="1400"/>
          </a:p>
        </p:txBody>
      </p:sp>
      <p:sp>
        <p:nvSpPr>
          <p:cNvPr id="16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02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01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Problem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The daily cost of manual operations</a:t>
            </a:r>
            <a:endParaRPr lang="en-US" sz="15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PROBLEM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Manual operations are a hidden tax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2260600"/>
            <a:ext cx="3314700" cy="299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card1-num"/>
          <p:cNvSpPr txBox="1"/>
          <p:nvPr/>
        </p:nvSpPr>
        <p:spPr>
          <a:xfrm>
            <a:off x="1117600" y="2616200"/>
            <a:ext cx="27051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FF6B00"/>
                </a:solidFill>
                <a:latin typeface="Liter"/>
                <a:ea typeface="Liter"/>
              </a:rPr>
              <a:t>4.2h</a:t>
            </a:r>
            <a:endParaRPr lang="en-US" sz="4600"/>
          </a:p>
        </p:txBody>
      </p:sp>
      <p:sp>
        <p:nvSpPr>
          <p:cNvPr id="7" name="card1-label"/>
          <p:cNvSpPr txBox="1"/>
          <p:nvPr/>
        </p:nvSpPr>
        <p:spPr>
          <a:xfrm>
            <a:off x="1117600" y="3581400"/>
            <a:ext cx="2705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Lost every day per operations team to manual handoffs and re-keying</a:t>
            </a:r>
            <a:endParaRPr lang="en-US" sz="1400"/>
          </a:p>
        </p:txBody>
      </p:sp>
      <p:sp>
        <p:nvSpPr>
          <p:cNvPr id="8" name="card2"/>
          <p:cNvSpPr/>
          <p:nvPr/>
        </p:nvSpPr>
        <p:spPr>
          <a:xfrm>
            <a:off x="4432300" y="2260600"/>
            <a:ext cx="3314700" cy="299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9" name="card2-num"/>
          <p:cNvSpPr txBox="1"/>
          <p:nvPr/>
        </p:nvSpPr>
        <p:spPr>
          <a:xfrm>
            <a:off x="4737100" y="2616200"/>
            <a:ext cx="27051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FF6B00"/>
                </a:solidFill>
                <a:latin typeface="Liter"/>
                <a:ea typeface="Liter"/>
              </a:rPr>
              <a:t>63%</a:t>
            </a:r>
            <a:endParaRPr lang="en-US" sz="4600"/>
          </a:p>
        </p:txBody>
      </p:sp>
      <p:sp>
        <p:nvSpPr>
          <p:cNvPr id="10" name="card2-label"/>
          <p:cNvSpPr txBox="1"/>
          <p:nvPr/>
        </p:nvSpPr>
        <p:spPr>
          <a:xfrm>
            <a:off x="4737100" y="3581400"/>
            <a:ext cx="2705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Of recurring ops workflows are still executed fully by hand</a:t>
            </a:r>
            <a:endParaRPr lang="en-US" sz="1400"/>
          </a:p>
        </p:txBody>
      </p:sp>
      <p:sp>
        <p:nvSpPr>
          <p:cNvPr id="11" name="card3"/>
          <p:cNvSpPr/>
          <p:nvPr/>
        </p:nvSpPr>
        <p:spPr>
          <a:xfrm>
            <a:off x="8051800" y="2260600"/>
            <a:ext cx="3314700" cy="299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card3-num"/>
          <p:cNvSpPr txBox="1"/>
          <p:nvPr/>
        </p:nvSpPr>
        <p:spPr>
          <a:xfrm>
            <a:off x="8356600" y="2616200"/>
            <a:ext cx="27051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FF6B00"/>
                </a:solidFill>
                <a:latin typeface="Liter"/>
                <a:ea typeface="Liter"/>
              </a:rPr>
              <a:t>$38k</a:t>
            </a:r>
            <a:endParaRPr lang="en-US" sz="4600"/>
          </a:p>
        </p:txBody>
      </p:sp>
      <p:sp>
        <p:nvSpPr>
          <p:cNvPr id="13" name="card3-label"/>
          <p:cNvSpPr txBox="1"/>
          <p:nvPr/>
        </p:nvSpPr>
        <p:spPr>
          <a:xfrm>
            <a:off x="8356600" y="3581400"/>
            <a:ext cx="2705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Average annual cost per team in lost productivity and rework</a:t>
            </a:r>
            <a:endParaRPr lang="en-US" sz="1400"/>
          </a:p>
        </p:txBody>
      </p:sp>
      <p:sp>
        <p:nvSpPr>
          <p:cNvPr id="14" name="footnote"/>
          <p:cNvSpPr txBox="1"/>
          <p:nvPr/>
        </p:nvSpPr>
        <p:spPr>
          <a:xfrm>
            <a:off x="812800" y="5638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figures from Northwind discovery interviews with 42 ops teams, 2025.</a:t>
            </a:r>
            <a:endParaRPr lang="en-US" sz="1100"/>
          </a:p>
        </p:txBody>
      </p:sp>
      <p:sp>
        <p:nvSpPr>
          <p:cNvPr id="15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04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02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Product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The Northwind automation platform</a:t>
            </a:r>
            <a:endParaRPr lang="en-US" sz="15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584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800" b="1">
                <a:solidFill>
                  <a:srgbClr val="1A1A1A"/>
                </a:solidFill>
                <a:latin typeface="Liter"/>
                <a:ea typeface="Liter"/>
              </a:rPr>
              <a:t>Run operations on autopilot</a:t>
            </a:r>
            <a:endParaRPr lang="en-US" sz="2800"/>
          </a:p>
        </p:txBody>
      </p:sp>
      <p:sp>
        <p:nvSpPr>
          <p:cNvPr id="4" name="title-rule"/>
          <p:cNvSpPr/>
          <p:nvPr/>
        </p:nvSpPr>
        <p:spPr>
          <a:xfrm>
            <a:off x="812800" y="16256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b1-marker"/>
          <p:cNvSpPr/>
          <p:nvPr/>
        </p:nvSpPr>
        <p:spPr>
          <a:xfrm>
            <a:off x="812800" y="24130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b1-text"/>
          <p:cNvSpPr txBox="1"/>
          <p:nvPr/>
        </p:nvSpPr>
        <p:spPr>
          <a:xfrm>
            <a:off x="1117600" y="23114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Visual pipeline builder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turn manual SOPs into automated workflows, no code required.</a:t>
            </a:r>
            <a:endParaRPr lang="en-US" sz="1400"/>
          </a:p>
        </p:txBody>
      </p:sp>
      <p:sp>
        <p:nvSpPr>
          <p:cNvPr id="7" name="b2-marker"/>
          <p:cNvSpPr/>
          <p:nvPr/>
        </p:nvSpPr>
        <p:spPr>
          <a:xfrm>
            <a:off x="812800" y="3276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8" name="b2-text"/>
          <p:cNvSpPr txBox="1"/>
          <p:nvPr/>
        </p:nvSpPr>
        <p:spPr>
          <a:xfrm>
            <a:off x="1117600" y="31750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200+ integrations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connect the CRM, billing, and ticketing tools your team already runs on.</a:t>
            </a:r>
            <a:endParaRPr lang="en-US" sz="1400"/>
          </a:p>
        </p:txBody>
      </p:sp>
      <p:sp>
        <p:nvSpPr>
          <p:cNvPr id="9" name="b3-marker"/>
          <p:cNvSpPr/>
          <p:nvPr/>
        </p:nvSpPr>
        <p:spPr>
          <a:xfrm>
            <a:off x="812800" y="41402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0" name="b3-text"/>
          <p:cNvSpPr txBox="1"/>
          <p:nvPr/>
        </p:nvSpPr>
        <p:spPr>
          <a:xfrm>
            <a:off x="1117600" y="40386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Human-in-the-loop controls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approvals, thresholds, and guardrails exactly where they matter.</a:t>
            </a:r>
            <a:endParaRPr lang="en-US" sz="1400"/>
          </a:p>
        </p:txBody>
      </p:sp>
      <p:sp>
        <p:nvSpPr>
          <p:cNvPr id="11" name="b4-marker"/>
          <p:cNvSpPr/>
          <p:nvPr/>
        </p:nvSpPr>
        <p:spPr>
          <a:xfrm>
            <a:off x="812800" y="5003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2" name="b4-text"/>
          <p:cNvSpPr txBox="1"/>
          <p:nvPr/>
        </p:nvSpPr>
        <p:spPr>
          <a:xfrm>
            <a:off x="1117600" y="49022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Audit trail by default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every run logged, searchable, and exportable for compliance.</a:t>
            </a:r>
            <a:endParaRPr lang="en-US" sz="1400"/>
          </a:p>
        </p:txBody>
      </p:sp>
      <p:sp>
        <p:nvSpPr>
          <p:cNvPr id="13" name="dash-frame"/>
          <p:cNvSpPr/>
          <p:nvPr/>
        </p:nvSpPr>
        <p:spPr>
          <a:xfrm>
            <a:off x="6553200" y="1905000"/>
            <a:ext cx="4826000" cy="39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14" name="dash-header"/>
          <p:cNvSpPr/>
          <p:nvPr/>
        </p:nvSpPr>
        <p:spPr>
          <a:xfrm>
            <a:off x="6553200" y="1905000"/>
            <a:ext cx="48260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5" name="dash-title"/>
          <p:cNvSpPr txBox="1"/>
          <p:nvPr/>
        </p:nvSpPr>
        <p:spPr>
          <a:xfrm>
            <a:off x="6756400" y="2006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Northwind Console</a:t>
            </a:r>
            <a:endParaRPr lang="en-US" sz="1100"/>
          </a:p>
        </p:txBody>
      </p:sp>
      <p:sp>
        <p:nvSpPr>
          <p:cNvPr id="16" name="dash-win1"/>
          <p:cNvSpPr/>
          <p:nvPr/>
        </p:nvSpPr>
        <p:spPr>
          <a:xfrm>
            <a:off x="10718800" y="2070100"/>
            <a:ext cx="127000" cy="127000"/>
          </a:xfrm>
          <a:prstGeom prst="rect">
            <a:avLst/>
          </a:prstGeom>
          <a:solidFill>
            <a:srgbClr val="3D5A85"/>
          </a:solidFill>
          <a:ln>
            <a:noFill/>
          </a:ln>
        </p:spPr>
      </p:sp>
      <p:sp>
        <p:nvSpPr>
          <p:cNvPr id="17" name="dash-win2"/>
          <p:cNvSpPr/>
          <p:nvPr/>
        </p:nvSpPr>
        <p:spPr>
          <a:xfrm>
            <a:off x="10947400" y="2070100"/>
            <a:ext cx="127000" cy="127000"/>
          </a:xfrm>
          <a:prstGeom prst="rect">
            <a:avLst/>
          </a:prstGeom>
          <a:solidFill>
            <a:srgbClr val="3D5A85"/>
          </a:solidFill>
          <a:ln>
            <a:noFill/>
          </a:ln>
        </p:spPr>
      </p:sp>
      <p:sp>
        <p:nvSpPr>
          <p:cNvPr id="18" name="dash-win3"/>
          <p:cNvSpPr/>
          <p:nvPr/>
        </p:nvSpPr>
        <p:spPr>
          <a:xfrm>
            <a:off x="11176000" y="2070100"/>
            <a:ext cx="127000" cy="1270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dash-sidebar"/>
          <p:cNvSpPr/>
          <p:nvPr/>
        </p:nvSpPr>
        <p:spPr>
          <a:xfrm>
            <a:off x="6553200" y="2362200"/>
            <a:ext cx="1092200" cy="3479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0" name="side-item1"/>
          <p:cNvSpPr/>
          <p:nvPr/>
        </p:nvSpPr>
        <p:spPr>
          <a:xfrm>
            <a:off x="6731000" y="2641600"/>
            <a:ext cx="736600" cy="1016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1" name="side-item2"/>
          <p:cNvSpPr/>
          <p:nvPr/>
        </p:nvSpPr>
        <p:spPr>
          <a:xfrm>
            <a:off x="6731000" y="2997200"/>
            <a:ext cx="736600" cy="1016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22" name="side-item3"/>
          <p:cNvSpPr/>
          <p:nvPr/>
        </p:nvSpPr>
        <p:spPr>
          <a:xfrm>
            <a:off x="6731000" y="3352800"/>
            <a:ext cx="736600" cy="1016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23" name="side-item4"/>
          <p:cNvSpPr/>
          <p:nvPr/>
        </p:nvSpPr>
        <p:spPr>
          <a:xfrm>
            <a:off x="6731000" y="3708400"/>
            <a:ext cx="736600" cy="1016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24" name="kpi1-card"/>
          <p:cNvSpPr/>
          <p:nvPr/>
        </p:nvSpPr>
        <p:spPr>
          <a:xfrm>
            <a:off x="7848600" y="2616200"/>
            <a:ext cx="1016000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5" name="kpi1-num"/>
          <p:cNvSpPr txBox="1"/>
          <p:nvPr/>
        </p:nvSpPr>
        <p:spPr>
          <a:xfrm>
            <a:off x="7950200" y="2692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12.4k</a:t>
            </a:r>
            <a:endParaRPr lang="en-US" sz="1400"/>
          </a:p>
        </p:txBody>
      </p:sp>
      <p:sp>
        <p:nvSpPr>
          <p:cNvPr id="26" name="kpi1-label"/>
          <p:cNvSpPr txBox="1"/>
          <p:nvPr/>
        </p:nvSpPr>
        <p:spPr>
          <a:xfrm>
            <a:off x="7950200" y="2971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5B6472"/>
                </a:solidFill>
                <a:latin typeface="Liter"/>
                <a:ea typeface="Liter"/>
              </a:rPr>
              <a:t>Runs / day</a:t>
            </a:r>
            <a:endParaRPr lang="en-US" sz="900"/>
          </a:p>
        </p:txBody>
      </p:sp>
      <p:sp>
        <p:nvSpPr>
          <p:cNvPr id="27" name="kpi2-card"/>
          <p:cNvSpPr/>
          <p:nvPr/>
        </p:nvSpPr>
        <p:spPr>
          <a:xfrm>
            <a:off x="8966200" y="2616200"/>
            <a:ext cx="1016000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8" name="kpi2-num"/>
          <p:cNvSpPr txBox="1"/>
          <p:nvPr/>
        </p:nvSpPr>
        <p:spPr>
          <a:xfrm>
            <a:off x="9067800" y="2692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99.2%</a:t>
            </a:r>
            <a:endParaRPr lang="en-US" sz="1400"/>
          </a:p>
        </p:txBody>
      </p:sp>
      <p:sp>
        <p:nvSpPr>
          <p:cNvPr id="29" name="kpi2-label"/>
          <p:cNvSpPr txBox="1"/>
          <p:nvPr/>
        </p:nvSpPr>
        <p:spPr>
          <a:xfrm>
            <a:off x="9067800" y="2971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5B6472"/>
                </a:solidFill>
                <a:latin typeface="Liter"/>
                <a:ea typeface="Liter"/>
              </a:rPr>
              <a:t>Success</a:t>
            </a:r>
            <a:endParaRPr lang="en-US" sz="900"/>
          </a:p>
        </p:txBody>
      </p:sp>
      <p:sp>
        <p:nvSpPr>
          <p:cNvPr id="30" name="kpi3-card"/>
          <p:cNvSpPr/>
          <p:nvPr/>
        </p:nvSpPr>
        <p:spPr>
          <a:xfrm>
            <a:off x="10083800" y="2616200"/>
            <a:ext cx="1016000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31" name="kpi3-num"/>
          <p:cNvSpPr txBox="1"/>
          <p:nvPr/>
        </p:nvSpPr>
        <p:spPr>
          <a:xfrm>
            <a:off x="10185400" y="2692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3.1h</a:t>
            </a:r>
            <a:endParaRPr lang="en-US" sz="1400"/>
          </a:p>
        </p:txBody>
      </p:sp>
      <p:sp>
        <p:nvSpPr>
          <p:cNvPr id="32" name="kpi3-label"/>
          <p:cNvSpPr txBox="1"/>
          <p:nvPr/>
        </p:nvSpPr>
        <p:spPr>
          <a:xfrm>
            <a:off x="10185400" y="2971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5B6472"/>
                </a:solidFill>
                <a:latin typeface="Liter"/>
                <a:ea typeface="Liter"/>
              </a:rPr>
              <a:t>Saved daily</a:t>
            </a:r>
            <a:endParaRPr lang="en-US" sz="900"/>
          </a:p>
        </p:txBody>
      </p:sp>
      <p:sp>
        <p:nvSpPr>
          <p:cNvPr id="33" name="chart-title"/>
          <p:cNvSpPr txBox="1"/>
          <p:nvPr/>
        </p:nvSpPr>
        <p:spPr>
          <a:xfrm>
            <a:off x="7848600" y="3657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1A1A1A"/>
                </a:solidFill>
                <a:latin typeface="Liter"/>
                <a:ea typeface="Liter"/>
              </a:rPr>
              <a:t>Workflow runs per week</a:t>
            </a:r>
            <a:endParaRPr lang="en-US" sz="1100"/>
          </a:p>
        </p:txBody>
      </p:sp>
      <p:sp>
        <p:nvSpPr>
          <p:cNvPr id="34" name="bar1"/>
          <p:cNvSpPr/>
          <p:nvPr/>
        </p:nvSpPr>
        <p:spPr>
          <a:xfrm>
            <a:off x="8001000" y="4826000"/>
            <a:ext cx="228600" cy="50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5" name="bar2"/>
          <p:cNvSpPr/>
          <p:nvPr/>
        </p:nvSpPr>
        <p:spPr>
          <a:xfrm>
            <a:off x="8407400" y="4572000"/>
            <a:ext cx="228600" cy="762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6" name="bar3"/>
          <p:cNvSpPr/>
          <p:nvPr/>
        </p:nvSpPr>
        <p:spPr>
          <a:xfrm>
            <a:off x="8813800" y="4699000"/>
            <a:ext cx="228600" cy="635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7" name="bar4"/>
          <p:cNvSpPr/>
          <p:nvPr/>
        </p:nvSpPr>
        <p:spPr>
          <a:xfrm>
            <a:off x="9220200" y="4254500"/>
            <a:ext cx="228600" cy="10795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8" name="bar5"/>
          <p:cNvSpPr/>
          <p:nvPr/>
        </p:nvSpPr>
        <p:spPr>
          <a:xfrm>
            <a:off x="9626600" y="4445000"/>
            <a:ext cx="228600" cy="889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9" name="bar6"/>
          <p:cNvSpPr/>
          <p:nvPr/>
        </p:nvSpPr>
        <p:spPr>
          <a:xfrm>
            <a:off x="10033000" y="3937000"/>
            <a:ext cx="228600" cy="13970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40" name="chart-axis"/>
          <p:cNvSpPr/>
          <p:nvPr/>
        </p:nvSpPr>
        <p:spPr>
          <a:xfrm>
            <a:off x="7848600" y="5334000"/>
            <a:ext cx="3251200" cy="254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41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06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Built for operations teams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f1-card"/>
          <p:cNvSpPr/>
          <p:nvPr/>
        </p:nvSpPr>
        <p:spPr>
          <a:xfrm>
            <a:off x="812800" y="21844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f1-icon"/>
          <p:cNvSpPr/>
          <p:nvPr/>
        </p:nvSpPr>
        <p:spPr>
          <a:xfrm>
            <a:off x="1117600" y="2489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f1-title"/>
          <p:cNvSpPr txBox="1"/>
          <p:nvPr/>
        </p:nvSpPr>
        <p:spPr>
          <a:xfrm>
            <a:off x="1422400" y="24130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Visual Pipelines</a:t>
            </a:r>
            <a:endParaRPr lang="en-US" sz="1700"/>
          </a:p>
        </p:txBody>
      </p:sp>
      <p:sp>
        <p:nvSpPr>
          <p:cNvPr id="8" name="f1-desc"/>
          <p:cNvSpPr txBox="1"/>
          <p:nvPr/>
        </p:nvSpPr>
        <p:spPr>
          <a:xfrm>
            <a:off x="1117600" y="2870200"/>
            <a:ext cx="457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Drag-and-drop builder that turns SOPs into executable workflows — no engineers required.</a:t>
            </a:r>
            <a:endParaRPr lang="en-US" sz="1300"/>
          </a:p>
        </p:txBody>
      </p:sp>
      <p:sp>
        <p:nvSpPr>
          <p:cNvPr id="9" name="f2-card"/>
          <p:cNvSpPr/>
          <p:nvPr/>
        </p:nvSpPr>
        <p:spPr>
          <a:xfrm>
            <a:off x="6197600" y="21844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0" name="f2-icon"/>
          <p:cNvSpPr/>
          <p:nvPr/>
        </p:nvSpPr>
        <p:spPr>
          <a:xfrm>
            <a:off x="6502400" y="2489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1" name="f2-title"/>
          <p:cNvSpPr txBox="1"/>
          <p:nvPr/>
        </p:nvSpPr>
        <p:spPr>
          <a:xfrm>
            <a:off x="6807200" y="24130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One-click Deploy</a:t>
            </a:r>
            <a:endParaRPr lang="en-US" sz="1700"/>
          </a:p>
        </p:txBody>
      </p:sp>
      <p:sp>
        <p:nvSpPr>
          <p:cNvPr id="12" name="f2-desc"/>
          <p:cNvSpPr txBox="1"/>
          <p:nvPr/>
        </p:nvSpPr>
        <p:spPr>
          <a:xfrm>
            <a:off x="6502400" y="2870200"/>
            <a:ext cx="457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Ship a new workflow to production in seconds, with full versioning and instant rollback.</a:t>
            </a:r>
            <a:endParaRPr lang="en-US" sz="1300"/>
          </a:p>
        </p:txBody>
      </p:sp>
      <p:sp>
        <p:nvSpPr>
          <p:cNvPr id="13" name="f3-card"/>
          <p:cNvSpPr/>
          <p:nvPr/>
        </p:nvSpPr>
        <p:spPr>
          <a:xfrm>
            <a:off x="812800" y="41148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4" name="f3-icon"/>
          <p:cNvSpPr/>
          <p:nvPr/>
        </p:nvSpPr>
        <p:spPr>
          <a:xfrm>
            <a:off x="1117600" y="44196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f3-title"/>
          <p:cNvSpPr txBox="1"/>
          <p:nvPr/>
        </p:nvSpPr>
        <p:spPr>
          <a:xfrm>
            <a:off x="1422400" y="43434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Realtime Metrics</a:t>
            </a:r>
            <a:endParaRPr lang="en-US" sz="1700"/>
          </a:p>
        </p:txBody>
      </p:sp>
      <p:sp>
        <p:nvSpPr>
          <p:cNvPr id="16" name="f3-desc"/>
          <p:cNvSpPr txBox="1"/>
          <p:nvPr/>
        </p:nvSpPr>
        <p:spPr>
          <a:xfrm>
            <a:off x="1117600" y="4800600"/>
            <a:ext cx="457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Live dashboards for run volume, failure rates, and hours saved — per workflow, per team.</a:t>
            </a:r>
            <a:endParaRPr lang="en-US" sz="1300"/>
          </a:p>
        </p:txBody>
      </p:sp>
      <p:sp>
        <p:nvSpPr>
          <p:cNvPr id="17" name="f4-card"/>
          <p:cNvSpPr/>
          <p:nvPr/>
        </p:nvSpPr>
        <p:spPr>
          <a:xfrm>
            <a:off x="6197600" y="41148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f4-icon"/>
          <p:cNvSpPr/>
          <p:nvPr/>
        </p:nvSpPr>
        <p:spPr>
          <a:xfrm>
            <a:off x="6502400" y="44196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f4-title"/>
          <p:cNvSpPr txBox="1"/>
          <p:nvPr/>
        </p:nvSpPr>
        <p:spPr>
          <a:xfrm>
            <a:off x="6807200" y="43434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SOC2 by default</a:t>
            </a:r>
            <a:endParaRPr lang="en-US" sz="1700"/>
          </a:p>
        </p:txBody>
      </p:sp>
      <p:sp>
        <p:nvSpPr>
          <p:cNvPr id="20" name="f4-desc"/>
          <p:cNvSpPr txBox="1"/>
          <p:nvPr/>
        </p:nvSpPr>
        <p:spPr>
          <a:xfrm>
            <a:off x="6502400" y="4800600"/>
            <a:ext cx="457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Type II controls, SSO/SAML, and immutable audit logging baked into every plan.</a:t>
            </a:r>
            <a:endParaRPr lang="en-US" sz="1300"/>
          </a:p>
        </p:txBody>
      </p:sp>
      <p:sp>
        <p:nvSpPr>
          <p:cNvPr id="21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07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03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Traction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Four quarters of compounding growth</a:t>
            </a:r>
            <a:endParaRPr lang="en-US" sz="15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TRACTION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2026, quarter by quarter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graphicFrame>
        <p:nvGraphicFramePr>
          <p:cNvPr id="5" name="metrics"/>
          <p:cNvGraphicFramePr>
            <a:graphicFrameLocks noGrp="1"/>
          </p:cNvGraphicFramePr>
          <p:nvPr/>
        </p:nvGraphicFramePr>
        <p:xfrm>
          <a:off x="812800" y="2184400"/>
          <a:ext cx="10566400" cy="3429000"/>
        </p:xfrm>
        <a:graphic>
          <a:graphicData uri="http://schemas.openxmlformats.org/drawingml/2006/table">
            <a:tbl>
              <a:tblPr/>
              <a:tblGrid>
                <a:gridCol w="2113280"/>
                <a:gridCol w="2113280"/>
                <a:gridCol w="2113280"/>
                <a:gridCol w="2113280"/>
                <a:gridCol w="2113280"/>
              </a:tblGrid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Q1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Q2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Q3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Q4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ARR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$1.2M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$2.1M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$3.6M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$5.8M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Customers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34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57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92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NRR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108%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114%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121%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127%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Headcount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34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812800" y="5842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plan figures for FY2026; NRR measured on trailing twelve-month cohort.</a:t>
            </a:r>
            <a:endParaRPr lang="en-US" sz="1100"/>
          </a:p>
        </p:txBody>
      </p:sp>
      <p:sp>
        <p:nvSpPr>
          <p:cNvPr id="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09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ROADMAP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The road ahead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track"/>
          <p:cNvSpPr/>
          <p:nvPr/>
        </p:nvSpPr>
        <p:spPr>
          <a:xfrm>
            <a:off x="812800" y="2755900"/>
            <a:ext cx="10566400" cy="25400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" name="node1"/>
          <p:cNvSpPr/>
          <p:nvPr/>
        </p:nvSpPr>
        <p:spPr>
          <a:xfrm>
            <a:off x="8128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q1-label"/>
          <p:cNvSpPr txBox="1"/>
          <p:nvPr/>
        </p:nvSpPr>
        <p:spPr>
          <a:xfrm>
            <a:off x="8128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Q1</a:t>
            </a:r>
            <a:endParaRPr lang="en-US" sz="1500"/>
          </a:p>
        </p:txBody>
      </p:sp>
      <p:sp>
        <p:nvSpPr>
          <p:cNvPr id="8" name="q1-title"/>
          <p:cNvSpPr txBox="1"/>
          <p:nvPr/>
        </p:nvSpPr>
        <p:spPr>
          <a:xfrm>
            <a:off x="8128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Beta</a:t>
            </a:r>
            <a:endParaRPr lang="en-US" sz="1800"/>
          </a:p>
        </p:txBody>
      </p:sp>
      <p:sp>
        <p:nvSpPr>
          <p:cNvPr id="9" name="q1-caption"/>
          <p:cNvSpPr txBox="1"/>
          <p:nvPr/>
        </p:nvSpPr>
        <p:spPr>
          <a:xfrm>
            <a:off x="812800" y="37846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Private beta live with 12 design partners; weekly release cadence.</a:t>
            </a:r>
            <a:endParaRPr lang="en-US" sz="1300"/>
          </a:p>
        </p:txBody>
      </p:sp>
      <p:sp>
        <p:nvSpPr>
          <p:cNvPr id="10" name="node2"/>
          <p:cNvSpPr/>
          <p:nvPr/>
        </p:nvSpPr>
        <p:spPr>
          <a:xfrm>
            <a:off x="34544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1" name="q2-label"/>
          <p:cNvSpPr txBox="1"/>
          <p:nvPr/>
        </p:nvSpPr>
        <p:spPr>
          <a:xfrm>
            <a:off x="34544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Q2</a:t>
            </a:r>
            <a:endParaRPr lang="en-US" sz="1500"/>
          </a:p>
        </p:txBody>
      </p:sp>
      <p:sp>
        <p:nvSpPr>
          <p:cNvPr id="12" name="q2-title"/>
          <p:cNvSpPr txBox="1"/>
          <p:nvPr/>
        </p:nvSpPr>
        <p:spPr>
          <a:xfrm>
            <a:off x="34544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GA</a:t>
            </a:r>
            <a:endParaRPr lang="en-US" sz="1800"/>
          </a:p>
        </p:txBody>
      </p:sp>
      <p:sp>
        <p:nvSpPr>
          <p:cNvPr id="13" name="q2-caption"/>
          <p:cNvSpPr txBox="1"/>
          <p:nvPr/>
        </p:nvSpPr>
        <p:spPr>
          <a:xfrm>
            <a:off x="3454400" y="37846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General availability with self-serve onboarding and usage-based pricing.</a:t>
            </a:r>
            <a:endParaRPr lang="en-US" sz="1300"/>
          </a:p>
        </p:txBody>
      </p:sp>
      <p:sp>
        <p:nvSpPr>
          <p:cNvPr id="14" name="node3"/>
          <p:cNvSpPr/>
          <p:nvPr/>
        </p:nvSpPr>
        <p:spPr>
          <a:xfrm>
            <a:off x="60960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q3-label"/>
          <p:cNvSpPr txBox="1"/>
          <p:nvPr/>
        </p:nvSpPr>
        <p:spPr>
          <a:xfrm>
            <a:off x="60960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Q3</a:t>
            </a:r>
            <a:endParaRPr lang="en-US" sz="1500"/>
          </a:p>
        </p:txBody>
      </p:sp>
      <p:sp>
        <p:nvSpPr>
          <p:cNvPr id="16" name="q3-title"/>
          <p:cNvSpPr txBox="1"/>
          <p:nvPr/>
        </p:nvSpPr>
        <p:spPr>
          <a:xfrm>
            <a:off x="60960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Enterprise tier</a:t>
            </a:r>
            <a:endParaRPr lang="en-US" sz="1800"/>
          </a:p>
        </p:txBody>
      </p:sp>
      <p:sp>
        <p:nvSpPr>
          <p:cNvPr id="17" name="q3-caption"/>
          <p:cNvSpPr txBox="1"/>
          <p:nvPr/>
        </p:nvSpPr>
        <p:spPr>
          <a:xfrm>
            <a:off x="6096000" y="37846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SSO/SAML, audit logs, and dedicated support for larger teams.</a:t>
            </a:r>
            <a:endParaRPr lang="en-US" sz="1300"/>
          </a:p>
        </p:txBody>
      </p:sp>
      <p:sp>
        <p:nvSpPr>
          <p:cNvPr id="18" name="node4"/>
          <p:cNvSpPr/>
          <p:nvPr/>
        </p:nvSpPr>
        <p:spPr>
          <a:xfrm>
            <a:off x="87376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q4-label"/>
          <p:cNvSpPr txBox="1"/>
          <p:nvPr/>
        </p:nvSpPr>
        <p:spPr>
          <a:xfrm>
            <a:off x="87376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Q4</a:t>
            </a:r>
            <a:endParaRPr lang="en-US" sz="1500"/>
          </a:p>
        </p:txBody>
      </p:sp>
      <p:sp>
        <p:nvSpPr>
          <p:cNvPr id="20" name="q4-title"/>
          <p:cNvSpPr txBox="1"/>
          <p:nvPr/>
        </p:nvSpPr>
        <p:spPr>
          <a:xfrm>
            <a:off x="87376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EU expansion</a:t>
            </a:r>
            <a:endParaRPr lang="en-US" sz="1800"/>
          </a:p>
        </p:txBody>
      </p:sp>
      <p:sp>
        <p:nvSpPr>
          <p:cNvPr id="21" name="q4-caption"/>
          <p:cNvSpPr txBox="1"/>
          <p:nvPr/>
        </p:nvSpPr>
        <p:spPr>
          <a:xfrm>
            <a:off x="8737600" y="37846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Frankfurt data region and GDPR-ready data processing terms.</a:t>
            </a:r>
            <a:endParaRPr lang="en-US" sz="1300"/>
          </a:p>
        </p:txBody>
      </p:sp>
      <p:sp>
        <p:nvSpPr>
          <p:cNvPr id="22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10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 txBox="1"/>
          <p:nvPr/>
        </p:nvSpPr>
        <p:spPr>
          <a:xfrm>
            <a:off x="5461000" y="1168400"/>
            <a:ext cx="127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600" b="1">
                <a:solidFill>
                  <a:srgbClr val="FF6B00"/>
                </a:solidFill>
                <a:latin typeface="Liter"/>
                <a:ea typeface="Liter"/>
              </a:rPr>
              <a:t>“</a:t>
            </a:r>
            <a:endParaRPr lang="en-US" sz="9600"/>
          </a:p>
        </p:txBody>
      </p:sp>
      <p:sp>
        <p:nvSpPr>
          <p:cNvPr id="3" name="quote"/>
          <p:cNvSpPr txBox="1"/>
          <p:nvPr/>
        </p:nvSpPr>
        <p:spPr>
          <a:xfrm>
            <a:off x="1905000" y="2489200"/>
            <a:ext cx="838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Northwind cut our ops overhead by half in six weeks.</a:t>
            </a:r>
            <a:endParaRPr lang="en-US" sz="3000"/>
          </a:p>
        </p:txBody>
      </p:sp>
      <p:sp>
        <p:nvSpPr>
          <p:cNvPr id="4" name="quote-rule"/>
          <p:cNvSpPr/>
          <p:nvPr/>
        </p:nvSpPr>
        <p:spPr>
          <a:xfrm>
            <a:off x="5842000" y="4241800"/>
            <a:ext cx="508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attribution"/>
          <p:cNvSpPr txBox="1"/>
          <p:nvPr/>
        </p:nvSpPr>
        <p:spPr>
          <a:xfrm>
            <a:off x="4191000" y="447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COO, Series B fintech</a:t>
            </a:r>
            <a:endParaRPr lang="en-US" sz="1400"/>
          </a:p>
        </p:txBody>
      </p:sp>
      <p:sp>
        <p:nvSpPr>
          <p:cNvPr id="6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11 / 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deco-frame"/>
          <p:cNvSpPr/>
          <p:nvPr/>
        </p:nvSpPr>
        <p:spPr>
          <a:xfrm>
            <a:off x="8382000" y="1651000"/>
            <a:ext cx="2794000" cy="279400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</p:sp>
      <p:sp>
        <p:nvSpPr>
          <p:cNvPr id="5" name="deco-frame-inner"/>
          <p:cNvSpPr/>
          <p:nvPr/>
        </p:nvSpPr>
        <p:spPr>
          <a:xfrm>
            <a:off x="8585200" y="1854200"/>
            <a:ext cx="2387600" cy="2387600"/>
          </a:xfrm>
          <a:prstGeom prst="rect">
            <a:avLst/>
          </a:prstGeom>
          <a:noFill/>
          <a:ln w="12700">
            <a:solidFill>
              <a:srgbClr val="FF6B00">
                <a:alpha val="30196"/>
              </a:srgbClr>
            </a:solidFill>
          </a:ln>
        </p:spPr>
      </p:sp>
      <p:sp>
        <p:nvSpPr>
          <p:cNvPr id="6" name="accent-bar"/>
          <p:cNvSpPr/>
          <p:nvPr/>
        </p:nvSpPr>
        <p:spPr>
          <a:xfrm>
            <a:off x="812800" y="2692400"/>
            <a:ext cx="914400" cy="76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762000" y="2921000"/>
            <a:ext cx="889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800" b="1" spc="200" kern="0">
                <a:solidFill>
                  <a:srgbClr val="FFFFFF"/>
                </a:solidFill>
                <a:latin typeface="Liter"/>
                <a:ea typeface="Liter"/>
              </a:rPr>
              <a:t>Let's talk.</a:t>
            </a:r>
            <a:endParaRPr lang="en-US" sz="6800"/>
          </a:p>
        </p:txBody>
      </p:sp>
      <p:sp>
        <p:nvSpPr>
          <p:cNvPr id="8" name="email"/>
          <p:cNvSpPr txBox="1"/>
          <p:nvPr/>
        </p:nvSpPr>
        <p:spPr>
          <a:xfrm>
            <a:off x="812800" y="42164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6B00"/>
                </a:solidFill>
                <a:latin typeface="Liter"/>
                <a:ea typeface="Liter"/>
              </a:rPr>
              <a:t>hello@northwindlabs.com</a:t>
            </a:r>
            <a:endParaRPr lang="en-US" sz="2000"/>
          </a:p>
        </p:txBody>
      </p:sp>
      <p:sp>
        <p:nvSpPr>
          <p:cNvPr id="9" name="web"/>
          <p:cNvSpPr txBox="1"/>
          <p:nvPr/>
        </p:nvSpPr>
        <p:spPr>
          <a:xfrm>
            <a:off x="812800" y="4648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northwindlabs.com</a:t>
            </a:r>
            <a:endParaRPr lang="en-US" sz="1500"/>
          </a:p>
        </p:txBody>
      </p:sp>
      <p:sp>
        <p:nvSpPr>
          <p:cNvPr id="10" name="date"/>
          <p:cNvSpPr txBox="1"/>
          <p:nvPr/>
        </p:nvSpPr>
        <p:spPr>
          <a:xfrm>
            <a:off x="812800" y="617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7E93B0"/>
                </a:solidFill>
                <a:latin typeface="Liter"/>
                <a:ea typeface="Liter"/>
              </a:rPr>
              <a:t>Northwind Labs · Launch Review Q3 2026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12</Slides>
</Properties>
</file>

<file path=docProps/core.xml><?xml version="1.0" encoding="utf-8"?>
<cp:coreProperties xmlns:cp="http://schemas.openxmlformats.org/package/2006/metadata/core-properties" xmlns:dc="http://purl.org/dc/elements/1.1/">
  <dc:title>Northwind Labs — Launch Review Q3 2026</dc:title>
  <dc:subject>Northwind Labs — Launch Review Q3 2026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{"Label":"Northwind Labs — Launch Review Q3 2026","ContentProducer":"001191110108MACG2KBH8F10000","ProduceID":"19f8a933-2552-8192-8000-000036a5e8f1","ReservedCode1":"","ContentPropagator":"001191110108MACG2KBH8F20000","PropagateID":"19f8a8f1-df32-8cc9-8000-09cef0c43f6a","ReservedCode2":""}</vt:lpwstr>
  </property>
</Properties>
</file>