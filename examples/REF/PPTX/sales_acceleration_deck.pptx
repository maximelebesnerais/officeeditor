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E6E6C-2407-438A-9EB0-564D5B926474}" v="2" dt="2026-07-23T20:27:32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Best-in-class</c:v>
                </c:pt>
              </c:strCache>
            </c:strRef>
          </c:tx>
          <c:spPr>
            <a:solidFill>
              <a:srgbClr val="B6B5B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B1B1B"/>
                    </a:solidFill>
                    <a:latin typeface="Verdan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Lead conversion</c:v>
                </c:pt>
                <c:pt idx="1">
                  <c:v>Win rate</c:v>
                </c:pt>
                <c:pt idx="2">
                  <c:v>Deal cycle speed</c:v>
                </c:pt>
                <c:pt idx="3">
                  <c:v>Forecast accuracy</c:v>
                </c:pt>
                <c:pt idx="4">
                  <c:v>Rep productivity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8F-45D2-8B6E-5BEEF358F0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Halcyon today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B1B1B"/>
                    </a:solidFill>
                    <a:latin typeface="Verdan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Lead conversion</c:v>
                </c:pt>
                <c:pt idx="1">
                  <c:v>Win rate</c:v>
                </c:pt>
                <c:pt idx="2">
                  <c:v>Deal cycle speed</c:v>
                </c:pt>
                <c:pt idx="3">
                  <c:v>Forecast accuracy</c:v>
                </c:pt>
                <c:pt idx="4">
                  <c:v>Rep productivity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</c:v>
                </c:pt>
                <c:pt idx="1">
                  <c:v>58</c:v>
                </c:pt>
                <c:pt idx="2">
                  <c:v>74</c:v>
                </c:pt>
                <c:pt idx="3">
                  <c:v>62</c:v>
                </c:pt>
                <c:pt idx="4">
                  <c:v>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78F-45D2-8B6E-5BEEF358F0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47474"/>
                </a:solidFill>
                <a:latin typeface="Verdana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7D7D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47474"/>
                </a:solidFill>
                <a:latin typeface="Verdana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900">
              <a:latin typeface="Verdana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8D7287-A7DF-47F4-BE2D-865B82E0647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3B5AE8-5328-4E6B-B32A-C7A9FA3C237A}">
      <dgm:prSet phldrT="[Text]" phldr="0"/>
      <dgm:spPr/>
      <dgm:t>
        <a:bodyPr/>
        <a:lstStyle/>
        <a:p>
          <a:pPr algn="ctr"/>
          <a:r>
            <a:rPr lang="en-US" sz="1100">
              <a:latin typeface="Calibri"/>
              <a:ea typeface="Calibri"/>
              <a:cs typeface="Calibri"/>
            </a:rPr>
            <a:t>SUSTAIN</a:t>
          </a:r>
          <a:endParaRPr lang="en-US"/>
        </a:p>
      </dgm:t>
    </dgm:pt>
    <dgm:pt modelId="{687F2183-4AF9-4809-86B8-398C48EC439A}" type="parTrans" cxnId="{3E87222D-509A-40C8-9BBA-06E248A0B2F2}">
      <dgm:prSet/>
      <dgm:spPr/>
      <dgm:t>
        <a:bodyPr/>
        <a:lstStyle/>
        <a:p>
          <a:endParaRPr lang="en-US"/>
        </a:p>
      </dgm:t>
    </dgm:pt>
    <dgm:pt modelId="{D24FEC04-5539-4A38-99D8-09459BB806D8}" type="sibTrans" cxnId="{3E87222D-509A-40C8-9BBA-06E248A0B2F2}">
      <dgm:prSet/>
      <dgm:spPr/>
      <dgm:t>
        <a:bodyPr/>
        <a:lstStyle/>
        <a:p>
          <a:endParaRPr lang="en-US"/>
        </a:p>
      </dgm:t>
    </dgm:pt>
    <dgm:pt modelId="{AA088BDF-021C-4A2B-A046-3B922D36C6D9}">
      <dgm:prSet phldrT="[Text]" phldr="0"/>
      <dgm:spPr/>
      <dgm:t>
        <a:bodyPr/>
        <a:lstStyle/>
        <a:p>
          <a:pPr algn="ctr" rtl="0"/>
          <a:r>
            <a:rPr lang="en-US" sz="1100">
              <a:latin typeface="Calibri"/>
              <a:ea typeface="Calibri"/>
              <a:cs typeface="Calibri"/>
            </a:rPr>
            <a:t>DIAGNOSE</a:t>
          </a:r>
        </a:p>
      </dgm:t>
    </dgm:pt>
    <dgm:pt modelId="{3BA8D737-7ABD-4DF9-BF5F-C840022746A5}" type="parTrans" cxnId="{43A80EBC-EBF6-4333-9D5B-4BE614C498C2}">
      <dgm:prSet/>
      <dgm:spPr/>
    </dgm:pt>
    <dgm:pt modelId="{AC47D60B-9A0F-48F3-BFCD-0715DAF60839}" type="sibTrans" cxnId="{43A80EBC-EBF6-4333-9D5B-4BE614C498C2}">
      <dgm:prSet/>
      <dgm:spPr/>
      <dgm:t>
        <a:bodyPr/>
        <a:lstStyle/>
        <a:p>
          <a:endParaRPr lang="en-US"/>
        </a:p>
      </dgm:t>
    </dgm:pt>
    <dgm:pt modelId="{A53145CC-C9AC-4508-9B24-A473E6721452}">
      <dgm:prSet phldrT="[Text]" phldr="0"/>
      <dgm:spPr/>
      <dgm:t>
        <a:bodyPr/>
        <a:lstStyle/>
        <a:p>
          <a:pPr algn="ctr"/>
          <a:r>
            <a:rPr lang="en-US" sz="1100">
              <a:latin typeface="Calibri"/>
              <a:ea typeface="Calibri"/>
              <a:cs typeface="Calibri"/>
            </a:rPr>
            <a:t>DESIGN</a:t>
          </a:r>
        </a:p>
      </dgm:t>
    </dgm:pt>
    <dgm:pt modelId="{9203250F-5B39-4B7B-B98A-38E06D77F4D6}" type="parTrans" cxnId="{01E514DD-61A6-4770-B7FB-295B38D9F53B}">
      <dgm:prSet/>
      <dgm:spPr/>
    </dgm:pt>
    <dgm:pt modelId="{B177F37B-F9C3-4CB5-93E7-5175876D0E6B}" type="sibTrans" cxnId="{01E514DD-61A6-4770-B7FB-295B38D9F53B}">
      <dgm:prSet/>
      <dgm:spPr/>
      <dgm:t>
        <a:bodyPr/>
        <a:lstStyle/>
        <a:p>
          <a:endParaRPr lang="en-US"/>
        </a:p>
      </dgm:t>
    </dgm:pt>
    <dgm:pt modelId="{9B75FB16-A83B-414F-8758-25089C785C27}">
      <dgm:prSet phldrT="[Text]" phldr="0"/>
      <dgm:spPr/>
      <dgm:t>
        <a:bodyPr/>
        <a:lstStyle/>
        <a:p>
          <a:pPr algn="ctr"/>
          <a:r>
            <a:rPr lang="en-US" sz="1100">
              <a:latin typeface="Calibri"/>
              <a:ea typeface="Calibri"/>
              <a:cs typeface="Calibri"/>
            </a:rPr>
            <a:t>DELIVER</a:t>
          </a:r>
        </a:p>
      </dgm:t>
    </dgm:pt>
    <dgm:pt modelId="{83AB28F7-E6CF-4691-AF74-9B5DD2A8B2CC}" type="parTrans" cxnId="{CA808994-2AA1-4EBE-BF3F-D8E3AFE0E0B1}">
      <dgm:prSet/>
      <dgm:spPr/>
    </dgm:pt>
    <dgm:pt modelId="{E4FBB342-3746-41DB-9C65-0CF5E6BF35D7}" type="sibTrans" cxnId="{CA808994-2AA1-4EBE-BF3F-D8E3AFE0E0B1}">
      <dgm:prSet/>
      <dgm:spPr/>
      <dgm:t>
        <a:bodyPr/>
        <a:lstStyle/>
        <a:p>
          <a:endParaRPr lang="en-US"/>
        </a:p>
      </dgm:t>
    </dgm:pt>
    <dgm:pt modelId="{DD520EFA-8D69-436D-BDD8-B55EA1813BC5}" type="pres">
      <dgm:prSet presAssocID="{528D7287-A7DF-47F4-BE2D-865B82E0647C}" presName="diagram" presStyleCnt="0">
        <dgm:presLayoutVars>
          <dgm:dir/>
          <dgm:resizeHandles val="exact"/>
        </dgm:presLayoutVars>
      </dgm:prSet>
      <dgm:spPr/>
    </dgm:pt>
    <dgm:pt modelId="{DA206AAE-A622-4258-B86A-1BA8D71739AE}" type="pres">
      <dgm:prSet presAssocID="{AA088BDF-021C-4A2B-A046-3B922D36C6D9}" presName="node" presStyleLbl="node1" presStyleIdx="0" presStyleCnt="4">
        <dgm:presLayoutVars>
          <dgm:bulletEnabled val="1"/>
        </dgm:presLayoutVars>
      </dgm:prSet>
      <dgm:spPr/>
    </dgm:pt>
    <dgm:pt modelId="{47B8CCA3-8B43-48BD-A94C-1E8A89F4623E}" type="pres">
      <dgm:prSet presAssocID="{AC47D60B-9A0F-48F3-BFCD-0715DAF60839}" presName="sibTrans" presStyleLbl="sibTrans2D1" presStyleIdx="0" presStyleCnt="3"/>
      <dgm:spPr/>
    </dgm:pt>
    <dgm:pt modelId="{B14DBD52-CC97-4AF5-98D5-D6A37E3BDA34}" type="pres">
      <dgm:prSet presAssocID="{AC47D60B-9A0F-48F3-BFCD-0715DAF60839}" presName="connectorText" presStyleLbl="sibTrans2D1" presStyleIdx="0" presStyleCnt="3"/>
      <dgm:spPr/>
    </dgm:pt>
    <dgm:pt modelId="{9629A5EE-7E87-4350-B7D0-B10F8CB5F487}" type="pres">
      <dgm:prSet presAssocID="{A53145CC-C9AC-4508-9B24-A473E6721452}" presName="node" presStyleLbl="node1" presStyleIdx="1" presStyleCnt="4">
        <dgm:presLayoutVars>
          <dgm:bulletEnabled val="1"/>
        </dgm:presLayoutVars>
      </dgm:prSet>
      <dgm:spPr/>
    </dgm:pt>
    <dgm:pt modelId="{1F5A9291-F362-42A9-AC70-A8CE680F7854}" type="pres">
      <dgm:prSet presAssocID="{B177F37B-F9C3-4CB5-93E7-5175876D0E6B}" presName="sibTrans" presStyleLbl="sibTrans2D1" presStyleIdx="1" presStyleCnt="3"/>
      <dgm:spPr/>
    </dgm:pt>
    <dgm:pt modelId="{5CDB0BE3-8FC7-4BCB-B135-2C32A63202FA}" type="pres">
      <dgm:prSet presAssocID="{B177F37B-F9C3-4CB5-93E7-5175876D0E6B}" presName="connectorText" presStyleLbl="sibTrans2D1" presStyleIdx="1" presStyleCnt="3"/>
      <dgm:spPr/>
    </dgm:pt>
    <dgm:pt modelId="{40483B13-578F-402A-A6D5-9EB12DF98A65}" type="pres">
      <dgm:prSet presAssocID="{9B75FB16-A83B-414F-8758-25089C785C27}" presName="node" presStyleLbl="node1" presStyleIdx="2" presStyleCnt="4">
        <dgm:presLayoutVars>
          <dgm:bulletEnabled val="1"/>
        </dgm:presLayoutVars>
      </dgm:prSet>
      <dgm:spPr/>
    </dgm:pt>
    <dgm:pt modelId="{83A8A47A-7D75-4EBD-87D4-960BAC3BE646}" type="pres">
      <dgm:prSet presAssocID="{E4FBB342-3746-41DB-9C65-0CF5E6BF35D7}" presName="sibTrans" presStyleLbl="sibTrans2D1" presStyleIdx="2" presStyleCnt="3"/>
      <dgm:spPr/>
    </dgm:pt>
    <dgm:pt modelId="{D479AAB3-47FD-4150-A6AC-6C79334E304F}" type="pres">
      <dgm:prSet presAssocID="{E4FBB342-3746-41DB-9C65-0CF5E6BF35D7}" presName="connectorText" presStyleLbl="sibTrans2D1" presStyleIdx="2" presStyleCnt="3"/>
      <dgm:spPr/>
    </dgm:pt>
    <dgm:pt modelId="{272C35E6-603E-4570-866E-164C5FE5FAC2}" type="pres">
      <dgm:prSet presAssocID="{793B5AE8-5328-4E6B-B32A-C7A9FA3C237A}" presName="node" presStyleLbl="node1" presStyleIdx="3" presStyleCnt="4">
        <dgm:presLayoutVars>
          <dgm:bulletEnabled val="1"/>
        </dgm:presLayoutVars>
      </dgm:prSet>
      <dgm:spPr/>
    </dgm:pt>
  </dgm:ptLst>
  <dgm:cxnLst>
    <dgm:cxn modelId="{C9B2E303-91FC-4424-9279-CD0098AD1588}" type="presOf" srcId="{E4FBB342-3746-41DB-9C65-0CF5E6BF35D7}" destId="{D479AAB3-47FD-4150-A6AC-6C79334E304F}" srcOrd="1" destOrd="0" presId="urn:microsoft.com/office/officeart/2005/8/layout/process5"/>
    <dgm:cxn modelId="{101A9D07-0E84-46EC-B1EC-FE9E996A71FE}" type="presOf" srcId="{528D7287-A7DF-47F4-BE2D-865B82E0647C}" destId="{DD520EFA-8D69-436D-BDD8-B55EA1813BC5}" srcOrd="0" destOrd="0" presId="urn:microsoft.com/office/officeart/2005/8/layout/process5"/>
    <dgm:cxn modelId="{F3FB7910-9D54-4014-A208-ECAC6B383C13}" type="presOf" srcId="{9B75FB16-A83B-414F-8758-25089C785C27}" destId="{40483B13-578F-402A-A6D5-9EB12DF98A65}" srcOrd="0" destOrd="0" presId="urn:microsoft.com/office/officeart/2005/8/layout/process5"/>
    <dgm:cxn modelId="{A6763420-3B6C-4FBC-9978-DF756E380A9A}" type="presOf" srcId="{E4FBB342-3746-41DB-9C65-0CF5E6BF35D7}" destId="{83A8A47A-7D75-4EBD-87D4-960BAC3BE646}" srcOrd="0" destOrd="0" presId="urn:microsoft.com/office/officeart/2005/8/layout/process5"/>
    <dgm:cxn modelId="{3E87222D-509A-40C8-9BBA-06E248A0B2F2}" srcId="{528D7287-A7DF-47F4-BE2D-865B82E0647C}" destId="{793B5AE8-5328-4E6B-B32A-C7A9FA3C237A}" srcOrd="3" destOrd="0" parTransId="{687F2183-4AF9-4809-86B8-398C48EC439A}" sibTransId="{D24FEC04-5539-4A38-99D8-09459BB806D8}"/>
    <dgm:cxn modelId="{31ABD13E-E27A-4364-9D7F-BE3A871FB9A5}" type="presOf" srcId="{AC47D60B-9A0F-48F3-BFCD-0715DAF60839}" destId="{47B8CCA3-8B43-48BD-A94C-1E8A89F4623E}" srcOrd="0" destOrd="0" presId="urn:microsoft.com/office/officeart/2005/8/layout/process5"/>
    <dgm:cxn modelId="{C202916A-F3CE-4015-B3E7-14265182524D}" type="presOf" srcId="{AC47D60B-9A0F-48F3-BFCD-0715DAF60839}" destId="{B14DBD52-CC97-4AF5-98D5-D6A37E3BDA34}" srcOrd="1" destOrd="0" presId="urn:microsoft.com/office/officeart/2005/8/layout/process5"/>
    <dgm:cxn modelId="{83EE6386-A67E-439D-9278-484A3FD7CB61}" type="presOf" srcId="{B177F37B-F9C3-4CB5-93E7-5175876D0E6B}" destId="{5CDB0BE3-8FC7-4BCB-B135-2C32A63202FA}" srcOrd="1" destOrd="0" presId="urn:microsoft.com/office/officeart/2005/8/layout/process5"/>
    <dgm:cxn modelId="{B48E548B-E3C7-4CF6-B06C-768DD61E2310}" type="presOf" srcId="{793B5AE8-5328-4E6B-B32A-C7A9FA3C237A}" destId="{272C35E6-603E-4570-866E-164C5FE5FAC2}" srcOrd="0" destOrd="0" presId="urn:microsoft.com/office/officeart/2005/8/layout/process5"/>
    <dgm:cxn modelId="{CA808994-2AA1-4EBE-BF3F-D8E3AFE0E0B1}" srcId="{528D7287-A7DF-47F4-BE2D-865B82E0647C}" destId="{9B75FB16-A83B-414F-8758-25089C785C27}" srcOrd="2" destOrd="0" parTransId="{83AB28F7-E6CF-4691-AF74-9B5DD2A8B2CC}" sibTransId="{E4FBB342-3746-41DB-9C65-0CF5E6BF35D7}"/>
    <dgm:cxn modelId="{5B137DA6-AD20-4700-836F-E415F5D07443}" type="presOf" srcId="{B177F37B-F9C3-4CB5-93E7-5175876D0E6B}" destId="{1F5A9291-F362-42A9-AC70-A8CE680F7854}" srcOrd="0" destOrd="0" presId="urn:microsoft.com/office/officeart/2005/8/layout/process5"/>
    <dgm:cxn modelId="{43A80EBC-EBF6-4333-9D5B-4BE614C498C2}" srcId="{528D7287-A7DF-47F4-BE2D-865B82E0647C}" destId="{AA088BDF-021C-4A2B-A046-3B922D36C6D9}" srcOrd="0" destOrd="0" parTransId="{3BA8D737-7ABD-4DF9-BF5F-C840022746A5}" sibTransId="{AC47D60B-9A0F-48F3-BFCD-0715DAF60839}"/>
    <dgm:cxn modelId="{1B55CAD3-7D3B-42A5-B6A1-29CB386B63BB}" type="presOf" srcId="{A53145CC-C9AC-4508-9B24-A473E6721452}" destId="{9629A5EE-7E87-4350-B7D0-B10F8CB5F487}" srcOrd="0" destOrd="0" presId="urn:microsoft.com/office/officeart/2005/8/layout/process5"/>
    <dgm:cxn modelId="{01E514DD-61A6-4770-B7FB-295B38D9F53B}" srcId="{528D7287-A7DF-47F4-BE2D-865B82E0647C}" destId="{A53145CC-C9AC-4508-9B24-A473E6721452}" srcOrd="1" destOrd="0" parTransId="{9203250F-5B39-4B7B-B98A-38E06D77F4D6}" sibTransId="{B177F37B-F9C3-4CB5-93E7-5175876D0E6B}"/>
    <dgm:cxn modelId="{B43AEFF5-664F-4B23-99B3-88520CBC9981}" type="presOf" srcId="{AA088BDF-021C-4A2B-A046-3B922D36C6D9}" destId="{DA206AAE-A622-4258-B86A-1BA8D71739AE}" srcOrd="0" destOrd="0" presId="urn:microsoft.com/office/officeart/2005/8/layout/process5"/>
    <dgm:cxn modelId="{3D6FE6A0-976A-4EB8-B9AB-3866EC8220B5}" type="presParOf" srcId="{DD520EFA-8D69-436D-BDD8-B55EA1813BC5}" destId="{DA206AAE-A622-4258-B86A-1BA8D71739AE}" srcOrd="0" destOrd="0" presId="urn:microsoft.com/office/officeart/2005/8/layout/process5"/>
    <dgm:cxn modelId="{544F47B4-31AD-4DE1-9175-21955CB95383}" type="presParOf" srcId="{DD520EFA-8D69-436D-BDD8-B55EA1813BC5}" destId="{47B8CCA3-8B43-48BD-A94C-1E8A89F4623E}" srcOrd="1" destOrd="0" presId="urn:microsoft.com/office/officeart/2005/8/layout/process5"/>
    <dgm:cxn modelId="{B549A8AA-34B4-4893-A314-DB01FF7800A3}" type="presParOf" srcId="{47B8CCA3-8B43-48BD-A94C-1E8A89F4623E}" destId="{B14DBD52-CC97-4AF5-98D5-D6A37E3BDA34}" srcOrd="0" destOrd="0" presId="urn:microsoft.com/office/officeart/2005/8/layout/process5"/>
    <dgm:cxn modelId="{D1A5EAD1-0572-414B-B92B-5C42116F40EB}" type="presParOf" srcId="{DD520EFA-8D69-436D-BDD8-B55EA1813BC5}" destId="{9629A5EE-7E87-4350-B7D0-B10F8CB5F487}" srcOrd="2" destOrd="0" presId="urn:microsoft.com/office/officeart/2005/8/layout/process5"/>
    <dgm:cxn modelId="{3519E402-64E7-4E27-A35C-F9730EBD76FF}" type="presParOf" srcId="{DD520EFA-8D69-436D-BDD8-B55EA1813BC5}" destId="{1F5A9291-F362-42A9-AC70-A8CE680F7854}" srcOrd="3" destOrd="0" presId="urn:microsoft.com/office/officeart/2005/8/layout/process5"/>
    <dgm:cxn modelId="{1C5B78BB-C75F-49CB-91E4-77AE61E396BE}" type="presParOf" srcId="{1F5A9291-F362-42A9-AC70-A8CE680F7854}" destId="{5CDB0BE3-8FC7-4BCB-B135-2C32A63202FA}" srcOrd="0" destOrd="0" presId="urn:microsoft.com/office/officeart/2005/8/layout/process5"/>
    <dgm:cxn modelId="{7D5AA24A-058D-4CEC-BCC5-FBE7EB18542F}" type="presParOf" srcId="{DD520EFA-8D69-436D-BDD8-B55EA1813BC5}" destId="{40483B13-578F-402A-A6D5-9EB12DF98A65}" srcOrd="4" destOrd="0" presId="urn:microsoft.com/office/officeart/2005/8/layout/process5"/>
    <dgm:cxn modelId="{3A683BAA-15D0-4C3A-A355-99B5D9E7657E}" type="presParOf" srcId="{DD520EFA-8D69-436D-BDD8-B55EA1813BC5}" destId="{83A8A47A-7D75-4EBD-87D4-960BAC3BE646}" srcOrd="5" destOrd="0" presId="urn:microsoft.com/office/officeart/2005/8/layout/process5"/>
    <dgm:cxn modelId="{94BAF119-7A78-466E-98AC-43FE6353768D}" type="presParOf" srcId="{83A8A47A-7D75-4EBD-87D4-960BAC3BE646}" destId="{D479AAB3-47FD-4150-A6AC-6C79334E304F}" srcOrd="0" destOrd="0" presId="urn:microsoft.com/office/officeart/2005/8/layout/process5"/>
    <dgm:cxn modelId="{99ED9CDA-0B20-45C1-BEA1-2D1FFF461853}" type="presParOf" srcId="{DD520EFA-8D69-436D-BDD8-B55EA1813BC5}" destId="{272C35E6-603E-4570-866E-164C5FE5FAC2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06AAE-A622-4258-B86A-1BA8D71739AE}">
      <dsp:nvSpPr>
        <dsp:cNvPr id="0" name=""/>
        <dsp:cNvSpPr/>
      </dsp:nvSpPr>
      <dsp:spPr>
        <a:xfrm>
          <a:off x="892" y="305395"/>
          <a:ext cx="1904255" cy="11425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"/>
              <a:ea typeface="Calibri"/>
              <a:cs typeface="Calibri"/>
            </a:rPr>
            <a:t>DIAGNOSE</a:t>
          </a:r>
        </a:p>
      </dsp:txBody>
      <dsp:txXfrm>
        <a:off x="34356" y="338859"/>
        <a:ext cx="1837327" cy="1075625"/>
      </dsp:txXfrm>
    </dsp:sp>
    <dsp:sp modelId="{47B8CCA3-8B43-48BD-A94C-1E8A89F4623E}">
      <dsp:nvSpPr>
        <dsp:cNvPr id="0" name=""/>
        <dsp:cNvSpPr/>
      </dsp:nvSpPr>
      <dsp:spPr>
        <a:xfrm>
          <a:off x="2072723" y="640544"/>
          <a:ext cx="403702" cy="47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072723" y="734995"/>
        <a:ext cx="282591" cy="283353"/>
      </dsp:txXfrm>
    </dsp:sp>
    <dsp:sp modelId="{9629A5EE-7E87-4350-B7D0-B10F8CB5F487}">
      <dsp:nvSpPr>
        <dsp:cNvPr id="0" name=""/>
        <dsp:cNvSpPr/>
      </dsp:nvSpPr>
      <dsp:spPr>
        <a:xfrm>
          <a:off x="2666851" y="305395"/>
          <a:ext cx="1904255" cy="11425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"/>
              <a:ea typeface="Calibri"/>
              <a:cs typeface="Calibri"/>
            </a:rPr>
            <a:t>DESIGN</a:t>
          </a:r>
        </a:p>
      </dsp:txBody>
      <dsp:txXfrm>
        <a:off x="2700315" y="338859"/>
        <a:ext cx="1837327" cy="1075625"/>
      </dsp:txXfrm>
    </dsp:sp>
    <dsp:sp modelId="{1F5A9291-F362-42A9-AC70-A8CE680F7854}">
      <dsp:nvSpPr>
        <dsp:cNvPr id="0" name=""/>
        <dsp:cNvSpPr/>
      </dsp:nvSpPr>
      <dsp:spPr>
        <a:xfrm rot="5400000">
          <a:off x="3417127" y="1581246"/>
          <a:ext cx="403702" cy="47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477302" y="1615523"/>
        <a:ext cx="283353" cy="282591"/>
      </dsp:txXfrm>
    </dsp:sp>
    <dsp:sp modelId="{40483B13-578F-402A-A6D5-9EB12DF98A65}">
      <dsp:nvSpPr>
        <dsp:cNvPr id="0" name=""/>
        <dsp:cNvSpPr/>
      </dsp:nvSpPr>
      <dsp:spPr>
        <a:xfrm>
          <a:off x="2666851" y="2209651"/>
          <a:ext cx="1904255" cy="11425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"/>
              <a:ea typeface="Calibri"/>
              <a:cs typeface="Calibri"/>
            </a:rPr>
            <a:t>DELIVER</a:t>
          </a:r>
        </a:p>
      </dsp:txBody>
      <dsp:txXfrm>
        <a:off x="2700315" y="2243115"/>
        <a:ext cx="1837327" cy="1075625"/>
      </dsp:txXfrm>
    </dsp:sp>
    <dsp:sp modelId="{83A8A47A-7D75-4EBD-87D4-960BAC3BE646}">
      <dsp:nvSpPr>
        <dsp:cNvPr id="0" name=""/>
        <dsp:cNvSpPr/>
      </dsp:nvSpPr>
      <dsp:spPr>
        <a:xfrm rot="10800000">
          <a:off x="2095574" y="2544800"/>
          <a:ext cx="403702" cy="4722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2216685" y="2639251"/>
        <a:ext cx="282591" cy="283353"/>
      </dsp:txXfrm>
    </dsp:sp>
    <dsp:sp modelId="{272C35E6-603E-4570-866E-164C5FE5FAC2}">
      <dsp:nvSpPr>
        <dsp:cNvPr id="0" name=""/>
        <dsp:cNvSpPr/>
      </dsp:nvSpPr>
      <dsp:spPr>
        <a:xfrm>
          <a:off x="892" y="2209651"/>
          <a:ext cx="1904255" cy="11425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"/>
              <a:ea typeface="Calibri"/>
              <a:cs typeface="Calibri"/>
            </a:rPr>
            <a:t>SUSTAIN</a:t>
          </a:r>
          <a:endParaRPr lang="en-US" sz="2300" kern="1200"/>
        </a:p>
      </dsp:txBody>
      <dsp:txXfrm>
        <a:off x="34356" y="2243115"/>
        <a:ext cx="1837327" cy="107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photo.jpg"/>
          <p:cNvPicPr>
            <a:picLocks noChangeAspect="1"/>
          </p:cNvPicPr>
          <p:nvPr/>
        </p:nvPicPr>
        <p:blipFill>
          <a:blip r:embed="rId2"/>
          <a:srcRect l="26274" r="26274"/>
          <a:stretch>
            <a:fillRect/>
          </a:stretch>
        </p:blipFill>
        <p:spPr>
          <a:xfrm>
            <a:off x="5969000" y="0"/>
            <a:ext cx="6223000" cy="6858000"/>
          </a:xfrm>
          <a:prstGeom prst="rect">
            <a:avLst/>
          </a:prstGeom>
          <a:effectLst/>
        </p:spPr>
      </p:pic>
      <p:sp>
        <p:nvSpPr>
          <p:cNvPr id="4" name="Freeform 3"/>
          <p:cNvSpPr/>
          <p:nvPr/>
        </p:nvSpPr>
        <p:spPr>
          <a:xfrm>
            <a:off x="0" y="0"/>
            <a:ext cx="8382000" cy="6858000"/>
          </a:xfrm>
          <a:custGeom>
            <a:avLst/>
            <a:gdLst/>
            <a:ahLst/>
            <a:cxnLst/>
            <a:rect l="l" t="t" r="r" b="b"/>
            <a:pathLst>
              <a:path w="8382000" h="6858000">
                <a:moveTo>
                  <a:pt x="0" y="0"/>
                </a:moveTo>
                <a:lnTo>
                  <a:pt x="8382000" y="0"/>
                </a:lnTo>
                <a:lnTo>
                  <a:pt x="5969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838200"/>
            <a:ext cx="711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Verdana"/>
              </a:rPr>
              <a:t>N O R T H B E A M   P A R T N E R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498600"/>
            <a:ext cx="7112000" cy="241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Verdana"/>
              </a:rPr>
              <a:t>SALES ACCELERATION &amp; REVENUE GROWTH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191000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Verdana"/>
              </a:rPr>
              <a:t>PREPARED FOR THE EXECUTIVE COMMITTEE OF HALCYON RETAIL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546600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D7D7D7"/>
                </a:solidFill>
                <a:latin typeface="Verdana"/>
              </a:rPr>
              <a:t>Six-week diagnostic completed  ·  Program proposal for decision  ·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413500"/>
            <a:ext cx="7112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Strictly private &amp; confidential. Figures are preliminary, illustrative estimates prepared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6510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8000" y="17018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Who we are — and why we are in the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8000" y="24384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9000" y="27686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0" y="28194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What you told us: needs on the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000" y="35560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9000" y="38862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8000" y="39370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The challenges holding revenue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46736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000" y="50038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8000" y="50546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How we work: the engagement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57912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7000" y="16510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6000" y="17018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The cost of standing still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6000" y="24384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7000" y="27686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6000" y="28194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How we help — three levers, one program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6000" y="35560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7000" y="38862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000" y="39370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Investment, results stories &amp; references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6000" y="46736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7000" y="5003800"/>
            <a:ext cx="76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Verdana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6000" y="5054600"/>
            <a:ext cx="406400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1B1B"/>
                </a:solidFill>
                <a:latin typeface="Verdana"/>
              </a:rPr>
              <a:t>Why Northbeam — and where we go from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6000" y="5791200"/>
            <a:ext cx="4064000" cy="1524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ro_photo.jpg"/>
          <p:cNvPicPr>
            <a:picLocks noChangeAspect="1"/>
          </p:cNvPicPr>
          <p:nvPr/>
        </p:nvPicPr>
        <p:blipFill>
          <a:blip r:embed="rId2"/>
          <a:srcRect l="29663" r="2966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5842000" y="609600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Verdana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0" y="939800"/>
            <a:ext cx="5588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1B1B"/>
                </a:solidFill>
                <a:latin typeface="Verdana"/>
              </a:rPr>
              <a:t>WHO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42000" y="1600200"/>
            <a:ext cx="762000" cy="50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42000" y="1905000"/>
            <a:ext cx="5715000" cy="38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12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Boutique sales consultancy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— 140 practitioners across 6 offices, focused exclusively on </a:t>
            </a:r>
            <a:r>
              <a:rPr sz="1300" b="1" i="0">
                <a:solidFill>
                  <a:srgbClr val="1B1B1B"/>
                </a:solidFill>
                <a:latin typeface="Verdana"/>
              </a:rPr>
              <a:t>B2B revenue organizations</a:t>
            </a:r>
          </a:p>
          <a:p>
            <a:pPr marL="190500" indent="-190500" algn="l">
              <a:lnSpc>
                <a:spcPct val="112000"/>
              </a:lnSpc>
              <a:spcAft>
                <a:spcPts val="12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21 years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building pipeline engines for retail, manufacturing and distribution clients</a:t>
            </a:r>
          </a:p>
          <a:p>
            <a:pPr marL="190500" indent="-190500" algn="l">
              <a:lnSpc>
                <a:spcPct val="112000"/>
              </a:lnSpc>
              <a:spcAft>
                <a:spcPts val="12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Operator-led teams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— every engagement lead has carried a quota and run a sales floor</a:t>
            </a:r>
          </a:p>
          <a:p>
            <a:pPr marL="190500" indent="-190500" algn="l">
              <a:lnSpc>
                <a:spcPct val="112000"/>
              </a:lnSpc>
              <a:spcAft>
                <a:spcPts val="12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Measured on outcomes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: 87% of fees in our last fiscal year were tied to delivered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0" y="5969000"/>
            <a:ext cx="558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Verdana"/>
              </a:rPr>
              <a:t>One thesis: disciplined process beats heroic selling.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7620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O U R   P R O M I S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05000"/>
            <a:ext cx="9906000" cy="20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Verdana"/>
              </a:rPr>
              <a:t>WE TURN PIPELINE INTO PREDICTABLE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9100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Verdana"/>
              </a:rPr>
              <a:t>$12.4M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Verdana"/>
              </a:rPr>
              <a:t>of incremental annual revenue targeted for Halcyon within 24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08000"/>
            <a:ext cx="2540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>
                <a:solidFill>
                  <a:srgbClr val="C00000"/>
                </a:solidFill>
                <a:latin typeface="Verdan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1905000"/>
            <a:ext cx="9652000" cy="20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B1B1B"/>
                </a:solidFill>
                <a:latin typeface="Verdana"/>
              </a:rPr>
              <a:t>The best sales organizations do not sell harder — </a:t>
            </a:r>
            <a:r>
              <a:rPr sz="2600" b="1" i="0">
                <a:solidFill>
                  <a:srgbClr val="C00000"/>
                </a:solidFill>
                <a:latin typeface="Verdana"/>
              </a:rPr>
              <a:t>they remove every reason</a:t>
            </a:r>
            <a:r>
              <a:rPr sz="2600" b="1" i="0">
                <a:solidFill>
                  <a:srgbClr val="1B1B1B"/>
                </a:solidFill>
                <a:latin typeface="Verdana"/>
              </a:rPr>
              <a:t> a deal has to stall.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0000" y="4191000"/>
            <a:ext cx="762000" cy="50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0000" y="44450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Verdana"/>
              </a:rPr>
              <a:t>MARLENE VOSS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74980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47474"/>
                </a:solidFill>
                <a:latin typeface="Verdana"/>
              </a:rPr>
              <a:t>Founding Partner, Northbeam Partners — from 'The Disciplined Pipeline',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WHAT YOU TOLD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Verdana"/>
              </a:rPr>
              <a:t>Client needs — six-week diagnostic, 34 interviews across sales, marketing and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24000"/>
            <a:ext cx="7112000" cy="419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Growth has stalled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— revenue flat for three consecutive quarters</a:t>
            </a:r>
          </a:p>
          <a:p>
            <a:pPr marL="3810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–"/>
            </a:pPr>
            <a:r>
              <a:rPr sz="1150" b="0" i="0">
                <a:solidFill>
                  <a:srgbClr val="1B1B1B"/>
                </a:solidFill>
                <a:latin typeface="Verdana"/>
              </a:rPr>
              <a:t>Win rate on new logos fell from </a:t>
            </a:r>
            <a:r>
              <a:rPr sz="1150" b="1" i="0">
                <a:solidFill>
                  <a:srgbClr val="1B1B1B"/>
                </a:solidFill>
                <a:latin typeface="Verdana"/>
              </a:rPr>
              <a:t>31% to 22%</a:t>
            </a:r>
            <a:r>
              <a:rPr sz="1150" b="0" i="0">
                <a:solidFill>
                  <a:srgbClr val="1B1B1B"/>
                </a:solidFill>
                <a:latin typeface="Verdana"/>
              </a:rPr>
              <a:t> year over year</a:t>
            </a:r>
          </a:p>
          <a:p>
            <a:pPr marL="3810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–"/>
            </a:pPr>
            <a:r>
              <a:rPr sz="1150" b="0" i="0">
                <a:solidFill>
                  <a:srgbClr val="1B1B1B"/>
                </a:solidFill>
                <a:latin typeface="Verdana"/>
              </a:rPr>
              <a:t>Average deal cycle stretched by </a:t>
            </a:r>
            <a:r>
              <a:rPr sz="1150" b="1" i="0">
                <a:solidFill>
                  <a:srgbClr val="1B1B1B"/>
                </a:solidFill>
                <a:latin typeface="Verdana"/>
              </a:rPr>
              <a:t>19 days</a:t>
            </a:r>
          </a:p>
          <a:p>
            <a:pPr marL="1905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Pipeline is opaque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— forecasts miss by ±25% at month-end</a:t>
            </a:r>
          </a:p>
          <a:p>
            <a:pPr marL="3810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–"/>
            </a:pPr>
            <a:r>
              <a:rPr sz="1150" b="0" i="0">
                <a:solidFill>
                  <a:srgbClr val="1B1B1B"/>
                </a:solidFill>
                <a:latin typeface="Verdana"/>
              </a:rPr>
              <a:t>No single source of truth across </a:t>
            </a:r>
            <a:r>
              <a:rPr sz="1150" b="1" i="0">
                <a:solidFill>
                  <a:srgbClr val="1B1B1B"/>
                </a:solidFill>
                <a:latin typeface="Verdana"/>
              </a:rPr>
              <a:t>4 regional CRM instances</a:t>
            </a:r>
          </a:p>
          <a:p>
            <a:pPr marL="1905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Teams are busy, not productive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— reps spend 62% of time on non-selling work</a:t>
            </a:r>
          </a:p>
          <a:p>
            <a:pPr marL="190500" indent="-190500" algn="l">
              <a:lnSpc>
                <a:spcPct val="112000"/>
              </a:lnSpc>
              <a:spcAft>
                <a:spcPts val="800"/>
              </a:spcAft>
              <a:buFont typeface="Verdana"/>
              <a:buChar char="•"/>
            </a:pPr>
            <a:r>
              <a:rPr sz="1300" b="1" i="0">
                <a:solidFill>
                  <a:srgbClr val="1B1B1B"/>
                </a:solidFill>
                <a:latin typeface="Verdana"/>
              </a:rPr>
              <a:t>You want a partner</a:t>
            </a:r>
            <a:r>
              <a:rPr sz="1300" b="0" i="0">
                <a:solidFill>
                  <a:srgbClr val="1B1B1B"/>
                </a:solidFill>
                <a:latin typeface="Verdana"/>
              </a:rPr>
              <a:t> who builds capability, not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0" y="1524000"/>
            <a:ext cx="3175000" cy="381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99500" y="19050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Verdana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9500" y="27305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Verdana"/>
              </a:rPr>
              <a:t>stakeholder interviews in six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99500" y="3429000"/>
            <a:ext cx="2540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99500" y="36830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Verdana"/>
              </a:rPr>
              <a:t>Every finding in this deck traces back to your own people, your own data, your own deals.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THE CHALLENGES ON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19200"/>
            <a:ext cx="508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Verdana"/>
              </a:rPr>
              <a:t>PIPELINE &amp;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600200"/>
            <a:ext cx="60960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803400"/>
            <a:ext cx="5080000" cy="38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1000"/>
              </a:spcAft>
              <a:buFont typeface="Verdana"/>
              <a:buChar char="•"/>
            </a:pPr>
            <a:r>
              <a:rPr sz="1250" b="1" i="0">
                <a:solidFill>
                  <a:srgbClr val="1B1B1B"/>
                </a:solidFill>
                <a:latin typeface="Verdana"/>
              </a:rPr>
              <a:t>Lead qualification is tribal</a:t>
            </a:r>
            <a:r>
              <a:rPr sz="1250" b="0" i="0">
                <a:solidFill>
                  <a:srgbClr val="1B1B1B"/>
                </a:solidFill>
                <a:latin typeface="Verdana"/>
              </a:rPr>
              <a:t> — 8 layers of handoffs between marketing and the floor</a:t>
            </a:r>
          </a:p>
          <a:p>
            <a:pPr marL="190500" indent="-190500" algn="l">
              <a:lnSpc>
                <a:spcPct val="112000"/>
              </a:lnSpc>
              <a:spcAft>
                <a:spcPts val="1000"/>
              </a:spcAft>
              <a:buFont typeface="Verdana"/>
              <a:buChar char="•"/>
            </a:pPr>
            <a:r>
              <a:rPr sz="1250" b="1" i="0">
                <a:solidFill>
                  <a:srgbClr val="1B1B1B"/>
                </a:solidFill>
                <a:latin typeface="Verdana"/>
              </a:rPr>
              <a:t>Discounting is unmanaged</a:t>
            </a:r>
            <a:r>
              <a:rPr sz="1250" b="0" i="0">
                <a:solidFill>
                  <a:srgbClr val="1B1B1B"/>
                </a:solidFill>
                <a:latin typeface="Verdana"/>
              </a:rPr>
              <a:t>: 14.4% average give-away vs. 9–11% peer range</a:t>
            </a:r>
          </a:p>
          <a:p>
            <a:pPr marL="190500" indent="-190500" algn="l">
              <a:lnSpc>
                <a:spcPct val="112000"/>
              </a:lnSpc>
              <a:spcAft>
                <a:spcPts val="1000"/>
              </a:spcAft>
              <a:buFont typeface="Verdana"/>
              <a:buChar char="•"/>
            </a:pPr>
            <a:r>
              <a:rPr sz="1250" b="0" i="0">
                <a:solidFill>
                  <a:srgbClr val="1B1B1B"/>
                </a:solidFill>
                <a:latin typeface="Verdana"/>
              </a:rPr>
              <a:t>Decision cycles run </a:t>
            </a:r>
            <a:r>
              <a:rPr sz="1250" b="1" i="0">
                <a:solidFill>
                  <a:srgbClr val="1B1B1B"/>
                </a:solidFill>
                <a:latin typeface="Verdana"/>
              </a:rPr>
              <a:t>3× slower</a:t>
            </a:r>
            <a:r>
              <a:rPr sz="1250" b="0" i="0">
                <a:solidFill>
                  <a:srgbClr val="1B1B1B"/>
                </a:solidFill>
                <a:latin typeface="Verdana"/>
              </a:rPr>
              <a:t> than best-in-class competitors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1219200"/>
            <a:ext cx="15240" cy="482600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0" y="1219200"/>
            <a:ext cx="5080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Verdana"/>
              </a:rPr>
              <a:t>PEOPLE &amp;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4000" y="1600200"/>
            <a:ext cx="60960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0" y="1803400"/>
            <a:ext cx="5080000" cy="38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1000"/>
              </a:spcAft>
              <a:buFont typeface="Verdana"/>
              <a:buChar char="•"/>
            </a:pPr>
            <a:r>
              <a:rPr sz="1250" b="1" i="0">
                <a:solidFill>
                  <a:srgbClr val="1B1B1B"/>
                </a:solidFill>
                <a:latin typeface="Verdana"/>
              </a:rPr>
              <a:t>Span of control 1 : 4.2</a:t>
            </a:r>
            <a:r>
              <a:rPr sz="1250" b="0" i="0">
                <a:solidFill>
                  <a:srgbClr val="1B1B1B"/>
                </a:solidFill>
                <a:latin typeface="Verdana"/>
              </a:rPr>
              <a:t> against a 1 : 8 benchmark — managers administrate, they don't coach</a:t>
            </a:r>
          </a:p>
          <a:p>
            <a:pPr marL="190500" indent="-190500" algn="l">
              <a:lnSpc>
                <a:spcPct val="112000"/>
              </a:lnSpc>
              <a:spcAft>
                <a:spcPts val="1000"/>
              </a:spcAft>
              <a:buFont typeface="Verdana"/>
              <a:buChar char="•"/>
            </a:pPr>
            <a:r>
              <a:rPr sz="1250" b="1" i="0">
                <a:solidFill>
                  <a:srgbClr val="1B1B1B"/>
                </a:solidFill>
                <a:latin typeface="Verdana"/>
              </a:rPr>
              <a:t>CRM data trust is broken</a:t>
            </a:r>
            <a:r>
              <a:rPr sz="1250" b="0" i="0">
                <a:solidFill>
                  <a:srgbClr val="1B1B1B"/>
                </a:solidFill>
                <a:latin typeface="Verdana"/>
              </a:rPr>
              <a:t> — reps keep shadow spreadsheets, forecasts are negotiated</a:t>
            </a:r>
          </a:p>
          <a:p>
            <a:pPr marL="190500" indent="-190500" algn="l">
              <a:lnSpc>
                <a:spcPct val="112000"/>
              </a:lnSpc>
              <a:spcAft>
                <a:spcPts val="1000"/>
              </a:spcAft>
              <a:buFont typeface="Verdana"/>
              <a:buChar char="•"/>
            </a:pPr>
            <a:r>
              <a:rPr sz="1250" b="1" i="0">
                <a:solidFill>
                  <a:srgbClr val="1B1B1B"/>
                </a:solidFill>
                <a:latin typeface="Verdana"/>
              </a:rPr>
              <a:t>Enablement is event-based</a:t>
            </a:r>
            <a:r>
              <a:rPr sz="1250" b="0" i="0">
                <a:solidFill>
                  <a:srgbClr val="1B1B1B"/>
                </a:solidFill>
                <a:latin typeface="Verdana"/>
              </a:rPr>
              <a:t>: one annual kickoff, no reinforcement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Verdana"/>
              </a:rPr>
              <a:t>One integrated workflow — each stage gated, each gate evidenced</a:t>
            </a:r>
          </a:p>
        </p:txBody>
      </p:sp>
      <p:sp>
        <p:nvSpPr>
          <p:cNvPr id="5" name="Chevron 4"/>
          <p:cNvSpPr/>
          <p:nvPr/>
        </p:nvSpPr>
        <p:spPr>
          <a:xfrm>
            <a:off x="609600" y="2032000"/>
            <a:ext cx="2819400" cy="9652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rIns="101600" rtlCol="0" anchor="ctr"/>
          <a:lstStyle/>
          <a:p>
            <a:pPr algn="l"/>
            <a:r>
              <a:rPr sz="900" b="1" i="0">
                <a:solidFill>
                  <a:srgbClr val="D7D7D7"/>
                </a:solidFill>
                <a:latin typeface="Verdana"/>
              </a:rPr>
              <a:t>WEEKS 1–3
</a:t>
            </a:r>
            <a:r>
              <a:rPr sz="1600" b="1" i="0">
                <a:solidFill>
                  <a:srgbClr val="FFFFFF"/>
                </a:solidFill>
                <a:latin typeface="Verdana"/>
              </a:rPr>
              <a:t>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2512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B1B"/>
                </a:solidFill>
                <a:latin typeface="Verdana"/>
              </a:rPr>
              <a:t>Deal autopsies, funnel math, voice-of-customer</a:t>
            </a:r>
          </a:p>
        </p:txBody>
      </p:sp>
      <p:sp>
        <p:nvSpPr>
          <p:cNvPr id="7" name="Chevron 6"/>
          <p:cNvSpPr/>
          <p:nvPr/>
        </p:nvSpPr>
        <p:spPr>
          <a:xfrm>
            <a:off x="3479800" y="2032000"/>
            <a:ext cx="2819400" cy="965200"/>
          </a:xfrm>
          <a:prstGeom prst="chevron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rIns="101600" rtlCol="0" anchor="ctr"/>
          <a:lstStyle/>
          <a:p>
            <a:pPr algn="l"/>
            <a:r>
              <a:rPr sz="900" b="1" i="0">
                <a:solidFill>
                  <a:srgbClr val="D7D7D7"/>
                </a:solidFill>
                <a:latin typeface="Verdana"/>
              </a:rPr>
              <a:t>WEEKS 4–8
</a:t>
            </a:r>
            <a:r>
              <a:rPr sz="1600" b="1" i="0">
                <a:solidFill>
                  <a:srgbClr val="FFFFFF"/>
                </a:solidFill>
                <a:latin typeface="Verdana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32512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B1B"/>
                </a:solidFill>
                <a:latin typeface="Verdana"/>
              </a:rPr>
              <a:t>New plays, pricing guardrails, org blueprint</a:t>
            </a:r>
          </a:p>
        </p:txBody>
      </p:sp>
      <p:sp>
        <p:nvSpPr>
          <p:cNvPr id="9" name="Chevron 8"/>
          <p:cNvSpPr/>
          <p:nvPr/>
        </p:nvSpPr>
        <p:spPr>
          <a:xfrm>
            <a:off x="6350000" y="2032000"/>
            <a:ext cx="2819400" cy="9652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rIns="101600" rtlCol="0" anchor="ctr"/>
          <a:lstStyle/>
          <a:p>
            <a:pPr algn="l"/>
            <a:r>
              <a:rPr sz="900" b="1" i="0">
                <a:solidFill>
                  <a:srgbClr val="D7D7D7"/>
                </a:solidFill>
                <a:latin typeface="Verdana"/>
              </a:rPr>
              <a:t>WEEKS 9–20
</a:t>
            </a:r>
            <a:r>
              <a:rPr sz="1600" b="1" i="0">
                <a:solidFill>
                  <a:srgbClr val="FFFFFF"/>
                </a:solidFill>
                <a:latin typeface="Verdana"/>
              </a:rPr>
              <a:t>DELIVER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600" y="32512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B1B"/>
                </a:solidFill>
                <a:latin typeface="Verdana"/>
              </a:rPr>
              <a:t>Pilot waves with your own teams, on live deals</a:t>
            </a:r>
          </a:p>
        </p:txBody>
      </p:sp>
      <p:sp>
        <p:nvSpPr>
          <p:cNvPr id="11" name="Chevron 10"/>
          <p:cNvSpPr/>
          <p:nvPr/>
        </p:nvSpPr>
        <p:spPr>
          <a:xfrm>
            <a:off x="9220200" y="2032000"/>
            <a:ext cx="2819400" cy="965200"/>
          </a:xfrm>
          <a:prstGeom prst="chevron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rIns="101600" rtlCol="0" anchor="ctr"/>
          <a:lstStyle/>
          <a:p>
            <a:pPr algn="l"/>
            <a:r>
              <a:rPr sz="900" b="1" i="0">
                <a:solidFill>
                  <a:srgbClr val="D7D7D7"/>
                </a:solidFill>
                <a:latin typeface="Verdana"/>
              </a:rPr>
              <a:t>WEEKS 21+
</a:t>
            </a:r>
            <a:r>
              <a:rPr sz="1600" b="1" i="0">
                <a:solidFill>
                  <a:srgbClr val="FFFFFF"/>
                </a:solidFill>
                <a:latin typeface="Verdana"/>
              </a:rPr>
              <a:t>SUSTAIN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1800" y="32512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B1B"/>
                </a:solidFill>
                <a:latin typeface="Verdana"/>
              </a:rPr>
              <a:t>Coaching cadence, dashboards, line ownership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46800"/>
            <a:ext cx="12192000" cy="711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146800"/>
            <a:ext cx="109728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ONE PROGRAM OFFICE. ONE BENEFITS BASELINE. NO STAGE STANDS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THE COST OF STANDING STILL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Verdana"/>
              </a:rPr>
              <a:t>Indexed vs. best-in-class composite (= 100) — 12 commercial KPIs, FY2025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2000" y="1397000"/>
          <a:ext cx="7620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90000" y="1651000"/>
            <a:ext cx="279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Verdan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0" y="2133600"/>
            <a:ext cx="2794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1B1B"/>
                </a:solidFill>
                <a:latin typeface="Verdana"/>
              </a:rPr>
              <a:t>Every dimension trails</a:t>
            </a:r>
            <a:r>
              <a:rPr sz="1200" b="0" i="0">
                <a:solidFill>
                  <a:srgbClr val="1B1B1B"/>
                </a:solidFill>
                <a:latin typeface="Verdana"/>
              </a:rPr>
              <a:t> — the gap is structural, not cyclical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0" y="3302000"/>
            <a:ext cx="279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Verdan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3784600"/>
            <a:ext cx="279400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B1B1B"/>
                </a:solidFill>
                <a:latin typeface="Verdana"/>
              </a:rPr>
              <a:t>Doing nothing costs </a:t>
            </a:r>
            <a:r>
              <a:rPr sz="1200" b="1" i="0">
                <a:solidFill>
                  <a:srgbClr val="C00000"/>
                </a:solidFill>
                <a:latin typeface="Verdana"/>
              </a:rPr>
              <a:t>~$1.1M per quarter</a:t>
            </a:r>
            <a:r>
              <a:rPr sz="1200" b="0" i="0">
                <a:solidFill>
                  <a:srgbClr val="1B1B1B"/>
                </a:solidFill>
                <a:latin typeface="Verdana"/>
              </a:rPr>
              <a:t> in leaked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67400"/>
            <a:ext cx="12192000" cy="50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5867400"/>
            <a:ext cx="109728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Verdana"/>
              </a:rPr>
              <a:t>EVERY QUARTER OF DELAY WIDENS THE GAP — THE COMPOUNDING RUNS AGAINST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THREE LEVERS, ONE INTEGRATED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Verdana"/>
              </a:rPr>
              <a:t>Run as a single program with one benefits baseline — each lever reinforces the others</a:t>
            </a:r>
          </a:p>
        </p:txBody>
      </p:sp>
      <p:sp>
        <p:nvSpPr>
          <p:cNvPr id="5" name="Oval 4"/>
          <p:cNvSpPr/>
          <p:nvPr/>
        </p:nvSpPr>
        <p:spPr>
          <a:xfrm>
            <a:off x="1752600" y="1524000"/>
            <a:ext cx="1143000" cy="1143000"/>
          </a:xfrm>
          <a:prstGeom prst="ellipse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2133600" y="1905000"/>
            <a:ext cx="381000" cy="38100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28575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1B1B"/>
                </a:solidFill>
                <a:latin typeface="Verdana"/>
              </a:rPr>
              <a:t>SHARPEN THE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00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Verdana"/>
              </a:rPr>
              <a:t>$4.2M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83000"/>
            <a:ext cx="3429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47474"/>
                </a:solidFill>
                <a:latin typeface="Verdana"/>
              </a:rPr>
              <a:t>INCREMENTAL REVENUE P.A.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4089400"/>
            <a:ext cx="3175000" cy="165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1" i="0">
                <a:solidFill>
                  <a:srgbClr val="1B1B1B"/>
                </a:solidFill>
                <a:latin typeface="Verdana"/>
              </a:rPr>
              <a:t>One qualification standard</a:t>
            </a:r>
            <a:r>
              <a:rPr sz="1050" b="0" i="0">
                <a:solidFill>
                  <a:srgbClr val="1B1B1B"/>
                </a:solidFill>
                <a:latin typeface="Verdana"/>
              </a:rPr>
              <a:t> across all regions</a:t>
            </a:r>
          </a:p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1" i="0">
                <a:solidFill>
                  <a:srgbClr val="1B1B1B"/>
                </a:solidFill>
                <a:latin typeface="Verdana"/>
              </a:rPr>
              <a:t>Pricing guardrails</a:t>
            </a:r>
            <a:r>
              <a:rPr sz="1050" b="0" i="0">
                <a:solidFill>
                  <a:srgbClr val="1B1B1B"/>
                </a:solidFill>
                <a:latin typeface="Verdana"/>
              </a:rPr>
              <a:t> with deal-desk SLA</a:t>
            </a:r>
          </a:p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0" i="0">
                <a:solidFill>
                  <a:srgbClr val="1B1B1B"/>
                </a:solidFill>
                <a:latin typeface="Verdana"/>
              </a:rPr>
              <a:t>Discovery-to-close plays for the </a:t>
            </a:r>
            <a:r>
              <a:rPr sz="1050" b="1" i="0">
                <a:solidFill>
                  <a:srgbClr val="1B1B1B"/>
                </a:solidFill>
                <a:latin typeface="Verdana"/>
              </a:rPr>
              <a:t>top 3 deal types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1524000"/>
            <a:ext cx="1143000" cy="1143000"/>
          </a:xfrm>
          <a:prstGeom prst="ellipse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096000" y="1905000"/>
            <a:ext cx="381000" cy="38100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8575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1B1B"/>
                </a:solidFill>
                <a:latin typeface="Verdana"/>
              </a:rPr>
              <a:t>COACH THE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Verdana"/>
              </a:rPr>
              <a:t>$3.6M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83000"/>
            <a:ext cx="3429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47474"/>
                </a:solidFill>
                <a:latin typeface="Verdana"/>
              </a:rPr>
              <a:t>INCREMENTAL REVENUE P.A.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9000" y="4089400"/>
            <a:ext cx="3175000" cy="165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0" i="0">
                <a:solidFill>
                  <a:srgbClr val="1B1B1B"/>
                </a:solidFill>
                <a:latin typeface="Verdana"/>
              </a:rPr>
              <a:t>Spans reset to </a:t>
            </a:r>
            <a:r>
              <a:rPr sz="1050" b="1" i="0">
                <a:solidFill>
                  <a:srgbClr val="1B1B1B"/>
                </a:solidFill>
                <a:latin typeface="Verdana"/>
              </a:rPr>
              <a:t>1 : 8</a:t>
            </a:r>
            <a:r>
              <a:rPr sz="1050" b="0" i="0">
                <a:solidFill>
                  <a:srgbClr val="1B1B1B"/>
                </a:solidFill>
                <a:latin typeface="Verdana"/>
              </a:rPr>
              <a:t>; managers coach weekly</a:t>
            </a:r>
          </a:p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1" i="0">
                <a:solidFill>
                  <a:srgbClr val="1B1B1B"/>
                </a:solidFill>
                <a:latin typeface="Verdana"/>
              </a:rPr>
              <a:t>Field-first enablement</a:t>
            </a:r>
            <a:r>
              <a:rPr sz="1050" b="0" i="0">
                <a:solidFill>
                  <a:srgbClr val="1B1B1B"/>
                </a:solidFill>
                <a:latin typeface="Verdana"/>
              </a:rPr>
              <a:t> — live deals, not classrooms</a:t>
            </a:r>
          </a:p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0" i="0">
                <a:solidFill>
                  <a:srgbClr val="1B1B1B"/>
                </a:solidFill>
                <a:latin typeface="Verdana"/>
              </a:rPr>
              <a:t>Certification tied to </a:t>
            </a:r>
            <a:r>
              <a:rPr sz="1050" b="1" i="0">
                <a:solidFill>
                  <a:srgbClr val="1B1B1B"/>
                </a:solidFill>
                <a:latin typeface="Verdana"/>
              </a:rPr>
              <a:t>ramp-time targets</a:t>
            </a:r>
          </a:p>
        </p:txBody>
      </p:sp>
      <p:sp>
        <p:nvSpPr>
          <p:cNvPr id="17" name="Oval 16"/>
          <p:cNvSpPr/>
          <p:nvPr/>
        </p:nvSpPr>
        <p:spPr>
          <a:xfrm>
            <a:off x="9677400" y="1524000"/>
            <a:ext cx="1143000" cy="1143000"/>
          </a:xfrm>
          <a:prstGeom prst="ellipse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iamond 17"/>
          <p:cNvSpPr/>
          <p:nvPr/>
        </p:nvSpPr>
        <p:spPr>
          <a:xfrm>
            <a:off x="10058400" y="1905000"/>
            <a:ext cx="381000" cy="38100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4400" y="28575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1B1B"/>
                </a:solidFill>
                <a:latin typeface="Verdana"/>
              </a:rPr>
              <a:t>FIX THE DATA SPINE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3200400"/>
            <a:ext cx="3429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Verdana"/>
              </a:rPr>
              <a:t>$4.6M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3683000"/>
            <a:ext cx="3429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47474"/>
                </a:solidFill>
                <a:latin typeface="Verdana"/>
              </a:rPr>
              <a:t>INCREMENTAL REVENUE P.A.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1400" y="4089400"/>
            <a:ext cx="3175000" cy="165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1" i="0">
                <a:solidFill>
                  <a:srgbClr val="1B1B1B"/>
                </a:solidFill>
                <a:latin typeface="Verdana"/>
              </a:rPr>
              <a:t>One CRM truth</a:t>
            </a:r>
            <a:r>
              <a:rPr sz="1050" b="0" i="0">
                <a:solidFill>
                  <a:srgbClr val="1B1B1B"/>
                </a:solidFill>
                <a:latin typeface="Verdana"/>
              </a:rPr>
              <a:t> — 4 instances consolidated</a:t>
            </a:r>
          </a:p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0" i="0">
                <a:solidFill>
                  <a:srgbClr val="1B1B1B"/>
                </a:solidFill>
                <a:latin typeface="Verdana"/>
              </a:rPr>
              <a:t>Forecast cadence with </a:t>
            </a:r>
            <a:r>
              <a:rPr sz="1050" b="1" i="0">
                <a:solidFill>
                  <a:srgbClr val="1B1B1B"/>
                </a:solidFill>
                <a:latin typeface="Verdana"/>
              </a:rPr>
              <a:t>±10% accuracy gate</a:t>
            </a:r>
          </a:p>
          <a:p>
            <a:pPr marL="190500" indent="-190500" algn="l">
              <a:lnSpc>
                <a:spcPct val="112000"/>
              </a:lnSpc>
              <a:spcAft>
                <a:spcPts val="600"/>
              </a:spcAft>
              <a:buFont typeface="Verdana"/>
              <a:buChar char="•"/>
            </a:pPr>
            <a:r>
              <a:rPr sz="1050" b="0" i="0">
                <a:solidFill>
                  <a:srgbClr val="1B1B1B"/>
                </a:solidFill>
                <a:latin typeface="Verdana"/>
              </a:rPr>
              <a:t>Weekly pipeline council, </a:t>
            </a:r>
            <a:r>
              <a:rPr sz="1050" b="1" i="0">
                <a:solidFill>
                  <a:srgbClr val="1B1B1B"/>
                </a:solidFill>
                <a:latin typeface="Verdana"/>
              </a:rPr>
              <a:t>one benefits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969000"/>
            <a:ext cx="1097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B1B1B"/>
                </a:solidFill>
                <a:latin typeface="Verdana"/>
              </a:rPr>
              <a:t>One program office. One benefits baseline. </a:t>
            </a:r>
            <a:r>
              <a:rPr sz="1400" b="1" i="0">
                <a:solidFill>
                  <a:srgbClr val="C00000"/>
                </a:solidFill>
                <a:latin typeface="Verdana"/>
              </a:rPr>
              <a:t>No lever stands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INVESTMENT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Verdana"/>
              </a:rPr>
              <a:t>Three ways to engage — fees tied to delivered outcomes wherever possible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524000"/>
          <a:ext cx="10972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7000" marR="101600" marT="50800" marB="508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/>
                        </a:rPr>
                        <a:t>DIAGNOSTIC</a:t>
                      </a:r>
                    </a:p>
                  </a:txBody>
                  <a:tcPr marL="127000" marR="101600" marT="50800" marB="508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/>
                        </a:rPr>
                        <a:t>PILOT WAVE</a:t>
                      </a:r>
                    </a:p>
                  </a:txBody>
                  <a:tcPr marL="127000" marR="101600" marT="50800" marB="508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/>
                        </a:rPr>
                        <a:t>FULL PROGRAM</a:t>
                      </a:r>
                    </a:p>
                  </a:txBody>
                  <a:tcPr marL="127000" marR="101600" marT="50800" marB="508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1B1B"/>
                          </a:solidFill>
                          <a:latin typeface="Verdana"/>
                        </a:rPr>
                        <a:t>Duration</a:t>
                      </a:r>
                    </a:p>
                  </a:txBody>
                  <a:tcPr marL="127000" marR="101600" marT="50800" marB="50800" anchor="ctr"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6 weeks</a:t>
                      </a:r>
                    </a:p>
                  </a:txBody>
                  <a:tcPr marL="127000" marR="101600" marT="50800" marB="50800" anchor="ctr"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12 weeks</a:t>
                      </a:r>
                    </a:p>
                  </a:txBody>
                  <a:tcPr marL="127000" marR="101600" marT="50800" marB="50800" anchor="ctr"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12 months</a:t>
                      </a:r>
                    </a:p>
                  </a:txBody>
                  <a:tcPr marL="127000" marR="101600" marT="50800" marB="50800" anchor="ctr"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1B1B"/>
                          </a:solidFill>
                          <a:latin typeface="Verdana"/>
                        </a:rPr>
                        <a:t>Fixed fee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$180K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$420K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$1.9M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B1B1B"/>
                          </a:solidFill>
                          <a:latin typeface="Verdana"/>
                        </a:rPr>
                        <a:t>At-risk component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—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25% on pilot KPIs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B1B1B"/>
                          </a:solidFill>
                          <a:latin typeface="Verdana"/>
                        </a:rPr>
                        <a:t>40% on revenue targets</a:t>
                      </a:r>
                    </a:p>
                  </a:txBody>
                  <a:tcPr marL="127000" marR="101600" marT="50800" marB="50800" anchor="ctr">
                    <a:lnT w="9525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7D7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146800"/>
            <a:ext cx="12192000" cy="711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146800"/>
            <a:ext cx="109728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EVERY DOLLAR AT RISK IS TIED TO A NUMBER YOU CAN 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ccess_photo.jpg"/>
          <p:cNvPicPr>
            <a:picLocks noChangeAspect="1"/>
          </p:cNvPicPr>
          <p:nvPr/>
        </p:nvPicPr>
        <p:blipFill>
          <a:blip r:embed="rId2"/>
          <a:srcRect t="25101" b="25101"/>
          <a:stretch>
            <a:fillRect/>
          </a:stretch>
        </p:blipFill>
        <p:spPr>
          <a:xfrm>
            <a:off x="0" y="0"/>
            <a:ext cx="12192000" cy="3175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3175000"/>
            <a:ext cx="12192000" cy="368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34036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Verdana"/>
              </a:rPr>
              <a:t>Results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084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B1B"/>
                </a:solidFill>
                <a:latin typeface="Verdana"/>
              </a:rPr>
              <a:t>PROOF, NOT PROMISES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445000"/>
            <a:ext cx="38100" cy="1524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4445000"/>
            <a:ext cx="3302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Verdana"/>
              </a:rPr>
              <a:t>+38%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Verdana"/>
              </a:rPr>
              <a:t>qualified pipeline in 9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384800"/>
            <a:ext cx="330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47474"/>
                </a:solidFill>
                <a:latin typeface="Verdana"/>
              </a:rPr>
              <a:t>Meridian Tools Group — industrial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445000"/>
            <a:ext cx="38100" cy="1524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4445000"/>
            <a:ext cx="3302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Verdana"/>
              </a:rPr>
              <a:t>22% → 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0800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Verdana"/>
              </a:rPr>
              <a:t>win rate on new logos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384800"/>
            <a:ext cx="330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47474"/>
                </a:solidFill>
                <a:latin typeface="Verdana"/>
              </a:rPr>
              <a:t>Carroway Foods — consumer packaged goods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34400" y="4445000"/>
            <a:ext cx="38100" cy="1524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63000" y="4445000"/>
            <a:ext cx="3302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Verdana"/>
              </a:rPr>
              <a:t>−27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0" y="50800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Verdana"/>
              </a:rPr>
              <a:t>average sales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0" y="5384800"/>
            <a:ext cx="330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47474"/>
                </a:solidFill>
                <a:latin typeface="Verdana"/>
              </a:rPr>
              <a:t>Bexley Freight — logistics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stimonial_bg.jpg"/>
          <p:cNvPicPr>
            <a:picLocks noChangeAspect="1"/>
          </p:cNvPicPr>
          <p:nvPr/>
        </p:nvPicPr>
        <p:blipFill>
          <a:blip r:embed="rId2"/>
          <a:srcRect l="3516" r="35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254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Verdan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0" y="2667000"/>
            <a:ext cx="9652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FFFFFF"/>
                </a:solidFill>
                <a:latin typeface="Verdana"/>
              </a:rPr>
              <a:t>Northbeam didn't hand us a report — </a:t>
            </a:r>
            <a:r>
              <a:rPr sz="2600" b="1" i="0">
                <a:solidFill>
                  <a:srgbClr val="FFFFFF"/>
                </a:solidFill>
                <a:latin typeface="Verdana"/>
              </a:rPr>
              <a:t>they rebuilt how we sell, deal by deal, until the numbers moved.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588000"/>
            <a:ext cx="12192000" cy="127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816600"/>
            <a:ext cx="1097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DANA OKAFOR — CHIEF REVENUE OFFICER, CARROWAY FOODS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230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D7D7D7"/>
                </a:solidFill>
                <a:latin typeface="Verdana"/>
              </a:rPr>
              <a:t>Full-program client, 2024–2025  ·  Reference call available on request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08000"/>
            <a:ext cx="88900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Verdana"/>
              </a:rPr>
              <a:t>WHY NORTHBEAM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68400"/>
            <a:ext cx="762000" cy="50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 algn="l">
              <a:lnSpc>
                <a:spcPct val="112000"/>
              </a:lnSpc>
              <a:spcAft>
                <a:spcPts val="1400"/>
              </a:spcAft>
              <a:buFont typeface="Verdana"/>
              <a:buChar char="•"/>
            </a:pPr>
            <a:r>
              <a:rPr sz="1350" b="1" i="0">
                <a:solidFill>
                  <a:srgbClr val="1B1B1B"/>
                </a:solidFill>
                <a:latin typeface="Verdana"/>
              </a:rPr>
              <a:t>Operators, not theorists</a:t>
            </a:r>
            <a:r>
              <a:rPr sz="1350" b="0" i="0">
                <a:solidFill>
                  <a:srgbClr val="1B1B1B"/>
                </a:solidFill>
                <a:latin typeface="Verdana"/>
              </a:rPr>
              <a:t> — every lead has carried a quota; we work your deals, not slideware</a:t>
            </a:r>
          </a:p>
          <a:p>
            <a:pPr marL="190500" indent="-190500" algn="l">
              <a:lnSpc>
                <a:spcPct val="112000"/>
              </a:lnSpc>
              <a:spcAft>
                <a:spcPts val="1400"/>
              </a:spcAft>
              <a:buFont typeface="Verdana"/>
              <a:buChar char="•"/>
            </a:pPr>
            <a:r>
              <a:rPr sz="1350" b="1" i="0">
                <a:solidFill>
                  <a:srgbClr val="1B1B1B"/>
                </a:solidFill>
                <a:latin typeface="Verdana"/>
              </a:rPr>
              <a:t>Skin in the game</a:t>
            </a:r>
            <a:r>
              <a:rPr sz="1350" b="0" i="0">
                <a:solidFill>
                  <a:srgbClr val="1B1B1B"/>
                </a:solidFill>
                <a:latin typeface="Verdana"/>
              </a:rPr>
              <a:t> — up to 40% of our fee rides on the revenue targets in this proposal</a:t>
            </a:r>
          </a:p>
          <a:p>
            <a:pPr marL="190500" indent="-190500" algn="l">
              <a:lnSpc>
                <a:spcPct val="112000"/>
              </a:lnSpc>
              <a:spcAft>
                <a:spcPts val="1400"/>
              </a:spcAft>
              <a:buFont typeface="Verdana"/>
              <a:buChar char="•"/>
            </a:pPr>
            <a:r>
              <a:rPr sz="1350" b="1" i="0">
                <a:solidFill>
                  <a:srgbClr val="1B1B1B"/>
                </a:solidFill>
                <a:latin typeface="Verdana"/>
              </a:rPr>
              <a:t>Capability transfer by design</a:t>
            </a:r>
            <a:r>
              <a:rPr sz="1350" b="0" i="0">
                <a:solidFill>
                  <a:srgbClr val="1B1B1B"/>
                </a:solidFill>
                <a:latin typeface="Verdana"/>
              </a:rPr>
              <a:t> — your managers run the cadence from month 4; we exit, the system stays</a:t>
            </a:r>
          </a:p>
          <a:p>
            <a:pPr marL="190500" indent="-190500" algn="l">
              <a:lnSpc>
                <a:spcPct val="112000"/>
              </a:lnSpc>
              <a:spcAft>
                <a:spcPts val="1400"/>
              </a:spcAft>
              <a:buFont typeface="Verdana"/>
              <a:buChar char="•"/>
            </a:pPr>
            <a:r>
              <a:rPr sz="1350" b="1" i="0">
                <a:solidFill>
                  <a:srgbClr val="1B1B1B"/>
                </a:solidFill>
                <a:latin typeface="Verdana"/>
              </a:rPr>
              <a:t>Senior-only teams</a:t>
            </a:r>
            <a:r>
              <a:rPr sz="1350" b="0" i="0">
                <a:solidFill>
                  <a:srgbClr val="1B1B1B"/>
                </a:solidFill>
                <a:latin typeface="Verdana"/>
              </a:rPr>
              <a:t> — no leveraged pyramid; the people in this room do the work</a:t>
            </a:r>
          </a:p>
          <a:p>
            <a:pPr marL="190500" indent="-190500" algn="l">
              <a:lnSpc>
                <a:spcPct val="112000"/>
              </a:lnSpc>
              <a:spcAft>
                <a:spcPts val="1400"/>
              </a:spcAft>
              <a:buFont typeface="Verdana"/>
              <a:buChar char="•"/>
            </a:pPr>
            <a:r>
              <a:rPr sz="1350" b="1" i="0">
                <a:solidFill>
                  <a:srgbClr val="1B1B1B"/>
                </a:solidFill>
                <a:latin typeface="Verdana"/>
              </a:rPr>
              <a:t>References you can call this week</a:t>
            </a:r>
            <a:r>
              <a:rPr sz="1350" b="0" i="0">
                <a:solidFill>
                  <a:srgbClr val="1B1B1B"/>
                </a:solidFill>
                <a:latin typeface="Verdana"/>
              </a:rPr>
              <a:t> — three CROs, three industries, three audited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46800"/>
            <a:ext cx="12192000" cy="711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146800"/>
            <a:ext cx="109728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Verdana"/>
              </a:rPr>
              <a:t>WE ARE MEASURED ON ONE THING: YOUR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0"/>
            <a:ext cx="10972800" cy="812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WHERE WE GO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47474"/>
                </a:solidFill>
                <a:latin typeface="Verdana"/>
              </a:rPr>
              <a:t>A decision today starts the diagnostic debrief on Monday — the cycle below never stops turning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45200"/>
            <a:ext cx="10972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Verdana"/>
              </a:rPr>
              <a:t>Decide by 31 July</a:t>
            </a:r>
            <a:r>
              <a:rPr sz="1400" b="0" i="0">
                <a:solidFill>
                  <a:srgbClr val="1B1B1B"/>
                </a:solidFill>
                <a:latin typeface="Verdana"/>
              </a:rPr>
              <a:t> and wave-one results land before your Q4 forecast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040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B6B5B5"/>
                </a:solidFill>
                <a:latin typeface="Verdana"/>
              </a:rPr>
              <a:t>Northbeam Partners — Sales Acceleration Proposal  ·  Strictly private &amp; confidential  ·  Illustrative figures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71055C87-52D1-F0AC-6BB5-337E9C68C26E}"/>
              </a:ext>
            </a:extLst>
          </p:cNvPr>
          <p:cNvGraphicFramePr/>
          <p:nvPr/>
        </p:nvGraphicFramePr>
        <p:xfrm>
          <a:off x="3810000" y="1600200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59000"/>
            <a:ext cx="109728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Verdana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1000" y="3810000"/>
            <a:ext cx="1270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191000"/>
            <a:ext cx="1097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Verdana"/>
              </a:rPr>
              <a:t>N O R T H B E A M   P A R T N E R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673600"/>
            <a:ext cx="109728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D7D7D7"/>
                </a:solidFill>
                <a:latin typeface="Verdana"/>
              </a:rPr>
              <a:t>proposals@northbeam-partners.example  ·  +1 (555) 014-2200  ·  northbeam.example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69000"/>
            <a:ext cx="109728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D7D7D7"/>
                </a:solidFill>
                <a:latin typeface="Verdana"/>
              </a:rPr>
              <a:t>Thank you — we look forward to the discussion.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53200"/>
            <a:ext cx="10972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6B5B5"/>
                </a:solidFill>
                <a:latin typeface="Verdana"/>
              </a:rPr>
              <a:t>Strictly private &amp; confidential  ·  All figures illustrative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rthbeam Red">
      <a:dk1>
        <a:sysClr val="windowText" lastClr="000000"/>
      </a:dk1>
      <a:lt1>
        <a:sysClr val="window" lastClr="FFFFFF"/>
      </a:lt1>
      <a:dk2>
        <a:srgbClr val="1B1B1B"/>
      </a:dk2>
      <a:lt2>
        <a:srgbClr val="EEECE1"/>
      </a:lt2>
      <a:accent1>
        <a:srgbClr val="C00000"/>
      </a:accent1>
      <a:accent2>
        <a:srgbClr val="222222"/>
      </a:accent2>
      <a:accent3>
        <a:srgbClr val="747474"/>
      </a:accent3>
      <a:accent4>
        <a:srgbClr val="B6B5B5"/>
      </a:accent4>
      <a:accent5>
        <a:srgbClr val="D7D7D7"/>
      </a:accent5>
      <a:accent6>
        <a:srgbClr val="8C8C8C"/>
      </a:accent6>
      <a:hlink>
        <a:srgbClr val="0000FF"/>
      </a:hlink>
      <a:folHlink>
        <a:srgbClr val="800080"/>
      </a:folHlink>
    </a:clrScheme>
    <a:fontScheme name="Northbeam Verdana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</cp:revision>
  <dcterms:created xsi:type="dcterms:W3CDTF">2013-01-27T09:14:16Z</dcterms:created>
  <dcterms:modified xsi:type="dcterms:W3CDTF">2026-07-23T20:30:41Z</dcterms:modified>
  <cp:category/>
</cp:coreProperties>
</file>