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svg" ContentType="image/svg+xml"/>
  <Default Extension="fntdata" ContentType="application/x-fontdata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Narrow" panose="00000506000000000000" charset="1"/>
      <p:regular r:id="rId18"/>
    </p:embeddedFont>
    <p:embeddedFont>
      <p:font typeface="Arial Unicode" panose="020B0604020202020204" charset="1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font" Target="/ppt/fonts/font18.fntdata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png" Id="rId2" /><Relationship Type="http://schemas.openxmlformats.org/officeDocument/2006/relationships/image" Target="/ppt/media/image2.png" Id="rId3" /><Relationship Type="http://schemas.openxmlformats.org/officeDocument/2006/relationships/image" Target="/ppt/media/image3.png" Id="rId4" /><Relationship Type="http://schemas.openxmlformats.org/officeDocument/2006/relationships/image" Target="/ppt/media/image4.png" Id="rId5" /><Relationship Type="http://schemas.openxmlformats.org/officeDocument/2006/relationships/image" Target="/ppt/media/image5.svg" Id="rId6" /><Relationship Type="http://schemas.openxmlformats.org/officeDocument/2006/relationships/image" Target="/ppt/media/image6.png" Id="rId7" /><Relationship Type="http://schemas.openxmlformats.org/officeDocument/2006/relationships/image" Target="/ppt/media/image7.svg" Id="rI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8.png" Id="rId4" /><Relationship Type="http://schemas.openxmlformats.org/officeDocument/2006/relationships/image" Target="/ppt/media/image9.svg" Id="rId5" /><Relationship Type="http://schemas.openxmlformats.org/officeDocument/2006/relationships/image" Target="/ppt/media/image10.png" Id="rId6" /><Relationship Type="http://schemas.openxmlformats.org/officeDocument/2006/relationships/image" Target="/ppt/media/image11.png" Id="rI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8.png" Id="rId4" /><Relationship Type="http://schemas.openxmlformats.org/officeDocument/2006/relationships/image" Target="/ppt/media/image9.svg" Id="rId5" /><Relationship Type="http://schemas.openxmlformats.org/officeDocument/2006/relationships/image" Target="/ppt/media/image12.png" Id="rId6" /><Relationship Type="http://schemas.openxmlformats.org/officeDocument/2006/relationships/image" Target="/ppt/media/image13.png" Id="rI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8.png" Id="rId10" /><Relationship Type="http://schemas.openxmlformats.org/officeDocument/2006/relationships/image" Target="/ppt/media/image19.png" Id="rId1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8.png" Id="rId4" /><Relationship Type="http://schemas.openxmlformats.org/officeDocument/2006/relationships/image" Target="/ppt/media/image9.svg" Id="rId5" /><Relationship Type="http://schemas.openxmlformats.org/officeDocument/2006/relationships/image" Target="/ppt/media/image14.png" Id="rId6" /><Relationship Type="http://schemas.openxmlformats.org/officeDocument/2006/relationships/image" Target="/ppt/media/image15.svg" Id="rId7" /><Relationship Type="http://schemas.openxmlformats.org/officeDocument/2006/relationships/image" Target="/ppt/media/image16.png" Id="rId8" /><Relationship Type="http://schemas.openxmlformats.org/officeDocument/2006/relationships/image" Target="/ppt/media/image17.svg" Id="rI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20.png" Id="rId4" /><Relationship Type="http://schemas.openxmlformats.org/officeDocument/2006/relationships/image" Target="/ppt/media/image21.png" Id="rId5" /><Relationship Type="http://schemas.openxmlformats.org/officeDocument/2006/relationships/image" Target="/ppt/media/image22.png" Id="rI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23.png" Id="rId4" /><Relationship Type="http://schemas.openxmlformats.org/officeDocument/2006/relationships/image" Target="/ppt/media/image24.png" Id="rId5" /><Relationship Type="http://schemas.openxmlformats.org/officeDocument/2006/relationships/image" Target="/ppt/media/image25.png" Id="rId6" /><Relationship Type="http://schemas.openxmlformats.org/officeDocument/2006/relationships/image" Target="/ppt/media/image26.png" Id="rI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27.png" Id="rId4" /><Relationship Type="http://schemas.openxmlformats.org/officeDocument/2006/relationships/image" Target="/ppt/media/image28.png" Id="rId5" /><Relationship Type="http://schemas.openxmlformats.org/officeDocument/2006/relationships/image" Target="/ppt/media/image29.png" Id="rI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30.png" Id="rId4" /><Relationship Type="http://schemas.openxmlformats.org/officeDocument/2006/relationships/image" Target="/ppt/media/image31.png" Id="rId5" /><Relationship Type="http://schemas.openxmlformats.org/officeDocument/2006/relationships/image" Target="/ppt/media/image32.png" Id="rI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33.png" Id="rId4" /><Relationship Type="http://schemas.openxmlformats.org/officeDocument/2006/relationships/image" Target="/ppt/media/image34.svg" Id="rId5" /><Relationship Type="http://schemas.openxmlformats.org/officeDocument/2006/relationships/image" Target="/ppt/media/image35.png" Id="rId6" /><Relationship Type="http://schemas.openxmlformats.org/officeDocument/2006/relationships/image" Target="/ppt/media/image36.svg" Id="rId7" /><Relationship Type="http://schemas.openxmlformats.org/officeDocument/2006/relationships/image" Target="/ppt/media/image37.png" Id="rId8" /><Relationship Type="http://schemas.openxmlformats.org/officeDocument/2006/relationships/image" Target="/ppt/media/image38.svg" Id="rI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39.png" Id="rId4" /><Relationship Type="http://schemas.openxmlformats.org/officeDocument/2006/relationships/image" Target="/ppt/media/image40.png" Id="rId5" /><Relationship Type="http://schemas.openxmlformats.org/officeDocument/2006/relationships/image" Target="/ppt/media/image41.png" Id="rId6" /><Relationship Type="http://schemas.openxmlformats.org/officeDocument/2006/relationships/image" Target="/ppt/media/image42.png" Id="rI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8.png" Id="rId4" /><Relationship Type="http://schemas.openxmlformats.org/officeDocument/2006/relationships/image" Target="/ppt/media/image9.svg" Id="rId5" /><Relationship Type="http://schemas.openxmlformats.org/officeDocument/2006/relationships/image" Target="/ppt/media/image43.png" Id="rId6" /><Relationship Type="http://schemas.openxmlformats.org/officeDocument/2006/relationships/image" Target="/ppt/media/image44.png" Id="rI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1.png" Id="rId10" /><Relationship Type="http://schemas.openxmlformats.org/officeDocument/2006/relationships/image" Target="/ppt/media/image52.svg" Id="rId11" /><Relationship Type="http://schemas.openxmlformats.org/officeDocument/2006/relationships/image" Target="/ppt/media/image35.png" Id="rId12" /><Relationship Type="http://schemas.openxmlformats.org/officeDocument/2006/relationships/image" Target="/ppt/media/image36.svg" Id="rId13" /><Relationship Type="http://schemas.openxmlformats.org/officeDocument/2006/relationships/image" Target="/ppt/media/image53.png" Id="rId14" /><Relationship Type="http://schemas.openxmlformats.org/officeDocument/2006/relationships/image" Target="/ppt/media/image54.svg" Id="rId15" /><Relationship Type="http://schemas.openxmlformats.org/officeDocument/2006/relationships/image" Target="/ppt/media/image55.png" Id="rId16" /><Relationship Type="http://schemas.openxmlformats.org/officeDocument/2006/relationships/image" Target="/ppt/media/image56.svg" Id="rId17" /><Relationship Type="http://schemas.openxmlformats.org/officeDocument/2006/relationships/image" Target="/ppt/media/image4.png" Id="rId2" /><Relationship Type="http://schemas.openxmlformats.org/officeDocument/2006/relationships/image" Target="/ppt/media/image5.svg" Id="rId3" /><Relationship Type="http://schemas.openxmlformats.org/officeDocument/2006/relationships/image" Target="/ppt/media/image45.png" Id="rId4" /><Relationship Type="http://schemas.openxmlformats.org/officeDocument/2006/relationships/image" Target="/ppt/media/image46.svg" Id="rId5" /><Relationship Type="http://schemas.openxmlformats.org/officeDocument/2006/relationships/image" Target="/ppt/media/image47.png" Id="rId6" /><Relationship Type="http://schemas.openxmlformats.org/officeDocument/2006/relationships/image" Target="/ppt/media/image48.svg" Id="rId7" /><Relationship Type="http://schemas.openxmlformats.org/officeDocument/2006/relationships/image" Target="/ppt/media/image49.png" Id="rId8" /><Relationship Type="http://schemas.openxmlformats.org/officeDocument/2006/relationships/image" Target="/ppt/media/image50.svg" Id="rId9" /></Relationships>
</file>

<file path=ppt/slides/slide1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6654095"/>
            <a:ext cx="3136671" cy="550945"/>
            <a:chOff x="0" y="0"/>
            <a:chExt cx="2313738" cy="406400"/>
          </a:xfrm>
        </p:grpSpPr>
        <p:sp>
          <p:nvSpPr>
            <p:cNvPr id="3" name="Freeform 3"/>
            <p:cNvSpPr/>
            <p:nvPr/>
          </p:nvSpPr>
          <p:spPr>
            <a:xfrm rot="0" flipH="false" flipV="false">
              <a:off x="0" y="0"/>
              <a:ext cx="2313738" cy="406400"/>
            </a:xfrm>
            <a:custGeom>
              <a:avLst/>
              <a:gdLst/>
              <a:ahLst/>
              <a:cxnLst/>
              <a:rect l="l" t="t" r="r" b="b"/>
              <a:pathLst>
                <a:path w="2313738" h="406400">
                  <a:moveTo>
                    <a:pt x="2110538" y="0"/>
                  </a:moveTo>
                  <a:cubicBezTo>
                    <a:pt x="2222762" y="0"/>
                    <a:pt x="2313738" y="90976"/>
                    <a:pt x="2313738" y="203200"/>
                  </a:cubicBezTo>
                  <a:cubicBezTo>
                    <a:pt x="2313738" y="315424"/>
                    <a:pt x="2222762" y="406400"/>
                    <a:pt x="211053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true"/>
            <p:nvPr/>
          </p:nvSpPr>
          <p:spPr>
            <a:xfrm>
              <a:off x="0" y="-28575"/>
              <a:ext cx="2313738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018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7346667"/>
            <a:ext cx="1866956" cy="550945"/>
            <a:chOff x="0" y="0"/>
            <a:chExt cx="1377144" cy="406400"/>
          </a:xfrm>
        </p:grpSpPr>
        <p:sp>
          <p:nvSpPr>
            <p:cNvPr id="6" name="Freeform 6"/>
            <p:cNvSpPr/>
            <p:nvPr/>
          </p:nvSpPr>
          <p:spPr>
            <a:xfrm rot="0" flipH="false" flipV="false">
              <a:off x="0" y="0"/>
              <a:ext cx="1377144" cy="406400"/>
            </a:xfrm>
            <a:custGeom>
              <a:avLst/>
              <a:gdLst/>
              <a:ahLst/>
              <a:cxnLst/>
              <a:rect l="l" t="t" r="r" b="b"/>
              <a:pathLst>
                <a:path w="1377144" h="406400">
                  <a:moveTo>
                    <a:pt x="1173944" y="0"/>
                  </a:moveTo>
                  <a:cubicBezTo>
                    <a:pt x="1286168" y="0"/>
                    <a:pt x="1377144" y="90976"/>
                    <a:pt x="1377144" y="203200"/>
                  </a:cubicBezTo>
                  <a:cubicBezTo>
                    <a:pt x="1377144" y="315424"/>
                    <a:pt x="1286168" y="406400"/>
                    <a:pt x="117394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true"/>
            <p:nvPr/>
          </p:nvSpPr>
          <p:spPr>
            <a:xfrm>
              <a:off x="0" y="-28575"/>
              <a:ext cx="1377144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018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3004548" y="7346667"/>
            <a:ext cx="2467185" cy="550945"/>
            <a:chOff x="0" y="0"/>
            <a:chExt cx="1819897" cy="406400"/>
          </a:xfrm>
        </p:grpSpPr>
        <p:sp>
          <p:nvSpPr>
            <p:cNvPr id="9" name="Freeform 9"/>
            <p:cNvSpPr/>
            <p:nvPr/>
          </p:nvSpPr>
          <p:spPr>
            <a:xfrm rot="0" flipH="false" flipV="false">
              <a:off x="0" y="0"/>
              <a:ext cx="1819897" cy="406400"/>
            </a:xfrm>
            <a:custGeom>
              <a:avLst/>
              <a:gdLst/>
              <a:ahLst/>
              <a:cxnLst/>
              <a:rect l="l" t="t" r="r" b="b"/>
              <a:pathLst>
                <a:path w="1819897" h="406400">
                  <a:moveTo>
                    <a:pt x="1616697" y="0"/>
                  </a:moveTo>
                  <a:cubicBezTo>
                    <a:pt x="1728921" y="0"/>
                    <a:pt x="1819897" y="90976"/>
                    <a:pt x="1819897" y="203200"/>
                  </a:cubicBezTo>
                  <a:cubicBezTo>
                    <a:pt x="1819897" y="315424"/>
                    <a:pt x="1728921" y="406400"/>
                    <a:pt x="16166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true"/>
            <p:nvPr/>
          </p:nvSpPr>
          <p:spPr>
            <a:xfrm>
              <a:off x="0" y="-28575"/>
              <a:ext cx="1819897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018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3330802" y="1028700"/>
            <a:ext cx="3928498" cy="3986128"/>
            <a:chOff x="0" y="0"/>
            <a:chExt cx="871005" cy="883783"/>
          </a:xfrm>
        </p:grpSpPr>
        <p:sp>
          <p:nvSpPr>
            <p:cNvPr id="12" name="Freeform 12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00506" y="0"/>
                  </a:moveTo>
                  <a:lnTo>
                    <a:pt x="770499" y="0"/>
                  </a:lnTo>
                  <a:cubicBezTo>
                    <a:pt x="797155" y="0"/>
                    <a:pt x="822719" y="10589"/>
                    <a:pt x="841568" y="29438"/>
                  </a:cubicBezTo>
                  <a:cubicBezTo>
                    <a:pt x="860416" y="48286"/>
                    <a:pt x="871005" y="73850"/>
                    <a:pt x="871005" y="100506"/>
                  </a:cubicBezTo>
                  <a:lnTo>
                    <a:pt x="871005" y="783277"/>
                  </a:lnTo>
                  <a:cubicBezTo>
                    <a:pt x="871005" y="838784"/>
                    <a:pt x="826007" y="883783"/>
                    <a:pt x="770499" y="883783"/>
                  </a:cubicBezTo>
                  <a:lnTo>
                    <a:pt x="100506" y="883783"/>
                  </a:lnTo>
                  <a:cubicBezTo>
                    <a:pt x="44998" y="883783"/>
                    <a:pt x="0" y="838784"/>
                    <a:pt x="0" y="783277"/>
                  </a:cubicBezTo>
                  <a:lnTo>
                    <a:pt x="0" y="100506"/>
                  </a:lnTo>
                  <a:cubicBezTo>
                    <a:pt x="0" y="44998"/>
                    <a:pt x="44998" y="0"/>
                    <a:pt x="100506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13" name="TextBox 13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125386" y="1028700"/>
            <a:ext cx="3928498" cy="3986128"/>
            <a:chOff x="0" y="0"/>
            <a:chExt cx="871005" cy="883783"/>
          </a:xfrm>
        </p:grpSpPr>
        <p:sp>
          <p:nvSpPr>
            <p:cNvPr id="15" name="Freeform 1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00506" y="0"/>
                  </a:moveTo>
                  <a:lnTo>
                    <a:pt x="770499" y="0"/>
                  </a:lnTo>
                  <a:cubicBezTo>
                    <a:pt x="797155" y="0"/>
                    <a:pt x="822719" y="10589"/>
                    <a:pt x="841568" y="29438"/>
                  </a:cubicBezTo>
                  <a:cubicBezTo>
                    <a:pt x="860416" y="48286"/>
                    <a:pt x="871005" y="73850"/>
                    <a:pt x="871005" y="100506"/>
                  </a:cubicBezTo>
                  <a:lnTo>
                    <a:pt x="871005" y="783277"/>
                  </a:lnTo>
                  <a:cubicBezTo>
                    <a:pt x="871005" y="838784"/>
                    <a:pt x="826007" y="883783"/>
                    <a:pt x="770499" y="883783"/>
                  </a:cubicBezTo>
                  <a:lnTo>
                    <a:pt x="100506" y="883783"/>
                  </a:lnTo>
                  <a:cubicBezTo>
                    <a:pt x="44998" y="883783"/>
                    <a:pt x="0" y="838784"/>
                    <a:pt x="0" y="783277"/>
                  </a:cubicBezTo>
                  <a:lnTo>
                    <a:pt x="0" y="100506"/>
                  </a:lnTo>
                  <a:cubicBezTo>
                    <a:pt x="0" y="44998"/>
                    <a:pt x="44998" y="0"/>
                    <a:pt x="100506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6" name="TextBox 16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125386" y="5272172"/>
            <a:ext cx="8133914" cy="3986128"/>
            <a:chOff x="0" y="0"/>
            <a:chExt cx="1803407" cy="883783"/>
          </a:xfrm>
        </p:grpSpPr>
        <p:sp>
          <p:nvSpPr>
            <p:cNvPr id="18" name="Freeform 18"/>
            <p:cNvSpPr/>
            <p:nvPr/>
          </p:nvSpPr>
          <p:spPr>
            <a:xfrm rot="0" flipH="false" flipV="false">
              <a:off x="0" y="0"/>
              <a:ext cx="1803407" cy="883783"/>
            </a:xfrm>
            <a:custGeom>
              <a:avLst/>
              <a:gdLst/>
              <a:ahLst/>
              <a:cxnLst/>
              <a:rect l="l" t="t" r="r" b="b"/>
              <a:pathLst>
                <a:path w="1803407" h="883783">
                  <a:moveTo>
                    <a:pt x="48542" y="0"/>
                  </a:moveTo>
                  <a:lnTo>
                    <a:pt x="1754865" y="0"/>
                  </a:lnTo>
                  <a:cubicBezTo>
                    <a:pt x="1781674" y="0"/>
                    <a:pt x="1803407" y="21733"/>
                    <a:pt x="1803407" y="48542"/>
                  </a:cubicBezTo>
                  <a:lnTo>
                    <a:pt x="1803407" y="835240"/>
                  </a:lnTo>
                  <a:cubicBezTo>
                    <a:pt x="1803407" y="862050"/>
                    <a:pt x="1781674" y="883783"/>
                    <a:pt x="1754865" y="883783"/>
                  </a:cubicBezTo>
                  <a:lnTo>
                    <a:pt x="48542" y="883783"/>
                  </a:lnTo>
                  <a:cubicBezTo>
                    <a:pt x="21733" y="883783"/>
                    <a:pt x="0" y="862050"/>
                    <a:pt x="0" y="835240"/>
                  </a:cubicBezTo>
                  <a:lnTo>
                    <a:pt x="0" y="48542"/>
                  </a:lnTo>
                  <a:cubicBezTo>
                    <a:pt x="0" y="21733"/>
                    <a:pt x="21733" y="0"/>
                    <a:pt x="48542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19" name="TextBox 19"/>
            <p:cNvSpPr txBox="true"/>
            <p:nvPr/>
          </p:nvSpPr>
          <p:spPr>
            <a:xfrm>
              <a:off x="0" y="-47625"/>
              <a:ext cx="1803407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pic>
        <p:nvPicPr>
          <p:cNvPr id="20" name="Picture 2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57672" y="1224505"/>
            <a:ext cx="3463925" cy="359451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25315" y="813816"/>
            <a:ext cx="4320422" cy="408234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08359" y="5512973"/>
            <a:ext cx="3587633" cy="3587633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 rot="0">
            <a:off x="13330802" y="5699615"/>
            <a:ext cx="3470300" cy="3121549"/>
            <a:chOff x="0" y="0"/>
            <a:chExt cx="982522" cy="883783"/>
          </a:xfrm>
        </p:grpSpPr>
        <p:sp>
          <p:nvSpPr>
            <p:cNvPr id="24" name="Freeform 24"/>
            <p:cNvSpPr/>
            <p:nvPr/>
          </p:nvSpPr>
          <p:spPr>
            <a:xfrm rot="0" flipH="false" flipV="false">
              <a:off x="0" y="0"/>
              <a:ext cx="982522" cy="883783"/>
            </a:xfrm>
            <a:custGeom>
              <a:avLst/>
              <a:gdLst/>
              <a:ahLst/>
              <a:cxnLst/>
              <a:rect l="l" t="t" r="r" b="b"/>
              <a:pathLst>
                <a:path w="982522" h="883783">
                  <a:moveTo>
                    <a:pt x="113776" y="0"/>
                  </a:moveTo>
                  <a:lnTo>
                    <a:pt x="868746" y="0"/>
                  </a:lnTo>
                  <a:cubicBezTo>
                    <a:pt x="898921" y="0"/>
                    <a:pt x="927861" y="11987"/>
                    <a:pt x="949198" y="33324"/>
                  </a:cubicBezTo>
                  <a:cubicBezTo>
                    <a:pt x="970535" y="54662"/>
                    <a:pt x="982522" y="83601"/>
                    <a:pt x="982522" y="113776"/>
                  </a:cubicBezTo>
                  <a:lnTo>
                    <a:pt x="982522" y="770006"/>
                  </a:lnTo>
                  <a:cubicBezTo>
                    <a:pt x="982522" y="800182"/>
                    <a:pt x="970535" y="829121"/>
                    <a:pt x="949198" y="850458"/>
                  </a:cubicBezTo>
                  <a:cubicBezTo>
                    <a:pt x="927861" y="871795"/>
                    <a:pt x="898921" y="883783"/>
                    <a:pt x="868746" y="883783"/>
                  </a:cubicBezTo>
                  <a:lnTo>
                    <a:pt x="113776" y="883783"/>
                  </a:lnTo>
                  <a:cubicBezTo>
                    <a:pt x="83601" y="883783"/>
                    <a:pt x="54662" y="871795"/>
                    <a:pt x="33324" y="850458"/>
                  </a:cubicBezTo>
                  <a:cubicBezTo>
                    <a:pt x="11987" y="829121"/>
                    <a:pt x="0" y="800182"/>
                    <a:pt x="0" y="770006"/>
                  </a:cubicBezTo>
                  <a:lnTo>
                    <a:pt x="0" y="113776"/>
                  </a:lnTo>
                  <a:cubicBezTo>
                    <a:pt x="0" y="83601"/>
                    <a:pt x="11987" y="54662"/>
                    <a:pt x="33324" y="33324"/>
                  </a:cubicBezTo>
                  <a:cubicBezTo>
                    <a:pt x="54662" y="11987"/>
                    <a:pt x="83601" y="0"/>
                    <a:pt x="113776" y="0"/>
                  </a:cubicBezTo>
                  <a:close/>
                </a:path>
              </a:pathLst>
            </a:custGeom>
            <a:solidFill>
              <a:srgbClr val="140A3F"/>
            </a:solidFill>
          </p:spPr>
        </p:sp>
        <p:sp>
          <p:nvSpPr>
            <p:cNvPr id="25" name="TextBox 25"/>
            <p:cNvSpPr txBox="true"/>
            <p:nvPr/>
          </p:nvSpPr>
          <p:spPr>
            <a:xfrm>
              <a:off x="0" y="-47625"/>
              <a:ext cx="982522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3719645" y="7427096"/>
            <a:ext cx="1414606" cy="960082"/>
            <a:chOff x="0" y="0"/>
            <a:chExt cx="982522" cy="666830"/>
          </a:xfrm>
        </p:grpSpPr>
        <p:sp>
          <p:nvSpPr>
            <p:cNvPr id="27" name="Freeform 27"/>
            <p:cNvSpPr/>
            <p:nvPr/>
          </p:nvSpPr>
          <p:spPr>
            <a:xfrm rot="0" flipH="false" flipV="false">
              <a:off x="0" y="0"/>
              <a:ext cx="982522" cy="666830"/>
            </a:xfrm>
            <a:custGeom>
              <a:avLst/>
              <a:gdLst/>
              <a:ahLst/>
              <a:cxnLst/>
              <a:rect l="l" t="t" r="r" b="b"/>
              <a:pathLst>
                <a:path w="982522" h="666830">
                  <a:moveTo>
                    <a:pt x="109457" y="0"/>
                  </a:moveTo>
                  <a:lnTo>
                    <a:pt x="873065" y="0"/>
                  </a:lnTo>
                  <a:cubicBezTo>
                    <a:pt x="902095" y="0"/>
                    <a:pt x="929936" y="11532"/>
                    <a:pt x="950463" y="32059"/>
                  </a:cubicBezTo>
                  <a:cubicBezTo>
                    <a:pt x="970990" y="52586"/>
                    <a:pt x="982522" y="80427"/>
                    <a:pt x="982522" y="109457"/>
                  </a:cubicBezTo>
                  <a:lnTo>
                    <a:pt x="982522" y="557373"/>
                  </a:lnTo>
                  <a:cubicBezTo>
                    <a:pt x="982522" y="586403"/>
                    <a:pt x="970990" y="614244"/>
                    <a:pt x="950463" y="634771"/>
                  </a:cubicBezTo>
                  <a:cubicBezTo>
                    <a:pt x="929936" y="655298"/>
                    <a:pt x="902095" y="666830"/>
                    <a:pt x="873065" y="666830"/>
                  </a:cubicBezTo>
                  <a:lnTo>
                    <a:pt x="109457" y="666830"/>
                  </a:lnTo>
                  <a:cubicBezTo>
                    <a:pt x="80427" y="666830"/>
                    <a:pt x="52586" y="655298"/>
                    <a:pt x="32059" y="634771"/>
                  </a:cubicBezTo>
                  <a:cubicBezTo>
                    <a:pt x="11532" y="614244"/>
                    <a:pt x="0" y="586403"/>
                    <a:pt x="0" y="557373"/>
                  </a:cubicBezTo>
                  <a:lnTo>
                    <a:pt x="0" y="109457"/>
                  </a:lnTo>
                  <a:cubicBezTo>
                    <a:pt x="0" y="80427"/>
                    <a:pt x="11532" y="52586"/>
                    <a:pt x="32059" y="32059"/>
                  </a:cubicBezTo>
                  <a:cubicBezTo>
                    <a:pt x="52586" y="11532"/>
                    <a:pt x="80427" y="0"/>
                    <a:pt x="109457" y="0"/>
                  </a:cubicBezTo>
                  <a:close/>
                </a:path>
              </a:pathLst>
            </a:custGeom>
            <a:solidFill>
              <a:srgbClr val="573DBF"/>
            </a:solidFill>
          </p:spPr>
        </p:sp>
        <p:sp>
          <p:nvSpPr>
            <p:cNvPr id="28" name="TextBox 28"/>
            <p:cNvSpPr txBox="true"/>
            <p:nvPr/>
          </p:nvSpPr>
          <p:spPr>
            <a:xfrm>
              <a:off x="0" y="-47625"/>
              <a:ext cx="982522" cy="71445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4450048" y="7427096"/>
            <a:ext cx="1332307" cy="960082"/>
            <a:chOff x="0" y="0"/>
            <a:chExt cx="925361" cy="666830"/>
          </a:xfrm>
        </p:grpSpPr>
        <p:sp>
          <p:nvSpPr>
            <p:cNvPr id="30" name="Freeform 30"/>
            <p:cNvSpPr/>
            <p:nvPr/>
          </p:nvSpPr>
          <p:spPr>
            <a:xfrm rot="0" flipH="false" flipV="false">
              <a:off x="0" y="0"/>
              <a:ext cx="925361" cy="666830"/>
            </a:xfrm>
            <a:custGeom>
              <a:avLst/>
              <a:gdLst/>
              <a:ahLst/>
              <a:cxnLst/>
              <a:rect l="l" t="t" r="r" b="b"/>
              <a:pathLst>
                <a:path w="925361" h="666830">
                  <a:moveTo>
                    <a:pt x="116218" y="0"/>
                  </a:moveTo>
                  <a:lnTo>
                    <a:pt x="809143" y="0"/>
                  </a:lnTo>
                  <a:cubicBezTo>
                    <a:pt x="839966" y="0"/>
                    <a:pt x="869526" y="12244"/>
                    <a:pt x="891321" y="34040"/>
                  </a:cubicBezTo>
                  <a:cubicBezTo>
                    <a:pt x="913116" y="55835"/>
                    <a:pt x="925361" y="85395"/>
                    <a:pt x="925361" y="116218"/>
                  </a:cubicBezTo>
                  <a:lnTo>
                    <a:pt x="925361" y="550612"/>
                  </a:lnTo>
                  <a:cubicBezTo>
                    <a:pt x="925361" y="614797"/>
                    <a:pt x="873328" y="666830"/>
                    <a:pt x="809143" y="666830"/>
                  </a:cubicBezTo>
                  <a:lnTo>
                    <a:pt x="116218" y="666830"/>
                  </a:lnTo>
                  <a:cubicBezTo>
                    <a:pt x="52033" y="666830"/>
                    <a:pt x="0" y="614797"/>
                    <a:pt x="0" y="550612"/>
                  </a:cubicBezTo>
                  <a:lnTo>
                    <a:pt x="0" y="116218"/>
                  </a:lnTo>
                  <a:cubicBezTo>
                    <a:pt x="0" y="52033"/>
                    <a:pt x="52033" y="0"/>
                    <a:pt x="116218" y="0"/>
                  </a:cubicBezTo>
                  <a:close/>
                </a:path>
              </a:pathLst>
            </a:custGeom>
            <a:solidFill>
              <a:srgbClr val="8670DC"/>
            </a:solidFill>
          </p:spPr>
        </p:sp>
        <p:sp>
          <p:nvSpPr>
            <p:cNvPr id="31" name="TextBox 31"/>
            <p:cNvSpPr txBox="true"/>
            <p:nvPr/>
          </p:nvSpPr>
          <p:spPr>
            <a:xfrm>
              <a:off x="0" y="-47625"/>
              <a:ext cx="925361" cy="71445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5239026" y="7427096"/>
            <a:ext cx="1173233" cy="960082"/>
            <a:chOff x="0" y="0"/>
            <a:chExt cx="814875" cy="666830"/>
          </a:xfrm>
        </p:grpSpPr>
        <p:sp>
          <p:nvSpPr>
            <p:cNvPr id="33" name="Freeform 33"/>
            <p:cNvSpPr/>
            <p:nvPr/>
          </p:nvSpPr>
          <p:spPr>
            <a:xfrm rot="0" flipH="false" flipV="false">
              <a:off x="0" y="0"/>
              <a:ext cx="814875" cy="666830"/>
            </a:xfrm>
            <a:custGeom>
              <a:avLst/>
              <a:gdLst/>
              <a:ahLst/>
              <a:cxnLst/>
              <a:rect l="l" t="t" r="r" b="b"/>
              <a:pathLst>
                <a:path w="814875" h="666830">
                  <a:moveTo>
                    <a:pt x="131976" y="0"/>
                  </a:moveTo>
                  <a:lnTo>
                    <a:pt x="682899" y="0"/>
                  </a:lnTo>
                  <a:cubicBezTo>
                    <a:pt x="755788" y="0"/>
                    <a:pt x="814875" y="59088"/>
                    <a:pt x="814875" y="131976"/>
                  </a:cubicBezTo>
                  <a:lnTo>
                    <a:pt x="814875" y="534854"/>
                  </a:lnTo>
                  <a:cubicBezTo>
                    <a:pt x="814875" y="569856"/>
                    <a:pt x="800971" y="603425"/>
                    <a:pt x="776220" y="628175"/>
                  </a:cubicBezTo>
                  <a:cubicBezTo>
                    <a:pt x="751470" y="652925"/>
                    <a:pt x="717901" y="666830"/>
                    <a:pt x="682899" y="666830"/>
                  </a:cubicBezTo>
                  <a:lnTo>
                    <a:pt x="131976" y="666830"/>
                  </a:lnTo>
                  <a:cubicBezTo>
                    <a:pt x="96974" y="666830"/>
                    <a:pt x="63405" y="652925"/>
                    <a:pt x="38655" y="628175"/>
                  </a:cubicBezTo>
                  <a:cubicBezTo>
                    <a:pt x="13905" y="603425"/>
                    <a:pt x="0" y="569856"/>
                    <a:pt x="0" y="534854"/>
                  </a:cubicBezTo>
                  <a:lnTo>
                    <a:pt x="0" y="131976"/>
                  </a:lnTo>
                  <a:cubicBezTo>
                    <a:pt x="0" y="96974"/>
                    <a:pt x="13905" y="63405"/>
                    <a:pt x="38655" y="38655"/>
                  </a:cubicBezTo>
                  <a:cubicBezTo>
                    <a:pt x="63405" y="13905"/>
                    <a:pt x="96974" y="0"/>
                    <a:pt x="131976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34" name="TextBox 34"/>
            <p:cNvSpPr txBox="true"/>
            <p:nvPr/>
          </p:nvSpPr>
          <p:spPr>
            <a:xfrm>
              <a:off x="0" y="-47625"/>
              <a:ext cx="814875" cy="71445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13719645" y="6131835"/>
            <a:ext cx="2692614" cy="960082"/>
            <a:chOff x="0" y="0"/>
            <a:chExt cx="1870169" cy="666830"/>
          </a:xfrm>
        </p:grpSpPr>
        <p:sp>
          <p:nvSpPr>
            <p:cNvPr id="36" name="Freeform 36"/>
            <p:cNvSpPr/>
            <p:nvPr/>
          </p:nvSpPr>
          <p:spPr>
            <a:xfrm rot="0" flipH="false" flipV="false">
              <a:off x="0" y="0"/>
              <a:ext cx="1870169" cy="666830"/>
            </a:xfrm>
            <a:custGeom>
              <a:avLst/>
              <a:gdLst/>
              <a:ahLst/>
              <a:cxnLst/>
              <a:rect l="l" t="t" r="r" b="b"/>
              <a:pathLst>
                <a:path w="1870169" h="666830">
                  <a:moveTo>
                    <a:pt x="57505" y="0"/>
                  </a:moveTo>
                  <a:lnTo>
                    <a:pt x="1812664" y="0"/>
                  </a:lnTo>
                  <a:cubicBezTo>
                    <a:pt x="1827916" y="0"/>
                    <a:pt x="1842542" y="6059"/>
                    <a:pt x="1853326" y="16843"/>
                  </a:cubicBezTo>
                  <a:cubicBezTo>
                    <a:pt x="1864111" y="27627"/>
                    <a:pt x="1870169" y="42254"/>
                    <a:pt x="1870169" y="57505"/>
                  </a:cubicBezTo>
                  <a:lnTo>
                    <a:pt x="1870169" y="609325"/>
                  </a:lnTo>
                  <a:cubicBezTo>
                    <a:pt x="1870169" y="624576"/>
                    <a:pt x="1864111" y="639203"/>
                    <a:pt x="1853326" y="649987"/>
                  </a:cubicBezTo>
                  <a:cubicBezTo>
                    <a:pt x="1842542" y="660771"/>
                    <a:pt x="1827916" y="666830"/>
                    <a:pt x="1812664" y="666830"/>
                  </a:cubicBezTo>
                  <a:lnTo>
                    <a:pt x="57505" y="666830"/>
                  </a:lnTo>
                  <a:cubicBezTo>
                    <a:pt x="42254" y="666830"/>
                    <a:pt x="27627" y="660771"/>
                    <a:pt x="16843" y="649987"/>
                  </a:cubicBezTo>
                  <a:cubicBezTo>
                    <a:pt x="6059" y="639203"/>
                    <a:pt x="0" y="624576"/>
                    <a:pt x="0" y="609325"/>
                  </a:cubicBezTo>
                  <a:lnTo>
                    <a:pt x="0" y="57505"/>
                  </a:lnTo>
                  <a:cubicBezTo>
                    <a:pt x="0" y="42254"/>
                    <a:pt x="6059" y="27627"/>
                    <a:pt x="16843" y="16843"/>
                  </a:cubicBezTo>
                  <a:cubicBezTo>
                    <a:pt x="27627" y="6059"/>
                    <a:pt x="42254" y="0"/>
                    <a:pt x="57505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37" name="TextBox 37"/>
            <p:cNvSpPr txBox="true"/>
            <p:nvPr/>
          </p:nvSpPr>
          <p:spPr>
            <a:xfrm>
              <a:off x="0" y="-47625"/>
              <a:ext cx="1870169" cy="71445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38" name="Freeform 38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9" name="TextBox 39"/>
          <p:cNvSpPr txBox="true"/>
          <p:nvPr/>
        </p:nvSpPr>
        <p:spPr>
          <a:xfrm rot="0">
            <a:off x="1028700" y="2326783"/>
            <a:ext cx="6617692" cy="381845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7024"/>
              </a:lnSpc>
            </a:pPr>
            <a:r>
              <a:rPr lang="en-US" sz="7473" spc="-336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Phase 4: Replacing Legacy Rendering Pipeline</a:t>
            </a:r>
          </a:p>
        </p:txBody>
      </p:sp>
      <p:sp>
        <p:nvSpPr>
          <p:cNvPr id="40" name="Freeform 40"/>
          <p:cNvSpPr/>
          <p:nvPr/>
        </p:nvSpPr>
        <p:spPr>
          <a:xfrm rot="0" flipH="false" flipV="false">
            <a:off x="6589698" y="1028700"/>
            <a:ext cx="984692" cy="1000958"/>
          </a:xfrm>
          <a:custGeom>
            <a:avLst/>
            <a:gdLst/>
            <a:ahLst/>
            <a:cxnLst/>
            <a:rect l="l" t="t" r="r" b="b"/>
            <a:pathLst>
              <a:path w="984692" h="1000958">
                <a:moveTo>
                  <a:pt x="0" y="0"/>
                </a:moveTo>
                <a:lnTo>
                  <a:pt x="984692" y="0"/>
                </a:lnTo>
                <a:lnTo>
                  <a:pt x="984692" y="1000958"/>
                </a:lnTo>
                <a:lnTo>
                  <a:pt x="0" y="1000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1" name="TextBox 41"/>
          <p:cNvSpPr txBox="true"/>
          <p:nvPr/>
        </p:nvSpPr>
        <p:spPr>
          <a:xfrm rot="0">
            <a:off x="1028700" y="8783677"/>
            <a:ext cx="2542441" cy="4012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546"/>
              </a:lnSpc>
            </a:pPr>
            <a:r>
              <a:rPr lang="en-US" sz="2380" spc="-10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Engineering Team</a:t>
            </a:r>
          </a:p>
        </p:txBody>
      </p:sp>
      <p:sp>
        <p:nvSpPr>
          <p:cNvPr id="42" name="TextBox 42"/>
          <p:cNvSpPr txBox="true"/>
          <p:nvPr/>
        </p:nvSpPr>
        <p:spPr>
          <a:xfrm rot="0">
            <a:off x="1205319" y="6733440"/>
            <a:ext cx="2783434" cy="3896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ctr">
              <a:lnSpc>
                <a:spcPts val="2415"/>
              </a:lnSpc>
            </a:pPr>
            <a:r>
              <a:rPr lang="en-US" sz="2257" spc="-10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Internal Presentation</a:t>
            </a:r>
          </a:p>
        </p:txBody>
      </p:sp>
      <p:sp>
        <p:nvSpPr>
          <p:cNvPr id="43" name="TextBox 43"/>
          <p:cNvSpPr txBox="true"/>
          <p:nvPr/>
        </p:nvSpPr>
        <p:spPr>
          <a:xfrm rot="0">
            <a:off x="1205319" y="7426012"/>
            <a:ext cx="1502176" cy="3896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ctr">
              <a:lnSpc>
                <a:spcPts val="2415"/>
              </a:lnSpc>
            </a:pPr>
            <a:r>
              <a:rPr lang="en-US" sz="2257" spc="-10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July 2026</a:t>
            </a:r>
          </a:p>
        </p:txBody>
      </p:sp>
      <p:sp>
        <p:nvSpPr>
          <p:cNvPr id="44" name="TextBox 44"/>
          <p:cNvSpPr txBox="true"/>
          <p:nvPr/>
        </p:nvSpPr>
        <p:spPr>
          <a:xfrm rot="0">
            <a:off x="3181166" y="7426012"/>
            <a:ext cx="2067777" cy="38969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ctr">
              <a:lnSpc>
                <a:spcPts val="2415"/>
              </a:lnSpc>
            </a:pPr>
            <a:r>
              <a:rPr lang="en-US" sz="2257" spc="-10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45" name="TextBox 45"/>
          <p:cNvSpPr txBox="true"/>
          <p:nvPr/>
        </p:nvSpPr>
        <p:spPr>
          <a:xfrm rot="0">
            <a:off x="4189891" y="8783677"/>
            <a:ext cx="2542441" cy="4012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546"/>
              </a:lnSpc>
            </a:pPr>
            <a:r>
              <a:rPr lang="en-US" sz="2380" spc="-10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July 18, 2026</a:t>
            </a:r>
          </a:p>
        </p:txBody>
      </p:sp>
      <p:sp>
        <p:nvSpPr>
          <p:cNvPr id="46" name="TextBox 46"/>
          <p:cNvSpPr txBox="true"/>
          <p:nvPr/>
        </p:nvSpPr>
        <p:spPr>
          <a:xfrm rot="0">
            <a:off x="1028700" y="8547115"/>
            <a:ext cx="1416483" cy="25382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34"/>
              </a:lnSpc>
            </a:pPr>
            <a:r>
              <a:rPr lang="en-US" sz="1527" spc="-6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Presented By:</a:t>
            </a:r>
          </a:p>
        </p:txBody>
      </p:sp>
      <p:sp>
        <p:nvSpPr>
          <p:cNvPr id="47" name="TextBox 47"/>
          <p:cNvSpPr txBox="true"/>
          <p:nvPr/>
        </p:nvSpPr>
        <p:spPr>
          <a:xfrm rot="0">
            <a:off x="4189891" y="8547115"/>
            <a:ext cx="1416483" cy="25382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34"/>
              </a:lnSpc>
            </a:pPr>
            <a:r>
              <a:rPr lang="en-US" sz="1527" spc="-6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Presented Date:</a:t>
            </a:r>
          </a:p>
        </p:txBody>
      </p:sp>
      <p:sp>
        <p:nvSpPr>
          <p:cNvPr id="48" name="TextBox 48"/>
          <p:cNvSpPr txBox="true"/>
          <p:nvPr/>
        </p:nvSpPr>
        <p:spPr>
          <a:xfrm rot="0">
            <a:off x="2062240" y="1080241"/>
            <a:ext cx="1659074" cy="36998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372"/>
              </a:lnSpc>
            </a:pPr>
            <a:r>
              <a:rPr lang="en-US" sz="2217" spc="-9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49" name="TextBox 49"/>
          <p:cNvSpPr txBox="true"/>
          <p:nvPr/>
        </p:nvSpPr>
        <p:spPr>
          <a:xfrm rot="0">
            <a:off x="2062240" y="1493681"/>
            <a:ext cx="1319381" cy="24257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522"/>
              </a:lnSpc>
            </a:pPr>
            <a:r>
              <a:rPr lang="en-US" sz="1423" spc="-6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— 2026</a:t>
            </a:r>
          </a:p>
        </p:txBody>
      </p:sp>
    </p:spTree>
  </p:cSld>
  <p:clrMapOvr>
    <a:masterClrMapping/>
  </p:clrMapOvr>
</p:sld>
</file>

<file path=ppt/slides/slide2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/>
          <p:cNvSpPr/>
          <p:nvPr/>
        </p:nvSpPr>
        <p:spPr>
          <a:xfrm flipV="true">
            <a:off x="9234157" y="6248442"/>
            <a:ext cx="799458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true">
            <a:off x="9234157" y="6954679"/>
            <a:ext cx="799458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true">
            <a:off x="9234157" y="5546852"/>
            <a:ext cx="799458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264711" y="7671499"/>
            <a:ext cx="799458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true">
            <a:off x="9264711" y="8462518"/>
            <a:ext cx="799458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0" flipH="false" flipV="false">
            <a:off x="9234157" y="5776827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0" y="0"/>
                </a:lnTo>
                <a:lnTo>
                  <a:pt x="189000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/>
          <p:cNvSpPr/>
          <p:nvPr/>
        </p:nvSpPr>
        <p:spPr>
          <a:xfrm rot="0" flipH="false" flipV="false">
            <a:off x="9234157" y="6483390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0" y="0"/>
                </a:lnTo>
                <a:lnTo>
                  <a:pt x="189000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0" flipH="false" flipV="false">
            <a:off x="9234157" y="7186178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0" y="0"/>
                </a:lnTo>
                <a:lnTo>
                  <a:pt x="189000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false" flipV="false">
            <a:off x="9234157" y="7977197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0" y="0"/>
                </a:lnTo>
                <a:lnTo>
                  <a:pt x="189000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9264711" y="9253538"/>
            <a:ext cx="799458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0" flipH="false" flipV="false">
            <a:off x="9234157" y="8768217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0" y="0"/>
                </a:lnTo>
                <a:lnTo>
                  <a:pt x="189000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5" name="Freeform 1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16" name="TextBox 16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1312635" y="1028700"/>
            <a:ext cx="2872106" cy="2914238"/>
            <a:chOff x="0" y="0"/>
            <a:chExt cx="871005" cy="883783"/>
          </a:xfrm>
        </p:grpSpPr>
        <p:sp>
          <p:nvSpPr>
            <p:cNvPr id="18" name="Freeform 18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9" name="TextBox 19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 rot="0" flipH="false" flipV="false">
            <a:off x="10463702" y="1617752"/>
            <a:ext cx="4113014" cy="1915571"/>
          </a:xfrm>
          <a:custGeom>
            <a:avLst/>
            <a:gdLst/>
            <a:ahLst/>
            <a:cxnLst/>
            <a:rect l="l" t="t" r="r" b="b"/>
            <a:pathLst>
              <a:path w="4113014" h="1915571">
                <a:moveTo>
                  <a:pt x="0" y="0"/>
                </a:moveTo>
                <a:lnTo>
                  <a:pt x="4113013" y="0"/>
                </a:lnTo>
                <a:lnTo>
                  <a:pt x="4113013" y="1915571"/>
                </a:lnTo>
                <a:lnTo>
                  <a:pt x="0" y="1915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1" name="Freeform 21"/>
          <p:cNvSpPr/>
          <p:nvPr/>
        </p:nvSpPr>
        <p:spPr>
          <a:xfrm rot="0" flipH="false" flipV="false">
            <a:off x="14880897" y="1509852"/>
            <a:ext cx="1899722" cy="1899722"/>
          </a:xfrm>
          <a:custGeom>
            <a:avLst/>
            <a:gdLst/>
            <a:ahLst/>
            <a:cxnLst/>
            <a:rect l="l" t="t" r="r" b="b"/>
            <a:pathLst>
              <a:path w="1899722" h="1899722">
                <a:moveTo>
                  <a:pt x="0" y="0"/>
                </a:moveTo>
                <a:lnTo>
                  <a:pt x="1899722" y="0"/>
                </a:lnTo>
                <a:lnTo>
                  <a:pt x="1899722" y="1899722"/>
                </a:lnTo>
                <a:lnTo>
                  <a:pt x="0" y="1899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id="22" name="TextBox 22"/>
          <p:cNvSpPr txBox="true"/>
          <p:nvPr/>
        </p:nvSpPr>
        <p:spPr>
          <a:xfrm rot="0">
            <a:off x="1028700" y="2444833"/>
            <a:ext cx="6709211" cy="21949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7506"/>
              </a:lnSpc>
            </a:pPr>
            <a:r>
              <a:rPr lang="en-US" sz="7985" spc="-35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Project Overview &amp; Core Thesis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2062240" y="1080241"/>
            <a:ext cx="1659074" cy="3908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2326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24" name="TextBox 24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1028700" y="5561233"/>
            <a:ext cx="431607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What is OfficeEditor?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1028700" y="6357162"/>
            <a:ext cx="5584657" cy="184449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replaces the legacy slide-rendering microservice with an in-process C# library, eliminating process management overhead and LibreOffice dependencies entirely.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Core Thesis: Instant preview beats perfect preview. A fast, iterative preview at ~12% RMSE is far more valuable to users than a slow, near-perfect render at 2% RMSE that takes 15 seconds.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Preview is for iteration — the rebuilt PPTX is the true deliverable. OfficeEditor targets sub-500ms full-deck previews, enabling real-time editing feedback at production scale.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9234157" y="5013615"/>
            <a:ext cx="1928776" cy="18736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56"/>
              </a:lnSpc>
            </a:pPr>
            <a:r>
              <a:rPr lang="en-US" sz="1696" spc="-1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Concept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4630250" y="5013615"/>
            <a:ext cx="921826" cy="18736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56"/>
              </a:lnSpc>
            </a:pPr>
            <a:r>
              <a:rPr lang="en-US" sz="1696" spc="-1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Detail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9611822" y="5766494"/>
            <a:ext cx="2403972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Preview Target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9611822" y="6472731"/>
            <a:ext cx="2333399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Fidelity Target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4630250" y="5775510"/>
            <a:ext cx="1423741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&lt;500ms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4630250" y="6481747"/>
            <a:ext cx="1029809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~12% RMSE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9611822" y="7178968"/>
            <a:ext cx="2242246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Legacy Comparison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9611822" y="7969987"/>
            <a:ext cx="2242246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Deliverable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14630250" y="7187984"/>
            <a:ext cx="795476" cy="2976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15s / 2% RMSE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14630250" y="7979004"/>
            <a:ext cx="795476" cy="2976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Rebuilt .pptx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9611822" y="8761007"/>
            <a:ext cx="2511846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Core Technology</a:t>
            </a:r>
          </a:p>
        </p:txBody>
      </p:sp>
      <p:sp>
        <p:nvSpPr>
          <p:cNvPr id="38" name="TextBox 38"/>
          <p:cNvSpPr txBox="true"/>
          <p:nvPr/>
        </p:nvSpPr>
        <p:spPr>
          <a:xfrm rot="0">
            <a:off x="14630250" y="8770023"/>
            <a:ext cx="795476" cy="2976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In-process C#</a:t>
            </a:r>
          </a:p>
        </p:txBody>
      </p:sp>
    </p:spTree>
  </p:cSld>
  <p:clrMapOvr>
    <a:masterClrMapping/>
  </p:clrMapOvr>
</p:sld>
</file>

<file path=ppt/slides/slide3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/>
          <p:cNvSpPr/>
          <p:nvPr/>
        </p:nvSpPr>
        <p:spPr>
          <a:xfrm flipV="true">
            <a:off x="1028700" y="6752457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true">
            <a:off x="1028700" y="7340431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6168351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54137" y="7937216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true">
            <a:off x="1054137" y="8595775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0" flipH="false" flipV="false">
            <a:off x="1028700" y="6359816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/>
          <p:cNvSpPr/>
          <p:nvPr/>
        </p:nvSpPr>
        <p:spPr>
          <a:xfrm rot="0" flipH="false" flipV="false">
            <a:off x="1028700" y="6948062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0" flipH="false" flipV="false">
            <a:off x="1028700" y="7533164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false" flipV="false">
            <a:off x="1028700" y="8191724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054137" y="9254335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0" flipH="false" flipV="false">
            <a:off x="1028700" y="8850284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5" name="Freeform 1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6" name="TextBox 16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1244936" y="1028700"/>
            <a:ext cx="2872106" cy="2914238"/>
            <a:chOff x="0" y="0"/>
            <a:chExt cx="871005" cy="883783"/>
          </a:xfrm>
        </p:grpSpPr>
        <p:sp>
          <p:nvSpPr>
            <p:cNvPr id="18" name="Freeform 18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19" name="TextBox 19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 rot="0" flipH="false" flipV="false">
            <a:off x="11452363" y="1630606"/>
            <a:ext cx="2332757" cy="1950726"/>
          </a:xfrm>
          <a:custGeom>
            <a:avLst/>
            <a:gdLst/>
            <a:ahLst/>
            <a:cxnLst/>
            <a:rect l="l" t="t" r="r" b="b"/>
            <a:pathLst>
              <a:path w="2332757" h="1950726">
                <a:moveTo>
                  <a:pt x="0" y="0"/>
                </a:moveTo>
                <a:lnTo>
                  <a:pt x="2332757" y="0"/>
                </a:lnTo>
                <a:lnTo>
                  <a:pt x="2332757" y="1950726"/>
                </a:lnTo>
                <a:lnTo>
                  <a:pt x="0" y="19507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1" name="Freeform 21"/>
          <p:cNvSpPr/>
          <p:nvPr/>
        </p:nvSpPr>
        <p:spPr>
          <a:xfrm rot="0" flipH="false" flipV="false">
            <a:off x="15023654" y="1708974"/>
            <a:ext cx="1596845" cy="1596845"/>
          </a:xfrm>
          <a:custGeom>
            <a:avLst/>
            <a:gdLst/>
            <a:ahLst/>
            <a:cxnLst/>
            <a:rect l="l" t="t" r="r" b="b"/>
            <a:pathLst>
              <a:path w="1596845" h="1596845">
                <a:moveTo>
                  <a:pt x="0" y="0"/>
                </a:moveTo>
                <a:lnTo>
                  <a:pt x="1596845" y="0"/>
                </a:lnTo>
                <a:lnTo>
                  <a:pt x="1596845" y="1596845"/>
                </a:lnTo>
                <a:lnTo>
                  <a:pt x="0" y="1596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id="22" name="TextBox 22"/>
          <p:cNvSpPr txBox="true"/>
          <p:nvPr/>
        </p:nvSpPr>
        <p:spPr>
          <a:xfrm rot="0">
            <a:off x="1028700" y="2454358"/>
            <a:ext cx="5162504" cy="264847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6350"/>
              </a:lnSpc>
            </a:pPr>
            <a:r>
              <a:rPr lang="en-US" sz="6756" spc="-3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Performance Metrics: Speed Advantage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2062240" y="1099291"/>
            <a:ext cx="1659074" cy="28613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876"/>
              </a:lnSpc>
            </a:pPr>
            <a:r>
              <a:rPr lang="en-US" sz="1753" spc="-7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24" name="TextBox 24"/>
          <p:cNvSpPr txBox="true"/>
          <p:nvPr/>
        </p:nvSpPr>
        <p:spPr>
          <a:xfrm rot="0">
            <a:off x="2062240" y="1493681"/>
            <a:ext cx="1319381" cy="22191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18"/>
              </a:lnSpc>
            </a:pPr>
            <a:r>
              <a:rPr lang="en-US" sz="1326" spc="-5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1028700" y="5726047"/>
            <a:ext cx="797837" cy="3310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48"/>
              </a:lnSpc>
            </a:pPr>
            <a:r>
              <a:rPr lang="en-US" sz="1560" spc="-13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Benchmark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5521193" y="5726047"/>
            <a:ext cx="1023957" cy="1766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48"/>
              </a:lnSpc>
            </a:pPr>
            <a:r>
              <a:rPr lang="en-US" sz="1560" spc="-13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Speedup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1343124" y="6357593"/>
            <a:ext cx="2001416" cy="31191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AetherLink (15 slides, 1440×810pt)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343124" y="6945567"/>
            <a:ext cx="1942661" cy="31191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pres-pro (16 slides, 960×540pt)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5521193" y="6365099"/>
            <a:ext cx="1185329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8.8×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5521193" y="6953074"/>
            <a:ext cx="857363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15.8×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343124" y="7533542"/>
            <a:ext cx="1866771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Per-Slide (AetherLink)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343124" y="8192101"/>
            <a:ext cx="1866771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Per-Slide (pres-pro)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5521193" y="7541048"/>
            <a:ext cx="662270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8.8×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5521193" y="8199608"/>
            <a:ext cx="662270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15.9×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1343124" y="8850661"/>
            <a:ext cx="2091226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Cached Single-Slide Preview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5521193" y="8858167"/>
            <a:ext cx="662270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~1.5ms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8715406" y="5848649"/>
            <a:ext cx="3807736" cy="35113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132"/>
              </a:lnSpc>
            </a:pPr>
            <a:r>
              <a:rPr lang="en-US" sz="2268" spc="-102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Up to 15.8× Faster Than LibreOffice</a:t>
            </a:r>
          </a:p>
        </p:txBody>
      </p:sp>
      <p:sp>
        <p:nvSpPr>
          <p:cNvPr id="38" name="TextBox 38"/>
          <p:cNvSpPr txBox="true"/>
          <p:nvPr/>
        </p:nvSpPr>
        <p:spPr>
          <a:xfrm rot="0">
            <a:off x="8715406" y="6829447"/>
            <a:ext cx="6693760" cy="179651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83"/>
              </a:lnSpc>
            </a:pPr>
            <a:r>
              <a:rPr lang="en-US" sz="1461" spc="-1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delivers dramatic rendering speed improvements across all tested presentations. For AetherLink (15 slides), OfficeEditor completed in 535.0ms versus LibreOffice at 4690.9ms — an 8.8× speedup. For pres-pro (16 slides), OfficeEditor achieved 111.1ms versus LibreOffice at 1750.3ms — a 15.8× speedup.</a:t>
            </a:r>
          </a:p>
          <a:p>
            <a:pPr marL="0" lvl="0" indent="0" algn="l">
              <a:lnSpc>
                <a:spcPts val="1783"/>
              </a:lnSpc>
            </a:pPr>
            <a:r>
              <a:rPr lang="en-US" sz="1461" spc="-1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Per-slide preview times: OfficeEditor 35.7ms / 6.9ms vs LibreOffice 312.7ms / 109.4ms respectively. Cached single-slide preview latency reaches ~1.5ms, with cold first-request at ~230ms. This validates the core thesis: instant preview enables rapid iteration without waiting for legacy rendering pipelines.</a:t>
            </a:r>
          </a:p>
        </p:txBody>
      </p:sp>
    </p:spTree>
  </p:cSld>
  <p:clrMapOvr>
    <a:masterClrMapping/>
  </p:clrMapOvr>
</p:sld>
</file>

<file path=ppt/slides/slide4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/>
          <p:cNvSpPr/>
          <p:nvPr/>
        </p:nvSpPr>
        <p:spPr>
          <a:xfrm flipV="true">
            <a:off x="8233004" y="6248442"/>
            <a:ext cx="899193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true">
            <a:off x="8233004" y="6954679"/>
            <a:ext cx="899193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true">
            <a:off x="8233004" y="5546852"/>
            <a:ext cx="899193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8267370" y="7671499"/>
            <a:ext cx="899193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true">
            <a:off x="8267370" y="8462518"/>
            <a:ext cx="899193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0" flipH="false" flipV="false">
            <a:off x="8233004" y="5776827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1" y="0"/>
                </a:lnTo>
                <a:lnTo>
                  <a:pt x="189001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/>
          <p:cNvSpPr/>
          <p:nvPr/>
        </p:nvSpPr>
        <p:spPr>
          <a:xfrm rot="0" flipH="false" flipV="false">
            <a:off x="8233004" y="6483390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1" y="0"/>
                </a:lnTo>
                <a:lnTo>
                  <a:pt x="189001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0" flipH="false" flipV="false">
            <a:off x="8233004" y="7186178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1" y="0"/>
                </a:lnTo>
                <a:lnTo>
                  <a:pt x="189001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false" flipV="false">
            <a:off x="8233004" y="7977197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1" y="0"/>
                </a:lnTo>
                <a:lnTo>
                  <a:pt x="189001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8267370" y="9253538"/>
            <a:ext cx="899193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0" flipH="false" flipV="false">
            <a:off x="8233004" y="8768217"/>
            <a:ext cx="189000" cy="190189"/>
          </a:xfrm>
          <a:custGeom>
            <a:avLst/>
            <a:gdLst/>
            <a:ahLst/>
            <a:cxnLst/>
            <a:rect l="l" t="t" r="r" b="b"/>
            <a:pathLst>
              <a:path w="189000" h="190189">
                <a:moveTo>
                  <a:pt x="0" y="0"/>
                </a:moveTo>
                <a:lnTo>
                  <a:pt x="189001" y="0"/>
                </a:lnTo>
                <a:lnTo>
                  <a:pt x="189001" y="190189"/>
                </a:lnTo>
                <a:lnTo>
                  <a:pt x="0" y="190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4103259" y="6339299"/>
            <a:ext cx="2872106" cy="2914238"/>
            <a:chOff x="0" y="0"/>
            <a:chExt cx="871005" cy="883783"/>
          </a:xfrm>
        </p:grpSpPr>
        <p:sp>
          <p:nvSpPr>
            <p:cNvPr id="15" name="Freeform 1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16" name="TextBox 16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028700" y="6339299"/>
            <a:ext cx="2872106" cy="2914238"/>
            <a:chOff x="0" y="0"/>
            <a:chExt cx="871005" cy="883783"/>
          </a:xfrm>
        </p:grpSpPr>
        <p:sp>
          <p:nvSpPr>
            <p:cNvPr id="18" name="Freeform 18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9" name="TextBox 19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 rot="0" flipH="false" flipV="false">
            <a:off x="4674442" y="6939855"/>
            <a:ext cx="1729740" cy="1723253"/>
          </a:xfrm>
          <a:custGeom>
            <a:avLst/>
            <a:gdLst/>
            <a:ahLst/>
            <a:cxnLst/>
            <a:rect l="l" t="t" r="r" b="b"/>
            <a:pathLst>
              <a:path w="1729740" h="1723253">
                <a:moveTo>
                  <a:pt x="0" y="0"/>
                </a:moveTo>
                <a:lnTo>
                  <a:pt x="1729740" y="0"/>
                </a:lnTo>
                <a:lnTo>
                  <a:pt x="1729740" y="1723253"/>
                </a:lnTo>
                <a:lnTo>
                  <a:pt x="0" y="1723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1" name="Freeform 21"/>
          <p:cNvSpPr/>
          <p:nvPr/>
        </p:nvSpPr>
        <p:spPr>
          <a:xfrm rot="0" flipH="false" flipV="false">
            <a:off x="1350884" y="6782798"/>
            <a:ext cx="2227738" cy="2027242"/>
          </a:xfrm>
          <a:custGeom>
            <a:avLst/>
            <a:gdLst/>
            <a:ahLst/>
            <a:cxnLst/>
            <a:rect l="l" t="t" r="r" b="b"/>
            <a:pathLst>
              <a:path w="2227738" h="2027242">
                <a:moveTo>
                  <a:pt x="0" y="0"/>
                </a:moveTo>
                <a:lnTo>
                  <a:pt x="2227738" y="0"/>
                </a:lnTo>
                <a:lnTo>
                  <a:pt x="2227738" y="2027241"/>
                </a:lnTo>
                <a:lnTo>
                  <a:pt x="0" y="20272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2" name="Freeform 22"/>
          <p:cNvSpPr/>
          <p:nvPr/>
        </p:nvSpPr>
        <p:spPr>
          <a:xfrm rot="0" flipH="false" flipV="false">
            <a:off x="10863607" y="-427626"/>
            <a:ext cx="5786456" cy="5026984"/>
          </a:xfrm>
          <a:custGeom>
            <a:avLst/>
            <a:gdLst/>
            <a:ahLst/>
            <a:cxnLst/>
            <a:rect l="l" t="t" r="r" b="b"/>
            <a:pathLst>
              <a:path w="5786456" h="5026984">
                <a:moveTo>
                  <a:pt x="0" y="0"/>
                </a:moveTo>
                <a:lnTo>
                  <a:pt x="5786456" y="0"/>
                </a:lnTo>
                <a:lnTo>
                  <a:pt x="5786456" y="5026984"/>
                </a:lnTo>
                <a:lnTo>
                  <a:pt x="0" y="5026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23" name="Freeform 23"/>
          <p:cNvSpPr/>
          <p:nvPr/>
        </p:nvSpPr>
        <p:spPr>
          <a:xfrm rot="0" flipH="false" flipV="false">
            <a:off x="8405347" y="1747832"/>
            <a:ext cx="1747469" cy="1728603"/>
          </a:xfrm>
          <a:custGeom>
            <a:avLst/>
            <a:gdLst/>
            <a:ahLst/>
            <a:cxnLst/>
            <a:rect l="l" t="t" r="r" b="b"/>
            <a:pathLst>
              <a:path w="1747469" h="1728603">
                <a:moveTo>
                  <a:pt x="0" y="0"/>
                </a:moveTo>
                <a:lnTo>
                  <a:pt x="1747469" y="0"/>
                </a:lnTo>
                <a:lnTo>
                  <a:pt x="1747469" y="1728603"/>
                </a:lnTo>
                <a:lnTo>
                  <a:pt x="0" y="17286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id="24" name="TextBox 24"/>
          <p:cNvSpPr txBox="true"/>
          <p:nvPr/>
        </p:nvSpPr>
        <p:spPr>
          <a:xfrm rot="0">
            <a:off x="1028700" y="2765102"/>
            <a:ext cx="5946665" cy="21949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7506"/>
              </a:lnSpc>
            </a:pPr>
            <a:r>
              <a:rPr lang="en-US" sz="7985" spc="-35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Visual Fidelity Metrics (RMSE)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2062240" y="1080241"/>
            <a:ext cx="1659074" cy="3908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2326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8233004" y="5023140"/>
            <a:ext cx="1928776" cy="2292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09"/>
              </a:lnSpc>
            </a:pPr>
            <a:r>
              <a:rPr lang="en-US" sz="2011" spc="-17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Metric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1605478" y="5023140"/>
            <a:ext cx="1547114" cy="2292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09"/>
              </a:lnSpc>
            </a:pPr>
            <a:r>
              <a:rPr lang="en-US" sz="2011" spc="-17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Avg RMSE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13578554" y="5023140"/>
            <a:ext cx="1617979" cy="2292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09"/>
              </a:lnSpc>
            </a:pPr>
            <a:r>
              <a:rPr lang="en-US" sz="2011" spc="-17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Page 1 RMSE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15820180" y="5023140"/>
            <a:ext cx="1132697" cy="2292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09"/>
              </a:lnSpc>
            </a:pPr>
            <a:r>
              <a:rPr lang="en-US" sz="2011" spc="-17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Status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8610670" y="5766494"/>
            <a:ext cx="2403972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AetherLink (15 slides)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8610670" y="6472731"/>
            <a:ext cx="2333399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pres-pro (16 slides)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11605478" y="5775510"/>
            <a:ext cx="1423741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13.20%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13578554" y="5775510"/>
            <a:ext cx="1045479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5.09%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15820180" y="5775510"/>
            <a:ext cx="657253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✓ OK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11605478" y="6481747"/>
            <a:ext cx="1029809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17.19%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13578554" y="6481747"/>
            <a:ext cx="1141012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13.23%</a:t>
            </a:r>
          </a:p>
        </p:txBody>
      </p:sp>
      <p:sp>
        <p:nvSpPr>
          <p:cNvPr id="38" name="TextBox 38"/>
          <p:cNvSpPr txBox="true"/>
          <p:nvPr/>
        </p:nvSpPr>
        <p:spPr>
          <a:xfrm rot="0">
            <a:off x="15820180" y="6481747"/>
            <a:ext cx="742002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✓ OK</a:t>
            </a:r>
          </a:p>
        </p:txBody>
      </p:sp>
      <p:sp>
        <p:nvSpPr>
          <p:cNvPr id="39" name="TextBox 39"/>
          <p:cNvSpPr txBox="true"/>
          <p:nvPr/>
        </p:nvSpPr>
        <p:spPr>
          <a:xfrm rot="0">
            <a:off x="8610670" y="7178968"/>
            <a:ext cx="2242246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Target Threshold</a:t>
            </a:r>
          </a:p>
        </p:txBody>
      </p:sp>
      <p:sp>
        <p:nvSpPr>
          <p:cNvPr id="40" name="TextBox 40"/>
          <p:cNvSpPr txBox="true"/>
          <p:nvPr/>
        </p:nvSpPr>
        <p:spPr>
          <a:xfrm rot="0">
            <a:off x="8610670" y="7969987"/>
            <a:ext cx="2242246" cy="1815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Cause: Line Spacing</a:t>
            </a:r>
          </a:p>
        </p:txBody>
      </p:sp>
      <p:sp>
        <p:nvSpPr>
          <p:cNvPr id="41" name="TextBox 41"/>
          <p:cNvSpPr txBox="true"/>
          <p:nvPr/>
        </p:nvSpPr>
        <p:spPr>
          <a:xfrm rot="0">
            <a:off x="11605478" y="7187984"/>
            <a:ext cx="795476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&lt;15%</a:t>
            </a:r>
          </a:p>
        </p:txBody>
      </p:sp>
      <p:sp>
        <p:nvSpPr>
          <p:cNvPr id="42" name="TextBox 42"/>
          <p:cNvSpPr txBox="true"/>
          <p:nvPr/>
        </p:nvSpPr>
        <p:spPr>
          <a:xfrm rot="0">
            <a:off x="11605478" y="7979004"/>
            <a:ext cx="795476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Minor</a:t>
            </a:r>
          </a:p>
        </p:txBody>
      </p:sp>
      <p:sp>
        <p:nvSpPr>
          <p:cNvPr id="43" name="TextBox 43"/>
          <p:cNvSpPr txBox="true"/>
          <p:nvPr/>
        </p:nvSpPr>
        <p:spPr>
          <a:xfrm rot="0">
            <a:off x="13578554" y="7187984"/>
            <a:ext cx="700896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&lt;15%</a:t>
            </a:r>
          </a:p>
        </p:txBody>
      </p:sp>
      <p:sp>
        <p:nvSpPr>
          <p:cNvPr id="44" name="TextBox 44"/>
          <p:cNvSpPr txBox="true"/>
          <p:nvPr/>
        </p:nvSpPr>
        <p:spPr>
          <a:xfrm rot="0">
            <a:off x="15820180" y="7187984"/>
            <a:ext cx="700896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✓ Met</a:t>
            </a:r>
          </a:p>
        </p:txBody>
      </p:sp>
      <p:sp>
        <p:nvSpPr>
          <p:cNvPr id="45" name="TextBox 45"/>
          <p:cNvSpPr txBox="true"/>
          <p:nvPr/>
        </p:nvSpPr>
        <p:spPr>
          <a:xfrm rot="0">
            <a:off x="13578554" y="7979004"/>
            <a:ext cx="700896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Low</a:t>
            </a:r>
          </a:p>
        </p:txBody>
      </p:sp>
      <p:sp>
        <p:nvSpPr>
          <p:cNvPr id="46" name="TextBox 46"/>
          <p:cNvSpPr txBox="true"/>
          <p:nvPr/>
        </p:nvSpPr>
        <p:spPr>
          <a:xfrm rot="0">
            <a:off x="15820180" y="7979004"/>
            <a:ext cx="700896" cy="2976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Acceptable</a:t>
            </a:r>
          </a:p>
        </p:txBody>
      </p:sp>
      <p:sp>
        <p:nvSpPr>
          <p:cNvPr id="47" name="TextBox 47"/>
          <p:cNvSpPr txBox="true"/>
          <p:nvPr/>
        </p:nvSpPr>
        <p:spPr>
          <a:xfrm rot="0">
            <a:off x="8610670" y="8761007"/>
            <a:ext cx="2511846" cy="3406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12"/>
              </a:lnSpc>
            </a:pPr>
            <a:r>
              <a:rPr lang="en-US" sz="1491" spc="-55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Cause: Font Metrics / Table Stroke</a:t>
            </a:r>
          </a:p>
        </p:txBody>
      </p:sp>
      <p:sp>
        <p:nvSpPr>
          <p:cNvPr id="48" name="TextBox 48"/>
          <p:cNvSpPr txBox="true"/>
          <p:nvPr/>
        </p:nvSpPr>
        <p:spPr>
          <a:xfrm rot="0">
            <a:off x="11605478" y="8770023"/>
            <a:ext cx="795476" cy="15628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Moderate</a:t>
            </a:r>
          </a:p>
        </p:txBody>
      </p:sp>
      <p:sp>
        <p:nvSpPr>
          <p:cNvPr id="49" name="TextBox 49"/>
          <p:cNvSpPr txBox="true"/>
          <p:nvPr/>
        </p:nvSpPr>
        <p:spPr>
          <a:xfrm rot="0">
            <a:off x="13578554" y="8770023"/>
            <a:ext cx="636192" cy="2976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Moderate</a:t>
            </a:r>
          </a:p>
        </p:txBody>
      </p:sp>
      <p:sp>
        <p:nvSpPr>
          <p:cNvPr id="50" name="TextBox 50"/>
          <p:cNvSpPr txBox="true"/>
          <p:nvPr/>
        </p:nvSpPr>
        <p:spPr>
          <a:xfrm rot="0">
            <a:off x="15820180" y="8770023"/>
            <a:ext cx="603840" cy="29765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147"/>
              </a:lnSpc>
            </a:pPr>
            <a:r>
              <a:rPr lang="en-US" sz="1304" spc="-48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Acceptable</a:t>
            </a:r>
          </a:p>
        </p:txBody>
      </p:sp>
    </p:spTree>
  </p:cSld>
  <p:clrMapOvr>
    <a:masterClrMapping/>
  </p:clrMapOvr>
</p:sld>
</file>

<file path=ppt/slides/slide5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4042101" y="5143500"/>
            <a:ext cx="3217199" cy="4110037"/>
            <a:chOff x="0" y="0"/>
            <a:chExt cx="975659" cy="1246425"/>
          </a:xfrm>
        </p:grpSpPr>
        <p:sp>
          <p:nvSpPr>
            <p:cNvPr id="4" name="Freeform 4"/>
            <p:cNvSpPr/>
            <p:nvPr/>
          </p:nvSpPr>
          <p:spPr>
            <a:xfrm rot="0" flipH="false" flipV="false">
              <a:off x="0" y="0"/>
              <a:ext cx="975659" cy="1246425"/>
            </a:xfrm>
            <a:custGeom>
              <a:avLst/>
              <a:gdLst/>
              <a:ahLst/>
              <a:cxnLst/>
              <a:rect l="l" t="t" r="r" b="b"/>
              <a:pathLst>
                <a:path w="975659" h="1246425">
                  <a:moveTo>
                    <a:pt x="122727" y="0"/>
                  </a:moveTo>
                  <a:lnTo>
                    <a:pt x="852932" y="0"/>
                  </a:lnTo>
                  <a:cubicBezTo>
                    <a:pt x="920713" y="0"/>
                    <a:pt x="975659" y="54947"/>
                    <a:pt x="975659" y="122727"/>
                  </a:cubicBezTo>
                  <a:lnTo>
                    <a:pt x="975659" y="1123698"/>
                  </a:lnTo>
                  <a:cubicBezTo>
                    <a:pt x="975659" y="1156247"/>
                    <a:pt x="962729" y="1187463"/>
                    <a:pt x="939713" y="1210479"/>
                  </a:cubicBezTo>
                  <a:cubicBezTo>
                    <a:pt x="916698" y="1233495"/>
                    <a:pt x="885482" y="1246425"/>
                    <a:pt x="852932" y="1246425"/>
                  </a:cubicBezTo>
                  <a:lnTo>
                    <a:pt x="122727" y="1246425"/>
                  </a:lnTo>
                  <a:cubicBezTo>
                    <a:pt x="54947" y="1246425"/>
                    <a:pt x="0" y="1191478"/>
                    <a:pt x="0" y="1123698"/>
                  </a:cubicBezTo>
                  <a:lnTo>
                    <a:pt x="0" y="122727"/>
                  </a:lnTo>
                  <a:cubicBezTo>
                    <a:pt x="0" y="54947"/>
                    <a:pt x="54947" y="0"/>
                    <a:pt x="122727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5" name="TextBox 5"/>
            <p:cNvSpPr txBox="true"/>
            <p:nvPr/>
          </p:nvSpPr>
          <p:spPr>
            <a:xfrm>
              <a:off x="0" y="-28575"/>
              <a:ext cx="975659" cy="1275000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4425901" y="6256527"/>
            <a:ext cx="2449600" cy="1166949"/>
            <a:chOff x="0" y="0"/>
            <a:chExt cx="975659" cy="464788"/>
          </a:xfrm>
        </p:grpSpPr>
        <p:sp>
          <p:nvSpPr>
            <p:cNvPr id="7" name="Freeform 7"/>
            <p:cNvSpPr/>
            <p:nvPr/>
          </p:nvSpPr>
          <p:spPr>
            <a:xfrm rot="0" flipH="false" flipV="false">
              <a:off x="0" y="0"/>
              <a:ext cx="975659" cy="464788"/>
            </a:xfrm>
            <a:custGeom>
              <a:avLst/>
              <a:gdLst/>
              <a:ahLst/>
              <a:cxnLst/>
              <a:rect l="l" t="t" r="r" b="b"/>
              <a:pathLst>
                <a:path w="975659" h="464788">
                  <a:moveTo>
                    <a:pt x="69531" y="0"/>
                  </a:moveTo>
                  <a:lnTo>
                    <a:pt x="906129" y="0"/>
                  </a:lnTo>
                  <a:cubicBezTo>
                    <a:pt x="944530" y="0"/>
                    <a:pt x="975659" y="31130"/>
                    <a:pt x="975659" y="69531"/>
                  </a:cubicBezTo>
                  <a:lnTo>
                    <a:pt x="975659" y="395258"/>
                  </a:lnTo>
                  <a:cubicBezTo>
                    <a:pt x="975659" y="433658"/>
                    <a:pt x="944530" y="464788"/>
                    <a:pt x="906129" y="464788"/>
                  </a:cubicBezTo>
                  <a:lnTo>
                    <a:pt x="69531" y="464788"/>
                  </a:lnTo>
                  <a:cubicBezTo>
                    <a:pt x="31130" y="464788"/>
                    <a:pt x="0" y="433658"/>
                    <a:pt x="0" y="395258"/>
                  </a:cubicBezTo>
                  <a:lnTo>
                    <a:pt x="0" y="69531"/>
                  </a:lnTo>
                  <a:cubicBezTo>
                    <a:pt x="0" y="31130"/>
                    <a:pt x="31130" y="0"/>
                    <a:pt x="69531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8" name="TextBox 8"/>
            <p:cNvSpPr txBox="true"/>
            <p:nvPr/>
          </p:nvSpPr>
          <p:spPr>
            <a:xfrm>
              <a:off x="0" y="-28575"/>
              <a:ext cx="975659" cy="493363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4425901" y="7670296"/>
            <a:ext cx="2449600" cy="1166949"/>
            <a:chOff x="0" y="0"/>
            <a:chExt cx="975659" cy="464788"/>
          </a:xfrm>
        </p:grpSpPr>
        <p:sp>
          <p:nvSpPr>
            <p:cNvPr id="10" name="Freeform 10"/>
            <p:cNvSpPr/>
            <p:nvPr/>
          </p:nvSpPr>
          <p:spPr>
            <a:xfrm rot="0" flipH="false" flipV="false">
              <a:off x="0" y="0"/>
              <a:ext cx="975659" cy="464788"/>
            </a:xfrm>
            <a:custGeom>
              <a:avLst/>
              <a:gdLst/>
              <a:ahLst/>
              <a:cxnLst/>
              <a:rect l="l" t="t" r="r" b="b"/>
              <a:pathLst>
                <a:path w="975659" h="464788">
                  <a:moveTo>
                    <a:pt x="69531" y="0"/>
                  </a:moveTo>
                  <a:lnTo>
                    <a:pt x="906129" y="0"/>
                  </a:lnTo>
                  <a:cubicBezTo>
                    <a:pt x="944530" y="0"/>
                    <a:pt x="975659" y="31130"/>
                    <a:pt x="975659" y="69531"/>
                  </a:cubicBezTo>
                  <a:lnTo>
                    <a:pt x="975659" y="395258"/>
                  </a:lnTo>
                  <a:cubicBezTo>
                    <a:pt x="975659" y="433658"/>
                    <a:pt x="944530" y="464788"/>
                    <a:pt x="906129" y="464788"/>
                  </a:cubicBezTo>
                  <a:lnTo>
                    <a:pt x="69531" y="464788"/>
                  </a:lnTo>
                  <a:cubicBezTo>
                    <a:pt x="31130" y="464788"/>
                    <a:pt x="0" y="433658"/>
                    <a:pt x="0" y="395258"/>
                  </a:cubicBezTo>
                  <a:lnTo>
                    <a:pt x="0" y="69531"/>
                  </a:lnTo>
                  <a:cubicBezTo>
                    <a:pt x="0" y="31130"/>
                    <a:pt x="31130" y="0"/>
                    <a:pt x="69531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11" name="TextBox 11"/>
            <p:cNvSpPr txBox="true"/>
            <p:nvPr/>
          </p:nvSpPr>
          <p:spPr>
            <a:xfrm>
              <a:off x="0" y="-28575"/>
              <a:ext cx="975659" cy="493363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3" name="Freeform 13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14" name="TextBox 14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1312635" y="1028700"/>
            <a:ext cx="2872106" cy="2914238"/>
            <a:chOff x="0" y="0"/>
            <a:chExt cx="871005" cy="883783"/>
          </a:xfrm>
        </p:grpSpPr>
        <p:sp>
          <p:nvSpPr>
            <p:cNvPr id="16" name="Freeform 16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7" name="TextBox 17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8240505" y="1028700"/>
            <a:ext cx="2872106" cy="2914238"/>
            <a:chOff x="0" y="0"/>
            <a:chExt cx="871005" cy="883783"/>
          </a:xfrm>
        </p:grpSpPr>
        <p:sp>
          <p:nvSpPr>
            <p:cNvPr id="19" name="Freeform 19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20" name="TextBox 20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 rot="0" flipH="false" flipV="false">
            <a:off x="14848755" y="1512010"/>
            <a:ext cx="1951332" cy="1942381"/>
          </a:xfrm>
          <a:custGeom>
            <a:avLst/>
            <a:gdLst/>
            <a:ahLst/>
            <a:cxnLst/>
            <a:rect l="l" t="t" r="r" b="b"/>
            <a:pathLst>
              <a:path w="1951332" h="1942381">
                <a:moveTo>
                  <a:pt x="0" y="0"/>
                </a:moveTo>
                <a:lnTo>
                  <a:pt x="1951333" y="0"/>
                </a:lnTo>
                <a:lnTo>
                  <a:pt x="1951333" y="1942381"/>
                </a:lnTo>
                <a:lnTo>
                  <a:pt x="0" y="1942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22" name="Freeform 22"/>
          <p:cNvSpPr/>
          <p:nvPr/>
        </p:nvSpPr>
        <p:spPr>
          <a:xfrm rot="0" flipH="false" flipV="false">
            <a:off x="8843284" y="1649416"/>
            <a:ext cx="1664951" cy="1694607"/>
          </a:xfrm>
          <a:custGeom>
            <a:avLst/>
            <a:gdLst/>
            <a:ahLst/>
            <a:cxnLst/>
            <a:rect l="l" t="t" r="r" b="b"/>
            <a:pathLst>
              <a:path w="1664951" h="1694607">
                <a:moveTo>
                  <a:pt x="0" y="0"/>
                </a:moveTo>
                <a:lnTo>
                  <a:pt x="1664951" y="0"/>
                </a:lnTo>
                <a:lnTo>
                  <a:pt x="1664951" y="1694607"/>
                </a:lnTo>
                <a:lnTo>
                  <a:pt x="0" y="1694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23" name="Freeform 23"/>
          <p:cNvSpPr/>
          <p:nvPr/>
        </p:nvSpPr>
        <p:spPr>
          <a:xfrm rot="0" flipH="false" flipV="false">
            <a:off x="11947765" y="1695212"/>
            <a:ext cx="1681434" cy="1681434"/>
          </a:xfrm>
          <a:custGeom>
            <a:avLst/>
            <a:gdLst/>
            <a:ahLst/>
            <a:cxnLst/>
            <a:rect l="l" t="t" r="r" b="b"/>
            <a:pathLst>
              <a:path w="1681434" h="1681434">
                <a:moveTo>
                  <a:pt x="0" y="0"/>
                </a:moveTo>
                <a:lnTo>
                  <a:pt x="1681435" y="0"/>
                </a:lnTo>
                <a:lnTo>
                  <a:pt x="1681435" y="1681435"/>
                </a:lnTo>
                <a:lnTo>
                  <a:pt x="0" y="1681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4" name="TextBox 24"/>
          <p:cNvSpPr txBox="true"/>
          <p:nvPr/>
        </p:nvSpPr>
        <p:spPr>
          <a:xfrm rot="0">
            <a:off x="1028700" y="2454358"/>
            <a:ext cx="6709211" cy="267877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9191"/>
              </a:lnSpc>
            </a:pPr>
            <a:r>
              <a:rPr lang="en-US" sz="9777" spc="-43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</a:t>
            </a:r>
          </a:p>
          <a:p>
            <a:pPr marL="0" lvl="0" indent="0" algn="l">
              <a:lnSpc>
                <a:spcPts val="9191"/>
              </a:lnSpc>
            </a:pPr>
            <a:r>
              <a:rPr lang="en-US" sz="9777" spc="-43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Deliverables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2062240" y="1089766"/>
            <a:ext cx="1659074" cy="29646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928"/>
              </a:lnSpc>
            </a:pPr>
            <a:r>
              <a:rPr lang="en-US" sz="1802" spc="-81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1028700" y="5570758"/>
            <a:ext cx="2409710" cy="3627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2331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Rendering Backend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7578511" y="5570758"/>
            <a:ext cx="1723419" cy="3627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191"/>
              </a:lnSpc>
            </a:pPr>
            <a:r>
              <a:rPr lang="en-US" sz="2331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Editing Surface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1028700" y="6357162"/>
            <a:ext cx="5584657" cy="14444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12 Workstreams · 4 Merge Waves · 844 Tests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Per-slide preview API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Font cache system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Typst emission engine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Persistent sessions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Eviction policy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Placeholder rendering support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7578511" y="6357162"/>
            <a:ext cx="5584657" cy="124441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Element anatomy API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Instructions API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Instruction engine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Style-preserving replacements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Image fit modes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• TextFitService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4426724" y="5583583"/>
            <a:ext cx="2511543" cy="33522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021"/>
              </a:lnSpc>
            </a:pPr>
            <a:r>
              <a:rPr lang="en-US" sz="2150" spc="-96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Infrastructure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4820201" y="6696970"/>
            <a:ext cx="1724589" cy="42697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510"/>
              </a:lnSpc>
            </a:pPr>
            <a:r>
              <a:rPr lang="en-US" sz="1606" spc="-72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JSON-RPC host &amp; CLI tools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14820201" y="8109277"/>
            <a:ext cx="1724589" cy="42697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510"/>
              </a:lnSpc>
            </a:pPr>
            <a:r>
              <a:rPr lang="en-US" sz="1606" spc="-72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Benchmark harness &amp; test assemblies</a:t>
            </a:r>
          </a:p>
        </p:txBody>
      </p:sp>
    </p:spTree>
  </p:cSld>
  <p:clrMapOvr>
    <a:masterClrMapping/>
  </p:clrMapOvr>
</p:sld>
</file>

<file path=ppt/slides/slide6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6308303"/>
            <a:ext cx="5818904" cy="666350"/>
            <a:chOff x="0" y="0"/>
            <a:chExt cx="3548892" cy="406400"/>
          </a:xfrm>
        </p:grpSpPr>
        <p:sp>
          <p:nvSpPr>
            <p:cNvPr id="4" name="Freeform 4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5" name="TextBox 5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28700" y="7069519"/>
            <a:ext cx="5818904" cy="666350"/>
            <a:chOff x="0" y="0"/>
            <a:chExt cx="3548892" cy="406400"/>
          </a:xfrm>
        </p:grpSpPr>
        <p:sp>
          <p:nvSpPr>
            <p:cNvPr id="7" name="Freeform 7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8" name="TextBox 8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28700" y="7830734"/>
            <a:ext cx="5818904" cy="666350"/>
            <a:chOff x="0" y="0"/>
            <a:chExt cx="3548892" cy="406400"/>
          </a:xfrm>
        </p:grpSpPr>
        <p:sp>
          <p:nvSpPr>
            <p:cNvPr id="10" name="Freeform 10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1" name="TextBox 11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028700" y="8591950"/>
            <a:ext cx="5818904" cy="666350"/>
            <a:chOff x="0" y="0"/>
            <a:chExt cx="3548892" cy="406400"/>
          </a:xfrm>
        </p:grpSpPr>
        <p:sp>
          <p:nvSpPr>
            <p:cNvPr id="13" name="Freeform 13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4" name="TextBox 14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 rot="0" flipH="false" flipV="false">
            <a:off x="7552275" y="6470853"/>
            <a:ext cx="4192812" cy="2681450"/>
          </a:xfrm>
          <a:custGeom>
            <a:avLst/>
            <a:gdLst/>
            <a:ahLst/>
            <a:cxnLst/>
            <a:rect l="l" t="t" r="r" b="b"/>
            <a:pathLst>
              <a:path w="4192812" h="2681450">
                <a:moveTo>
                  <a:pt x="0" y="0"/>
                </a:moveTo>
                <a:lnTo>
                  <a:pt x="4192812" y="0"/>
                </a:lnTo>
                <a:lnTo>
                  <a:pt x="4192812" y="2681450"/>
                </a:lnTo>
                <a:lnTo>
                  <a:pt x="0" y="2681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6" name="Freeform 16"/>
          <p:cNvSpPr/>
          <p:nvPr/>
        </p:nvSpPr>
        <p:spPr>
          <a:xfrm rot="0" flipH="false" flipV="false">
            <a:off x="10829282" y="6471041"/>
            <a:ext cx="3915033" cy="2679047"/>
          </a:xfrm>
          <a:custGeom>
            <a:avLst/>
            <a:gdLst/>
            <a:ahLst/>
            <a:cxnLst/>
            <a:rect l="l" t="t" r="r" b="b"/>
            <a:pathLst>
              <a:path w="3915033" h="2679047">
                <a:moveTo>
                  <a:pt x="0" y="0"/>
                </a:moveTo>
                <a:lnTo>
                  <a:pt x="3915033" y="0"/>
                </a:lnTo>
                <a:lnTo>
                  <a:pt x="3915033" y="2679047"/>
                </a:lnTo>
                <a:lnTo>
                  <a:pt x="0" y="2679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7" name="TextBox 17"/>
          <p:cNvSpPr txBox="true"/>
          <p:nvPr/>
        </p:nvSpPr>
        <p:spPr>
          <a:xfrm rot="0">
            <a:off x="1028700" y="2453533"/>
            <a:ext cx="7579676" cy="194821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6687"/>
              </a:lnSpc>
            </a:pPr>
            <a:r>
              <a:rPr lang="en-US" sz="7114" spc="-320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Development Process &amp; Quality Assurance</a:t>
            </a:r>
          </a:p>
        </p:txBody>
      </p:sp>
      <p:sp>
        <p:nvSpPr>
          <p:cNvPr id="18" name="TextBox 18"/>
          <p:cNvSpPr txBox="true"/>
          <p:nvPr/>
        </p:nvSpPr>
        <p:spPr>
          <a:xfrm rot="0">
            <a:off x="2062240" y="1089766"/>
            <a:ext cx="1659074" cy="57531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961" spc="-8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Phase 4</a:t>
            </a:r>
          </a:p>
        </p:txBody>
      </p:sp>
      <p:sp>
        <p:nvSpPr>
          <p:cNvPr id="19" name="TextBox 19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Internal Presentation</a:t>
            </a:r>
          </a:p>
        </p:txBody>
      </p:sp>
      <p:sp>
        <p:nvSpPr>
          <p:cNvPr id="20" name="TextBox 20"/>
          <p:cNvSpPr txBox="true"/>
          <p:nvPr/>
        </p:nvSpPr>
        <p:spPr>
          <a:xfrm rot="0">
            <a:off x="1028700" y="5570758"/>
            <a:ext cx="4316076" cy="46080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993" spc="-13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Workflow Principles</a:t>
            </a:r>
          </a:p>
        </p:txBody>
      </p:sp>
      <p:sp>
        <p:nvSpPr>
          <p:cNvPr id="21" name="TextBox 21"/>
          <p:cNvSpPr txBox="true"/>
          <p:nvPr/>
        </p:nvSpPr>
        <p:spPr>
          <a:xfrm rot="0">
            <a:off x="8309906" y="5570758"/>
            <a:ext cx="4316076" cy="46080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14"/>
              </a:lnSpc>
            </a:pPr>
            <a:r>
              <a:rPr lang="en-US" sz="2993" spc="-13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Development Wave Summary</a:t>
            </a:r>
          </a:p>
        </p:txBody>
      </p:sp>
      <p:sp>
        <p:nvSpPr>
          <p:cNvPr id="22" name="TextBox 22"/>
          <p:cNvSpPr txBox="true"/>
          <p:nvPr/>
        </p:nvSpPr>
        <p:spPr>
          <a:xfrm rot="0">
            <a:off x="1901152" y="6493938"/>
            <a:ext cx="4026823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12 workstreams across 4 merge waves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8924925" y="7858125"/>
            <a:ext cx="1905000" cy="70348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73"/>
              </a:lnSpc>
              <a:spcBef>
                <a:spcPct val="0"/>
              </a:spcBef>
            </a:pPr>
            <a:r>
              <a:rPr lang="en-US" sz="1810" u="none" strike="noStrike" spc="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Waves 1–2: Rendering backend &amp; font cache</a:t>
            </a:r>
          </a:p>
        </p:txBody>
      </p:sp>
      <p:sp>
        <p:nvSpPr>
          <p:cNvPr id="24" name="TextBox 24"/>
          <p:cNvSpPr txBox="true"/>
          <p:nvPr/>
        </p:nvSpPr>
        <p:spPr>
          <a:xfrm rot="0">
            <a:off x="12058650" y="7858125"/>
            <a:ext cx="1905000" cy="70348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73"/>
              </a:lnSpc>
              <a:spcBef>
                <a:spcPct val="0"/>
              </a:spcBef>
            </a:pPr>
            <a:r>
              <a:rPr lang="en-US" sz="1810" u="none" strike="noStrike" spc="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Waves 3–4: Editing surface &amp; instructions API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8928575" y="6640935"/>
            <a:ext cx="516026" cy="45019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90"/>
              </a:lnSpc>
              <a:spcBef>
                <a:spcPct val="0"/>
              </a:spcBef>
            </a:pPr>
            <a:r>
              <a:rPr lang="en-US" sz="2949" u="none" strike="noStrike" spc="1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12059329" y="6640935"/>
            <a:ext cx="516026" cy="45019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90"/>
              </a:lnSpc>
              <a:spcBef>
                <a:spcPct val="0"/>
              </a:spcBef>
            </a:pPr>
            <a:r>
              <a:rPr lang="en-US" sz="2949" u="none" strike="noStrike" spc="1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1905000" y="7258050"/>
            <a:ext cx="47625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One git worktree + feature branch per workstream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287014" y="6493938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1287014" y="7255154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1901152" y="8016370"/>
            <a:ext cx="4962033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Strict file ownership, zero revert cycles achieved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287014" y="8016370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905000" y="8782050"/>
            <a:ext cx="49530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844 tests green per merge; 1 regression caught &amp; fixed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1287014" y="8777586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04</a:t>
            </a:r>
          </a:p>
        </p:txBody>
      </p:sp>
      <p:sp>
        <p:nvSpPr>
          <p:cNvPr id="34" name="Freeform 34"/>
          <p:cNvSpPr/>
          <p:nvPr/>
        </p:nvSpPr>
        <p:spPr>
          <a:xfrm rot="0" flipH="false" flipV="false">
            <a:off x="14790681" y="6092926"/>
            <a:ext cx="2266779" cy="3435809"/>
          </a:xfrm>
          <a:custGeom>
            <a:avLst/>
            <a:gdLst/>
            <a:ahLst/>
            <a:cxnLst/>
            <a:rect l="l" t="t" r="r" b="b"/>
            <a:pathLst>
              <a:path w="2266779" h="3435809">
                <a:moveTo>
                  <a:pt x="0" y="0"/>
                </a:moveTo>
                <a:lnTo>
                  <a:pt x="2266779" y="0"/>
                </a:lnTo>
                <a:lnTo>
                  <a:pt x="2266779" y="3435809"/>
                </a:lnTo>
                <a:lnTo>
                  <a:pt x="0" y="343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35" name="TextBox 35"/>
          <p:cNvSpPr txBox="true"/>
          <p:nvPr/>
        </p:nvSpPr>
        <p:spPr>
          <a:xfrm rot="0">
            <a:off x="15230475" y="8077200"/>
            <a:ext cx="1714500" cy="91795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73"/>
              </a:lnSpc>
              <a:spcBef>
                <a:spcPct val="0"/>
              </a:spcBef>
            </a:pPr>
            <a:r>
              <a:rPr lang="en-US" sz="1810" u="none" strike="noStrike" spc="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Final merge: 844 tests green, zero regressions pending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15234100" y="6640935"/>
            <a:ext cx="516026" cy="45019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90"/>
              </a:lnSpc>
              <a:spcBef>
                <a:spcPct val="0"/>
              </a:spcBef>
            </a:pPr>
            <a:r>
              <a:rPr lang="en-US" sz="2949" u="none" strike="noStrike" spc="1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37" name="Freeform 37"/>
          <p:cNvSpPr/>
          <p:nvPr/>
        </p:nvSpPr>
        <p:spPr>
          <a:xfrm rot="-10800000" flipH="false" flipV="false">
            <a:off x="10557148" y="-754931"/>
            <a:ext cx="7113055" cy="6582889"/>
          </a:xfrm>
          <a:custGeom>
            <a:avLst/>
            <a:gdLst/>
            <a:ahLst/>
            <a:cxnLst/>
            <a:rect l="l" t="t" r="r" b="b"/>
            <a:pathLst>
              <a:path w="7113055" h="6582889">
                <a:moveTo>
                  <a:pt x="0" y="0"/>
                </a:moveTo>
                <a:lnTo>
                  <a:pt x="7113055" y="0"/>
                </a:lnTo>
                <a:lnTo>
                  <a:pt x="7113055" y="6582889"/>
                </a:lnTo>
                <a:lnTo>
                  <a:pt x="0" y="65828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585470" y="6308303"/>
            <a:ext cx="5279240" cy="666350"/>
            <a:chOff x="0" y="0"/>
            <a:chExt cx="3219756" cy="406400"/>
          </a:xfrm>
        </p:grpSpPr>
        <p:sp>
          <p:nvSpPr>
            <p:cNvPr id="4" name="Freeform 4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5" name="TextBox 5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7585470" y="7069519"/>
            <a:ext cx="5279240" cy="666350"/>
            <a:chOff x="0" y="0"/>
            <a:chExt cx="3219756" cy="406400"/>
          </a:xfrm>
        </p:grpSpPr>
        <p:sp>
          <p:nvSpPr>
            <p:cNvPr id="7" name="Freeform 7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8" name="TextBox 8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7585470" y="7830734"/>
            <a:ext cx="5279240" cy="666350"/>
            <a:chOff x="0" y="0"/>
            <a:chExt cx="3219756" cy="406400"/>
          </a:xfrm>
        </p:grpSpPr>
        <p:sp>
          <p:nvSpPr>
            <p:cNvPr id="10" name="Freeform 10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1" name="TextBox 11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7585470" y="8591950"/>
            <a:ext cx="5279240" cy="666350"/>
            <a:chOff x="0" y="0"/>
            <a:chExt cx="3219756" cy="406400"/>
          </a:xfrm>
        </p:grpSpPr>
        <p:sp>
          <p:nvSpPr>
            <p:cNvPr id="13" name="Freeform 13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4" name="TextBox 14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6" name="Freeform 16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17" name="TextBox 17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4042603" y="5580283"/>
            <a:ext cx="5142768" cy="6669122"/>
            <a:chOff x="0" y="0"/>
            <a:chExt cx="1559615" cy="2022502"/>
          </a:xfrm>
        </p:grpSpPr>
        <p:sp>
          <p:nvSpPr>
            <p:cNvPr id="19" name="Freeform 19"/>
            <p:cNvSpPr/>
            <p:nvPr/>
          </p:nvSpPr>
          <p:spPr>
            <a:xfrm rot="0" flipH="false" flipV="false">
              <a:off x="0" y="0"/>
              <a:ext cx="1559615" cy="2022502"/>
            </a:xfrm>
            <a:custGeom>
              <a:avLst/>
              <a:gdLst/>
              <a:ahLst/>
              <a:cxnLst/>
              <a:rect l="l" t="t" r="r" b="b"/>
              <a:pathLst>
                <a:path w="1559615" h="2022502">
                  <a:moveTo>
                    <a:pt x="150540" y="0"/>
                  </a:moveTo>
                  <a:lnTo>
                    <a:pt x="1409075" y="0"/>
                  </a:lnTo>
                  <a:cubicBezTo>
                    <a:pt x="1492216" y="0"/>
                    <a:pt x="1559615" y="67399"/>
                    <a:pt x="1559615" y="150540"/>
                  </a:cubicBezTo>
                  <a:lnTo>
                    <a:pt x="1559615" y="1871962"/>
                  </a:lnTo>
                  <a:cubicBezTo>
                    <a:pt x="1559615" y="1955103"/>
                    <a:pt x="1492216" y="2022502"/>
                    <a:pt x="1409075" y="2022502"/>
                  </a:cubicBezTo>
                  <a:lnTo>
                    <a:pt x="150540" y="2022502"/>
                  </a:lnTo>
                  <a:cubicBezTo>
                    <a:pt x="67399" y="2022502"/>
                    <a:pt x="0" y="1955103"/>
                    <a:pt x="0" y="1871962"/>
                  </a:cubicBezTo>
                  <a:lnTo>
                    <a:pt x="0" y="150540"/>
                  </a:lnTo>
                  <a:cubicBezTo>
                    <a:pt x="0" y="67399"/>
                    <a:pt x="67399" y="0"/>
                    <a:pt x="150540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20" name="TextBox 20"/>
            <p:cNvSpPr txBox="true"/>
            <p:nvPr/>
          </p:nvSpPr>
          <p:spPr>
            <a:xfrm>
              <a:off x="0" y="-47625"/>
              <a:ext cx="1559615" cy="207012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11312635" y="1028700"/>
            <a:ext cx="2872106" cy="2914238"/>
            <a:chOff x="0" y="0"/>
            <a:chExt cx="871005" cy="883783"/>
          </a:xfrm>
        </p:grpSpPr>
        <p:sp>
          <p:nvSpPr>
            <p:cNvPr id="22" name="Freeform 22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23" name="TextBox 23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8240505" y="1028700"/>
            <a:ext cx="2872106" cy="2914238"/>
            <a:chOff x="0" y="0"/>
            <a:chExt cx="871005" cy="883783"/>
          </a:xfrm>
        </p:grpSpPr>
        <p:sp>
          <p:nvSpPr>
            <p:cNvPr id="25" name="Freeform 2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26" name="TextBox 26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7" name="Freeform 27"/>
          <p:cNvSpPr/>
          <p:nvPr/>
        </p:nvSpPr>
        <p:spPr>
          <a:xfrm rot="0" flipH="false" flipV="false">
            <a:off x="14756776" y="1451252"/>
            <a:ext cx="2133721" cy="2107379"/>
          </a:xfrm>
          <a:custGeom>
            <a:avLst/>
            <a:gdLst/>
            <a:ahLst/>
            <a:cxnLst/>
            <a:rect l="l" t="t" r="r" b="b"/>
            <a:pathLst>
              <a:path w="2133721" h="2107379">
                <a:moveTo>
                  <a:pt x="0" y="0"/>
                </a:moveTo>
                <a:lnTo>
                  <a:pt x="2133721" y="0"/>
                </a:lnTo>
                <a:lnTo>
                  <a:pt x="2133721" y="2107378"/>
                </a:lnTo>
                <a:lnTo>
                  <a:pt x="0" y="210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28" name="Freeform 28"/>
          <p:cNvSpPr/>
          <p:nvPr/>
        </p:nvSpPr>
        <p:spPr>
          <a:xfrm rot="0" flipH="false" flipV="false">
            <a:off x="11721460" y="1269318"/>
            <a:ext cx="2087954" cy="2439563"/>
          </a:xfrm>
          <a:custGeom>
            <a:avLst/>
            <a:gdLst/>
            <a:ahLst/>
            <a:cxnLst/>
            <a:rect l="l" t="t" r="r" b="b"/>
            <a:pathLst>
              <a:path w="2087954" h="2439563">
                <a:moveTo>
                  <a:pt x="0" y="0"/>
                </a:moveTo>
                <a:lnTo>
                  <a:pt x="2087954" y="0"/>
                </a:lnTo>
                <a:lnTo>
                  <a:pt x="2087954" y="2439563"/>
                </a:lnTo>
                <a:lnTo>
                  <a:pt x="0" y="2439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29" name="Freeform 29"/>
          <p:cNvSpPr/>
          <p:nvPr/>
        </p:nvSpPr>
        <p:spPr>
          <a:xfrm rot="0" flipH="false" flipV="false">
            <a:off x="8662618" y="1452342"/>
            <a:ext cx="1948606" cy="1945050"/>
          </a:xfrm>
          <a:custGeom>
            <a:avLst/>
            <a:gdLst/>
            <a:ahLst/>
            <a:cxnLst/>
            <a:rect l="l" t="t" r="r" b="b"/>
            <a:pathLst>
              <a:path w="1948606" h="1945050">
                <a:moveTo>
                  <a:pt x="0" y="0"/>
                </a:moveTo>
                <a:lnTo>
                  <a:pt x="1948605" y="0"/>
                </a:lnTo>
                <a:lnTo>
                  <a:pt x="1948605" y="1945050"/>
                </a:lnTo>
                <a:lnTo>
                  <a:pt x="0" y="1945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30" name="TextBox 30"/>
          <p:cNvSpPr txBox="true"/>
          <p:nvPr/>
        </p:nvSpPr>
        <p:spPr>
          <a:xfrm rot="0">
            <a:off x="1028700" y="2397750"/>
            <a:ext cx="6797235" cy="258962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8854"/>
              </a:lnSpc>
            </a:pPr>
            <a:r>
              <a:rPr lang="en-US" sz="9419" spc="-423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Architecture &amp; API Endpoints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028700" y="5561233"/>
            <a:ext cx="431607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API Interface Design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7585470" y="5561233"/>
            <a:ext cx="431607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Core Endpoints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2062240" y="1080241"/>
            <a:ext cx="1659074" cy="3908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2326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1028700" y="6357162"/>
            <a:ext cx="5584657" cy="164446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exposes a clean REST API layered over a stateless rendering core. The stateful API layer manages deck sessions with a 30-minute TTL, enabling fast cached previews (~1.5ms per slide) after the initial cold load (~230ms). The stateless core handles all rendering logic in-process via C#, with no external process dependencies. Each deck is identified by a deckId, and all operations — from anatomy inspection to instruction application and preview generation — are scoped to that identifier. The rebuilt .pptx file is always available as the authoritative deliverable output.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8457922" y="6493938"/>
            <a:ext cx="4026823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POST /api/decks → deckId (create deck)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8458200" y="7258050"/>
            <a:ext cx="43815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GET /api/decks/{id}/anatomy → element map</a:t>
            </a:r>
          </a:p>
        </p:txBody>
      </p:sp>
      <p:sp>
        <p:nvSpPr>
          <p:cNvPr id="38" name="TextBox 38"/>
          <p:cNvSpPr txBox="true"/>
          <p:nvPr/>
        </p:nvSpPr>
        <p:spPr>
          <a:xfrm rot="0">
            <a:off x="7843784" y="6493938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39" name="TextBox 39"/>
          <p:cNvSpPr txBox="true"/>
          <p:nvPr/>
        </p:nvSpPr>
        <p:spPr>
          <a:xfrm rot="0">
            <a:off x="7843784" y="7255154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40" name="TextBox 40"/>
          <p:cNvSpPr txBox="true"/>
          <p:nvPr/>
        </p:nvSpPr>
        <p:spPr>
          <a:xfrm rot="0">
            <a:off x="8457922" y="8016370"/>
            <a:ext cx="436556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POST /api/decks/{id}/instructions → apply edits</a:t>
            </a:r>
          </a:p>
        </p:txBody>
      </p:sp>
      <p:sp>
        <p:nvSpPr>
          <p:cNvPr id="41" name="TextBox 41"/>
          <p:cNvSpPr txBox="true"/>
          <p:nvPr/>
        </p:nvSpPr>
        <p:spPr>
          <a:xfrm rot="0">
            <a:off x="7843784" y="8016370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42" name="TextBox 42"/>
          <p:cNvSpPr txBox="true"/>
          <p:nvPr/>
        </p:nvSpPr>
        <p:spPr>
          <a:xfrm rot="0">
            <a:off x="8458200" y="8782050"/>
            <a:ext cx="43815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GET /api/decks/{id}/slides/{n}/preview → PNG/SVG</a:t>
            </a:r>
          </a:p>
        </p:txBody>
      </p:sp>
      <p:sp>
        <p:nvSpPr>
          <p:cNvPr id="43" name="TextBox 43"/>
          <p:cNvSpPr txBox="true"/>
          <p:nvPr/>
        </p:nvSpPr>
        <p:spPr>
          <a:xfrm rot="0">
            <a:off x="7843784" y="8777586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712078" y="6308303"/>
            <a:ext cx="5614761" cy="666350"/>
            <a:chOff x="0" y="0"/>
            <a:chExt cx="3424387" cy="406400"/>
          </a:xfrm>
        </p:grpSpPr>
        <p:sp>
          <p:nvSpPr>
            <p:cNvPr id="4" name="Freeform 4"/>
            <p:cNvSpPr/>
            <p:nvPr/>
          </p:nvSpPr>
          <p:spPr>
            <a:xfrm rot="0" flipH="false" flipV="false">
              <a:off x="0" y="0"/>
              <a:ext cx="3424387" cy="406400"/>
            </a:xfrm>
            <a:custGeom>
              <a:avLst/>
              <a:gdLst/>
              <a:ahLst/>
              <a:cxnLst/>
              <a:rect l="l" t="t" r="r" b="b"/>
              <a:pathLst>
                <a:path w="3424387" h="406400">
                  <a:moveTo>
                    <a:pt x="3221187" y="0"/>
                  </a:moveTo>
                  <a:cubicBezTo>
                    <a:pt x="3333411" y="0"/>
                    <a:pt x="3424387" y="90976"/>
                    <a:pt x="3424387" y="203200"/>
                  </a:cubicBezTo>
                  <a:cubicBezTo>
                    <a:pt x="3424387" y="315424"/>
                    <a:pt x="3333411" y="406400"/>
                    <a:pt x="32211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5" name="TextBox 5"/>
            <p:cNvSpPr txBox="true"/>
            <p:nvPr/>
          </p:nvSpPr>
          <p:spPr>
            <a:xfrm>
              <a:off x="0" y="-28575"/>
              <a:ext cx="3424387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7712078" y="7069519"/>
            <a:ext cx="5614761" cy="666350"/>
            <a:chOff x="0" y="0"/>
            <a:chExt cx="3424387" cy="406400"/>
          </a:xfrm>
        </p:grpSpPr>
        <p:sp>
          <p:nvSpPr>
            <p:cNvPr id="7" name="Freeform 7"/>
            <p:cNvSpPr/>
            <p:nvPr/>
          </p:nvSpPr>
          <p:spPr>
            <a:xfrm rot="0" flipH="false" flipV="false">
              <a:off x="0" y="0"/>
              <a:ext cx="3424387" cy="406400"/>
            </a:xfrm>
            <a:custGeom>
              <a:avLst/>
              <a:gdLst/>
              <a:ahLst/>
              <a:cxnLst/>
              <a:rect l="l" t="t" r="r" b="b"/>
              <a:pathLst>
                <a:path w="3424387" h="406400">
                  <a:moveTo>
                    <a:pt x="3221187" y="0"/>
                  </a:moveTo>
                  <a:cubicBezTo>
                    <a:pt x="3333411" y="0"/>
                    <a:pt x="3424387" y="90976"/>
                    <a:pt x="3424387" y="203200"/>
                  </a:cubicBezTo>
                  <a:cubicBezTo>
                    <a:pt x="3424387" y="315424"/>
                    <a:pt x="3333411" y="406400"/>
                    <a:pt x="32211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8" name="TextBox 8"/>
            <p:cNvSpPr txBox="true"/>
            <p:nvPr/>
          </p:nvSpPr>
          <p:spPr>
            <a:xfrm>
              <a:off x="0" y="-28575"/>
              <a:ext cx="3424387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7712078" y="7830734"/>
            <a:ext cx="5614761" cy="666350"/>
            <a:chOff x="0" y="0"/>
            <a:chExt cx="3424387" cy="406400"/>
          </a:xfrm>
        </p:grpSpPr>
        <p:sp>
          <p:nvSpPr>
            <p:cNvPr id="10" name="Freeform 10"/>
            <p:cNvSpPr/>
            <p:nvPr/>
          </p:nvSpPr>
          <p:spPr>
            <a:xfrm rot="0" flipH="false" flipV="false">
              <a:off x="0" y="0"/>
              <a:ext cx="3424387" cy="406400"/>
            </a:xfrm>
            <a:custGeom>
              <a:avLst/>
              <a:gdLst/>
              <a:ahLst/>
              <a:cxnLst/>
              <a:rect l="l" t="t" r="r" b="b"/>
              <a:pathLst>
                <a:path w="3424387" h="406400">
                  <a:moveTo>
                    <a:pt x="3221187" y="0"/>
                  </a:moveTo>
                  <a:cubicBezTo>
                    <a:pt x="3333411" y="0"/>
                    <a:pt x="3424387" y="90976"/>
                    <a:pt x="3424387" y="203200"/>
                  </a:cubicBezTo>
                  <a:cubicBezTo>
                    <a:pt x="3424387" y="315424"/>
                    <a:pt x="3333411" y="406400"/>
                    <a:pt x="32211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1" name="TextBox 11"/>
            <p:cNvSpPr txBox="true"/>
            <p:nvPr/>
          </p:nvSpPr>
          <p:spPr>
            <a:xfrm>
              <a:off x="0" y="-28575"/>
              <a:ext cx="3424387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7712078" y="8591950"/>
            <a:ext cx="5614761" cy="666350"/>
            <a:chOff x="0" y="0"/>
            <a:chExt cx="3424387" cy="406400"/>
          </a:xfrm>
        </p:grpSpPr>
        <p:sp>
          <p:nvSpPr>
            <p:cNvPr id="13" name="Freeform 13"/>
            <p:cNvSpPr/>
            <p:nvPr/>
          </p:nvSpPr>
          <p:spPr>
            <a:xfrm rot="0" flipH="false" flipV="false">
              <a:off x="0" y="0"/>
              <a:ext cx="3424387" cy="406400"/>
            </a:xfrm>
            <a:custGeom>
              <a:avLst/>
              <a:gdLst/>
              <a:ahLst/>
              <a:cxnLst/>
              <a:rect l="l" t="t" r="r" b="b"/>
              <a:pathLst>
                <a:path w="3424387" h="406400">
                  <a:moveTo>
                    <a:pt x="3221187" y="0"/>
                  </a:moveTo>
                  <a:cubicBezTo>
                    <a:pt x="3333411" y="0"/>
                    <a:pt x="3424387" y="90976"/>
                    <a:pt x="3424387" y="203200"/>
                  </a:cubicBezTo>
                  <a:cubicBezTo>
                    <a:pt x="3424387" y="315424"/>
                    <a:pt x="3333411" y="406400"/>
                    <a:pt x="322118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4" name="TextBox 14"/>
            <p:cNvSpPr txBox="true"/>
            <p:nvPr/>
          </p:nvSpPr>
          <p:spPr>
            <a:xfrm>
              <a:off x="0" y="-28575"/>
              <a:ext cx="3424387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6" name="Freeform 16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7" name="TextBox 17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1244936" y="1028700"/>
            <a:ext cx="2872106" cy="2914238"/>
            <a:chOff x="0" y="0"/>
            <a:chExt cx="871005" cy="883783"/>
          </a:xfrm>
        </p:grpSpPr>
        <p:sp>
          <p:nvSpPr>
            <p:cNvPr id="19" name="Freeform 19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20" name="TextBox 20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 rot="0" flipH="false" flipV="false">
            <a:off x="14828851" y="1473033"/>
            <a:ext cx="1891825" cy="1994018"/>
          </a:xfrm>
          <a:custGeom>
            <a:avLst/>
            <a:gdLst/>
            <a:ahLst/>
            <a:cxnLst/>
            <a:rect l="l" t="t" r="r" b="b"/>
            <a:pathLst>
              <a:path w="1891825" h="1994018">
                <a:moveTo>
                  <a:pt x="0" y="0"/>
                </a:moveTo>
                <a:lnTo>
                  <a:pt x="1891825" y="0"/>
                </a:lnTo>
                <a:lnTo>
                  <a:pt x="1891825" y="1994018"/>
                </a:lnTo>
                <a:lnTo>
                  <a:pt x="0" y="1994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22" name="Freeform 22"/>
          <p:cNvSpPr/>
          <p:nvPr/>
        </p:nvSpPr>
        <p:spPr>
          <a:xfrm rot="0" flipH="false" flipV="false">
            <a:off x="11830152" y="1466061"/>
            <a:ext cx="1709253" cy="1700193"/>
          </a:xfrm>
          <a:custGeom>
            <a:avLst/>
            <a:gdLst/>
            <a:ahLst/>
            <a:cxnLst/>
            <a:rect l="l" t="t" r="r" b="b"/>
            <a:pathLst>
              <a:path w="1709253" h="1700193">
                <a:moveTo>
                  <a:pt x="0" y="0"/>
                </a:moveTo>
                <a:lnTo>
                  <a:pt x="1709252" y="0"/>
                </a:lnTo>
                <a:lnTo>
                  <a:pt x="1709252" y="1700193"/>
                </a:lnTo>
                <a:lnTo>
                  <a:pt x="0" y="1700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23" name="Freeform 23"/>
          <p:cNvSpPr/>
          <p:nvPr/>
        </p:nvSpPr>
        <p:spPr>
          <a:xfrm rot="0" flipH="false" flipV="false">
            <a:off x="14713433" y="6722799"/>
            <a:ext cx="2096489" cy="2123027"/>
          </a:xfrm>
          <a:custGeom>
            <a:avLst/>
            <a:gdLst/>
            <a:ahLst/>
            <a:cxnLst/>
            <a:rect l="l" t="t" r="r" b="b"/>
            <a:pathLst>
              <a:path w="2096489" h="2123027">
                <a:moveTo>
                  <a:pt x="0" y="0"/>
                </a:moveTo>
                <a:lnTo>
                  <a:pt x="2096489" y="0"/>
                </a:lnTo>
                <a:lnTo>
                  <a:pt x="2096489" y="2123027"/>
                </a:lnTo>
                <a:lnTo>
                  <a:pt x="0" y="2123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4" name="TextBox 24"/>
          <p:cNvSpPr txBox="true"/>
          <p:nvPr/>
        </p:nvSpPr>
        <p:spPr>
          <a:xfrm rot="0">
            <a:off x="1028700" y="2454358"/>
            <a:ext cx="6709211" cy="1849535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6350"/>
              </a:lnSpc>
            </a:pPr>
            <a:r>
              <a:rPr lang="en-US" sz="6756" spc="-3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Integration Highlights &amp; Benefits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2062240" y="1080241"/>
            <a:ext cx="1659074" cy="3908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2326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1028700" y="5561233"/>
            <a:ext cx="431607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Legacy vs. New Approach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028700" y="6357162"/>
            <a:ext cx="5584657" cy="204451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eliminates the LibreOffice dependency entirely — no licensing costs, no process lifecycle management, and no inter-process communication overhead.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architecture introduces a Stateless Core paired with a stateful API layer, enabling clean session management with a 30-minute TTL. The production stack is lean and modern: .NET 9, DocumentFormat.OpenXml, and a native TypstBridge binary (~37MB).</a:t>
            </a:r>
          </a:p>
          <a:p>
            <a:pPr marL="0" lvl="0" indent="0" algn="l">
              <a:lnSpc>
                <a:spcPts val="1613"/>
              </a:lnSpc>
            </a:pPr>
            <a:r>
              <a:rPr lang="en-US" sz="1322" spc="-1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Only one new external dependency is introduced: comemo, a lightweight memoization library. This minimal footprint ensures the system remains easy to deploy, audit, and maintain across environments.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7712078" y="5561233"/>
            <a:ext cx="2363958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Key Benefits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8584530" y="6493938"/>
            <a:ext cx="4026823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No LibreOffice dependency or licensing costs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8582025" y="7258050"/>
            <a:ext cx="43815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No process management overhead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7970392" y="6493938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7970392" y="7255154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8582025" y="8020050"/>
            <a:ext cx="466725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Stateless Core + Stateful API layer (30-min TTL)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7970392" y="8016370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8582025" y="8782050"/>
            <a:ext cx="4381500" cy="20916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23"/>
              </a:lnSpc>
              <a:spcBef>
                <a:spcPct val="0"/>
              </a:spcBef>
            </a:pPr>
            <a:r>
              <a:rPr lang="en-US" sz="1350" u="none" strike="noStrike" spc="6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Production: .NET 9, OpenXml, TypstBridge (~37MB), comemo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7970392" y="8777586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6765042"/>
            <a:ext cx="6013623" cy="759044"/>
            <a:chOff x="0" y="0"/>
            <a:chExt cx="3219756" cy="406400"/>
          </a:xfrm>
        </p:grpSpPr>
        <p:sp>
          <p:nvSpPr>
            <p:cNvPr id="4" name="Freeform 4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5" name="TextBox 5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7560482" y="6765042"/>
            <a:ext cx="6013623" cy="759044"/>
            <a:chOff x="0" y="0"/>
            <a:chExt cx="3219756" cy="406400"/>
          </a:xfrm>
        </p:grpSpPr>
        <p:sp>
          <p:nvSpPr>
            <p:cNvPr id="7" name="Freeform 7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8" name="TextBox 8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28700" y="7632149"/>
            <a:ext cx="6013623" cy="759044"/>
            <a:chOff x="0" y="0"/>
            <a:chExt cx="3219756" cy="406400"/>
          </a:xfrm>
        </p:grpSpPr>
        <p:sp>
          <p:nvSpPr>
            <p:cNvPr id="10" name="Freeform 10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1" name="TextBox 11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7560482" y="7632149"/>
            <a:ext cx="6013623" cy="759044"/>
            <a:chOff x="0" y="0"/>
            <a:chExt cx="3219756" cy="406400"/>
          </a:xfrm>
        </p:grpSpPr>
        <p:sp>
          <p:nvSpPr>
            <p:cNvPr id="13" name="Freeform 13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4" name="TextBox 14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028700" y="8499256"/>
            <a:ext cx="6013623" cy="759044"/>
            <a:chOff x="0" y="0"/>
            <a:chExt cx="3219756" cy="406400"/>
          </a:xfrm>
        </p:grpSpPr>
        <p:sp>
          <p:nvSpPr>
            <p:cNvPr id="16" name="Freeform 16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7" name="TextBox 17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7560482" y="8499256"/>
            <a:ext cx="6013623" cy="759044"/>
            <a:chOff x="0" y="0"/>
            <a:chExt cx="3219756" cy="406400"/>
          </a:xfrm>
        </p:grpSpPr>
        <p:sp>
          <p:nvSpPr>
            <p:cNvPr id="19" name="Freeform 19"/>
            <p:cNvSpPr/>
            <p:nvPr/>
          </p:nvSpPr>
          <p:spPr>
            <a:xfrm rot="0" flipH="false" flipV="false">
              <a:off x="0" y="0"/>
              <a:ext cx="3219756" cy="406400"/>
            </a:xfrm>
            <a:custGeom>
              <a:avLst/>
              <a:gdLst/>
              <a:ahLst/>
              <a:cxnLst/>
              <a:rect l="l" t="t" r="r" b="b"/>
              <a:pathLst>
                <a:path w="3219756" h="406400">
                  <a:moveTo>
                    <a:pt x="3016556" y="0"/>
                  </a:moveTo>
                  <a:cubicBezTo>
                    <a:pt x="3128781" y="0"/>
                    <a:pt x="3219756" y="90976"/>
                    <a:pt x="3219756" y="203200"/>
                  </a:cubicBezTo>
                  <a:cubicBezTo>
                    <a:pt x="3219756" y="315424"/>
                    <a:pt x="3128781" y="406400"/>
                    <a:pt x="30165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20" name="TextBox 20"/>
            <p:cNvSpPr txBox="true"/>
            <p:nvPr/>
          </p:nvSpPr>
          <p:spPr>
            <a:xfrm>
              <a:off x="0" y="-28575"/>
              <a:ext cx="3219756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22" name="Freeform 22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23" name="TextBox 23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11312635" y="1028700"/>
            <a:ext cx="2872106" cy="2914238"/>
            <a:chOff x="0" y="0"/>
            <a:chExt cx="871005" cy="883783"/>
          </a:xfrm>
        </p:grpSpPr>
        <p:sp>
          <p:nvSpPr>
            <p:cNvPr id="25" name="Freeform 2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26" name="TextBox 26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8240505" y="1028700"/>
            <a:ext cx="2872106" cy="2914238"/>
            <a:chOff x="0" y="0"/>
            <a:chExt cx="871005" cy="883783"/>
          </a:xfrm>
        </p:grpSpPr>
        <p:sp>
          <p:nvSpPr>
            <p:cNvPr id="28" name="Freeform 28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29" name="TextBox 29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30" name="Freeform 30"/>
          <p:cNvSpPr/>
          <p:nvPr/>
        </p:nvSpPr>
        <p:spPr>
          <a:xfrm rot="0" flipH="false" flipV="false">
            <a:off x="8729625" y="1592480"/>
            <a:ext cx="1893864" cy="1796804"/>
          </a:xfrm>
          <a:custGeom>
            <a:avLst/>
            <a:gdLst/>
            <a:ahLst/>
            <a:cxnLst/>
            <a:rect l="l" t="t" r="r" b="b"/>
            <a:pathLst>
              <a:path w="1893864" h="1796804">
                <a:moveTo>
                  <a:pt x="0" y="0"/>
                </a:moveTo>
                <a:lnTo>
                  <a:pt x="1893865" y="0"/>
                </a:lnTo>
                <a:lnTo>
                  <a:pt x="1893865" y="1796804"/>
                </a:lnTo>
                <a:lnTo>
                  <a:pt x="0" y="1796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1" name="Freeform 31"/>
          <p:cNvSpPr/>
          <p:nvPr/>
        </p:nvSpPr>
        <p:spPr>
          <a:xfrm rot="0" flipH="false" flipV="false">
            <a:off x="11793797" y="1566762"/>
            <a:ext cx="1912211" cy="1838113"/>
          </a:xfrm>
          <a:custGeom>
            <a:avLst/>
            <a:gdLst/>
            <a:ahLst/>
            <a:cxnLst/>
            <a:rect l="l" t="t" r="r" b="b"/>
            <a:pathLst>
              <a:path w="1912211" h="1838113">
                <a:moveTo>
                  <a:pt x="0" y="0"/>
                </a:moveTo>
                <a:lnTo>
                  <a:pt x="1912211" y="0"/>
                </a:lnTo>
                <a:lnTo>
                  <a:pt x="1912211" y="1838114"/>
                </a:lnTo>
                <a:lnTo>
                  <a:pt x="0" y="1838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2" name="Freeform 32"/>
          <p:cNvSpPr/>
          <p:nvPr/>
        </p:nvSpPr>
        <p:spPr>
          <a:xfrm rot="0" flipH="false" flipV="false">
            <a:off x="15002522" y="1592480"/>
            <a:ext cx="1641450" cy="1844325"/>
          </a:xfrm>
          <a:custGeom>
            <a:avLst/>
            <a:gdLst/>
            <a:ahLst/>
            <a:cxnLst/>
            <a:rect l="l" t="t" r="r" b="b"/>
            <a:pathLst>
              <a:path w="1641450" h="1844325">
                <a:moveTo>
                  <a:pt x="0" y="0"/>
                </a:moveTo>
                <a:lnTo>
                  <a:pt x="1641450" y="0"/>
                </a:lnTo>
                <a:lnTo>
                  <a:pt x="1641450" y="1844326"/>
                </a:lnTo>
                <a:lnTo>
                  <a:pt x="0" y="18443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3" name="TextBox 33"/>
          <p:cNvSpPr txBox="true"/>
          <p:nvPr/>
        </p:nvSpPr>
        <p:spPr>
          <a:xfrm rot="0">
            <a:off x="1028700" y="2575864"/>
            <a:ext cx="5591340" cy="293267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7024"/>
              </a:lnSpc>
            </a:pPr>
            <a:r>
              <a:rPr lang="en-US" sz="7473" spc="-336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Open Issues &amp; Known Challenges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2062240" y="1089766"/>
            <a:ext cx="1659074" cy="57531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961" spc="-8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Phase 4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Internal Presentation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1028700" y="6017973"/>
            <a:ext cx="2689158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Current Gaps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7560482" y="6017973"/>
            <a:ext cx="387791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Details &amp; Context</a:t>
            </a:r>
          </a:p>
        </p:txBody>
      </p:sp>
      <p:sp>
        <p:nvSpPr>
          <p:cNvPr id="38" name="TextBox 38"/>
          <p:cNvSpPr txBox="true"/>
          <p:nvPr/>
        </p:nvSpPr>
        <p:spPr>
          <a:xfrm rot="0">
            <a:off x="2022517" y="6977826"/>
            <a:ext cx="4586985" cy="47045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RMSE scores are machine-dependent; Linux/x64 testing still pending</a:t>
            </a:r>
          </a:p>
        </p:txBody>
      </p:sp>
      <p:sp>
        <p:nvSpPr>
          <p:cNvPr id="39" name="TextBox 39"/>
          <p:cNvSpPr txBox="true"/>
          <p:nvPr/>
        </p:nvSpPr>
        <p:spPr>
          <a:xfrm rot="0">
            <a:off x="8554298" y="6977826"/>
            <a:ext cx="4586985" cy="47045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RMSE variance across environments; baseline not yet established on target platform</a:t>
            </a:r>
          </a:p>
        </p:txBody>
      </p:sp>
      <p:sp>
        <p:nvSpPr>
          <p:cNvPr id="40" name="TextBox 40"/>
          <p:cNvSpPr txBox="true"/>
          <p:nvPr/>
        </p:nvSpPr>
        <p:spPr>
          <a:xfrm rot="0">
            <a:off x="2019300" y="7848600"/>
            <a:ext cx="4591050" cy="4704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  <a:spcBef>
                <a:spcPct val="0"/>
              </a:spcBef>
            </a:pPr>
            <a:r>
              <a:rPr lang="en-US" sz="1739" u="none" strike="noStrike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F9 brand.json endpoint wiring incomplete (~20 lines missing)</a:t>
            </a:r>
          </a:p>
        </p:txBody>
      </p:sp>
      <p:sp>
        <p:nvSpPr>
          <p:cNvPr id="41" name="TextBox 41"/>
          <p:cNvSpPr txBox="true"/>
          <p:nvPr/>
        </p:nvSpPr>
        <p:spPr>
          <a:xfrm rot="0">
            <a:off x="8554298" y="7844933"/>
            <a:ext cx="4073245" cy="47045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No LibreOffice rendering comparison available on Linux target platform yet</a:t>
            </a:r>
          </a:p>
        </p:txBody>
      </p:sp>
      <p:sp>
        <p:nvSpPr>
          <p:cNvPr id="42" name="TextBox 42"/>
          <p:cNvSpPr txBox="true"/>
          <p:nvPr/>
        </p:nvSpPr>
        <p:spPr>
          <a:xfrm rot="0">
            <a:off x="1322947" y="6977826"/>
            <a:ext cx="379382" cy="2643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43" name="TextBox 43"/>
          <p:cNvSpPr txBox="true"/>
          <p:nvPr/>
        </p:nvSpPr>
        <p:spPr>
          <a:xfrm rot="0">
            <a:off x="7854729" y="6977826"/>
            <a:ext cx="379382" cy="2643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44" name="TextBox 44"/>
          <p:cNvSpPr txBox="true"/>
          <p:nvPr/>
        </p:nvSpPr>
        <p:spPr>
          <a:xfrm rot="0">
            <a:off x="1322947" y="7844933"/>
            <a:ext cx="379382" cy="2643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45" name="TextBox 45"/>
          <p:cNvSpPr txBox="true"/>
          <p:nvPr/>
        </p:nvSpPr>
        <p:spPr>
          <a:xfrm rot="0">
            <a:off x="7854729" y="7844933"/>
            <a:ext cx="379382" cy="2643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46" name="TextBox 46"/>
          <p:cNvSpPr txBox="true"/>
          <p:nvPr/>
        </p:nvSpPr>
        <p:spPr>
          <a:xfrm rot="0">
            <a:off x="2019300" y="8715375"/>
            <a:ext cx="4591050" cy="4704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  <a:spcBef>
                <a:spcPct val="0"/>
              </a:spcBef>
            </a:pPr>
            <a:r>
              <a:rPr lang="en-US" sz="1739" u="none" strike="noStrike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Aptos font gap: no metric-compatible open-source clone currently available</a:t>
            </a:r>
          </a:p>
        </p:txBody>
      </p:sp>
      <p:sp>
        <p:nvSpPr>
          <p:cNvPr id="47" name="TextBox 47"/>
          <p:cNvSpPr txBox="true"/>
          <p:nvPr/>
        </p:nvSpPr>
        <p:spPr>
          <a:xfrm rot="0">
            <a:off x="8554298" y="8712040"/>
            <a:ext cx="3694610" cy="6766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Aptos font substitution causes line-break and advance-width divergence in previews</a:t>
            </a:r>
          </a:p>
        </p:txBody>
      </p:sp>
      <p:sp>
        <p:nvSpPr>
          <p:cNvPr id="48" name="TextBox 48"/>
          <p:cNvSpPr txBox="true"/>
          <p:nvPr/>
        </p:nvSpPr>
        <p:spPr>
          <a:xfrm rot="0">
            <a:off x="1322947" y="8712040"/>
            <a:ext cx="379382" cy="2643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49" name="TextBox 49"/>
          <p:cNvSpPr txBox="true"/>
          <p:nvPr/>
        </p:nvSpPr>
        <p:spPr>
          <a:xfrm rot="0">
            <a:off x="7854729" y="8712040"/>
            <a:ext cx="379382" cy="26430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05"/>
              </a:lnSpc>
            </a:pPr>
            <a:r>
              <a:rPr lang="en-US" sz="1740" spc="8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grpSp>
        <p:nvGrpSpPr>
          <p:cNvPr id="50" name="Group 50"/>
          <p:cNvGrpSpPr/>
          <p:nvPr/>
        </p:nvGrpSpPr>
        <p:grpSpPr>
          <a:xfrm rot="0">
            <a:off x="14765638" y="5459785"/>
            <a:ext cx="5142768" cy="6669122"/>
            <a:chOff x="0" y="0"/>
            <a:chExt cx="1559615" cy="2022502"/>
          </a:xfrm>
        </p:grpSpPr>
        <p:sp>
          <p:nvSpPr>
            <p:cNvPr id="51" name="Freeform 51"/>
            <p:cNvSpPr/>
            <p:nvPr/>
          </p:nvSpPr>
          <p:spPr>
            <a:xfrm rot="0" flipH="false" flipV="false">
              <a:off x="0" y="0"/>
              <a:ext cx="1559615" cy="2022502"/>
            </a:xfrm>
            <a:custGeom>
              <a:avLst/>
              <a:gdLst/>
              <a:ahLst/>
              <a:cxnLst/>
              <a:rect l="l" t="t" r="r" b="b"/>
              <a:pathLst>
                <a:path w="1559615" h="2022502">
                  <a:moveTo>
                    <a:pt x="150540" y="0"/>
                  </a:moveTo>
                  <a:lnTo>
                    <a:pt x="1409075" y="0"/>
                  </a:lnTo>
                  <a:cubicBezTo>
                    <a:pt x="1492216" y="0"/>
                    <a:pt x="1559615" y="67399"/>
                    <a:pt x="1559615" y="150540"/>
                  </a:cubicBezTo>
                  <a:lnTo>
                    <a:pt x="1559615" y="1871962"/>
                  </a:lnTo>
                  <a:cubicBezTo>
                    <a:pt x="1559615" y="1955103"/>
                    <a:pt x="1492216" y="2022502"/>
                    <a:pt x="1409075" y="2022502"/>
                  </a:cubicBezTo>
                  <a:lnTo>
                    <a:pt x="150540" y="2022502"/>
                  </a:lnTo>
                  <a:cubicBezTo>
                    <a:pt x="67399" y="2022502"/>
                    <a:pt x="0" y="1955103"/>
                    <a:pt x="0" y="1871962"/>
                  </a:cubicBezTo>
                  <a:lnTo>
                    <a:pt x="0" y="150540"/>
                  </a:lnTo>
                  <a:cubicBezTo>
                    <a:pt x="0" y="67399"/>
                    <a:pt x="67399" y="0"/>
                    <a:pt x="150540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52" name="TextBox 52"/>
            <p:cNvSpPr txBox="true"/>
            <p:nvPr/>
          </p:nvSpPr>
          <p:spPr>
            <a:xfrm>
              <a:off x="0" y="-47625"/>
              <a:ext cx="1559615" cy="2070127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28700" y="6308303"/>
            <a:ext cx="5818904" cy="666350"/>
            <a:chOff x="0" y="0"/>
            <a:chExt cx="3548892" cy="406400"/>
          </a:xfrm>
        </p:grpSpPr>
        <p:sp>
          <p:nvSpPr>
            <p:cNvPr id="4" name="Freeform 4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5" name="TextBox 5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28700" y="7069519"/>
            <a:ext cx="5818904" cy="666350"/>
            <a:chOff x="0" y="0"/>
            <a:chExt cx="3548892" cy="406400"/>
          </a:xfrm>
        </p:grpSpPr>
        <p:sp>
          <p:nvSpPr>
            <p:cNvPr id="7" name="Freeform 7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8" name="TextBox 8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28700" y="7830734"/>
            <a:ext cx="5818904" cy="666350"/>
            <a:chOff x="0" y="0"/>
            <a:chExt cx="3548892" cy="406400"/>
          </a:xfrm>
        </p:grpSpPr>
        <p:sp>
          <p:nvSpPr>
            <p:cNvPr id="10" name="Freeform 10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1" name="TextBox 11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028700" y="8591950"/>
            <a:ext cx="5818904" cy="666350"/>
            <a:chOff x="0" y="0"/>
            <a:chExt cx="3548892" cy="406400"/>
          </a:xfrm>
        </p:grpSpPr>
        <p:sp>
          <p:nvSpPr>
            <p:cNvPr id="13" name="Freeform 13"/>
            <p:cNvSpPr/>
            <p:nvPr/>
          </p:nvSpPr>
          <p:spPr>
            <a:xfrm rot="0" flipH="false" flipV="false">
              <a:off x="0" y="0"/>
              <a:ext cx="3548892" cy="406400"/>
            </a:xfrm>
            <a:custGeom>
              <a:avLst/>
              <a:gdLst/>
              <a:ahLst/>
              <a:cxnLst/>
              <a:rect l="l" t="t" r="r" b="b"/>
              <a:pathLst>
                <a:path w="3548892" h="406400">
                  <a:moveTo>
                    <a:pt x="3345692" y="0"/>
                  </a:moveTo>
                  <a:cubicBezTo>
                    <a:pt x="3457916" y="0"/>
                    <a:pt x="3548892" y="90976"/>
                    <a:pt x="3548892" y="203200"/>
                  </a:cubicBezTo>
                  <a:cubicBezTo>
                    <a:pt x="3548892" y="315424"/>
                    <a:pt x="3457916" y="406400"/>
                    <a:pt x="334569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7EB"/>
            </a:solidFill>
            <a:ln w="9525" cap="sq">
              <a:solidFill>
                <a:srgbClr val="2D2D2D"/>
              </a:solidFill>
              <a:prstDash val="solid"/>
              <a:miter/>
            </a:ln>
          </p:spPr>
        </p:sp>
        <p:sp>
          <p:nvSpPr>
            <p:cNvPr id="14" name="TextBox 14"/>
            <p:cNvSpPr txBox="true"/>
            <p:nvPr/>
          </p:nvSpPr>
          <p:spPr>
            <a:xfrm>
              <a:off x="0" y="-28575"/>
              <a:ext cx="3548892" cy="43497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1631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 rot="0" flipH="false" flipV="false">
            <a:off x="8100049" y="6282639"/>
            <a:ext cx="3085077" cy="3047512"/>
          </a:xfrm>
          <a:custGeom>
            <a:avLst/>
            <a:gdLst/>
            <a:ahLst/>
            <a:cxnLst/>
            <a:rect l="l" t="t" r="r" b="b"/>
            <a:pathLst>
              <a:path w="3085077" h="3047512">
                <a:moveTo>
                  <a:pt x="0" y="0"/>
                </a:moveTo>
                <a:lnTo>
                  <a:pt x="3085077" y="0"/>
                </a:lnTo>
                <a:lnTo>
                  <a:pt x="3085077" y="3047512"/>
                </a:lnTo>
                <a:lnTo>
                  <a:pt x="0" y="3047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6" name="Freeform 16"/>
          <p:cNvSpPr/>
          <p:nvPr/>
        </p:nvSpPr>
        <p:spPr>
          <a:xfrm rot="0" flipH="false" flipV="false">
            <a:off x="11210622" y="6212158"/>
            <a:ext cx="3145927" cy="3189259"/>
          </a:xfrm>
          <a:custGeom>
            <a:avLst/>
            <a:gdLst/>
            <a:ahLst/>
            <a:cxnLst/>
            <a:rect l="l" t="t" r="r" b="b"/>
            <a:pathLst>
              <a:path w="3145927" h="3189259">
                <a:moveTo>
                  <a:pt x="0" y="0"/>
                </a:moveTo>
                <a:lnTo>
                  <a:pt x="3145927" y="0"/>
                </a:lnTo>
                <a:lnTo>
                  <a:pt x="3145927" y="3189259"/>
                </a:lnTo>
                <a:lnTo>
                  <a:pt x="0" y="318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7" name="TextBox 17"/>
          <p:cNvSpPr txBox="true"/>
          <p:nvPr/>
        </p:nvSpPr>
        <p:spPr>
          <a:xfrm rot="0">
            <a:off x="1028700" y="2453533"/>
            <a:ext cx="7579676" cy="2648474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6350"/>
              </a:lnSpc>
            </a:pPr>
            <a:r>
              <a:rPr lang="en-US" sz="6756" spc="-3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Next Phase: Font Metric-Fitting Roadmap</a:t>
            </a:r>
          </a:p>
        </p:txBody>
      </p:sp>
      <p:sp>
        <p:nvSpPr>
          <p:cNvPr id="18" name="TextBox 18"/>
          <p:cNvSpPr txBox="true"/>
          <p:nvPr/>
        </p:nvSpPr>
        <p:spPr>
          <a:xfrm rot="0">
            <a:off x="2062240" y="1089766"/>
            <a:ext cx="1659074" cy="31814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099"/>
              </a:lnSpc>
            </a:pPr>
            <a:r>
              <a:rPr lang="en-US" sz="1961" spc="-8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19" name="TextBox 19"/>
          <p:cNvSpPr txBox="true"/>
          <p:nvPr/>
        </p:nvSpPr>
        <p:spPr>
          <a:xfrm rot="0">
            <a:off x="2062240" y="1512731"/>
            <a:ext cx="1319381" cy="191262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84"/>
              </a:lnSpc>
            </a:pPr>
            <a:r>
              <a:rPr lang="en-US" sz="1200" spc="-5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0" name="TextBox 20"/>
          <p:cNvSpPr txBox="true"/>
          <p:nvPr/>
        </p:nvSpPr>
        <p:spPr>
          <a:xfrm rot="0">
            <a:off x="1028700" y="5561233"/>
            <a:ext cx="431607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Font Census &amp; Scope</a:t>
            </a:r>
          </a:p>
        </p:txBody>
      </p:sp>
      <p:sp>
        <p:nvSpPr>
          <p:cNvPr id="21" name="TextBox 21"/>
          <p:cNvSpPr txBox="true"/>
          <p:nvPr/>
        </p:nvSpPr>
        <p:spPr>
          <a:xfrm rot="0">
            <a:off x="8309906" y="5561233"/>
            <a:ext cx="4316076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Adapted Clone Build Process</a:t>
            </a:r>
          </a:p>
        </p:txBody>
      </p:sp>
      <p:sp>
        <p:nvSpPr>
          <p:cNvPr id="22" name="TextBox 22"/>
          <p:cNvSpPr txBox="true"/>
          <p:nvPr/>
        </p:nvSpPr>
        <p:spPr>
          <a:xfrm rot="0">
            <a:off x="1905000" y="6496050"/>
            <a:ext cx="4953000" cy="20916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23"/>
              </a:lnSpc>
              <a:spcBef>
                <a:spcPct val="0"/>
              </a:spcBef>
            </a:pPr>
            <a:r>
              <a:rPr lang="en-US" sz="1350" u="none" strike="noStrike" spc="6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~95% of client decks use Aptos, Calibri, Segoe UI, Arial, Georgia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8924925" y="7858125"/>
            <a:ext cx="1905000" cy="70348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73"/>
              </a:lnSpc>
              <a:spcBef>
                <a:spcPct val="0"/>
              </a:spcBef>
            </a:pPr>
            <a:r>
              <a:rPr lang="en-US" sz="1810" u="none" strike="noStrike" spc="9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Source metrics + OFL donor font selection</a:t>
            </a:r>
          </a:p>
        </p:txBody>
      </p:sp>
      <p:sp>
        <p:nvSpPr>
          <p:cNvPr id="24" name="TextBox 24"/>
          <p:cNvSpPr txBox="true"/>
          <p:nvPr/>
        </p:nvSpPr>
        <p:spPr>
          <a:xfrm rot="0">
            <a:off x="12058650" y="7858125"/>
            <a:ext cx="1905000" cy="70348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73"/>
              </a:lnSpc>
              <a:spcBef>
                <a:spcPct val="0"/>
              </a:spcBef>
            </a:pPr>
            <a:r>
              <a:rPr lang="en-US" sz="1810" u="none" strike="noStrike" spc="9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Weight adjust &amp; width fit → adapted TTF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8928575" y="6631410"/>
            <a:ext cx="516026" cy="46009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904"/>
              </a:lnSpc>
            </a:pPr>
            <a:r>
              <a:rPr lang="en-US" sz="2963" spc="14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12059329" y="6631410"/>
            <a:ext cx="516026" cy="46009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904"/>
              </a:lnSpc>
            </a:pPr>
            <a:r>
              <a:rPr lang="en-US" sz="2963" spc="14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1905000" y="7258050"/>
            <a:ext cx="49530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Preview-only usage — not embedded in output PPTX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287014" y="6493938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01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1287014" y="7255154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02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1905000" y="8020050"/>
            <a:ext cx="5715000" cy="23324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9"/>
              </a:lnSpc>
              <a:spcBef>
                <a:spcPct val="0"/>
              </a:spcBef>
            </a:pPr>
            <a:r>
              <a:rPr lang="en-US" sz="1530" u="none" strike="noStrike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Regression-tested for advance widths and line-break differences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287014" y="8016370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905000" y="8782050"/>
            <a:ext cx="4953000" cy="20916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323"/>
              </a:lnSpc>
              <a:spcBef>
                <a:spcPct val="0"/>
              </a:spcBef>
            </a:pPr>
            <a:r>
              <a:rPr lang="en-US" sz="1350" u="none" strike="noStrike" spc="6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Zero metric-compatible open clone for Aptos currently available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1287014" y="8777586"/>
            <a:ext cx="333052" cy="2331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97"/>
              </a:lnSpc>
            </a:pPr>
            <a:r>
              <a:rPr lang="en-US" sz="1528" spc="7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04</a:t>
            </a:r>
          </a:p>
        </p:txBody>
      </p:sp>
      <p:sp>
        <p:nvSpPr>
          <p:cNvPr id="34" name="Freeform 34"/>
          <p:cNvSpPr/>
          <p:nvPr/>
        </p:nvSpPr>
        <p:spPr>
          <a:xfrm rot="0" flipH="false" flipV="false">
            <a:off x="14304585" y="6171181"/>
            <a:ext cx="2989469" cy="3184521"/>
          </a:xfrm>
          <a:custGeom>
            <a:avLst/>
            <a:gdLst/>
            <a:ahLst/>
            <a:cxnLst/>
            <a:rect l="l" t="t" r="r" b="b"/>
            <a:pathLst>
              <a:path w="2989469" h="3184521">
                <a:moveTo>
                  <a:pt x="0" y="0"/>
                </a:moveTo>
                <a:lnTo>
                  <a:pt x="2989469" y="0"/>
                </a:lnTo>
                <a:lnTo>
                  <a:pt x="2989469" y="3184520"/>
                </a:lnTo>
                <a:lnTo>
                  <a:pt x="0" y="31845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35" name="TextBox 35"/>
          <p:cNvSpPr txBox="true"/>
          <p:nvPr/>
        </p:nvSpPr>
        <p:spPr>
          <a:xfrm rot="0">
            <a:off x="15230475" y="8077200"/>
            <a:ext cx="1905000" cy="70348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73"/>
              </a:lnSpc>
              <a:spcBef>
                <a:spcPct val="0"/>
              </a:spcBef>
            </a:pPr>
            <a:r>
              <a:rPr lang="en-US" sz="1810" u="none" strike="noStrike" spc="9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Validate preview fidelity &amp; regression test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15234100" y="6631410"/>
            <a:ext cx="516026" cy="460097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904"/>
              </a:lnSpc>
            </a:pPr>
            <a:r>
              <a:rPr lang="en-US" sz="2963" spc="14">
                <a:solidFill>
                  <a:srgbClr val="2D2D2D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03</a:t>
            </a:r>
          </a:p>
        </p:txBody>
      </p:sp>
      <p:sp>
        <p:nvSpPr>
          <p:cNvPr id="37" name="Freeform 37"/>
          <p:cNvSpPr/>
          <p:nvPr/>
        </p:nvSpPr>
        <p:spPr>
          <a:xfrm rot="-10800000" flipH="false" flipV="false">
            <a:off x="10840433" y="177163"/>
            <a:ext cx="7113055" cy="5230720"/>
          </a:xfrm>
          <a:custGeom>
            <a:avLst/>
            <a:gdLst/>
            <a:ahLst/>
            <a:cxnLst/>
            <a:rect l="l" t="t" r="r" b="b"/>
            <a:pathLst>
              <a:path w="7113055" h="5230720">
                <a:moveTo>
                  <a:pt x="0" y="0"/>
                </a:moveTo>
                <a:lnTo>
                  <a:pt x="7113055" y="0"/>
                </a:lnTo>
                <a:lnTo>
                  <a:pt x="7113055" y="5230720"/>
                </a:lnTo>
                <a:lnTo>
                  <a:pt x="0" y="5230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AutoShape 3"/>
          <p:cNvSpPr/>
          <p:nvPr/>
        </p:nvSpPr>
        <p:spPr>
          <a:xfrm flipV="true">
            <a:off x="1028700" y="6752457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true">
            <a:off x="1028700" y="7340431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28700" y="6168351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54137" y="7937216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true">
            <a:off x="1054137" y="8595775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0" flipH="false" flipV="false">
            <a:off x="1028700" y="6359816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/>
          <p:cNvSpPr/>
          <p:nvPr/>
        </p:nvSpPr>
        <p:spPr>
          <a:xfrm rot="0" flipH="false" flipV="false">
            <a:off x="1028700" y="6948062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/>
          <p:cNvSpPr/>
          <p:nvPr/>
        </p:nvSpPr>
        <p:spPr>
          <a:xfrm rot="0" flipH="false" flipV="false">
            <a:off x="1028700" y="7533164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false" flipV="false">
            <a:off x="1028700" y="8191724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1054137" y="9254335"/>
            <a:ext cx="665585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 rot="0" flipH="false" flipV="false">
            <a:off x="1028700" y="8850284"/>
            <a:ext cx="157351" cy="158341"/>
          </a:xfrm>
          <a:custGeom>
            <a:avLst/>
            <a:gdLst/>
            <a:ahLst/>
            <a:cxnLst/>
            <a:rect l="l" t="t" r="r" b="b"/>
            <a:pathLst>
              <a:path w="157351" h="158341">
                <a:moveTo>
                  <a:pt x="0" y="0"/>
                </a:moveTo>
                <a:lnTo>
                  <a:pt x="157351" y="0"/>
                </a:lnTo>
                <a:lnTo>
                  <a:pt x="157351" y="158341"/>
                </a:lnTo>
                <a:lnTo>
                  <a:pt x="0" y="15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5" name="Freeform 15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16" name="TextBox 16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11244936" y="1028700"/>
            <a:ext cx="2872106" cy="2914238"/>
            <a:chOff x="0" y="0"/>
            <a:chExt cx="871005" cy="883783"/>
          </a:xfrm>
        </p:grpSpPr>
        <p:sp>
          <p:nvSpPr>
            <p:cNvPr id="18" name="Freeform 18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19" name="TextBox 19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 rot="0" flipH="false" flipV="false">
            <a:off x="11748416" y="1412832"/>
            <a:ext cx="1867112" cy="2148604"/>
          </a:xfrm>
          <a:custGeom>
            <a:avLst/>
            <a:gdLst/>
            <a:ahLst/>
            <a:cxnLst/>
            <a:rect l="l" t="t" r="r" b="b"/>
            <a:pathLst>
              <a:path w="1867112" h="2148604">
                <a:moveTo>
                  <a:pt x="0" y="0"/>
                </a:moveTo>
                <a:lnTo>
                  <a:pt x="1867112" y="0"/>
                </a:lnTo>
                <a:lnTo>
                  <a:pt x="1867112" y="2148605"/>
                </a:lnTo>
                <a:lnTo>
                  <a:pt x="0" y="2148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1" name="Freeform 21"/>
          <p:cNvSpPr/>
          <p:nvPr/>
        </p:nvSpPr>
        <p:spPr>
          <a:xfrm rot="0" flipH="false" flipV="false">
            <a:off x="15060648" y="1643842"/>
            <a:ext cx="1524259" cy="1859824"/>
          </a:xfrm>
          <a:custGeom>
            <a:avLst/>
            <a:gdLst/>
            <a:ahLst/>
            <a:cxnLst/>
            <a:rect l="l" t="t" r="r" b="b"/>
            <a:pathLst>
              <a:path w="1524259" h="1859824">
                <a:moveTo>
                  <a:pt x="0" y="0"/>
                </a:moveTo>
                <a:lnTo>
                  <a:pt x="1524259" y="0"/>
                </a:lnTo>
                <a:lnTo>
                  <a:pt x="1524259" y="1859824"/>
                </a:lnTo>
                <a:lnTo>
                  <a:pt x="0" y="18598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id="22" name="TextBox 22"/>
          <p:cNvSpPr txBox="true"/>
          <p:nvPr/>
        </p:nvSpPr>
        <p:spPr>
          <a:xfrm rot="0">
            <a:off x="1028700" y="2454358"/>
            <a:ext cx="5162504" cy="267877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9191"/>
              </a:lnSpc>
            </a:pPr>
            <a:r>
              <a:rPr lang="en-US" sz="9777" spc="-43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Cost Summary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2062240" y="1089766"/>
            <a:ext cx="1659074" cy="24300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550"/>
              </a:lnSpc>
            </a:pPr>
            <a:r>
              <a:rPr lang="en-US" sz="1449" spc="-6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Phase 4</a:t>
            </a:r>
          </a:p>
        </p:txBody>
      </p:sp>
      <p:sp>
        <p:nvSpPr>
          <p:cNvPr id="24" name="TextBox 24"/>
          <p:cNvSpPr txBox="true"/>
          <p:nvPr/>
        </p:nvSpPr>
        <p:spPr>
          <a:xfrm rot="0">
            <a:off x="2062240" y="1493681"/>
            <a:ext cx="1319381" cy="22191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418"/>
              </a:lnSpc>
            </a:pPr>
            <a:r>
              <a:rPr lang="en-US" sz="1326" spc="-5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Internal Pitch Deck</a:t>
            </a:r>
          </a:p>
        </p:txBody>
      </p:sp>
      <p:sp>
        <p:nvSpPr>
          <p:cNvPr id="25" name="TextBox 25"/>
          <p:cNvSpPr txBox="true"/>
          <p:nvPr/>
        </p:nvSpPr>
        <p:spPr>
          <a:xfrm rot="0">
            <a:off x="1028700" y="5726047"/>
            <a:ext cx="797837" cy="1766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48"/>
              </a:lnSpc>
            </a:pPr>
            <a:r>
              <a:rPr lang="en-US" sz="1560" spc="-13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Resource</a:t>
            </a:r>
          </a:p>
        </p:txBody>
      </p:sp>
      <p:sp>
        <p:nvSpPr>
          <p:cNvPr id="26" name="TextBox 26"/>
          <p:cNvSpPr txBox="true"/>
          <p:nvPr/>
        </p:nvSpPr>
        <p:spPr>
          <a:xfrm rot="0">
            <a:off x="5521193" y="5726047"/>
            <a:ext cx="1023957" cy="17660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48"/>
              </a:lnSpc>
            </a:pPr>
            <a:r>
              <a:rPr lang="en-US" sz="1560" spc="-132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Count / Detail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1343124" y="6357593"/>
            <a:ext cx="2001416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Development Workstreams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343124" y="6945567"/>
            <a:ext cx="1942661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Test Assemblies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5521193" y="6365099"/>
            <a:ext cx="1185329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12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5521193" y="6953074"/>
            <a:ext cx="857363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5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343124" y="7533542"/>
            <a:ext cx="1866771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Total Tests (Green)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343124" y="8192101"/>
            <a:ext cx="1866771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New Dependencies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5521193" y="7541048"/>
            <a:ext cx="662270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844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5521193" y="8199608"/>
            <a:ext cx="662270" cy="2754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1 (comemo)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1343124" y="8850661"/>
            <a:ext cx="2091226" cy="164793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207"/>
              </a:lnSpc>
            </a:pPr>
            <a:r>
              <a:rPr lang="en-US" sz="1372" spc="-50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External Services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5521193" y="8858167"/>
            <a:ext cx="662270" cy="14308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056"/>
              </a:lnSpc>
            </a:pPr>
            <a:r>
              <a:rPr lang="en-US" sz="1200" spc="-4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Zero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8715406" y="5858174"/>
            <a:ext cx="3807736" cy="50004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62"/>
              </a:lnSpc>
            </a:pPr>
            <a:r>
              <a:rPr lang="en-US" sz="1874" spc="-8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Production Stack: .NET 9 + DocumentFormat.OpenXml</a:t>
            </a:r>
          </a:p>
        </p:txBody>
      </p:sp>
      <p:sp>
        <p:nvSpPr>
          <p:cNvPr id="38" name="TextBox 38"/>
          <p:cNvSpPr txBox="true"/>
          <p:nvPr/>
        </p:nvSpPr>
        <p:spPr>
          <a:xfrm rot="0">
            <a:off x="8715406" y="6829447"/>
            <a:ext cx="6693760" cy="201558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783"/>
              </a:lnSpc>
            </a:pPr>
            <a:r>
              <a:rPr lang="en-US" sz="1461" spc="-1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was delivered with a lean, self-contained resource footprint. All 12 workstreams were completed across 4 merge waves, producing 844 green tests across 5 dedicated test assemblies — with zero regressions left open.</a:t>
            </a:r>
          </a:p>
          <a:p>
            <a:pPr marL="0" lvl="0" indent="0" algn="l">
              <a:lnSpc>
                <a:spcPts val="1783"/>
              </a:lnSpc>
            </a:pPr>
            <a:r>
              <a:rPr lang="en-US" sz="1461" spc="-1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production runtime requires no LibreOffice installation and introduces only a single new managed dependency: comemo (a memoization utility). The native TypstBridge (~37 MB) is bundled and requires no external service or license.</a:t>
            </a:r>
          </a:p>
          <a:p>
            <a:pPr marL="0" lvl="0" indent="0" algn="l">
              <a:lnSpc>
                <a:spcPts val="1783"/>
              </a:lnSpc>
            </a:pPr>
            <a:r>
              <a:rPr lang="en-US" sz="1461" spc="-17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Core stack: .NET 9, DocumentFormat.OpenXml, and the included TypstBridge native library. No process management overhead, no external rendering services, and no licensing constraints from third-party office suites.</a:t>
            </a:r>
          </a:p>
        </p:txBody>
      </p:sp>
    </p:spTree>
  </p:cSld>
  <p:clrMapOvr>
    <a:masterClrMapping/>
  </p:clrMapOvr>
</p:sld>
</file>

<file path=ppt/slides/slide12.xml><?xml version="1.0" encoding="utf-8"?>
<p:sld xmlns:asvg="http://schemas.microsoft.com/office/drawing/2016/SVG/main"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0" flipH="false" flipV="false">
            <a:off x="1028700" y="1028700"/>
            <a:ext cx="805369" cy="793655"/>
          </a:xfrm>
          <a:custGeom>
            <a:avLst/>
            <a:gdLst/>
            <a:ahLst/>
            <a:cxnLst/>
            <a:rect l="l" t="t" r="r" b="b"/>
            <a:pathLst>
              <a:path w="805369" h="793655">
                <a:moveTo>
                  <a:pt x="0" y="0"/>
                </a:moveTo>
                <a:lnTo>
                  <a:pt x="805369" y="0"/>
                </a:lnTo>
                <a:lnTo>
                  <a:pt x="805369" y="793655"/>
                </a:lnTo>
                <a:lnTo>
                  <a:pt x="0" y="79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/>
          <p:cNvSpPr txBox="true"/>
          <p:nvPr/>
        </p:nvSpPr>
        <p:spPr>
          <a:xfrm rot="0">
            <a:off x="1028700" y="2453533"/>
            <a:ext cx="7579676" cy="151510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9191"/>
              </a:lnSpc>
            </a:pPr>
            <a:r>
              <a:rPr lang="en-US" sz="9777" spc="-439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Thank You</a:t>
            </a:r>
          </a:p>
        </p:txBody>
      </p:sp>
      <p:grpSp>
        <p:nvGrpSpPr>
          <p:cNvPr id="4" name="Group 4"/>
          <p:cNvGrpSpPr/>
          <p:nvPr/>
        </p:nvGrpSpPr>
        <p:grpSpPr>
          <a:xfrm rot="0">
            <a:off x="9161863" y="6175360"/>
            <a:ext cx="3134574" cy="3560368"/>
            <a:chOff x="0" y="0"/>
            <a:chExt cx="950602" cy="1079730"/>
          </a:xfrm>
        </p:grpSpPr>
        <p:sp>
          <p:nvSpPr>
            <p:cNvPr id="5" name="Freeform 5"/>
            <p:cNvSpPr/>
            <p:nvPr/>
          </p:nvSpPr>
          <p:spPr>
            <a:xfrm rot="0" flipH="false" flipV="false">
              <a:off x="0" y="0"/>
              <a:ext cx="950602" cy="1079730"/>
            </a:xfrm>
            <a:custGeom>
              <a:avLst/>
              <a:gdLst/>
              <a:ahLst/>
              <a:cxnLst/>
              <a:rect l="l" t="t" r="r" b="b"/>
              <a:pathLst>
                <a:path w="950602" h="1079730">
                  <a:moveTo>
                    <a:pt x="125962" y="0"/>
                  </a:moveTo>
                  <a:lnTo>
                    <a:pt x="824640" y="0"/>
                  </a:lnTo>
                  <a:cubicBezTo>
                    <a:pt x="894207" y="0"/>
                    <a:pt x="950602" y="56395"/>
                    <a:pt x="950602" y="125962"/>
                  </a:cubicBezTo>
                  <a:lnTo>
                    <a:pt x="950602" y="953768"/>
                  </a:lnTo>
                  <a:cubicBezTo>
                    <a:pt x="950602" y="1023335"/>
                    <a:pt x="894207" y="1079730"/>
                    <a:pt x="824640" y="1079730"/>
                  </a:cubicBezTo>
                  <a:lnTo>
                    <a:pt x="125962" y="1079730"/>
                  </a:lnTo>
                  <a:cubicBezTo>
                    <a:pt x="56395" y="1079730"/>
                    <a:pt x="0" y="1023335"/>
                    <a:pt x="0" y="953768"/>
                  </a:cubicBezTo>
                  <a:lnTo>
                    <a:pt x="0" y="125962"/>
                  </a:lnTo>
                  <a:cubicBezTo>
                    <a:pt x="0" y="56395"/>
                    <a:pt x="56395" y="0"/>
                    <a:pt x="125962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6" name="TextBox 6"/>
            <p:cNvSpPr txBox="true"/>
            <p:nvPr/>
          </p:nvSpPr>
          <p:spPr>
            <a:xfrm>
              <a:off x="0" y="-47625"/>
              <a:ext cx="950602" cy="1127355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9636192" y="5005950"/>
            <a:ext cx="7623108" cy="4252350"/>
            <a:chOff x="0" y="0"/>
            <a:chExt cx="2311812" cy="1289583"/>
          </a:xfrm>
        </p:grpSpPr>
        <p:sp>
          <p:nvSpPr>
            <p:cNvPr id="8" name="Freeform 8"/>
            <p:cNvSpPr/>
            <p:nvPr/>
          </p:nvSpPr>
          <p:spPr>
            <a:xfrm rot="0" flipH="false" flipV="false">
              <a:off x="0" y="0"/>
              <a:ext cx="2311812" cy="1289583"/>
            </a:xfrm>
            <a:custGeom>
              <a:avLst/>
              <a:gdLst/>
              <a:ahLst/>
              <a:cxnLst/>
              <a:rect l="l" t="t" r="r" b="b"/>
              <a:pathLst>
                <a:path w="2311812" h="1289583">
                  <a:moveTo>
                    <a:pt x="51795" y="0"/>
                  </a:moveTo>
                  <a:lnTo>
                    <a:pt x="2260017" y="0"/>
                  </a:lnTo>
                  <a:cubicBezTo>
                    <a:pt x="2288622" y="0"/>
                    <a:pt x="2311812" y="23189"/>
                    <a:pt x="2311812" y="51795"/>
                  </a:cubicBezTo>
                  <a:lnTo>
                    <a:pt x="2311812" y="1237788"/>
                  </a:lnTo>
                  <a:cubicBezTo>
                    <a:pt x="2311812" y="1266394"/>
                    <a:pt x="2288622" y="1289583"/>
                    <a:pt x="2260017" y="1289583"/>
                  </a:cubicBezTo>
                  <a:lnTo>
                    <a:pt x="51795" y="1289583"/>
                  </a:lnTo>
                  <a:cubicBezTo>
                    <a:pt x="23189" y="1289583"/>
                    <a:pt x="0" y="1266394"/>
                    <a:pt x="0" y="1237788"/>
                  </a:cubicBezTo>
                  <a:lnTo>
                    <a:pt x="0" y="51795"/>
                  </a:lnTo>
                  <a:cubicBezTo>
                    <a:pt x="0" y="23189"/>
                    <a:pt x="23189" y="0"/>
                    <a:pt x="51795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9" name="TextBox 9"/>
            <p:cNvSpPr txBox="true"/>
            <p:nvPr/>
          </p:nvSpPr>
          <p:spPr>
            <a:xfrm>
              <a:off x="0" y="-47625"/>
              <a:ext cx="2311812" cy="13372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 rot="0" flipH="false" flipV="false">
            <a:off x="13233565" y="8211767"/>
            <a:ext cx="386268" cy="386268"/>
          </a:xfrm>
          <a:custGeom>
            <a:avLst/>
            <a:gdLst/>
            <a:ahLst/>
            <a:cxnLst/>
            <a:rect l="l" t="t" r="r" b="b"/>
            <a:pathLst>
              <a:path w="386268" h="386268">
                <a:moveTo>
                  <a:pt x="0" y="0"/>
                </a:moveTo>
                <a:lnTo>
                  <a:pt x="386268" y="0"/>
                </a:lnTo>
                <a:lnTo>
                  <a:pt x="386268" y="386267"/>
                </a:lnTo>
                <a:lnTo>
                  <a:pt x="0" y="38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/>
          <p:cNvSpPr/>
          <p:nvPr/>
        </p:nvSpPr>
        <p:spPr>
          <a:xfrm rot="0" flipH="false" flipV="false">
            <a:off x="13233565" y="7385628"/>
            <a:ext cx="386268" cy="386268"/>
          </a:xfrm>
          <a:custGeom>
            <a:avLst/>
            <a:gdLst/>
            <a:ahLst/>
            <a:cxnLst/>
            <a:rect l="l" t="t" r="r" b="b"/>
            <a:pathLst>
              <a:path w="386268" h="386268">
                <a:moveTo>
                  <a:pt x="0" y="0"/>
                </a:moveTo>
                <a:lnTo>
                  <a:pt x="386268" y="0"/>
                </a:lnTo>
                <a:lnTo>
                  <a:pt x="386268" y="386267"/>
                </a:lnTo>
                <a:lnTo>
                  <a:pt x="0" y="386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/>
          <p:cNvSpPr/>
          <p:nvPr/>
        </p:nvSpPr>
        <p:spPr>
          <a:xfrm rot="0" flipH="false" flipV="false">
            <a:off x="13233565" y="6559489"/>
            <a:ext cx="386268" cy="386268"/>
          </a:xfrm>
          <a:custGeom>
            <a:avLst/>
            <a:gdLst/>
            <a:ahLst/>
            <a:cxnLst/>
            <a:rect l="l" t="t" r="r" b="b"/>
            <a:pathLst>
              <a:path w="386268" h="386268">
                <a:moveTo>
                  <a:pt x="0" y="0"/>
                </a:moveTo>
                <a:lnTo>
                  <a:pt x="386268" y="0"/>
                </a:lnTo>
                <a:lnTo>
                  <a:pt x="386268" y="386268"/>
                </a:lnTo>
                <a:lnTo>
                  <a:pt x="0" y="386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3"/>
          <p:cNvSpPr/>
          <p:nvPr/>
        </p:nvSpPr>
        <p:spPr>
          <a:xfrm rot="-10800000" flipH="false" flipV="false">
            <a:off x="10399401" y="6696040"/>
            <a:ext cx="2128111" cy="2019045"/>
          </a:xfrm>
          <a:custGeom>
            <a:avLst/>
            <a:gdLst/>
            <a:ahLst/>
            <a:cxnLst/>
            <a:rect l="l" t="t" r="r" b="b"/>
            <a:pathLst>
              <a:path w="2128111" h="2019045">
                <a:moveTo>
                  <a:pt x="0" y="0"/>
                </a:moveTo>
                <a:lnTo>
                  <a:pt x="2128111" y="0"/>
                </a:lnTo>
                <a:lnTo>
                  <a:pt x="2128111" y="2019045"/>
                </a:lnTo>
                <a:lnTo>
                  <a:pt x="0" y="2019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H="false" flipV="false">
            <a:off x="10399401" y="5710346"/>
            <a:ext cx="2128111" cy="2019045"/>
          </a:xfrm>
          <a:custGeom>
            <a:avLst/>
            <a:gdLst/>
            <a:ahLst/>
            <a:cxnLst/>
            <a:rect l="l" t="t" r="r" b="b"/>
            <a:pathLst>
              <a:path w="2128111" h="2019045">
                <a:moveTo>
                  <a:pt x="0" y="0"/>
                </a:moveTo>
                <a:lnTo>
                  <a:pt x="2128111" y="0"/>
                </a:lnTo>
                <a:lnTo>
                  <a:pt x="2128111" y="2019045"/>
                </a:lnTo>
                <a:lnTo>
                  <a:pt x="0" y="2019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5" name="Group 15"/>
          <p:cNvGrpSpPr/>
          <p:nvPr/>
        </p:nvGrpSpPr>
        <p:grpSpPr>
          <a:xfrm rot="0">
            <a:off x="14387194" y="1028700"/>
            <a:ext cx="2872106" cy="2914238"/>
            <a:chOff x="0" y="0"/>
            <a:chExt cx="871005" cy="883783"/>
          </a:xfrm>
        </p:grpSpPr>
        <p:sp>
          <p:nvSpPr>
            <p:cNvPr id="16" name="Freeform 16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B5A2FF"/>
            </a:solidFill>
          </p:spPr>
        </p:sp>
        <p:sp>
          <p:nvSpPr>
            <p:cNvPr id="17" name="TextBox 17"/>
            <p:cNvSpPr txBox="true"/>
            <p:nvPr/>
          </p:nvSpPr>
          <p:spPr>
            <a:xfrm>
              <a:off x="0" y="-47625"/>
              <a:ext cx="871005" cy="93140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1312635" y="1028700"/>
            <a:ext cx="2872106" cy="2914238"/>
            <a:chOff x="0" y="0"/>
            <a:chExt cx="871005" cy="883783"/>
          </a:xfrm>
        </p:grpSpPr>
        <p:sp>
          <p:nvSpPr>
            <p:cNvPr id="19" name="Freeform 19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EFD77B"/>
            </a:solidFill>
          </p:spPr>
        </p:sp>
        <p:sp>
          <p:nvSpPr>
            <p:cNvPr id="20" name="TextBox 20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8240505" y="1028700"/>
            <a:ext cx="2872106" cy="2914238"/>
            <a:chOff x="0" y="0"/>
            <a:chExt cx="871005" cy="883783"/>
          </a:xfrm>
        </p:grpSpPr>
        <p:sp>
          <p:nvSpPr>
            <p:cNvPr id="22" name="Freeform 22"/>
            <p:cNvSpPr/>
            <p:nvPr/>
          </p:nvSpPr>
          <p:spPr>
            <a:xfrm rot="0" flipH="false" flipV="false">
              <a:off x="0" y="0"/>
              <a:ext cx="871005" cy="883783"/>
            </a:xfrm>
            <a:custGeom>
              <a:avLst/>
              <a:gdLst/>
              <a:ahLst/>
              <a:cxnLst/>
              <a:rect l="l" t="t" r="r" b="b"/>
              <a:pathLst>
                <a:path w="871005" h="883783">
                  <a:moveTo>
                    <a:pt x="137473" y="0"/>
                  </a:moveTo>
                  <a:lnTo>
                    <a:pt x="733532" y="0"/>
                  </a:lnTo>
                  <a:cubicBezTo>
                    <a:pt x="769992" y="0"/>
                    <a:pt x="804959" y="14484"/>
                    <a:pt x="830740" y="40265"/>
                  </a:cubicBezTo>
                  <a:cubicBezTo>
                    <a:pt x="856522" y="66046"/>
                    <a:pt x="871005" y="101013"/>
                    <a:pt x="871005" y="137473"/>
                  </a:cubicBezTo>
                  <a:lnTo>
                    <a:pt x="871005" y="746309"/>
                  </a:lnTo>
                  <a:cubicBezTo>
                    <a:pt x="871005" y="782769"/>
                    <a:pt x="856522" y="817736"/>
                    <a:pt x="830740" y="843518"/>
                  </a:cubicBezTo>
                  <a:cubicBezTo>
                    <a:pt x="804959" y="869299"/>
                    <a:pt x="769992" y="883783"/>
                    <a:pt x="733532" y="883783"/>
                  </a:cubicBezTo>
                  <a:lnTo>
                    <a:pt x="137473" y="883783"/>
                  </a:lnTo>
                  <a:cubicBezTo>
                    <a:pt x="101013" y="883783"/>
                    <a:pt x="66046" y="869299"/>
                    <a:pt x="40265" y="843518"/>
                  </a:cubicBezTo>
                  <a:cubicBezTo>
                    <a:pt x="14484" y="817736"/>
                    <a:pt x="0" y="782769"/>
                    <a:pt x="0" y="746309"/>
                  </a:cubicBezTo>
                  <a:lnTo>
                    <a:pt x="0" y="137473"/>
                  </a:lnTo>
                  <a:cubicBezTo>
                    <a:pt x="0" y="101013"/>
                    <a:pt x="14484" y="66046"/>
                    <a:pt x="40265" y="40265"/>
                  </a:cubicBezTo>
                  <a:cubicBezTo>
                    <a:pt x="66046" y="14484"/>
                    <a:pt x="101013" y="0"/>
                    <a:pt x="137473" y="0"/>
                  </a:cubicBezTo>
                  <a:close/>
                </a:path>
              </a:pathLst>
            </a:custGeom>
            <a:solidFill>
              <a:srgbClr val="FFFAF3"/>
            </a:solidFill>
          </p:spPr>
        </p:sp>
        <p:sp>
          <p:nvSpPr>
            <p:cNvPr id="23" name="TextBox 23"/>
            <p:cNvSpPr txBox="true"/>
            <p:nvPr/>
          </p:nvSpPr>
          <p:spPr>
            <a:xfrm>
              <a:off x="0" y="-28575"/>
              <a:ext cx="871005" cy="912358"/>
            </a:xfrm>
            <a:prstGeom prst="rect">
              <a:avLst/>
            </a:prstGeom>
          </p:spPr>
          <p:txBody>
            <a:bodyPr lIns="50800" tIns="50800" rIns="50800" bIns="50800" rtlCol="false" anchor="ctr"/>
            <a:lstStyle/>
            <a:p>
              <a:pPr marL="0" lvl="0" indent="0" algn="ctr">
                <a:lnSpc>
                  <a:spcPts val="2536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 rot="0" flipH="false" flipV="false">
            <a:off x="11793797" y="1566762"/>
            <a:ext cx="1912211" cy="1838113"/>
          </a:xfrm>
          <a:custGeom>
            <a:avLst/>
            <a:gdLst/>
            <a:ahLst/>
            <a:cxnLst/>
            <a:rect l="l" t="t" r="r" b="b"/>
            <a:pathLst>
              <a:path w="1912211" h="1838113">
                <a:moveTo>
                  <a:pt x="0" y="0"/>
                </a:moveTo>
                <a:lnTo>
                  <a:pt x="1912211" y="0"/>
                </a:lnTo>
                <a:lnTo>
                  <a:pt x="1912211" y="1838114"/>
                </a:lnTo>
                <a:lnTo>
                  <a:pt x="0" y="1838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5" name="Freeform 25"/>
          <p:cNvSpPr/>
          <p:nvPr/>
        </p:nvSpPr>
        <p:spPr>
          <a:xfrm rot="0" flipH="false" flipV="false">
            <a:off x="8900020" y="1664736"/>
            <a:ext cx="1553074" cy="1740139"/>
          </a:xfrm>
          <a:custGeom>
            <a:avLst/>
            <a:gdLst/>
            <a:ahLst/>
            <a:cxnLst/>
            <a:rect l="l" t="t" r="r" b="b"/>
            <a:pathLst>
              <a:path w="1553074" h="1740139">
                <a:moveTo>
                  <a:pt x="0" y="0"/>
                </a:moveTo>
                <a:lnTo>
                  <a:pt x="1553075" y="0"/>
                </a:lnTo>
                <a:lnTo>
                  <a:pt x="1553075" y="1740140"/>
                </a:lnTo>
                <a:lnTo>
                  <a:pt x="0" y="17401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6" name="Freeform 26"/>
          <p:cNvSpPr/>
          <p:nvPr/>
        </p:nvSpPr>
        <p:spPr>
          <a:xfrm rot="0" flipH="false" flipV="false">
            <a:off x="14904191" y="1563052"/>
            <a:ext cx="1838113" cy="1838113"/>
          </a:xfrm>
          <a:custGeom>
            <a:avLst/>
            <a:gdLst/>
            <a:ahLst/>
            <a:cxnLst/>
            <a:rect l="l" t="t" r="r" b="b"/>
            <a:pathLst>
              <a:path w="1838113" h="1838113">
                <a:moveTo>
                  <a:pt x="0" y="0"/>
                </a:moveTo>
                <a:lnTo>
                  <a:pt x="1838113" y="0"/>
                </a:lnTo>
                <a:lnTo>
                  <a:pt x="1838113" y="1838113"/>
                </a:lnTo>
                <a:lnTo>
                  <a:pt x="0" y="18381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7" name="TextBox 27"/>
          <p:cNvSpPr txBox="true"/>
          <p:nvPr/>
        </p:nvSpPr>
        <p:spPr>
          <a:xfrm rot="0">
            <a:off x="2062240" y="1080241"/>
            <a:ext cx="1659074" cy="3908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2326" spc="-10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2062240" y="1493681"/>
            <a:ext cx="1319381" cy="24257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522"/>
              </a:lnSpc>
            </a:pPr>
            <a:r>
              <a:rPr lang="en-US" sz="1423" spc="-64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Phase 4 Pitch Deck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1028700" y="5561233"/>
            <a:ext cx="3251311" cy="470849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828"/>
              </a:lnSpc>
            </a:pPr>
            <a:r>
              <a:rPr lang="en-US" sz="3009" spc="-135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Questions &amp; Feedback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1028700" y="6347637"/>
            <a:ext cx="5584657" cy="267254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913"/>
              </a:lnSpc>
            </a:pPr>
            <a:r>
              <a:rPr lang="en-US" sz="1568" spc="-1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Thank you for your attention and time reviewing the OfficeEditor Phase 4 proposal.</a:t>
            </a:r>
          </a:p>
          <a:p>
            <a:pPr marL="0" lvl="0" indent="0" algn="l">
              <a:lnSpc>
                <a:spcPts val="1913"/>
              </a:lnSpc>
            </a:pPr>
            <a:r>
              <a:rPr lang="en-US" sz="1568" spc="-1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We welcome your questions, feedback, and discussion on the rendering pipeline migration, performance benchmarks, and the roadmap ahead.</a:t>
            </a:r>
          </a:p>
          <a:p>
            <a:pPr marL="0" lvl="0" indent="0" algn="l">
              <a:lnSpc>
                <a:spcPts val="1913"/>
              </a:lnSpc>
            </a:pPr>
            <a:r>
              <a:rPr lang="en-US" sz="1568" spc="-1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OfficeEditor Phase 4 represents a significant step forward — replacing the legacy LibreOffice pipeline with a fast, in-process C# solution delivering 12–15× speed improvements while maintaining acceptable fidelity for iterative workflows.</a:t>
            </a:r>
          </a:p>
          <a:p>
            <a:pPr marL="0" lvl="0" indent="0" algn="l">
              <a:lnSpc>
                <a:spcPts val="1913"/>
              </a:lnSpc>
            </a:pPr>
            <a:r>
              <a:rPr lang="en-US" sz="1568" spc="-18">
                <a:solidFill>
                  <a:srgbClr val="FFFFF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We look forward to your input as we move into the next phase of development.</a:t>
            </a:r>
          </a:p>
        </p:txBody>
      </p:sp>
      <p:sp>
        <p:nvSpPr>
          <p:cNvPr id="31" name="TextBox 31"/>
          <p:cNvSpPr txBox="true"/>
          <p:nvPr/>
        </p:nvSpPr>
        <p:spPr>
          <a:xfrm rot="0">
            <a:off x="13233565" y="5477868"/>
            <a:ext cx="3654554" cy="582770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3825"/>
              </a:lnSpc>
            </a:pPr>
            <a:r>
              <a:rPr lang="en-US" sz="3269" spc="-196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Get In Touch</a:t>
            </a:r>
          </a:p>
        </p:txBody>
      </p:sp>
      <p:sp>
        <p:nvSpPr>
          <p:cNvPr id="32" name="TextBox 32"/>
          <p:cNvSpPr txBox="true"/>
          <p:nvPr/>
        </p:nvSpPr>
        <p:spPr>
          <a:xfrm rot="0">
            <a:off x="13922487" y="8310130"/>
            <a:ext cx="3183214" cy="3905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655"/>
              </a:lnSpc>
            </a:pPr>
            <a:r>
              <a:rPr lang="en-US" sz="2107" spc="-126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www.reallygreatsite.com</a:t>
            </a:r>
          </a:p>
        </p:txBody>
      </p:sp>
      <p:sp>
        <p:nvSpPr>
          <p:cNvPr id="33" name="TextBox 33"/>
          <p:cNvSpPr txBox="true"/>
          <p:nvPr/>
        </p:nvSpPr>
        <p:spPr>
          <a:xfrm rot="0">
            <a:off x="13922487" y="7520218"/>
            <a:ext cx="3422538" cy="39053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655"/>
              </a:lnSpc>
            </a:pPr>
            <a:r>
              <a:rPr lang="en-US" sz="2107" spc="-126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hello@reallygreatsite.com</a:t>
            </a:r>
          </a:p>
        </p:txBody>
      </p:sp>
      <p:sp>
        <p:nvSpPr>
          <p:cNvPr id="34" name="TextBox 34"/>
          <p:cNvSpPr txBox="true"/>
          <p:nvPr/>
        </p:nvSpPr>
        <p:spPr>
          <a:xfrm rot="0">
            <a:off x="13921051" y="8084378"/>
            <a:ext cx="1213842" cy="23590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46"/>
              </a:lnSpc>
            </a:pPr>
            <a:r>
              <a:rPr lang="en-US" sz="1306" spc="-78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Website:</a:t>
            </a:r>
          </a:p>
        </p:txBody>
      </p:sp>
      <p:sp>
        <p:nvSpPr>
          <p:cNvPr id="35" name="TextBox 35"/>
          <p:cNvSpPr txBox="true"/>
          <p:nvPr/>
        </p:nvSpPr>
        <p:spPr>
          <a:xfrm rot="0">
            <a:off x="13921051" y="7279564"/>
            <a:ext cx="1213842" cy="235906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46"/>
              </a:lnSpc>
            </a:pPr>
            <a:r>
              <a:rPr lang="en-US" sz="1306" spc="-78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Email:</a:t>
            </a:r>
          </a:p>
        </p:txBody>
      </p:sp>
      <p:sp>
        <p:nvSpPr>
          <p:cNvPr id="36" name="TextBox 36"/>
          <p:cNvSpPr txBox="true"/>
          <p:nvPr/>
        </p:nvSpPr>
        <p:spPr>
          <a:xfrm rot="0">
            <a:off x="13918671" y="6672754"/>
            <a:ext cx="2183843" cy="390568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2650"/>
              </a:lnSpc>
            </a:pPr>
            <a:r>
              <a:rPr lang="en-US" sz="2103" spc="-126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+123-456-7890</a:t>
            </a:r>
          </a:p>
        </p:txBody>
      </p:sp>
      <p:sp>
        <p:nvSpPr>
          <p:cNvPr id="37" name="TextBox 37"/>
          <p:cNvSpPr txBox="true"/>
          <p:nvPr/>
        </p:nvSpPr>
        <p:spPr>
          <a:xfrm rot="0">
            <a:off x="13918671" y="6432100"/>
            <a:ext cx="1399539" cy="235931"/>
          </a:xfrm>
          <a:prstGeom prst="rect">
            <a:avLst/>
          </a:prstGeom>
        </p:spPr>
        <p:txBody>
          <a:bodyPr lIns="0" tIns="0" rIns="0" bIns="0" rtlCol="false" anchor="t">
            <a:spAutoFit/>
          </a:bodyPr>
          <a:lstStyle/>
          <a:p>
            <a:pPr marL="0" lvl="0" indent="0" algn="l">
              <a:lnSpc>
                <a:spcPts val="1642"/>
              </a:lnSpc>
            </a:pPr>
            <a:r>
              <a:rPr lang="en-US" sz="1303" spc="-78">
                <a:solidFill>
                  <a:srgbClr val="140A3F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Phone: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DAHPxq3IkLk</dc:identifier>
  <dcterms:modified xsi:type="dcterms:W3CDTF">2011-08-01T06:04:30Z</dcterms:modified>
  <cp:revision>1</cp:revision>
  <dc:title>Professional Pitch Deck PPTX (5–15 slides)</dc:title>
</cp:coreProperties>
</file>