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 type="custom"/>
  <p:notesSz cx="12192000" cy="6858000"/>
  <p:embeddedFontLst>
    <p:embeddedFont>
      <p:font typeface="Liter" charset="-122" pitchFamily="34"/>
      <p:regular r:id="rId43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font" Target="fonts/font1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deco-frame"/>
          <p:cNvSpPr/>
          <p:nvPr/>
        </p:nvSpPr>
        <p:spPr>
          <a:xfrm>
            <a:off x="8382000" y="1651000"/>
            <a:ext cx="2794000" cy="279400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</p:sp>
      <p:sp>
        <p:nvSpPr>
          <p:cNvPr id="5" name="deco-frame-inner"/>
          <p:cNvSpPr/>
          <p:nvPr/>
        </p:nvSpPr>
        <p:spPr>
          <a:xfrm>
            <a:off x="8585200" y="1854200"/>
            <a:ext cx="2387600" cy="2387600"/>
          </a:xfrm>
          <a:prstGeom prst="rect">
            <a:avLst/>
          </a:prstGeom>
          <a:noFill/>
          <a:ln w="12700">
            <a:solidFill>
              <a:srgbClr val="FF6B00">
                <a:alpha val="30196"/>
              </a:srgbClr>
            </a:solidFill>
          </a:ln>
        </p:spPr>
      </p:sp>
      <p:sp>
        <p:nvSpPr>
          <p:cNvPr id="6" name="accent-bar"/>
          <p:cNvSpPr/>
          <p:nvPr/>
        </p:nvSpPr>
        <p:spPr>
          <a:xfrm>
            <a:off x="812800" y="2489200"/>
            <a:ext cx="914400" cy="76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title"/>
          <p:cNvSpPr txBox="1"/>
          <p:nvPr/>
        </p:nvSpPr>
        <p:spPr>
          <a:xfrm>
            <a:off x="762000" y="2692400"/>
            <a:ext cx="106680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200" b="1" spc="600" kern="0">
                <a:solidFill>
                  <a:srgbClr val="FFFFFF"/>
                </a:solidFill>
                <a:latin typeface="Liter"/>
                <a:ea typeface="Liter"/>
              </a:rPr>
              <a:t>NORTHWIND</a:t>
            </a:r>
            <a:endParaRPr lang="en-US" sz="9200"/>
          </a:p>
        </p:txBody>
      </p:sp>
      <p:sp>
        <p:nvSpPr>
          <p:cNvPr id="8" name="subtitle"/>
          <p:cNvSpPr txBox="1"/>
          <p:nvPr/>
        </p:nvSpPr>
        <p:spPr>
          <a:xfrm>
            <a:off x="812800" y="42672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A9BBD4"/>
                </a:solidFill>
                <a:latin typeface="Liter"/>
                <a:ea typeface="Liter"/>
              </a:rPr>
              <a:t>Investor Deck — 2026 Product Launch</a:t>
            </a:r>
            <a:endParaRPr lang="en-US" sz="2000"/>
          </a:p>
        </p:txBody>
      </p:sp>
      <p:sp>
        <p:nvSpPr>
          <p:cNvPr id="9" name="date"/>
          <p:cNvSpPr txBox="1"/>
          <p:nvPr/>
        </p:nvSpPr>
        <p:spPr>
          <a:xfrm>
            <a:off x="812800" y="6172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7E93B0"/>
                </a:solidFill>
                <a:latin typeface="Liter"/>
                <a:ea typeface="Liter"/>
              </a:rPr>
              <a:t>July 2026 · Confidential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AGENDA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What we'll cover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ag0-num"/>
          <p:cNvSpPr txBox="1"/>
          <p:nvPr/>
        </p:nvSpPr>
        <p:spPr>
          <a:xfrm>
            <a:off x="812800" y="22352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01</a:t>
            </a:r>
            <a:endParaRPr lang="en-US" sz="2600"/>
          </a:p>
        </p:txBody>
      </p:sp>
      <p:sp>
        <p:nvSpPr>
          <p:cNvPr id="6" name="ag0-title"/>
          <p:cNvSpPr txBox="1"/>
          <p:nvPr/>
        </p:nvSpPr>
        <p:spPr>
          <a:xfrm>
            <a:off x="1727200" y="22352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The Problem</a:t>
            </a:r>
            <a:endParaRPr lang="en-US" sz="1700"/>
          </a:p>
        </p:txBody>
      </p:sp>
      <p:sp>
        <p:nvSpPr>
          <p:cNvPr id="7" name="ag0-desc"/>
          <p:cNvSpPr txBox="1"/>
          <p:nvPr/>
        </p:nvSpPr>
        <p:spPr>
          <a:xfrm>
            <a:off x="1727200" y="25908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The daily cost of manual operations</a:t>
            </a:r>
            <a:endParaRPr lang="en-US" sz="1200"/>
          </a:p>
        </p:txBody>
      </p:sp>
      <p:sp>
        <p:nvSpPr>
          <p:cNvPr id="8" name="ag1-num"/>
          <p:cNvSpPr txBox="1"/>
          <p:nvPr/>
        </p:nvSpPr>
        <p:spPr>
          <a:xfrm>
            <a:off x="812800" y="32258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02</a:t>
            </a:r>
            <a:endParaRPr lang="en-US" sz="2600"/>
          </a:p>
        </p:txBody>
      </p:sp>
      <p:sp>
        <p:nvSpPr>
          <p:cNvPr id="9" name="ag1-title"/>
          <p:cNvSpPr txBox="1"/>
          <p:nvPr/>
        </p:nvSpPr>
        <p:spPr>
          <a:xfrm>
            <a:off x="1727200" y="32258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The Market</a:t>
            </a:r>
            <a:endParaRPr lang="en-US" sz="1700"/>
          </a:p>
        </p:txBody>
      </p:sp>
      <p:sp>
        <p:nvSpPr>
          <p:cNvPr id="10" name="ag1-desc"/>
          <p:cNvSpPr txBox="1"/>
          <p:nvPr/>
        </p:nvSpPr>
        <p:spPr>
          <a:xfrm>
            <a:off x="1727200" y="35814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A large, underserved category</a:t>
            </a:r>
            <a:endParaRPr lang="en-US" sz="1200"/>
          </a:p>
        </p:txBody>
      </p:sp>
      <p:sp>
        <p:nvSpPr>
          <p:cNvPr id="11" name="ag2-num"/>
          <p:cNvSpPr txBox="1"/>
          <p:nvPr/>
        </p:nvSpPr>
        <p:spPr>
          <a:xfrm>
            <a:off x="812800" y="42164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03</a:t>
            </a:r>
            <a:endParaRPr lang="en-US" sz="2600"/>
          </a:p>
        </p:txBody>
      </p:sp>
      <p:sp>
        <p:nvSpPr>
          <p:cNvPr id="12" name="ag2-title"/>
          <p:cNvSpPr txBox="1"/>
          <p:nvPr/>
        </p:nvSpPr>
        <p:spPr>
          <a:xfrm>
            <a:off x="1727200" y="42164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The Product</a:t>
            </a:r>
            <a:endParaRPr lang="en-US" sz="1700"/>
          </a:p>
        </p:txBody>
      </p:sp>
      <p:sp>
        <p:nvSpPr>
          <p:cNvPr id="13" name="ag2-desc"/>
          <p:cNvSpPr txBox="1"/>
          <p:nvPr/>
        </p:nvSpPr>
        <p:spPr>
          <a:xfrm>
            <a:off x="1727200" y="45720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The Northwind automation platform</a:t>
            </a:r>
            <a:endParaRPr lang="en-US" sz="1200"/>
          </a:p>
        </p:txBody>
      </p:sp>
      <p:sp>
        <p:nvSpPr>
          <p:cNvPr id="14" name="ag3-num"/>
          <p:cNvSpPr txBox="1"/>
          <p:nvPr/>
        </p:nvSpPr>
        <p:spPr>
          <a:xfrm>
            <a:off x="812800" y="52070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04</a:t>
            </a:r>
            <a:endParaRPr lang="en-US" sz="2600"/>
          </a:p>
        </p:txBody>
      </p:sp>
      <p:sp>
        <p:nvSpPr>
          <p:cNvPr id="15" name="ag3-title"/>
          <p:cNvSpPr txBox="1"/>
          <p:nvPr/>
        </p:nvSpPr>
        <p:spPr>
          <a:xfrm>
            <a:off x="1727200" y="52070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Business Model</a:t>
            </a:r>
            <a:endParaRPr lang="en-US" sz="1700"/>
          </a:p>
        </p:txBody>
      </p:sp>
      <p:sp>
        <p:nvSpPr>
          <p:cNvPr id="16" name="ag3-desc"/>
          <p:cNvSpPr txBox="1"/>
          <p:nvPr/>
        </p:nvSpPr>
        <p:spPr>
          <a:xfrm>
            <a:off x="1727200" y="55626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Pricing and unit economics</a:t>
            </a:r>
            <a:endParaRPr lang="en-US" sz="1200"/>
          </a:p>
        </p:txBody>
      </p:sp>
      <p:sp>
        <p:nvSpPr>
          <p:cNvPr id="17" name="ag4-num"/>
          <p:cNvSpPr txBox="1"/>
          <p:nvPr/>
        </p:nvSpPr>
        <p:spPr>
          <a:xfrm>
            <a:off x="6299200" y="22352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05</a:t>
            </a:r>
            <a:endParaRPr lang="en-US" sz="2600"/>
          </a:p>
        </p:txBody>
      </p:sp>
      <p:sp>
        <p:nvSpPr>
          <p:cNvPr id="18" name="ag4-title"/>
          <p:cNvSpPr txBox="1"/>
          <p:nvPr/>
        </p:nvSpPr>
        <p:spPr>
          <a:xfrm>
            <a:off x="7213600" y="22352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Go-to-Market</a:t>
            </a:r>
            <a:endParaRPr lang="en-US" sz="1700"/>
          </a:p>
        </p:txBody>
      </p:sp>
      <p:sp>
        <p:nvSpPr>
          <p:cNvPr id="19" name="ag4-desc"/>
          <p:cNvSpPr txBox="1"/>
          <p:nvPr/>
        </p:nvSpPr>
        <p:spPr>
          <a:xfrm>
            <a:off x="7213600" y="25908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How we reach and win customers</a:t>
            </a:r>
            <a:endParaRPr lang="en-US" sz="1200"/>
          </a:p>
        </p:txBody>
      </p:sp>
      <p:sp>
        <p:nvSpPr>
          <p:cNvPr id="20" name="ag5-num"/>
          <p:cNvSpPr txBox="1"/>
          <p:nvPr/>
        </p:nvSpPr>
        <p:spPr>
          <a:xfrm>
            <a:off x="6299200" y="32258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06</a:t>
            </a:r>
            <a:endParaRPr lang="en-US" sz="2600"/>
          </a:p>
        </p:txBody>
      </p:sp>
      <p:sp>
        <p:nvSpPr>
          <p:cNvPr id="21" name="ag5-title"/>
          <p:cNvSpPr txBox="1"/>
          <p:nvPr/>
        </p:nvSpPr>
        <p:spPr>
          <a:xfrm>
            <a:off x="7213600" y="32258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The Traction</a:t>
            </a:r>
            <a:endParaRPr lang="en-US" sz="1700"/>
          </a:p>
        </p:txBody>
      </p:sp>
      <p:sp>
        <p:nvSpPr>
          <p:cNvPr id="22" name="ag5-desc"/>
          <p:cNvSpPr txBox="1"/>
          <p:nvPr/>
        </p:nvSpPr>
        <p:spPr>
          <a:xfrm>
            <a:off x="7213600" y="35814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Four quarters of growth</a:t>
            </a:r>
            <a:endParaRPr lang="en-US" sz="1200"/>
          </a:p>
        </p:txBody>
      </p:sp>
      <p:sp>
        <p:nvSpPr>
          <p:cNvPr id="23" name="ag6-num"/>
          <p:cNvSpPr txBox="1"/>
          <p:nvPr/>
        </p:nvSpPr>
        <p:spPr>
          <a:xfrm>
            <a:off x="6299200" y="42164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07</a:t>
            </a:r>
            <a:endParaRPr lang="en-US" sz="2600"/>
          </a:p>
        </p:txBody>
      </p:sp>
      <p:sp>
        <p:nvSpPr>
          <p:cNvPr id="24" name="ag6-title"/>
          <p:cNvSpPr txBox="1"/>
          <p:nvPr/>
        </p:nvSpPr>
        <p:spPr>
          <a:xfrm>
            <a:off x="7213600" y="42164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Team &amp; Ask</a:t>
            </a:r>
            <a:endParaRPr lang="en-US" sz="1700"/>
          </a:p>
        </p:txBody>
      </p:sp>
      <p:sp>
        <p:nvSpPr>
          <p:cNvPr id="25" name="ag6-desc"/>
          <p:cNvSpPr txBox="1"/>
          <p:nvPr/>
        </p:nvSpPr>
        <p:spPr>
          <a:xfrm>
            <a:off x="7213600" y="45720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Who we are and what we need</a:t>
            </a:r>
            <a:endParaRPr lang="en-US" sz="1200"/>
          </a:p>
        </p:txBody>
      </p:sp>
      <p:sp>
        <p:nvSpPr>
          <p:cNvPr id="26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02 / 40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01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The Problem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The daily cost of manual operations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PROBLEM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Operations run on heroic effort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pain0-marker"/>
          <p:cNvSpPr/>
          <p:nvPr/>
        </p:nvSpPr>
        <p:spPr>
          <a:xfrm>
            <a:off x="812800" y="2362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pain0-title"/>
          <p:cNvSpPr txBox="1"/>
          <p:nvPr/>
        </p:nvSpPr>
        <p:spPr>
          <a:xfrm>
            <a:off x="812800" y="2692400"/>
            <a:ext cx="33147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Fragmented handoffs</a:t>
            </a:r>
            <a:endParaRPr lang="en-US" sz="1700"/>
          </a:p>
        </p:txBody>
      </p:sp>
      <p:sp>
        <p:nvSpPr>
          <p:cNvPr id="7" name="pain0-desc"/>
          <p:cNvSpPr txBox="1"/>
          <p:nvPr/>
        </p:nvSpPr>
        <p:spPr>
          <a:xfrm>
            <a:off x="812800" y="3124200"/>
            <a:ext cx="33147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Work bounces between email, spreadsheets, and chat. Every handoff is a chance to drop context or delay a customer.</a:t>
            </a:r>
            <a:endParaRPr lang="en-US" sz="1300"/>
          </a:p>
        </p:txBody>
      </p:sp>
      <p:sp>
        <p:nvSpPr>
          <p:cNvPr id="8" name="pain1-marker"/>
          <p:cNvSpPr/>
          <p:nvPr/>
        </p:nvSpPr>
        <p:spPr>
          <a:xfrm>
            <a:off x="4432300" y="2362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9" name="pain1-title"/>
          <p:cNvSpPr txBox="1"/>
          <p:nvPr/>
        </p:nvSpPr>
        <p:spPr>
          <a:xfrm>
            <a:off x="4432300" y="2692400"/>
            <a:ext cx="33147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Invisible work</a:t>
            </a:r>
            <a:endParaRPr lang="en-US" sz="1700"/>
          </a:p>
        </p:txBody>
      </p:sp>
      <p:sp>
        <p:nvSpPr>
          <p:cNvPr id="10" name="pain1-desc"/>
          <p:cNvSpPr txBox="1"/>
          <p:nvPr/>
        </p:nvSpPr>
        <p:spPr>
          <a:xfrm>
            <a:off x="4432300" y="3124200"/>
            <a:ext cx="33147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Nobody can see how long a process actually takes, so nothing gets measured — and nothing gets fixed.</a:t>
            </a:r>
            <a:endParaRPr lang="en-US" sz="1300"/>
          </a:p>
        </p:txBody>
      </p:sp>
      <p:sp>
        <p:nvSpPr>
          <p:cNvPr id="11" name="pain2-marker"/>
          <p:cNvSpPr/>
          <p:nvPr/>
        </p:nvSpPr>
        <p:spPr>
          <a:xfrm>
            <a:off x="8051800" y="2362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2" name="pain2-title"/>
          <p:cNvSpPr txBox="1"/>
          <p:nvPr/>
        </p:nvSpPr>
        <p:spPr>
          <a:xfrm>
            <a:off x="8051800" y="2692400"/>
            <a:ext cx="33147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Re-keying errors</a:t>
            </a:r>
            <a:endParaRPr lang="en-US" sz="1700"/>
          </a:p>
        </p:txBody>
      </p:sp>
      <p:sp>
        <p:nvSpPr>
          <p:cNvPr id="13" name="pain2-desc"/>
          <p:cNvSpPr txBox="1"/>
          <p:nvPr/>
        </p:nvSpPr>
        <p:spPr>
          <a:xfrm>
            <a:off x="8051800" y="3124200"/>
            <a:ext cx="33147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The same data is typed into three systems. Errors compound quietly until they surface as billing disputes or missed SLAs.</a:t>
            </a:r>
            <a:endParaRPr lang="en-US" sz="1300"/>
          </a:p>
        </p:txBody>
      </p:sp>
      <p:sp>
        <p:nvSpPr>
          <p:cNvPr id="14" name="callout-bar"/>
          <p:cNvSpPr/>
          <p:nvPr/>
        </p:nvSpPr>
        <p:spPr>
          <a:xfrm>
            <a:off x="812800" y="5080000"/>
            <a:ext cx="10566400" cy="254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15" name="callout"/>
          <p:cNvSpPr txBox="1"/>
          <p:nvPr/>
        </p:nvSpPr>
        <p:spPr>
          <a:xfrm>
            <a:off x="812800" y="53340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600">
                <a:solidFill>
                  <a:srgbClr val="1A1A1A"/>
                </a:solidFill>
                <a:latin typeface="Liter"/>
                <a:ea typeface="Liter"/>
              </a:rPr>
              <a:t>The result: operations scale by </a:t>
            </a: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adding headcount, not leverage</a:t>
            </a:r>
            <a:r>
              <a:rPr lang="en-US" sz="1600">
                <a:solidFill>
                  <a:srgbClr val="1A1A1A"/>
                </a:solidFill>
                <a:latin typeface="Liter"/>
                <a:ea typeface="Liter"/>
              </a:rPr>
              <a:t>. Every new customer means more manual work — </a:t>
            </a:r>
            <a:r>
              <a:rPr lang="en-US" sz="1600" b="1">
                <a:solidFill>
                  <a:srgbClr val="FF6B00"/>
                </a:solidFill>
                <a:latin typeface="Liter"/>
                <a:ea typeface="Liter"/>
              </a:rPr>
              <a:t>margins get worse as revenue grows.</a:t>
            </a:r>
            <a:endParaRPr lang="en-US" sz="1600"/>
          </a:p>
        </p:txBody>
      </p:sp>
      <p:sp>
        <p:nvSpPr>
          <p:cNvPr id="16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04 / 40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PROBLEM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Manual operations are a hidden tax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card0"/>
          <p:cNvSpPr/>
          <p:nvPr/>
        </p:nvSpPr>
        <p:spPr>
          <a:xfrm>
            <a:off x="812800" y="2260600"/>
            <a:ext cx="3314700" cy="299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card0-num"/>
          <p:cNvSpPr txBox="1"/>
          <p:nvPr/>
        </p:nvSpPr>
        <p:spPr>
          <a:xfrm>
            <a:off x="1117600" y="2616200"/>
            <a:ext cx="27051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b="1">
                <a:solidFill>
                  <a:srgbClr val="FF6B00"/>
                </a:solidFill>
                <a:latin typeface="Liter"/>
                <a:ea typeface="Liter"/>
              </a:rPr>
              <a:t>4.2h</a:t>
            </a:r>
            <a:endParaRPr lang="en-US" sz="4600"/>
          </a:p>
        </p:txBody>
      </p:sp>
      <p:sp>
        <p:nvSpPr>
          <p:cNvPr id="7" name="card0-label"/>
          <p:cNvSpPr txBox="1"/>
          <p:nvPr/>
        </p:nvSpPr>
        <p:spPr>
          <a:xfrm>
            <a:off x="1117600" y="358140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Lost every day per operations team to manual handoffs and re-keying</a:t>
            </a:r>
            <a:endParaRPr lang="en-US" sz="1400"/>
          </a:p>
        </p:txBody>
      </p:sp>
      <p:sp>
        <p:nvSpPr>
          <p:cNvPr id="8" name="card1"/>
          <p:cNvSpPr/>
          <p:nvPr/>
        </p:nvSpPr>
        <p:spPr>
          <a:xfrm>
            <a:off x="4432300" y="2260600"/>
            <a:ext cx="3314700" cy="299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9" name="card1-num"/>
          <p:cNvSpPr txBox="1"/>
          <p:nvPr/>
        </p:nvSpPr>
        <p:spPr>
          <a:xfrm>
            <a:off x="4737100" y="2616200"/>
            <a:ext cx="27051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b="1">
                <a:solidFill>
                  <a:srgbClr val="FF6B00"/>
                </a:solidFill>
                <a:latin typeface="Liter"/>
                <a:ea typeface="Liter"/>
              </a:rPr>
              <a:t>63%</a:t>
            </a:r>
            <a:endParaRPr lang="en-US" sz="4600"/>
          </a:p>
        </p:txBody>
      </p:sp>
      <p:sp>
        <p:nvSpPr>
          <p:cNvPr id="10" name="card1-label"/>
          <p:cNvSpPr txBox="1"/>
          <p:nvPr/>
        </p:nvSpPr>
        <p:spPr>
          <a:xfrm>
            <a:off x="4737100" y="358140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Of recurring ops workflows are still executed fully by hand</a:t>
            </a:r>
            <a:endParaRPr lang="en-US" sz="1400"/>
          </a:p>
        </p:txBody>
      </p:sp>
      <p:sp>
        <p:nvSpPr>
          <p:cNvPr id="11" name="card2"/>
          <p:cNvSpPr/>
          <p:nvPr/>
        </p:nvSpPr>
        <p:spPr>
          <a:xfrm>
            <a:off x="8051800" y="2260600"/>
            <a:ext cx="3314700" cy="299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card2-num"/>
          <p:cNvSpPr txBox="1"/>
          <p:nvPr/>
        </p:nvSpPr>
        <p:spPr>
          <a:xfrm>
            <a:off x="8356600" y="2616200"/>
            <a:ext cx="27051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600" b="1">
                <a:solidFill>
                  <a:srgbClr val="FF6B00"/>
                </a:solidFill>
                <a:latin typeface="Liter"/>
                <a:ea typeface="Liter"/>
              </a:rPr>
              <a:t>$38k</a:t>
            </a:r>
            <a:endParaRPr lang="en-US" sz="4600"/>
          </a:p>
        </p:txBody>
      </p:sp>
      <p:sp>
        <p:nvSpPr>
          <p:cNvPr id="13" name="card2-label"/>
          <p:cNvSpPr txBox="1"/>
          <p:nvPr/>
        </p:nvSpPr>
        <p:spPr>
          <a:xfrm>
            <a:off x="8356600" y="358140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Average annual cost per team in lost productivity and rework</a:t>
            </a:r>
            <a:endParaRPr lang="en-US" sz="1400"/>
          </a:p>
        </p:txBody>
      </p:sp>
      <p:sp>
        <p:nvSpPr>
          <p:cNvPr id="14" name="footnote"/>
          <p:cNvSpPr txBox="1"/>
          <p:nvPr/>
        </p:nvSpPr>
        <p:spPr>
          <a:xfrm>
            <a:off x="812800" y="5638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figures from Northwind discovery interviews with 42 ops teams, 2025.</a:t>
            </a:r>
            <a:endParaRPr lang="en-US" sz="1100"/>
          </a:p>
        </p:txBody>
      </p:sp>
      <p:sp>
        <p:nvSpPr>
          <p:cNvPr id="15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05 / 40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PROBLEM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The cost of the status quo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lead"/>
          <p:cNvSpPr txBox="1"/>
          <p:nvPr/>
        </p:nvSpPr>
        <p:spPr>
          <a:xfrm>
            <a:off x="812800" y="20066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5B6472"/>
                </a:solidFill>
                <a:latin typeface="Liter"/>
                <a:ea typeface="Liter"/>
              </a:rPr>
              <a:t>What manual operations really cost a mid-size team every year.</a:t>
            </a:r>
            <a:endParaRPr lang="en-US" sz="1500"/>
          </a:p>
        </p:txBody>
      </p:sp>
      <p:graphicFrame>
        <p:nvGraphicFramePr>
          <p:cNvPr id="6" name="cost-table"/>
          <p:cNvGraphicFramePr>
            <a:graphicFrameLocks noGrp="1"/>
          </p:cNvGraphicFramePr>
          <p:nvPr/>
        </p:nvGraphicFramePr>
        <p:xfrm>
          <a:off x="812800" y="2489200"/>
          <a:ext cx="10566400" cy="3200400"/>
        </p:xfrm>
        <a:graphic>
          <a:graphicData uri="http://schemas.openxmlformats.org/drawingml/2006/table">
            <a:tbl>
              <a:tblPr/>
              <a:tblGrid>
                <a:gridCol w="4226560"/>
                <a:gridCol w="3169920"/>
                <a:gridCol w="3169920"/>
              </a:tblGrid>
              <a:tr h="6400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COST DRIVER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PER TEAM / YEAR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PER 10 TEAMS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Re-keying data between systems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$14,200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$142,000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Chasing status across tools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$11,600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$116,000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Rework from handoff errors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$8,900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$89,000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Audit and compliance prep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$3,300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$33,000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otal-callout"/>
          <p:cNvSpPr txBox="1"/>
          <p:nvPr/>
        </p:nvSpPr>
        <p:spPr>
          <a:xfrm>
            <a:off x="812800" y="5918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Total: </a:t>
            </a: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$38k per team, every year</a:t>
            </a: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 — before counting lost deals and churn.</a:t>
            </a:r>
            <a:endParaRPr lang="en-US" sz="1500"/>
          </a:p>
        </p:txBody>
      </p:sp>
      <p:sp>
        <p:nvSpPr>
          <p:cNvPr id="8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06 / 40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PROBLEM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Who feels the pain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p0-card"/>
          <p:cNvSpPr/>
          <p:nvPr/>
        </p:nvSpPr>
        <p:spPr>
          <a:xfrm>
            <a:off x="812800" y="2184400"/>
            <a:ext cx="5181600" cy="375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p0-mono"/>
          <p:cNvSpPr/>
          <p:nvPr/>
        </p:nvSpPr>
        <p:spPr>
          <a:xfrm>
            <a:off x="1117600" y="2489200"/>
            <a:ext cx="558800" cy="55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7" name="p0-mono-txt"/>
          <p:cNvSpPr txBox="1"/>
          <p:nvPr/>
        </p:nvSpPr>
        <p:spPr>
          <a:xfrm>
            <a:off x="1117600" y="2489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MK</a:t>
            </a:r>
            <a:endParaRPr lang="en-US" sz="1500"/>
          </a:p>
        </p:txBody>
      </p:sp>
      <p:sp>
        <p:nvSpPr>
          <p:cNvPr id="8" name="p0-name"/>
          <p:cNvSpPr txBox="1"/>
          <p:nvPr/>
        </p:nvSpPr>
        <p:spPr>
          <a:xfrm>
            <a:off x="1879600" y="2540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Maya K. — Ops Manager</a:t>
            </a:r>
            <a:endParaRPr lang="en-US" sz="1600"/>
          </a:p>
        </p:txBody>
      </p:sp>
      <p:sp>
        <p:nvSpPr>
          <p:cNvPr id="9" name="p0-sub"/>
          <p:cNvSpPr txBox="1"/>
          <p:nvPr/>
        </p:nvSpPr>
        <p:spPr>
          <a:xfrm>
            <a:off x="1879600" y="284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Series B fintech, team of 9</a:t>
            </a:r>
            <a:endParaRPr lang="en-US" sz="1100"/>
          </a:p>
        </p:txBody>
      </p:sp>
      <p:sp>
        <p:nvSpPr>
          <p:cNvPr id="10" name="p0-divider"/>
          <p:cNvSpPr/>
          <p:nvPr/>
        </p:nvSpPr>
        <p:spPr>
          <a:xfrm>
            <a:off x="1117600" y="3378200"/>
            <a:ext cx="4572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1" name="p0-pain0-marker"/>
          <p:cNvSpPr/>
          <p:nvPr/>
        </p:nvSpPr>
        <p:spPr>
          <a:xfrm>
            <a:off x="1117600" y="37084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2" name="p0-pain0"/>
          <p:cNvSpPr txBox="1"/>
          <p:nvPr/>
        </p:nvSpPr>
        <p:spPr>
          <a:xfrm>
            <a:off x="1397000" y="3606800"/>
            <a:ext cx="426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Spends Mondays reconciling three systems by hand</a:t>
            </a:r>
            <a:endParaRPr lang="en-US" sz="1200"/>
          </a:p>
        </p:txBody>
      </p:sp>
      <p:sp>
        <p:nvSpPr>
          <p:cNvPr id="13" name="p0-pain1-marker"/>
          <p:cNvSpPr/>
          <p:nvPr/>
        </p:nvSpPr>
        <p:spPr>
          <a:xfrm>
            <a:off x="1117600" y="4292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4" name="p0-pain1"/>
          <p:cNvSpPr txBox="1"/>
          <p:nvPr/>
        </p:nvSpPr>
        <p:spPr>
          <a:xfrm>
            <a:off x="1397000" y="4191000"/>
            <a:ext cx="4267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Can't answer 'where is this request?' without asking around</a:t>
            </a:r>
            <a:endParaRPr lang="en-US" sz="1200"/>
          </a:p>
        </p:txBody>
      </p:sp>
      <p:sp>
        <p:nvSpPr>
          <p:cNvPr id="15" name="p0-pain2-marker"/>
          <p:cNvSpPr/>
          <p:nvPr/>
        </p:nvSpPr>
        <p:spPr>
          <a:xfrm>
            <a:off x="1117600" y="4876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6" name="p0-pain2"/>
          <p:cNvSpPr txBox="1"/>
          <p:nvPr/>
        </p:nvSpPr>
        <p:spPr>
          <a:xfrm>
            <a:off x="1397000" y="4775200"/>
            <a:ext cx="426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Audit prep eats two full weeks every quarter</a:t>
            </a:r>
            <a:endParaRPr lang="en-US" sz="1200"/>
          </a:p>
        </p:txBody>
      </p:sp>
      <p:sp>
        <p:nvSpPr>
          <p:cNvPr id="17" name="p1-card"/>
          <p:cNvSpPr/>
          <p:nvPr/>
        </p:nvSpPr>
        <p:spPr>
          <a:xfrm>
            <a:off x="6197600" y="2184400"/>
            <a:ext cx="5181600" cy="375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8" name="p1-mono"/>
          <p:cNvSpPr/>
          <p:nvPr/>
        </p:nvSpPr>
        <p:spPr>
          <a:xfrm>
            <a:off x="6502400" y="2489200"/>
            <a:ext cx="558800" cy="55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9" name="p1-mono-txt"/>
          <p:cNvSpPr txBox="1"/>
          <p:nvPr/>
        </p:nvSpPr>
        <p:spPr>
          <a:xfrm>
            <a:off x="6502400" y="2489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DR</a:t>
            </a:r>
            <a:endParaRPr lang="en-US" sz="1500"/>
          </a:p>
        </p:txBody>
      </p:sp>
      <p:sp>
        <p:nvSpPr>
          <p:cNvPr id="20" name="p1-name"/>
          <p:cNvSpPr txBox="1"/>
          <p:nvPr/>
        </p:nvSpPr>
        <p:spPr>
          <a:xfrm>
            <a:off x="7264400" y="2540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Daniel R. — RevOps Lead</a:t>
            </a:r>
            <a:endParaRPr lang="en-US" sz="1600"/>
          </a:p>
        </p:txBody>
      </p:sp>
      <p:sp>
        <p:nvSpPr>
          <p:cNvPr id="21" name="p1-sub"/>
          <p:cNvSpPr txBox="1"/>
          <p:nvPr/>
        </p:nvSpPr>
        <p:spPr>
          <a:xfrm>
            <a:off x="7264400" y="284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B2B marketplace, team of 14</a:t>
            </a:r>
            <a:endParaRPr lang="en-US" sz="1100"/>
          </a:p>
        </p:txBody>
      </p:sp>
      <p:sp>
        <p:nvSpPr>
          <p:cNvPr id="22" name="p1-divider"/>
          <p:cNvSpPr/>
          <p:nvPr/>
        </p:nvSpPr>
        <p:spPr>
          <a:xfrm>
            <a:off x="6502400" y="3378200"/>
            <a:ext cx="45720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23" name="p1-pain0-marker"/>
          <p:cNvSpPr/>
          <p:nvPr/>
        </p:nvSpPr>
        <p:spPr>
          <a:xfrm>
            <a:off x="6502400" y="37084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4" name="p1-pain0"/>
          <p:cNvSpPr txBox="1"/>
          <p:nvPr/>
        </p:nvSpPr>
        <p:spPr>
          <a:xfrm>
            <a:off x="6781800" y="3606800"/>
            <a:ext cx="4267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Owns 40+ recurring processes documented in scattered docs</a:t>
            </a:r>
            <a:endParaRPr lang="en-US" sz="1200"/>
          </a:p>
        </p:txBody>
      </p:sp>
      <p:sp>
        <p:nvSpPr>
          <p:cNvPr id="25" name="p1-pain1-marker"/>
          <p:cNvSpPr/>
          <p:nvPr/>
        </p:nvSpPr>
        <p:spPr>
          <a:xfrm>
            <a:off x="6502400" y="4292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6" name="p1-pain1"/>
          <p:cNvSpPr txBox="1"/>
          <p:nvPr/>
        </p:nvSpPr>
        <p:spPr>
          <a:xfrm>
            <a:off x="6781800" y="4191000"/>
            <a:ext cx="426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New hires take 6 weeks to run workflows unsupervised</a:t>
            </a:r>
            <a:endParaRPr lang="en-US" sz="1200"/>
          </a:p>
        </p:txBody>
      </p:sp>
      <p:sp>
        <p:nvSpPr>
          <p:cNvPr id="27" name="p1-pain2-marker"/>
          <p:cNvSpPr/>
          <p:nvPr/>
        </p:nvSpPr>
        <p:spPr>
          <a:xfrm>
            <a:off x="6502400" y="4876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8" name="p1-pain2"/>
          <p:cNvSpPr txBox="1"/>
          <p:nvPr/>
        </p:nvSpPr>
        <p:spPr>
          <a:xfrm>
            <a:off x="6781800" y="4775200"/>
            <a:ext cx="4267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Tool stack grew 3× in two years; nothing talks to anything</a:t>
            </a:r>
            <a:endParaRPr lang="en-US" sz="1200"/>
          </a:p>
        </p:txBody>
      </p:sp>
      <p:sp>
        <p:nvSpPr>
          <p:cNvPr id="29" name="footnote"/>
          <p:cNvSpPr txBox="1"/>
          <p:nvPr/>
        </p:nvSpPr>
        <p:spPr>
          <a:xfrm>
            <a:off x="812800" y="6172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Composite personas drawn from Northwind discovery interviews, 2025.</a:t>
            </a:r>
            <a:endParaRPr lang="en-US" sz="1100"/>
          </a:p>
        </p:txBody>
      </p:sp>
      <p:sp>
        <p:nvSpPr>
          <p:cNvPr id="30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07 / 40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02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The Market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A large, underserved category</a:t>
            </a:r>
            <a:endParaRPr lang="en-US" sz="15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MARKET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A large, expanding market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mkt0-bar"/>
          <p:cNvSpPr/>
          <p:nvPr/>
        </p:nvSpPr>
        <p:spPr>
          <a:xfrm>
            <a:off x="812800" y="2260600"/>
            <a:ext cx="10566400" cy="863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6" name="mkt0-tag"/>
          <p:cNvSpPr txBox="1"/>
          <p:nvPr/>
        </p:nvSpPr>
        <p:spPr>
          <a:xfrm>
            <a:off x="1117600" y="2362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FFFFFF"/>
                </a:solidFill>
                <a:latin typeface="Liter"/>
                <a:ea typeface="Liter"/>
              </a:rPr>
              <a:t>TAM</a:t>
            </a:r>
            <a:endParaRPr lang="en-US" sz="1200"/>
          </a:p>
        </p:txBody>
      </p:sp>
      <p:sp>
        <p:nvSpPr>
          <p:cNvPr id="7" name="mkt0-val"/>
          <p:cNvSpPr txBox="1"/>
          <p:nvPr/>
        </p:nvSpPr>
        <p:spPr>
          <a:xfrm>
            <a:off x="1117600" y="26416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FFFFFF"/>
                </a:solidFill>
                <a:latin typeface="Liter"/>
                <a:ea typeface="Liter"/>
              </a:rPr>
              <a:t>$42B</a:t>
            </a:r>
            <a:endParaRPr lang="en-US" sz="2400"/>
          </a:p>
        </p:txBody>
      </p:sp>
      <p:sp>
        <p:nvSpPr>
          <p:cNvPr id="8" name="mkt1-bar"/>
          <p:cNvSpPr/>
          <p:nvPr/>
        </p:nvSpPr>
        <p:spPr>
          <a:xfrm>
            <a:off x="812800" y="3429000"/>
            <a:ext cx="7112000" cy="8636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9" name="mkt1-tag"/>
          <p:cNvSpPr txBox="1"/>
          <p:nvPr/>
        </p:nvSpPr>
        <p:spPr>
          <a:xfrm>
            <a:off x="1117600" y="3530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FFFFFF"/>
                </a:solidFill>
                <a:latin typeface="Liter"/>
                <a:ea typeface="Liter"/>
              </a:rPr>
              <a:t>SAM</a:t>
            </a:r>
            <a:endParaRPr lang="en-US" sz="1200"/>
          </a:p>
        </p:txBody>
      </p:sp>
      <p:sp>
        <p:nvSpPr>
          <p:cNvPr id="10" name="mkt1-val"/>
          <p:cNvSpPr txBox="1"/>
          <p:nvPr/>
        </p:nvSpPr>
        <p:spPr>
          <a:xfrm>
            <a:off x="1117600" y="3810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FFFFFF"/>
                </a:solidFill>
                <a:latin typeface="Liter"/>
                <a:ea typeface="Liter"/>
              </a:rPr>
              <a:t>$8.5B</a:t>
            </a:r>
            <a:endParaRPr lang="en-US" sz="2400"/>
          </a:p>
        </p:txBody>
      </p:sp>
      <p:sp>
        <p:nvSpPr>
          <p:cNvPr id="11" name="mkt2-bar"/>
          <p:cNvSpPr/>
          <p:nvPr/>
        </p:nvSpPr>
        <p:spPr>
          <a:xfrm>
            <a:off x="812800" y="4597400"/>
            <a:ext cx="38100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mkt2-tag"/>
          <p:cNvSpPr txBox="1"/>
          <p:nvPr/>
        </p:nvSpPr>
        <p:spPr>
          <a:xfrm>
            <a:off x="1117600" y="4699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1A1A1A"/>
                </a:solidFill>
                <a:latin typeface="Liter"/>
                <a:ea typeface="Liter"/>
              </a:rPr>
              <a:t>SOM</a:t>
            </a:r>
            <a:endParaRPr lang="en-US" sz="1200"/>
          </a:p>
        </p:txBody>
      </p:sp>
      <p:sp>
        <p:nvSpPr>
          <p:cNvPr id="13" name="mkt2-val"/>
          <p:cNvSpPr txBox="1"/>
          <p:nvPr/>
        </p:nvSpPr>
        <p:spPr>
          <a:xfrm>
            <a:off x="1117600" y="49784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1A1A1A"/>
                </a:solidFill>
                <a:latin typeface="Liter"/>
                <a:ea typeface="Liter"/>
              </a:rPr>
              <a:t>$640M</a:t>
            </a:r>
            <a:endParaRPr lang="en-US" sz="2400"/>
          </a:p>
        </p:txBody>
      </p:sp>
      <p:sp>
        <p:nvSpPr>
          <p:cNvPr id="14" name="d1"/>
          <p:cNvSpPr txBox="1"/>
          <p:nvPr/>
        </p:nvSpPr>
        <p:spPr>
          <a:xfrm>
            <a:off x="812800" y="31750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Global operations software spend, 2026</a:t>
            </a:r>
            <a:endParaRPr lang="en-US" sz="1100"/>
          </a:p>
        </p:txBody>
      </p:sp>
      <p:sp>
        <p:nvSpPr>
          <p:cNvPr id="15" name="d2"/>
          <p:cNvSpPr txBox="1"/>
          <p:nvPr/>
        </p:nvSpPr>
        <p:spPr>
          <a:xfrm>
            <a:off x="812800" y="4343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Workflow automation for mid-market operations teams</a:t>
            </a:r>
            <a:endParaRPr lang="en-US" sz="1100"/>
          </a:p>
        </p:txBody>
      </p:sp>
      <p:sp>
        <p:nvSpPr>
          <p:cNvPr id="16" name="d3"/>
          <p:cNvSpPr txBox="1"/>
          <p:nvPr/>
        </p:nvSpPr>
        <p:spPr>
          <a:xfrm>
            <a:off x="812800" y="55118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Segment Northwind can realistically serve within three years</a:t>
            </a:r>
            <a:endParaRPr lang="en-US" sz="1100"/>
          </a:p>
        </p:txBody>
      </p:sp>
      <p:sp>
        <p:nvSpPr>
          <p:cNvPr id="17" name="footnote"/>
          <p:cNvSpPr txBox="1"/>
          <p:nvPr/>
        </p:nvSpPr>
        <p:spPr>
          <a:xfrm>
            <a:off x="812800" y="5918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market sizing built from bottom-up account counts and seat pricing.</a:t>
            </a:r>
            <a:endParaRPr lang="en-US" sz="1100"/>
          </a:p>
        </p:txBody>
      </p:sp>
      <p:sp>
        <p:nvSpPr>
          <p:cNvPr id="18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09 / 40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MARKET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Three trends working in our favor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tr0-num"/>
          <p:cNvSpPr txBox="1"/>
          <p:nvPr/>
        </p:nvSpPr>
        <p:spPr>
          <a:xfrm>
            <a:off x="812800" y="22606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FF6B00"/>
                </a:solidFill>
                <a:latin typeface="Liter"/>
                <a:ea typeface="Liter"/>
              </a:rPr>
              <a:t>01</a:t>
            </a:r>
            <a:endParaRPr lang="en-US" sz="3000"/>
          </a:p>
        </p:txBody>
      </p:sp>
      <p:sp>
        <p:nvSpPr>
          <p:cNvPr id="6" name="tr0-title"/>
          <p:cNvSpPr txBox="1"/>
          <p:nvPr/>
        </p:nvSpPr>
        <p:spPr>
          <a:xfrm>
            <a:off x="1727200" y="22606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Ops tooling consolidation</a:t>
            </a:r>
            <a:endParaRPr lang="en-US" sz="1800"/>
          </a:p>
        </p:txBody>
      </p:sp>
      <p:sp>
        <p:nvSpPr>
          <p:cNvPr id="7" name="tr0-desc"/>
          <p:cNvSpPr txBox="1"/>
          <p:nvPr/>
        </p:nvSpPr>
        <p:spPr>
          <a:xfrm>
            <a:off x="1727200" y="2667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Teams are cutting 10–15 point tools down to a few platforms. Budgets move from apps to systems of action.</a:t>
            </a:r>
            <a:endParaRPr lang="en-US" sz="1300"/>
          </a:p>
        </p:txBody>
      </p:sp>
      <p:sp>
        <p:nvSpPr>
          <p:cNvPr id="8" name="tr0-sep"/>
          <p:cNvSpPr/>
          <p:nvPr/>
        </p:nvSpPr>
        <p:spPr>
          <a:xfrm>
            <a:off x="812800" y="3251200"/>
            <a:ext cx="105664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9" name="tr1-num"/>
          <p:cNvSpPr txBox="1"/>
          <p:nvPr/>
        </p:nvSpPr>
        <p:spPr>
          <a:xfrm>
            <a:off x="812800" y="34798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FF6B00"/>
                </a:solidFill>
                <a:latin typeface="Liter"/>
                <a:ea typeface="Liter"/>
              </a:rPr>
              <a:t>02</a:t>
            </a:r>
            <a:endParaRPr lang="en-US" sz="3000"/>
          </a:p>
        </p:txBody>
      </p:sp>
      <p:sp>
        <p:nvSpPr>
          <p:cNvPr id="10" name="tr1-title"/>
          <p:cNvSpPr txBox="1"/>
          <p:nvPr/>
        </p:nvSpPr>
        <p:spPr>
          <a:xfrm>
            <a:off x="1727200" y="34798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AI moved from demo to duty</a:t>
            </a:r>
            <a:endParaRPr lang="en-US" sz="1800"/>
          </a:p>
        </p:txBody>
      </p:sp>
      <p:sp>
        <p:nvSpPr>
          <p:cNvPr id="11" name="tr1-desc"/>
          <p:cNvSpPr txBox="1"/>
          <p:nvPr/>
        </p:nvSpPr>
        <p:spPr>
          <a:xfrm>
            <a:off x="1727200" y="38862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Buyers now expect automation to do real work, not generate suggestions. Reliability and auditability became the bar.</a:t>
            </a:r>
            <a:endParaRPr lang="en-US" sz="1300"/>
          </a:p>
        </p:txBody>
      </p:sp>
      <p:sp>
        <p:nvSpPr>
          <p:cNvPr id="12" name="tr1-sep"/>
          <p:cNvSpPr/>
          <p:nvPr/>
        </p:nvSpPr>
        <p:spPr>
          <a:xfrm>
            <a:off x="812800" y="4470400"/>
            <a:ext cx="105664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13" name="tr2-num"/>
          <p:cNvSpPr txBox="1"/>
          <p:nvPr/>
        </p:nvSpPr>
        <p:spPr>
          <a:xfrm>
            <a:off x="812800" y="46990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FF6B00"/>
                </a:solidFill>
                <a:latin typeface="Liter"/>
                <a:ea typeface="Liter"/>
              </a:rPr>
              <a:t>03</a:t>
            </a:r>
            <a:endParaRPr lang="en-US" sz="3000"/>
          </a:p>
        </p:txBody>
      </p:sp>
      <p:sp>
        <p:nvSpPr>
          <p:cNvPr id="14" name="tr2-title"/>
          <p:cNvSpPr txBox="1"/>
          <p:nvPr/>
        </p:nvSpPr>
        <p:spPr>
          <a:xfrm>
            <a:off x="1727200" y="4699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Compliance went mainstream</a:t>
            </a:r>
            <a:endParaRPr lang="en-US" sz="1800"/>
          </a:p>
        </p:txBody>
      </p:sp>
      <p:sp>
        <p:nvSpPr>
          <p:cNvPr id="15" name="tr2-desc"/>
          <p:cNvSpPr txBox="1"/>
          <p:nvPr/>
        </p:nvSpPr>
        <p:spPr>
          <a:xfrm>
            <a:off x="1727200" y="51054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SOC2 and GDPR demands used to be enterprise-only. Now a 50-person vendor gets the same security questionnaire.</a:t>
            </a:r>
            <a:endParaRPr lang="en-US" sz="1300"/>
          </a:p>
        </p:txBody>
      </p:sp>
      <p:sp>
        <p:nvSpPr>
          <p:cNvPr id="16" name="tr2-sep"/>
          <p:cNvSpPr/>
          <p:nvPr/>
        </p:nvSpPr>
        <p:spPr>
          <a:xfrm>
            <a:off x="812800" y="5689600"/>
            <a:ext cx="105664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17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10 / 40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MARKET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Why now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wn0-rule"/>
          <p:cNvSpPr/>
          <p:nvPr/>
        </p:nvSpPr>
        <p:spPr>
          <a:xfrm>
            <a:off x="812800" y="2362200"/>
            <a:ext cx="508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wn0-title"/>
          <p:cNvSpPr txBox="1"/>
          <p:nvPr/>
        </p:nvSpPr>
        <p:spPr>
          <a:xfrm>
            <a:off x="812800" y="2590800"/>
            <a:ext cx="33147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The integration layer is solved</a:t>
            </a:r>
            <a:endParaRPr lang="en-US" sz="1700"/>
          </a:p>
        </p:txBody>
      </p:sp>
      <p:sp>
        <p:nvSpPr>
          <p:cNvPr id="7" name="wn0-desc"/>
          <p:cNvSpPr txBox="1"/>
          <p:nvPr/>
        </p:nvSpPr>
        <p:spPr>
          <a:xfrm>
            <a:off x="812800" y="3327400"/>
            <a:ext cx="33147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Modern APIs and iPaaS plumbing mean a small team can now connect the entire mid-market stack — impossible five years ago.</a:t>
            </a:r>
            <a:endParaRPr lang="en-US" sz="1300"/>
          </a:p>
        </p:txBody>
      </p:sp>
      <p:sp>
        <p:nvSpPr>
          <p:cNvPr id="8" name="wn1-rule"/>
          <p:cNvSpPr/>
          <p:nvPr/>
        </p:nvSpPr>
        <p:spPr>
          <a:xfrm>
            <a:off x="4432300" y="2362200"/>
            <a:ext cx="508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9" name="wn1-title"/>
          <p:cNvSpPr txBox="1"/>
          <p:nvPr/>
        </p:nvSpPr>
        <p:spPr>
          <a:xfrm>
            <a:off x="4432300" y="2590800"/>
            <a:ext cx="33147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Budgets shifted to efficiency</a:t>
            </a:r>
            <a:endParaRPr lang="en-US" sz="1700"/>
          </a:p>
        </p:txBody>
      </p:sp>
      <p:sp>
        <p:nvSpPr>
          <p:cNvPr id="10" name="wn1-desc"/>
          <p:cNvSpPr txBox="1"/>
          <p:nvPr/>
        </p:nvSpPr>
        <p:spPr>
          <a:xfrm>
            <a:off x="4432300" y="3327400"/>
            <a:ext cx="33147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Post-2023, every ops leader owns a 'do more with less' mandate. Automation is now a board-level line item, not a nice-to-have.</a:t>
            </a:r>
            <a:endParaRPr lang="en-US" sz="1300"/>
          </a:p>
        </p:txBody>
      </p:sp>
      <p:sp>
        <p:nvSpPr>
          <p:cNvPr id="11" name="wn2-rule"/>
          <p:cNvSpPr/>
          <p:nvPr/>
        </p:nvSpPr>
        <p:spPr>
          <a:xfrm>
            <a:off x="8051800" y="2362200"/>
            <a:ext cx="508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2" name="wn2-title"/>
          <p:cNvSpPr txBox="1"/>
          <p:nvPr/>
        </p:nvSpPr>
        <p:spPr>
          <a:xfrm>
            <a:off x="8051800" y="2590800"/>
            <a:ext cx="33147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Incumbents left the mid-market</a:t>
            </a:r>
            <a:endParaRPr lang="en-US" sz="1700"/>
          </a:p>
        </p:txBody>
      </p:sp>
      <p:sp>
        <p:nvSpPr>
          <p:cNvPr id="13" name="wn2-desc"/>
          <p:cNvSpPr txBox="1"/>
          <p:nvPr/>
        </p:nvSpPr>
        <p:spPr>
          <a:xfrm>
            <a:off x="8051800" y="3327400"/>
            <a:ext cx="33147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Legacy suites moved upmarket with $250k+ deals. Teams of 5–50 are underserved, over-tooled, and ready to switch.</a:t>
            </a:r>
            <a:endParaRPr lang="en-US" sz="1300"/>
          </a:p>
        </p:txBody>
      </p:sp>
      <p:sp>
        <p:nvSpPr>
          <p:cNvPr id="14" name="bottom-bar"/>
          <p:cNvSpPr/>
          <p:nvPr/>
        </p:nvSpPr>
        <p:spPr>
          <a:xfrm>
            <a:off x="812800" y="5334000"/>
            <a:ext cx="10566400" cy="7112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5" name="bottom-txt"/>
          <p:cNvSpPr txBox="1"/>
          <p:nvPr/>
        </p:nvSpPr>
        <p:spPr>
          <a:xfrm>
            <a:off x="1117600" y="5334000"/>
            <a:ext cx="9956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The window is open now. </a:t>
            </a: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Category leaders are crowned in the first 36 months.</a:t>
            </a:r>
            <a:endParaRPr lang="en-US" sz="1500"/>
          </a:p>
        </p:txBody>
      </p:sp>
      <p:sp>
        <p:nvSpPr>
          <p:cNvPr id="16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11 / 40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03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The Product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The Northwind automation platform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Run operations on autopilot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b0-marker"/>
          <p:cNvSpPr/>
          <p:nvPr/>
        </p:nvSpPr>
        <p:spPr>
          <a:xfrm>
            <a:off x="812800" y="24130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b0-text"/>
          <p:cNvSpPr txBox="1"/>
          <p:nvPr/>
        </p:nvSpPr>
        <p:spPr>
          <a:xfrm>
            <a:off x="1117600" y="23114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Visual pipeline builder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turn manual SOPs into automated workflows, no code required.</a:t>
            </a:r>
            <a:endParaRPr lang="en-US" sz="1400"/>
          </a:p>
        </p:txBody>
      </p:sp>
      <p:sp>
        <p:nvSpPr>
          <p:cNvPr id="7" name="b1-marker"/>
          <p:cNvSpPr/>
          <p:nvPr/>
        </p:nvSpPr>
        <p:spPr>
          <a:xfrm>
            <a:off x="812800" y="3276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8" name="b1-text"/>
          <p:cNvSpPr txBox="1"/>
          <p:nvPr/>
        </p:nvSpPr>
        <p:spPr>
          <a:xfrm>
            <a:off x="1117600" y="31750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200+ integrations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connect the CRM, billing, and ticketing tools your team already runs on.</a:t>
            </a:r>
            <a:endParaRPr lang="en-US" sz="1400"/>
          </a:p>
        </p:txBody>
      </p:sp>
      <p:sp>
        <p:nvSpPr>
          <p:cNvPr id="9" name="b2-marker"/>
          <p:cNvSpPr/>
          <p:nvPr/>
        </p:nvSpPr>
        <p:spPr>
          <a:xfrm>
            <a:off x="812800" y="41402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0" name="b2-text"/>
          <p:cNvSpPr txBox="1"/>
          <p:nvPr/>
        </p:nvSpPr>
        <p:spPr>
          <a:xfrm>
            <a:off x="1117600" y="40386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Human-in-the-loop controls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approvals, thresholds, and guardrails exactly where they matter.</a:t>
            </a:r>
            <a:endParaRPr lang="en-US" sz="1400"/>
          </a:p>
        </p:txBody>
      </p:sp>
      <p:sp>
        <p:nvSpPr>
          <p:cNvPr id="11" name="b3-marker"/>
          <p:cNvSpPr/>
          <p:nvPr/>
        </p:nvSpPr>
        <p:spPr>
          <a:xfrm>
            <a:off x="812800" y="5003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2" name="b3-text"/>
          <p:cNvSpPr txBox="1"/>
          <p:nvPr/>
        </p:nvSpPr>
        <p:spPr>
          <a:xfrm>
            <a:off x="1117600" y="4902200"/>
            <a:ext cx="502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Audit trail by default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— every run logged, searchable, and exportable for compliance.</a:t>
            </a:r>
            <a:endParaRPr lang="en-US" sz="1400"/>
          </a:p>
        </p:txBody>
      </p:sp>
      <p:sp>
        <p:nvSpPr>
          <p:cNvPr id="13" name="dash-frame"/>
          <p:cNvSpPr/>
          <p:nvPr/>
        </p:nvSpPr>
        <p:spPr>
          <a:xfrm>
            <a:off x="6553200" y="1905000"/>
            <a:ext cx="4826000" cy="39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14" name="dash-header"/>
          <p:cNvSpPr/>
          <p:nvPr/>
        </p:nvSpPr>
        <p:spPr>
          <a:xfrm>
            <a:off x="6553200" y="1905000"/>
            <a:ext cx="482600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5" name="dash-title"/>
          <p:cNvSpPr txBox="1"/>
          <p:nvPr/>
        </p:nvSpPr>
        <p:spPr>
          <a:xfrm>
            <a:off x="6756400" y="2006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Northwind Console</a:t>
            </a:r>
            <a:endParaRPr lang="en-US" sz="1100"/>
          </a:p>
        </p:txBody>
      </p:sp>
      <p:sp>
        <p:nvSpPr>
          <p:cNvPr id="16" name="dash-win1"/>
          <p:cNvSpPr/>
          <p:nvPr/>
        </p:nvSpPr>
        <p:spPr>
          <a:xfrm>
            <a:off x="10718800" y="2070100"/>
            <a:ext cx="127000" cy="127000"/>
          </a:xfrm>
          <a:prstGeom prst="rect">
            <a:avLst/>
          </a:prstGeom>
          <a:solidFill>
            <a:srgbClr val="3D5A85"/>
          </a:solidFill>
          <a:ln>
            <a:noFill/>
          </a:ln>
        </p:spPr>
      </p:sp>
      <p:sp>
        <p:nvSpPr>
          <p:cNvPr id="17" name="dash-win2"/>
          <p:cNvSpPr/>
          <p:nvPr/>
        </p:nvSpPr>
        <p:spPr>
          <a:xfrm>
            <a:off x="10947400" y="2070100"/>
            <a:ext cx="127000" cy="127000"/>
          </a:xfrm>
          <a:prstGeom prst="rect">
            <a:avLst/>
          </a:prstGeom>
          <a:solidFill>
            <a:srgbClr val="3D5A85"/>
          </a:solidFill>
          <a:ln>
            <a:noFill/>
          </a:ln>
        </p:spPr>
      </p:sp>
      <p:sp>
        <p:nvSpPr>
          <p:cNvPr id="18" name="dash-win3"/>
          <p:cNvSpPr/>
          <p:nvPr/>
        </p:nvSpPr>
        <p:spPr>
          <a:xfrm>
            <a:off x="11176000" y="2070100"/>
            <a:ext cx="127000" cy="1270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dash-sidebar"/>
          <p:cNvSpPr/>
          <p:nvPr/>
        </p:nvSpPr>
        <p:spPr>
          <a:xfrm>
            <a:off x="6553200" y="2362200"/>
            <a:ext cx="1092200" cy="3479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0" name="side-item1"/>
          <p:cNvSpPr/>
          <p:nvPr/>
        </p:nvSpPr>
        <p:spPr>
          <a:xfrm>
            <a:off x="6731000" y="2641600"/>
            <a:ext cx="736600" cy="1016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1" name="side-item2"/>
          <p:cNvSpPr/>
          <p:nvPr/>
        </p:nvSpPr>
        <p:spPr>
          <a:xfrm>
            <a:off x="6731000" y="2997200"/>
            <a:ext cx="736600" cy="1016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22" name="side-item3"/>
          <p:cNvSpPr/>
          <p:nvPr/>
        </p:nvSpPr>
        <p:spPr>
          <a:xfrm>
            <a:off x="6731000" y="3352800"/>
            <a:ext cx="736600" cy="1016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23" name="side-item4"/>
          <p:cNvSpPr/>
          <p:nvPr/>
        </p:nvSpPr>
        <p:spPr>
          <a:xfrm>
            <a:off x="6731000" y="3708400"/>
            <a:ext cx="736600" cy="1016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24" name="kpi0-card"/>
          <p:cNvSpPr/>
          <p:nvPr/>
        </p:nvSpPr>
        <p:spPr>
          <a:xfrm>
            <a:off x="7848600" y="2616200"/>
            <a:ext cx="1016000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5" name="kpi0-num"/>
          <p:cNvSpPr txBox="1"/>
          <p:nvPr/>
        </p:nvSpPr>
        <p:spPr>
          <a:xfrm>
            <a:off x="7950200" y="26924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12.4k</a:t>
            </a:r>
            <a:endParaRPr lang="en-US" sz="1400"/>
          </a:p>
        </p:txBody>
      </p:sp>
      <p:sp>
        <p:nvSpPr>
          <p:cNvPr id="26" name="kpi0-label"/>
          <p:cNvSpPr txBox="1"/>
          <p:nvPr/>
        </p:nvSpPr>
        <p:spPr>
          <a:xfrm>
            <a:off x="7950200" y="2971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5B6472"/>
                </a:solidFill>
                <a:latin typeface="Liter"/>
                <a:ea typeface="Liter"/>
              </a:rPr>
              <a:t>Runs / day</a:t>
            </a:r>
            <a:endParaRPr lang="en-US" sz="900"/>
          </a:p>
        </p:txBody>
      </p:sp>
      <p:sp>
        <p:nvSpPr>
          <p:cNvPr id="27" name="kpi1-card"/>
          <p:cNvSpPr/>
          <p:nvPr/>
        </p:nvSpPr>
        <p:spPr>
          <a:xfrm>
            <a:off x="8966200" y="2616200"/>
            <a:ext cx="1016000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8" name="kpi1-num"/>
          <p:cNvSpPr txBox="1"/>
          <p:nvPr/>
        </p:nvSpPr>
        <p:spPr>
          <a:xfrm>
            <a:off x="9067800" y="26924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99.2%</a:t>
            </a:r>
            <a:endParaRPr lang="en-US" sz="1400"/>
          </a:p>
        </p:txBody>
      </p:sp>
      <p:sp>
        <p:nvSpPr>
          <p:cNvPr id="29" name="kpi1-label"/>
          <p:cNvSpPr txBox="1"/>
          <p:nvPr/>
        </p:nvSpPr>
        <p:spPr>
          <a:xfrm>
            <a:off x="9067800" y="2971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5B6472"/>
                </a:solidFill>
                <a:latin typeface="Liter"/>
                <a:ea typeface="Liter"/>
              </a:rPr>
              <a:t>Success</a:t>
            </a:r>
            <a:endParaRPr lang="en-US" sz="900"/>
          </a:p>
        </p:txBody>
      </p:sp>
      <p:sp>
        <p:nvSpPr>
          <p:cNvPr id="30" name="kpi2-card"/>
          <p:cNvSpPr/>
          <p:nvPr/>
        </p:nvSpPr>
        <p:spPr>
          <a:xfrm>
            <a:off x="10083800" y="2616200"/>
            <a:ext cx="1016000" cy="6858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31" name="kpi2-num"/>
          <p:cNvSpPr txBox="1"/>
          <p:nvPr/>
        </p:nvSpPr>
        <p:spPr>
          <a:xfrm>
            <a:off x="10185400" y="26924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3.1h</a:t>
            </a:r>
            <a:endParaRPr lang="en-US" sz="1400"/>
          </a:p>
        </p:txBody>
      </p:sp>
      <p:sp>
        <p:nvSpPr>
          <p:cNvPr id="32" name="kpi2-label"/>
          <p:cNvSpPr txBox="1"/>
          <p:nvPr/>
        </p:nvSpPr>
        <p:spPr>
          <a:xfrm>
            <a:off x="10185400" y="29718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5B6472"/>
                </a:solidFill>
                <a:latin typeface="Liter"/>
                <a:ea typeface="Liter"/>
              </a:rPr>
              <a:t>Saved daily</a:t>
            </a:r>
            <a:endParaRPr lang="en-US" sz="900"/>
          </a:p>
        </p:txBody>
      </p:sp>
      <p:sp>
        <p:nvSpPr>
          <p:cNvPr id="33" name="chart-title"/>
          <p:cNvSpPr txBox="1"/>
          <p:nvPr/>
        </p:nvSpPr>
        <p:spPr>
          <a:xfrm>
            <a:off x="7848600" y="3657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1A1A1A"/>
                </a:solidFill>
                <a:latin typeface="Liter"/>
                <a:ea typeface="Liter"/>
              </a:rPr>
              <a:t>Workflow runs per week</a:t>
            </a:r>
            <a:endParaRPr lang="en-US" sz="1100"/>
          </a:p>
        </p:txBody>
      </p:sp>
      <p:sp>
        <p:nvSpPr>
          <p:cNvPr id="34" name="bar0"/>
          <p:cNvSpPr/>
          <p:nvPr/>
        </p:nvSpPr>
        <p:spPr>
          <a:xfrm>
            <a:off x="8001000" y="4826000"/>
            <a:ext cx="228600" cy="50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5" name="bar1"/>
          <p:cNvSpPr/>
          <p:nvPr/>
        </p:nvSpPr>
        <p:spPr>
          <a:xfrm>
            <a:off x="8407400" y="4572000"/>
            <a:ext cx="228600" cy="762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6" name="bar2"/>
          <p:cNvSpPr/>
          <p:nvPr/>
        </p:nvSpPr>
        <p:spPr>
          <a:xfrm>
            <a:off x="8813800" y="4699000"/>
            <a:ext cx="228600" cy="635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7" name="bar3"/>
          <p:cNvSpPr/>
          <p:nvPr/>
        </p:nvSpPr>
        <p:spPr>
          <a:xfrm>
            <a:off x="9220200" y="4254500"/>
            <a:ext cx="228600" cy="10795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8" name="bar4"/>
          <p:cNvSpPr/>
          <p:nvPr/>
        </p:nvSpPr>
        <p:spPr>
          <a:xfrm>
            <a:off x="9626600" y="4445000"/>
            <a:ext cx="228600" cy="889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9" name="bar5"/>
          <p:cNvSpPr/>
          <p:nvPr/>
        </p:nvSpPr>
        <p:spPr>
          <a:xfrm>
            <a:off x="10033000" y="3937000"/>
            <a:ext cx="228600" cy="13970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40" name="chart-axis"/>
          <p:cNvSpPr/>
          <p:nvPr/>
        </p:nvSpPr>
        <p:spPr>
          <a:xfrm>
            <a:off x="7848600" y="5334000"/>
            <a:ext cx="3251200" cy="254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41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13 / 40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How it works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st0-box"/>
          <p:cNvSpPr/>
          <p:nvPr/>
        </p:nvSpPr>
        <p:spPr>
          <a:xfrm>
            <a:off x="812800" y="2413000"/>
            <a:ext cx="3314700" cy="254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st0-num"/>
          <p:cNvSpPr/>
          <p:nvPr/>
        </p:nvSpPr>
        <p:spPr>
          <a:xfrm>
            <a:off x="1117600" y="2717800"/>
            <a:ext cx="45720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7" name="st0-num-txt"/>
          <p:cNvSpPr txBox="1"/>
          <p:nvPr/>
        </p:nvSpPr>
        <p:spPr>
          <a:xfrm>
            <a:off x="1117600" y="2717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Liter"/>
                <a:ea typeface="Liter"/>
              </a:rPr>
              <a:t>1</a:t>
            </a:r>
            <a:endParaRPr lang="en-US" sz="1600"/>
          </a:p>
        </p:txBody>
      </p:sp>
      <p:sp>
        <p:nvSpPr>
          <p:cNvPr id="8" name="st0-title"/>
          <p:cNvSpPr txBox="1"/>
          <p:nvPr/>
        </p:nvSpPr>
        <p:spPr>
          <a:xfrm>
            <a:off x="1117600" y="3378200"/>
            <a:ext cx="27051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b="1">
                <a:solidFill>
                  <a:srgbClr val="1A1A1A"/>
                </a:solidFill>
                <a:latin typeface="Liter"/>
                <a:ea typeface="Liter"/>
              </a:rPr>
              <a:t>Connect</a:t>
            </a:r>
            <a:endParaRPr lang="en-US" sz="1900"/>
          </a:p>
        </p:txBody>
      </p:sp>
      <p:sp>
        <p:nvSpPr>
          <p:cNvPr id="9" name="st0-desc"/>
          <p:cNvSpPr txBox="1"/>
          <p:nvPr/>
        </p:nvSpPr>
        <p:spPr>
          <a:xfrm>
            <a:off x="1117600" y="3835400"/>
            <a:ext cx="27051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Link your CRM, billing, ticketing, and data tools in minutes with pre-built connectors — no engineering ticket required.</a:t>
            </a:r>
            <a:endParaRPr lang="en-US" sz="1200"/>
          </a:p>
        </p:txBody>
      </p:sp>
      <p:sp>
        <p:nvSpPr>
          <p:cNvPr id="10" name="arrow0"/>
          <p:cNvSpPr/>
          <p:nvPr/>
        </p:nvSpPr>
        <p:spPr>
          <a:xfrm rot="5400000">
            <a:off x="4127500" y="3581400"/>
            <a:ext cx="304800" cy="203200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1" name="st1-box"/>
          <p:cNvSpPr/>
          <p:nvPr/>
        </p:nvSpPr>
        <p:spPr>
          <a:xfrm>
            <a:off x="4432300" y="2413000"/>
            <a:ext cx="3314700" cy="254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st1-num"/>
          <p:cNvSpPr/>
          <p:nvPr/>
        </p:nvSpPr>
        <p:spPr>
          <a:xfrm>
            <a:off x="4737100" y="2717800"/>
            <a:ext cx="45720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3" name="st1-num-txt"/>
          <p:cNvSpPr txBox="1"/>
          <p:nvPr/>
        </p:nvSpPr>
        <p:spPr>
          <a:xfrm>
            <a:off x="4737100" y="2717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Liter"/>
                <a:ea typeface="Liter"/>
              </a:rPr>
              <a:t>2</a:t>
            </a:r>
            <a:endParaRPr lang="en-US" sz="1600"/>
          </a:p>
        </p:txBody>
      </p:sp>
      <p:sp>
        <p:nvSpPr>
          <p:cNvPr id="14" name="st1-title"/>
          <p:cNvSpPr txBox="1"/>
          <p:nvPr/>
        </p:nvSpPr>
        <p:spPr>
          <a:xfrm>
            <a:off x="4737100" y="3378200"/>
            <a:ext cx="27051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b="1">
                <a:solidFill>
                  <a:srgbClr val="1A1A1A"/>
                </a:solidFill>
                <a:latin typeface="Liter"/>
                <a:ea typeface="Liter"/>
              </a:rPr>
              <a:t>Build</a:t>
            </a:r>
            <a:endParaRPr lang="en-US" sz="1900"/>
          </a:p>
        </p:txBody>
      </p:sp>
      <p:sp>
        <p:nvSpPr>
          <p:cNvPr id="15" name="st1-desc"/>
          <p:cNvSpPr txBox="1"/>
          <p:nvPr/>
        </p:nvSpPr>
        <p:spPr>
          <a:xfrm>
            <a:off x="4737100" y="3835400"/>
            <a:ext cx="27051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Drag steps onto a canvas: fetch, transform, approve, notify. Every pipeline is versioned like code.</a:t>
            </a:r>
            <a:endParaRPr lang="en-US" sz="1200"/>
          </a:p>
        </p:txBody>
      </p:sp>
      <p:sp>
        <p:nvSpPr>
          <p:cNvPr id="16" name="arrow1"/>
          <p:cNvSpPr/>
          <p:nvPr/>
        </p:nvSpPr>
        <p:spPr>
          <a:xfrm rot="5400000">
            <a:off x="7747000" y="3581400"/>
            <a:ext cx="304800" cy="203200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7" name="st2-box"/>
          <p:cNvSpPr/>
          <p:nvPr/>
        </p:nvSpPr>
        <p:spPr>
          <a:xfrm>
            <a:off x="8051800" y="2413000"/>
            <a:ext cx="3314700" cy="254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8" name="st2-num"/>
          <p:cNvSpPr/>
          <p:nvPr/>
        </p:nvSpPr>
        <p:spPr>
          <a:xfrm>
            <a:off x="8356600" y="2717800"/>
            <a:ext cx="45720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9" name="st2-num-txt"/>
          <p:cNvSpPr txBox="1"/>
          <p:nvPr/>
        </p:nvSpPr>
        <p:spPr>
          <a:xfrm>
            <a:off x="8356600" y="2717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b="1">
                <a:solidFill>
                  <a:srgbClr val="FFFFFF"/>
                </a:solidFill>
                <a:latin typeface="Liter"/>
                <a:ea typeface="Liter"/>
              </a:rPr>
              <a:t>3</a:t>
            </a:r>
            <a:endParaRPr lang="en-US" sz="1600"/>
          </a:p>
        </p:txBody>
      </p:sp>
      <p:sp>
        <p:nvSpPr>
          <p:cNvPr id="20" name="st2-title"/>
          <p:cNvSpPr txBox="1"/>
          <p:nvPr/>
        </p:nvSpPr>
        <p:spPr>
          <a:xfrm>
            <a:off x="8356600" y="3378200"/>
            <a:ext cx="27051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b="1">
                <a:solidFill>
                  <a:srgbClr val="1A1A1A"/>
                </a:solidFill>
                <a:latin typeface="Liter"/>
                <a:ea typeface="Liter"/>
              </a:rPr>
              <a:t>Automate</a:t>
            </a:r>
            <a:endParaRPr lang="en-US" sz="1900"/>
          </a:p>
        </p:txBody>
      </p:sp>
      <p:sp>
        <p:nvSpPr>
          <p:cNvPr id="21" name="st2-desc"/>
          <p:cNvSpPr txBox="1"/>
          <p:nvPr/>
        </p:nvSpPr>
        <p:spPr>
          <a:xfrm>
            <a:off x="8356600" y="3835400"/>
            <a:ext cx="27051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Run on schedule or on events. Watch runs live, get alerted on failures, and export a full audit trail.</a:t>
            </a:r>
            <a:endParaRPr lang="en-US" sz="1200"/>
          </a:p>
        </p:txBody>
      </p:sp>
      <p:sp>
        <p:nvSpPr>
          <p:cNvPr id="22" name="bottom-note"/>
          <p:cNvSpPr txBox="1"/>
          <p:nvPr/>
        </p:nvSpPr>
        <p:spPr>
          <a:xfrm>
            <a:off x="812800" y="53848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Median time from signup to first live workflow: </a:t>
            </a: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47 minutes.</a:t>
            </a:r>
            <a:endParaRPr lang="en-US" sz="1500"/>
          </a:p>
        </p:txBody>
      </p:sp>
      <p:sp>
        <p:nvSpPr>
          <p:cNvPr id="23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14 / 40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Built for operations teams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f0-card"/>
          <p:cNvSpPr/>
          <p:nvPr/>
        </p:nvSpPr>
        <p:spPr>
          <a:xfrm>
            <a:off x="812800" y="21844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f0-icon"/>
          <p:cNvSpPr/>
          <p:nvPr/>
        </p:nvSpPr>
        <p:spPr>
          <a:xfrm>
            <a:off x="1117600" y="2489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f0-title"/>
          <p:cNvSpPr txBox="1"/>
          <p:nvPr/>
        </p:nvSpPr>
        <p:spPr>
          <a:xfrm>
            <a:off x="1422400" y="24130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Visual Pipelines</a:t>
            </a:r>
            <a:endParaRPr lang="en-US" sz="1700"/>
          </a:p>
        </p:txBody>
      </p:sp>
      <p:sp>
        <p:nvSpPr>
          <p:cNvPr id="8" name="f0-desc"/>
          <p:cNvSpPr txBox="1"/>
          <p:nvPr/>
        </p:nvSpPr>
        <p:spPr>
          <a:xfrm>
            <a:off x="1117600" y="28702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Drag-and-drop builder that turns SOPs into executable workflows — no engineers required.</a:t>
            </a:r>
            <a:endParaRPr lang="en-US" sz="1300"/>
          </a:p>
        </p:txBody>
      </p:sp>
      <p:sp>
        <p:nvSpPr>
          <p:cNvPr id="9" name="f1-card"/>
          <p:cNvSpPr/>
          <p:nvPr/>
        </p:nvSpPr>
        <p:spPr>
          <a:xfrm>
            <a:off x="6197600" y="21844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0" name="f1-icon"/>
          <p:cNvSpPr/>
          <p:nvPr/>
        </p:nvSpPr>
        <p:spPr>
          <a:xfrm>
            <a:off x="6502400" y="2489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1" name="f1-title"/>
          <p:cNvSpPr txBox="1"/>
          <p:nvPr/>
        </p:nvSpPr>
        <p:spPr>
          <a:xfrm>
            <a:off x="6807200" y="24130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One-click Deploy</a:t>
            </a:r>
            <a:endParaRPr lang="en-US" sz="1700"/>
          </a:p>
        </p:txBody>
      </p:sp>
      <p:sp>
        <p:nvSpPr>
          <p:cNvPr id="12" name="f1-desc"/>
          <p:cNvSpPr txBox="1"/>
          <p:nvPr/>
        </p:nvSpPr>
        <p:spPr>
          <a:xfrm>
            <a:off x="6502400" y="28702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Ship a new workflow to production in seconds, with full versioning and instant rollback.</a:t>
            </a:r>
            <a:endParaRPr lang="en-US" sz="1300"/>
          </a:p>
        </p:txBody>
      </p:sp>
      <p:sp>
        <p:nvSpPr>
          <p:cNvPr id="13" name="f2-card"/>
          <p:cNvSpPr/>
          <p:nvPr/>
        </p:nvSpPr>
        <p:spPr>
          <a:xfrm>
            <a:off x="812800" y="41148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4" name="f2-icon"/>
          <p:cNvSpPr/>
          <p:nvPr/>
        </p:nvSpPr>
        <p:spPr>
          <a:xfrm>
            <a:off x="1117600" y="44196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5" name="f2-title"/>
          <p:cNvSpPr txBox="1"/>
          <p:nvPr/>
        </p:nvSpPr>
        <p:spPr>
          <a:xfrm>
            <a:off x="1422400" y="43434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Realtime Metrics</a:t>
            </a:r>
            <a:endParaRPr lang="en-US" sz="1700"/>
          </a:p>
        </p:txBody>
      </p:sp>
      <p:sp>
        <p:nvSpPr>
          <p:cNvPr id="16" name="f2-desc"/>
          <p:cNvSpPr txBox="1"/>
          <p:nvPr/>
        </p:nvSpPr>
        <p:spPr>
          <a:xfrm>
            <a:off x="1117600" y="48006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Live dashboards for run volume, failure rates, and hours saved — per workflow, per team.</a:t>
            </a:r>
            <a:endParaRPr lang="en-US" sz="1300"/>
          </a:p>
        </p:txBody>
      </p:sp>
      <p:sp>
        <p:nvSpPr>
          <p:cNvPr id="17" name="f3-card"/>
          <p:cNvSpPr/>
          <p:nvPr/>
        </p:nvSpPr>
        <p:spPr>
          <a:xfrm>
            <a:off x="6197600" y="4114800"/>
            <a:ext cx="5181600" cy="172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8" name="f3-icon"/>
          <p:cNvSpPr/>
          <p:nvPr/>
        </p:nvSpPr>
        <p:spPr>
          <a:xfrm>
            <a:off x="6502400" y="44196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f3-title"/>
          <p:cNvSpPr txBox="1"/>
          <p:nvPr/>
        </p:nvSpPr>
        <p:spPr>
          <a:xfrm>
            <a:off x="6807200" y="43434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rgbClr val="1A1A1A"/>
                </a:solidFill>
                <a:latin typeface="Liter"/>
                <a:ea typeface="Liter"/>
              </a:rPr>
              <a:t>SOC2 by default</a:t>
            </a:r>
            <a:endParaRPr lang="en-US" sz="1700"/>
          </a:p>
        </p:txBody>
      </p:sp>
      <p:sp>
        <p:nvSpPr>
          <p:cNvPr id="20" name="f3-desc"/>
          <p:cNvSpPr txBox="1"/>
          <p:nvPr/>
        </p:nvSpPr>
        <p:spPr>
          <a:xfrm>
            <a:off x="6502400" y="48006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Type II controls, SSO/SAML, and immutable audit logging baked into every plan.</a:t>
            </a:r>
            <a:endParaRPr lang="en-US" sz="1300"/>
          </a:p>
        </p:txBody>
      </p:sp>
      <p:sp>
        <p:nvSpPr>
          <p:cNvPr id="21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15 / 40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FEATURE 01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Visual Pipelines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dd0-marker"/>
          <p:cNvSpPr/>
          <p:nvPr/>
        </p:nvSpPr>
        <p:spPr>
          <a:xfrm>
            <a:off x="812800" y="2463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dd0-text"/>
          <p:cNvSpPr txBox="1"/>
          <p:nvPr/>
        </p:nvSpPr>
        <p:spPr>
          <a:xfrm>
            <a:off x="1117600" y="23622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Canvas, not code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ops leaders build and own their workflows directly.</a:t>
            </a:r>
            <a:endParaRPr lang="en-US" sz="1300"/>
          </a:p>
        </p:txBody>
      </p:sp>
      <p:sp>
        <p:nvSpPr>
          <p:cNvPr id="7" name="dd1-marker"/>
          <p:cNvSpPr/>
          <p:nvPr/>
        </p:nvSpPr>
        <p:spPr>
          <a:xfrm>
            <a:off x="812800" y="3276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8" name="dd1-text"/>
          <p:cNvSpPr txBox="1"/>
          <p:nvPr/>
        </p:nvSpPr>
        <p:spPr>
          <a:xfrm>
            <a:off x="1117600" y="3175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60+ step types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fetch, transform, branch, approve, notify, and call any API.</a:t>
            </a:r>
            <a:endParaRPr lang="en-US" sz="1300"/>
          </a:p>
        </p:txBody>
      </p:sp>
      <p:sp>
        <p:nvSpPr>
          <p:cNvPr id="9" name="dd2-marker"/>
          <p:cNvSpPr/>
          <p:nvPr/>
        </p:nvSpPr>
        <p:spPr>
          <a:xfrm>
            <a:off x="812800" y="40894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0" name="dd2-text"/>
          <p:cNvSpPr txBox="1"/>
          <p:nvPr/>
        </p:nvSpPr>
        <p:spPr>
          <a:xfrm>
            <a:off x="1117600" y="39878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Versioned like software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every change tracked; diff, review, and roll back safely.</a:t>
            </a:r>
            <a:endParaRPr lang="en-US" sz="1300"/>
          </a:p>
        </p:txBody>
      </p:sp>
      <p:sp>
        <p:nvSpPr>
          <p:cNvPr id="11" name="stat-card"/>
          <p:cNvSpPr/>
          <p:nvPr/>
        </p:nvSpPr>
        <p:spPr>
          <a:xfrm>
            <a:off x="812800" y="5384800"/>
            <a:ext cx="5130800" cy="787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2" name="stat-num"/>
          <p:cNvSpPr txBox="1"/>
          <p:nvPr/>
        </p:nvSpPr>
        <p:spPr>
          <a:xfrm>
            <a:off x="1117600" y="5384800"/>
            <a:ext cx="165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6B00"/>
                </a:solidFill>
                <a:latin typeface="Liter"/>
                <a:ea typeface="Liter"/>
              </a:rPr>
              <a:t>60+</a:t>
            </a:r>
            <a:endParaRPr lang="en-US" sz="2800"/>
          </a:p>
        </p:txBody>
      </p:sp>
      <p:sp>
        <p:nvSpPr>
          <p:cNvPr id="13" name="stat-label"/>
          <p:cNvSpPr txBox="1"/>
          <p:nvPr/>
        </p:nvSpPr>
        <p:spPr>
          <a:xfrm>
            <a:off x="2819400" y="5384800"/>
            <a:ext cx="2997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A9BBD4"/>
                </a:solidFill>
                <a:latin typeface="Liter"/>
                <a:ea typeface="Liter"/>
              </a:rPr>
              <a:t>step types available out of the box, no custom code needed</a:t>
            </a:r>
            <a:endParaRPr lang="en-US" sz="1200"/>
          </a:p>
        </p:txBody>
      </p:sp>
      <p:sp>
        <p:nvSpPr>
          <p:cNvPr id="14" name="panel"/>
          <p:cNvSpPr/>
          <p:nvPr/>
        </p:nvSpPr>
        <p:spPr>
          <a:xfrm>
            <a:off x="6553200" y="2133600"/>
            <a:ext cx="4826000" cy="4038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5" name="node-a"/>
          <p:cNvSpPr/>
          <p:nvPr/>
        </p:nvSpPr>
        <p:spPr>
          <a:xfrm>
            <a:off x="7061200" y="2794000"/>
            <a:ext cx="1524000" cy="5588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6" name="node-a-txt"/>
          <p:cNvSpPr txBox="1"/>
          <p:nvPr/>
        </p:nvSpPr>
        <p:spPr>
          <a:xfrm>
            <a:off x="7061200" y="27940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New ticket</a:t>
            </a:r>
            <a:endParaRPr lang="en-US" sz="1100"/>
          </a:p>
        </p:txBody>
      </p:sp>
      <p:sp>
        <p:nvSpPr>
          <p:cNvPr id="17" name="node-b"/>
          <p:cNvSpPr/>
          <p:nvPr/>
        </p:nvSpPr>
        <p:spPr>
          <a:xfrm>
            <a:off x="7061200" y="3860800"/>
            <a:ext cx="1524000" cy="55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18" name="node-b-txt"/>
          <p:cNvSpPr txBox="1"/>
          <p:nvPr/>
        </p:nvSpPr>
        <p:spPr>
          <a:xfrm>
            <a:off x="7061200" y="38608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1A1A1A"/>
                </a:solidFill>
                <a:latin typeface="Liter"/>
                <a:ea typeface="Liter"/>
              </a:rPr>
              <a:t>Enrich data</a:t>
            </a:r>
            <a:endParaRPr lang="en-US" sz="1100"/>
          </a:p>
        </p:txBody>
      </p:sp>
      <p:sp>
        <p:nvSpPr>
          <p:cNvPr id="19" name="node-c"/>
          <p:cNvSpPr/>
          <p:nvPr/>
        </p:nvSpPr>
        <p:spPr>
          <a:xfrm>
            <a:off x="9347200" y="3860800"/>
            <a:ext cx="1524000" cy="55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20" name="node-c-txt"/>
          <p:cNvSpPr txBox="1"/>
          <p:nvPr/>
        </p:nvSpPr>
        <p:spPr>
          <a:xfrm>
            <a:off x="9347200" y="38608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1A1A1A"/>
                </a:solidFill>
                <a:latin typeface="Liter"/>
                <a:ea typeface="Liter"/>
              </a:rPr>
              <a:t>Approve?</a:t>
            </a:r>
            <a:endParaRPr lang="en-US" sz="1100"/>
          </a:p>
        </p:txBody>
      </p:sp>
      <p:sp>
        <p:nvSpPr>
          <p:cNvPr id="21" name="node-d"/>
          <p:cNvSpPr/>
          <p:nvPr/>
        </p:nvSpPr>
        <p:spPr>
          <a:xfrm>
            <a:off x="9347200" y="4927600"/>
            <a:ext cx="1524000" cy="55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2" name="node-d-txt"/>
          <p:cNvSpPr txBox="1"/>
          <p:nvPr/>
        </p:nvSpPr>
        <p:spPr>
          <a:xfrm>
            <a:off x="9347200" y="49276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Post invoice</a:t>
            </a:r>
            <a:endParaRPr lang="en-US" sz="1100"/>
          </a:p>
        </p:txBody>
      </p:sp>
      <p:sp>
        <p:nvSpPr>
          <p:cNvPr id="23" name="edge1"/>
          <p:cNvSpPr/>
          <p:nvPr>
            <p:extLst>
              <p:ext uri="{F5677B7D-0D2A-4D9B-9A5C-6D8D7D0E5A5D}">
                <pptd:line encoding="base64url">eyJ2aWV3Qm94IjpbMiw0MF0sInBvaW50cyI6IjEsMCAxLDQwIiwiY3VydmUiOiJzaGFycCJ9</pptd:line>
              </p:ext>
            </p:extLst>
          </p:nvPr>
        </p:nvSpPr>
        <p:spPr>
          <a:xfrm>
            <a:off x="7823200" y="3352800"/>
            <a:ext cx="25400" cy="508000"/>
          </a:xfrm>
          <a:custGeom>
            <a:avLst/>
            <a:gdLst/>
            <a:ahLst/>
            <a:cxnLst/>
            <a:rect l="l" t="t" r="r" b="b"/>
            <a:pathLst>
              <a:path w="2" h="40">
                <a:moveTo>
                  <a:pt x="1" y="0"/>
                </a:moveTo>
                <a:lnTo>
                  <a:pt x="1" y="40"/>
                </a:lnTo>
              </a:path>
            </a:pathLst>
          </a:custGeom>
          <a:noFill/>
          <a:ln w="25400">
            <a:solidFill>
              <a:srgbClr val="0B1F3A"/>
            </a:solidFill>
          </a:ln>
        </p:spPr>
      </p:sp>
      <p:sp>
        <p:nvSpPr>
          <p:cNvPr id="24" name="edge2"/>
          <p:cNvSpPr/>
          <p:nvPr>
            <p:extLst>
              <p:ext uri="{F5677B7D-0D2A-4D9B-9A5C-6D8D7D0E5A5D}">
                <pptd:line encoding="base64url">eyJ2aWV3Qm94IjpbNjAsMl0sInBvaW50cyI6IjAsMSA2MCwxIiwiY3VydmUiOiJzaGFycCJ9</pptd:line>
              </p:ext>
            </p:extLst>
          </p:nvPr>
        </p:nvSpPr>
        <p:spPr>
          <a:xfrm>
            <a:off x="8585200" y="4140200"/>
            <a:ext cx="762000" cy="25400"/>
          </a:xfrm>
          <a:custGeom>
            <a:avLst/>
            <a:gdLst/>
            <a:ahLst/>
            <a:cxnLst/>
            <a:rect l="l" t="t" r="r" b="b"/>
            <a:pathLst>
              <a:path w="60" h="2">
                <a:moveTo>
                  <a:pt x="0" y="1"/>
                </a:moveTo>
                <a:lnTo>
                  <a:pt x="60" y="1"/>
                </a:lnTo>
              </a:path>
            </a:pathLst>
          </a:custGeom>
          <a:noFill/>
          <a:ln w="25400">
            <a:solidFill>
              <a:srgbClr val="0B1F3A"/>
            </a:solidFill>
          </a:ln>
        </p:spPr>
      </p:sp>
      <p:sp>
        <p:nvSpPr>
          <p:cNvPr id="25" name="edge3"/>
          <p:cNvSpPr/>
          <p:nvPr>
            <p:extLst>
              <p:ext uri="{F5677B7D-0D2A-4D9B-9A5C-6D8D7D0E5A5D}">
                <pptd:line encoding="base64url">eyJ2aWV3Qm94IjpbMiw0MF0sInBvaW50cyI6IjEsMCAxLDQwIiwiY3VydmUiOiJzaGFycCJ9</pptd:line>
              </p:ext>
            </p:extLst>
          </p:nvPr>
        </p:nvSpPr>
        <p:spPr>
          <a:xfrm>
            <a:off x="10109200" y="4419600"/>
            <a:ext cx="25400" cy="508000"/>
          </a:xfrm>
          <a:custGeom>
            <a:avLst/>
            <a:gdLst/>
            <a:ahLst/>
            <a:cxnLst/>
            <a:rect l="l" t="t" r="r" b="b"/>
            <a:pathLst>
              <a:path w="2" h="40">
                <a:moveTo>
                  <a:pt x="1" y="0"/>
                </a:moveTo>
                <a:lnTo>
                  <a:pt x="1" y="40"/>
                </a:lnTo>
              </a:path>
            </a:pathLst>
          </a:custGeom>
          <a:noFill/>
          <a:ln w="25400">
            <a:solidFill>
              <a:srgbClr val="FF6B00"/>
            </a:solidFill>
          </a:ln>
        </p:spPr>
      </p:sp>
      <p:sp>
        <p:nvSpPr>
          <p:cNvPr id="26" name="panel-label"/>
          <p:cNvSpPr txBox="1"/>
          <p:nvPr/>
        </p:nvSpPr>
        <p:spPr>
          <a:xfrm>
            <a:off x="7061200" y="2362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8A94A6"/>
                </a:solidFill>
                <a:latin typeface="Liter"/>
                <a:ea typeface="Liter"/>
              </a:rPr>
              <a:t>PIPELINE CANVAS</a:t>
            </a:r>
            <a:endParaRPr lang="en-US" sz="1100"/>
          </a:p>
        </p:txBody>
      </p:sp>
      <p:sp>
        <p:nvSpPr>
          <p:cNvPr id="27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16 / 40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FEATURE 02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One-click Deploy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dd0-marker"/>
          <p:cNvSpPr/>
          <p:nvPr/>
        </p:nvSpPr>
        <p:spPr>
          <a:xfrm>
            <a:off x="812800" y="2463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dd0-text"/>
          <p:cNvSpPr txBox="1"/>
          <p:nvPr/>
        </p:nvSpPr>
        <p:spPr>
          <a:xfrm>
            <a:off x="1117600" y="23622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From draft to live in seconds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no CI pipelines, no release windows, no DevOps queue.</a:t>
            </a:r>
            <a:endParaRPr lang="en-US" sz="1300"/>
          </a:p>
        </p:txBody>
      </p:sp>
      <p:sp>
        <p:nvSpPr>
          <p:cNvPr id="7" name="dd1-marker"/>
          <p:cNvSpPr/>
          <p:nvPr/>
        </p:nvSpPr>
        <p:spPr>
          <a:xfrm>
            <a:off x="812800" y="3276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8" name="dd1-text"/>
          <p:cNvSpPr txBox="1"/>
          <p:nvPr/>
        </p:nvSpPr>
        <p:spPr>
          <a:xfrm>
            <a:off x="1117600" y="3175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Instant rollback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one click restores any previous version, mid-incident.</a:t>
            </a:r>
            <a:endParaRPr lang="en-US" sz="1300"/>
          </a:p>
        </p:txBody>
      </p:sp>
      <p:sp>
        <p:nvSpPr>
          <p:cNvPr id="9" name="dd2-marker"/>
          <p:cNvSpPr/>
          <p:nvPr/>
        </p:nvSpPr>
        <p:spPr>
          <a:xfrm>
            <a:off x="812800" y="40894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0" name="dd2-text"/>
          <p:cNvSpPr txBox="1"/>
          <p:nvPr/>
        </p:nvSpPr>
        <p:spPr>
          <a:xfrm>
            <a:off x="1117600" y="39878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Safe by design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shadow-run a new version against live traffic before switching.</a:t>
            </a:r>
            <a:endParaRPr lang="en-US" sz="1300"/>
          </a:p>
        </p:txBody>
      </p:sp>
      <p:sp>
        <p:nvSpPr>
          <p:cNvPr id="11" name="stat-card"/>
          <p:cNvSpPr/>
          <p:nvPr/>
        </p:nvSpPr>
        <p:spPr>
          <a:xfrm>
            <a:off x="812800" y="5384800"/>
            <a:ext cx="5130800" cy="787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2" name="stat-num"/>
          <p:cNvSpPr txBox="1"/>
          <p:nvPr/>
        </p:nvSpPr>
        <p:spPr>
          <a:xfrm>
            <a:off x="1117600" y="5384800"/>
            <a:ext cx="165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6B00"/>
                </a:solidFill>
                <a:latin typeface="Liter"/>
                <a:ea typeface="Liter"/>
              </a:rPr>
              <a:t>9 sec</a:t>
            </a:r>
            <a:endParaRPr lang="en-US" sz="2800"/>
          </a:p>
        </p:txBody>
      </p:sp>
      <p:sp>
        <p:nvSpPr>
          <p:cNvPr id="13" name="stat-label"/>
          <p:cNvSpPr txBox="1"/>
          <p:nvPr/>
        </p:nvSpPr>
        <p:spPr>
          <a:xfrm>
            <a:off x="2819400" y="5384800"/>
            <a:ext cx="2997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A9BBD4"/>
                </a:solidFill>
                <a:latin typeface="Liter"/>
                <a:ea typeface="Liter"/>
              </a:rPr>
              <a:t>median time from clicking deploy to a version serving live traffic</a:t>
            </a:r>
            <a:endParaRPr lang="en-US" sz="1200"/>
          </a:p>
        </p:txBody>
      </p:sp>
      <p:sp>
        <p:nvSpPr>
          <p:cNvPr id="14" name="panel"/>
          <p:cNvSpPr/>
          <p:nvPr/>
        </p:nvSpPr>
        <p:spPr>
          <a:xfrm>
            <a:off x="6553200" y="2133600"/>
            <a:ext cx="4826000" cy="403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5" name="panel-label"/>
          <p:cNvSpPr txBox="1"/>
          <p:nvPr/>
        </p:nvSpPr>
        <p:spPr>
          <a:xfrm>
            <a:off x="6858000" y="2387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7E93B0"/>
                </a:solidFill>
                <a:latin typeface="Liter"/>
                <a:ea typeface="Liter"/>
              </a:rPr>
              <a:t>DEPLOY LOG</a:t>
            </a:r>
            <a:endParaRPr lang="en-US" sz="1100"/>
          </a:p>
        </p:txBody>
      </p:sp>
      <p:sp>
        <p:nvSpPr>
          <p:cNvPr id="16" name="log0-row"/>
          <p:cNvSpPr/>
          <p:nvPr/>
        </p:nvSpPr>
        <p:spPr>
          <a:xfrm>
            <a:off x="6858000" y="2844800"/>
            <a:ext cx="4216400" cy="558800"/>
          </a:xfrm>
          <a:prstGeom prst="rect">
            <a:avLst/>
          </a:prstGeom>
          <a:solidFill>
            <a:srgbClr val="12294D"/>
          </a:solidFill>
          <a:ln>
            <a:noFill/>
          </a:ln>
        </p:spPr>
      </p:sp>
      <p:sp>
        <p:nvSpPr>
          <p:cNvPr id="17" name="log0-v"/>
          <p:cNvSpPr txBox="1"/>
          <p:nvPr/>
        </p:nvSpPr>
        <p:spPr>
          <a:xfrm>
            <a:off x="7061200" y="29210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v2.4.1</a:t>
            </a:r>
            <a:endParaRPr lang="en-US" sz="1100"/>
          </a:p>
        </p:txBody>
      </p:sp>
      <p:sp>
        <p:nvSpPr>
          <p:cNvPr id="18" name="log0-w"/>
          <p:cNvSpPr txBox="1"/>
          <p:nvPr/>
        </p:nvSpPr>
        <p:spPr>
          <a:xfrm>
            <a:off x="7061200" y="31242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A9BBD4"/>
                </a:solidFill>
                <a:latin typeface="Liter"/>
                <a:ea typeface="Liter"/>
              </a:rPr>
              <a:t>invoice-sync</a:t>
            </a:r>
            <a:endParaRPr lang="en-US" sz="1000"/>
          </a:p>
        </p:txBody>
      </p:sp>
      <p:sp>
        <p:nvSpPr>
          <p:cNvPr id="19" name="log0-s"/>
          <p:cNvSpPr txBox="1"/>
          <p:nvPr/>
        </p:nvSpPr>
        <p:spPr>
          <a:xfrm>
            <a:off x="8890000" y="28448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FF6B00"/>
                </a:solidFill>
                <a:latin typeface="Liter"/>
                <a:ea typeface="Liter"/>
              </a:rPr>
              <a:t>LIVE</a:t>
            </a:r>
            <a:endParaRPr lang="en-US" sz="1000"/>
          </a:p>
        </p:txBody>
      </p:sp>
      <p:sp>
        <p:nvSpPr>
          <p:cNvPr id="20" name="log1-row"/>
          <p:cNvSpPr/>
          <p:nvPr/>
        </p:nvSpPr>
        <p:spPr>
          <a:xfrm>
            <a:off x="6858000" y="3556000"/>
            <a:ext cx="4216400" cy="558800"/>
          </a:xfrm>
          <a:prstGeom prst="rect">
            <a:avLst/>
          </a:prstGeom>
          <a:solidFill>
            <a:srgbClr val="12294D"/>
          </a:solidFill>
          <a:ln>
            <a:noFill/>
          </a:ln>
        </p:spPr>
      </p:sp>
      <p:sp>
        <p:nvSpPr>
          <p:cNvPr id="21" name="log1-v"/>
          <p:cNvSpPr txBox="1"/>
          <p:nvPr/>
        </p:nvSpPr>
        <p:spPr>
          <a:xfrm>
            <a:off x="7061200" y="36322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v2.4.0</a:t>
            </a:r>
            <a:endParaRPr lang="en-US" sz="1100"/>
          </a:p>
        </p:txBody>
      </p:sp>
      <p:sp>
        <p:nvSpPr>
          <p:cNvPr id="22" name="log1-w"/>
          <p:cNvSpPr txBox="1"/>
          <p:nvPr/>
        </p:nvSpPr>
        <p:spPr>
          <a:xfrm>
            <a:off x="7061200" y="38354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A9BBD4"/>
                </a:solidFill>
                <a:latin typeface="Liter"/>
                <a:ea typeface="Liter"/>
              </a:rPr>
              <a:t>invoice-sync</a:t>
            </a:r>
            <a:endParaRPr lang="en-US" sz="1000"/>
          </a:p>
        </p:txBody>
      </p:sp>
      <p:sp>
        <p:nvSpPr>
          <p:cNvPr id="23" name="log1-s"/>
          <p:cNvSpPr txBox="1"/>
          <p:nvPr/>
        </p:nvSpPr>
        <p:spPr>
          <a:xfrm>
            <a:off x="8890000" y="35560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A9BBD4"/>
                </a:solidFill>
                <a:latin typeface="Liter"/>
                <a:ea typeface="Liter"/>
              </a:rPr>
              <a:t>ROLLED BACK</a:t>
            </a:r>
            <a:endParaRPr lang="en-US" sz="1000"/>
          </a:p>
        </p:txBody>
      </p:sp>
      <p:sp>
        <p:nvSpPr>
          <p:cNvPr id="24" name="log2-row"/>
          <p:cNvSpPr/>
          <p:nvPr/>
        </p:nvSpPr>
        <p:spPr>
          <a:xfrm>
            <a:off x="6858000" y="4267200"/>
            <a:ext cx="4216400" cy="558800"/>
          </a:xfrm>
          <a:prstGeom prst="rect">
            <a:avLst/>
          </a:prstGeom>
          <a:solidFill>
            <a:srgbClr val="12294D"/>
          </a:solidFill>
          <a:ln>
            <a:noFill/>
          </a:ln>
        </p:spPr>
      </p:sp>
      <p:sp>
        <p:nvSpPr>
          <p:cNvPr id="25" name="log2-v"/>
          <p:cNvSpPr txBox="1"/>
          <p:nvPr/>
        </p:nvSpPr>
        <p:spPr>
          <a:xfrm>
            <a:off x="7061200" y="43434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v2.3.8</a:t>
            </a:r>
            <a:endParaRPr lang="en-US" sz="1100"/>
          </a:p>
        </p:txBody>
      </p:sp>
      <p:sp>
        <p:nvSpPr>
          <p:cNvPr id="26" name="log2-w"/>
          <p:cNvSpPr txBox="1"/>
          <p:nvPr/>
        </p:nvSpPr>
        <p:spPr>
          <a:xfrm>
            <a:off x="7061200" y="45466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A9BBD4"/>
                </a:solidFill>
                <a:latin typeface="Liter"/>
                <a:ea typeface="Liter"/>
              </a:rPr>
              <a:t>lead-router</a:t>
            </a:r>
            <a:endParaRPr lang="en-US" sz="1000"/>
          </a:p>
        </p:txBody>
      </p:sp>
      <p:sp>
        <p:nvSpPr>
          <p:cNvPr id="27" name="log2-s"/>
          <p:cNvSpPr txBox="1"/>
          <p:nvPr/>
        </p:nvSpPr>
        <p:spPr>
          <a:xfrm>
            <a:off x="8890000" y="42672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FF6B00"/>
                </a:solidFill>
                <a:latin typeface="Liter"/>
                <a:ea typeface="Liter"/>
              </a:rPr>
              <a:t>LIVE</a:t>
            </a:r>
            <a:endParaRPr lang="en-US" sz="1000"/>
          </a:p>
        </p:txBody>
      </p:sp>
      <p:sp>
        <p:nvSpPr>
          <p:cNvPr id="28" name="log3-row"/>
          <p:cNvSpPr/>
          <p:nvPr/>
        </p:nvSpPr>
        <p:spPr>
          <a:xfrm>
            <a:off x="6858000" y="4978400"/>
            <a:ext cx="4216400" cy="558800"/>
          </a:xfrm>
          <a:prstGeom prst="rect">
            <a:avLst/>
          </a:prstGeom>
          <a:solidFill>
            <a:srgbClr val="12294D"/>
          </a:solidFill>
          <a:ln>
            <a:noFill/>
          </a:ln>
        </p:spPr>
      </p:sp>
      <p:sp>
        <p:nvSpPr>
          <p:cNvPr id="29" name="log3-v"/>
          <p:cNvSpPr txBox="1"/>
          <p:nvPr/>
        </p:nvSpPr>
        <p:spPr>
          <a:xfrm>
            <a:off x="7061200" y="5054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Liter"/>
                <a:ea typeface="Liter"/>
              </a:rPr>
              <a:t>v2.3.7</a:t>
            </a:r>
            <a:endParaRPr lang="en-US" sz="1100"/>
          </a:p>
        </p:txBody>
      </p:sp>
      <p:sp>
        <p:nvSpPr>
          <p:cNvPr id="30" name="log3-w"/>
          <p:cNvSpPr txBox="1"/>
          <p:nvPr/>
        </p:nvSpPr>
        <p:spPr>
          <a:xfrm>
            <a:off x="7061200" y="52578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A9BBD4"/>
                </a:solidFill>
                <a:latin typeface="Liter"/>
                <a:ea typeface="Liter"/>
              </a:rPr>
              <a:t>lead-router</a:t>
            </a:r>
            <a:endParaRPr lang="en-US" sz="1000"/>
          </a:p>
        </p:txBody>
      </p:sp>
      <p:sp>
        <p:nvSpPr>
          <p:cNvPr id="31" name="log3-s"/>
          <p:cNvSpPr txBox="1"/>
          <p:nvPr/>
        </p:nvSpPr>
        <p:spPr>
          <a:xfrm>
            <a:off x="8890000" y="4978400"/>
            <a:ext cx="1981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b="1">
                <a:solidFill>
                  <a:srgbClr val="7E93B0"/>
                </a:solidFill>
                <a:latin typeface="Liter"/>
                <a:ea typeface="Liter"/>
              </a:rPr>
              <a:t>ARCHIVED</a:t>
            </a:r>
            <a:endParaRPr lang="en-US" sz="1000"/>
          </a:p>
        </p:txBody>
      </p:sp>
      <p:sp>
        <p:nvSpPr>
          <p:cNvPr id="32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17 / 40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FEATURE 03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Realtime Metrics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dd0-marker"/>
          <p:cNvSpPr/>
          <p:nvPr/>
        </p:nvSpPr>
        <p:spPr>
          <a:xfrm>
            <a:off x="812800" y="2463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dd0-text"/>
          <p:cNvSpPr txBox="1"/>
          <p:nvPr/>
        </p:nvSpPr>
        <p:spPr>
          <a:xfrm>
            <a:off x="1117600" y="23622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Every run, visible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volume, latency, and failure rates stream in live.</a:t>
            </a:r>
            <a:endParaRPr lang="en-US" sz="1300"/>
          </a:p>
        </p:txBody>
      </p:sp>
      <p:sp>
        <p:nvSpPr>
          <p:cNvPr id="7" name="dd1-marker"/>
          <p:cNvSpPr/>
          <p:nvPr/>
        </p:nvSpPr>
        <p:spPr>
          <a:xfrm>
            <a:off x="812800" y="3276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8" name="dd1-text"/>
          <p:cNvSpPr txBox="1"/>
          <p:nvPr/>
        </p:nvSpPr>
        <p:spPr>
          <a:xfrm>
            <a:off x="1117600" y="3175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Proof of value built in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hours saved are computed automatically per workflow.</a:t>
            </a:r>
            <a:endParaRPr lang="en-US" sz="1300"/>
          </a:p>
        </p:txBody>
      </p:sp>
      <p:sp>
        <p:nvSpPr>
          <p:cNvPr id="9" name="dd2-marker"/>
          <p:cNvSpPr/>
          <p:nvPr/>
        </p:nvSpPr>
        <p:spPr>
          <a:xfrm>
            <a:off x="812800" y="40894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0" name="dd2-text"/>
          <p:cNvSpPr txBox="1"/>
          <p:nvPr/>
        </p:nvSpPr>
        <p:spPr>
          <a:xfrm>
            <a:off x="1117600" y="39878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Alerts that matter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route failures to Slack or email with full run context.</a:t>
            </a:r>
            <a:endParaRPr lang="en-US" sz="1300"/>
          </a:p>
        </p:txBody>
      </p:sp>
      <p:sp>
        <p:nvSpPr>
          <p:cNvPr id="11" name="stat-card"/>
          <p:cNvSpPr/>
          <p:nvPr/>
        </p:nvSpPr>
        <p:spPr>
          <a:xfrm>
            <a:off x="812800" y="5384800"/>
            <a:ext cx="5130800" cy="787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2" name="stat-num"/>
          <p:cNvSpPr txBox="1"/>
          <p:nvPr/>
        </p:nvSpPr>
        <p:spPr>
          <a:xfrm>
            <a:off x="1117600" y="5384800"/>
            <a:ext cx="165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6B00"/>
                </a:solidFill>
                <a:latin typeface="Liter"/>
                <a:ea typeface="Liter"/>
              </a:rPr>
              <a:t>99.2%</a:t>
            </a:r>
            <a:endParaRPr lang="en-US" sz="2800"/>
          </a:p>
        </p:txBody>
      </p:sp>
      <p:sp>
        <p:nvSpPr>
          <p:cNvPr id="13" name="stat-label"/>
          <p:cNvSpPr txBox="1"/>
          <p:nvPr/>
        </p:nvSpPr>
        <p:spPr>
          <a:xfrm>
            <a:off x="2819400" y="5384800"/>
            <a:ext cx="2997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A9BBD4"/>
                </a:solidFill>
                <a:latin typeface="Liter"/>
                <a:ea typeface="Liter"/>
              </a:rPr>
              <a:t>median workflow success rate across all customer accounts</a:t>
            </a:r>
            <a:endParaRPr lang="en-US" sz="1200"/>
          </a:p>
        </p:txBody>
      </p:sp>
      <p:sp>
        <p:nvSpPr>
          <p:cNvPr id="14" name="panel"/>
          <p:cNvSpPr/>
          <p:nvPr/>
        </p:nvSpPr>
        <p:spPr>
          <a:xfrm>
            <a:off x="6553200" y="2133600"/>
            <a:ext cx="4826000" cy="4038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5" name="panel-label"/>
          <p:cNvSpPr txBox="1"/>
          <p:nvPr/>
        </p:nvSpPr>
        <p:spPr>
          <a:xfrm>
            <a:off x="6858000" y="2387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8A94A6"/>
                </a:solidFill>
                <a:latin typeface="Liter"/>
                <a:ea typeface="Liter"/>
              </a:rPr>
              <a:t>LIVE DASHBOARD</a:t>
            </a:r>
            <a:endParaRPr lang="en-US" sz="1100"/>
          </a:p>
        </p:txBody>
      </p:sp>
      <p:sp>
        <p:nvSpPr>
          <p:cNvPr id="16" name="tile0"/>
          <p:cNvSpPr/>
          <p:nvPr/>
        </p:nvSpPr>
        <p:spPr>
          <a:xfrm>
            <a:off x="6858000" y="2844800"/>
            <a:ext cx="19812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17" name="tile0-val"/>
          <p:cNvSpPr txBox="1"/>
          <p:nvPr/>
        </p:nvSpPr>
        <p:spPr>
          <a:xfrm>
            <a:off x="7061200" y="30734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1A1A1A"/>
                </a:solidFill>
                <a:latin typeface="Liter"/>
                <a:ea typeface="Liter"/>
              </a:rPr>
              <a:t>12,418</a:t>
            </a:r>
            <a:endParaRPr lang="en-US" sz="2600"/>
          </a:p>
        </p:txBody>
      </p:sp>
      <p:sp>
        <p:nvSpPr>
          <p:cNvPr id="18" name="tile0-label"/>
          <p:cNvSpPr txBox="1"/>
          <p:nvPr/>
        </p:nvSpPr>
        <p:spPr>
          <a:xfrm>
            <a:off x="7061200" y="35814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5B6472"/>
                </a:solidFill>
                <a:latin typeface="Liter"/>
                <a:ea typeface="Liter"/>
              </a:rPr>
              <a:t>Runs today</a:t>
            </a:r>
            <a:endParaRPr lang="en-US" sz="1100"/>
          </a:p>
        </p:txBody>
      </p:sp>
      <p:sp>
        <p:nvSpPr>
          <p:cNvPr id="19" name="tile1"/>
          <p:cNvSpPr/>
          <p:nvPr/>
        </p:nvSpPr>
        <p:spPr>
          <a:xfrm>
            <a:off x="9042400" y="2844800"/>
            <a:ext cx="19812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20" name="tile1-val"/>
          <p:cNvSpPr txBox="1"/>
          <p:nvPr/>
        </p:nvSpPr>
        <p:spPr>
          <a:xfrm>
            <a:off x="9245600" y="30734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1A1A1A"/>
                </a:solidFill>
                <a:latin typeface="Liter"/>
                <a:ea typeface="Liter"/>
              </a:rPr>
              <a:t>99.2%</a:t>
            </a:r>
            <a:endParaRPr lang="en-US" sz="2600"/>
          </a:p>
        </p:txBody>
      </p:sp>
      <p:sp>
        <p:nvSpPr>
          <p:cNvPr id="21" name="tile1-label"/>
          <p:cNvSpPr txBox="1"/>
          <p:nvPr/>
        </p:nvSpPr>
        <p:spPr>
          <a:xfrm>
            <a:off x="9245600" y="35814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5B6472"/>
                </a:solidFill>
                <a:latin typeface="Liter"/>
                <a:ea typeface="Liter"/>
              </a:rPr>
              <a:t>Success rate</a:t>
            </a:r>
            <a:endParaRPr lang="en-US" sz="1100"/>
          </a:p>
        </p:txBody>
      </p:sp>
      <p:sp>
        <p:nvSpPr>
          <p:cNvPr id="22" name="tile2"/>
          <p:cNvSpPr/>
          <p:nvPr/>
        </p:nvSpPr>
        <p:spPr>
          <a:xfrm>
            <a:off x="6858000" y="4368800"/>
            <a:ext cx="19812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23" name="tile2-val"/>
          <p:cNvSpPr txBox="1"/>
          <p:nvPr/>
        </p:nvSpPr>
        <p:spPr>
          <a:xfrm>
            <a:off x="7061200" y="45974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FF6B00"/>
                </a:solidFill>
                <a:latin typeface="Liter"/>
                <a:ea typeface="Liter"/>
              </a:rPr>
              <a:t>3.1h</a:t>
            </a:r>
            <a:endParaRPr lang="en-US" sz="2600"/>
          </a:p>
        </p:txBody>
      </p:sp>
      <p:sp>
        <p:nvSpPr>
          <p:cNvPr id="24" name="tile2-label"/>
          <p:cNvSpPr txBox="1"/>
          <p:nvPr/>
        </p:nvSpPr>
        <p:spPr>
          <a:xfrm>
            <a:off x="7061200" y="51054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5B6472"/>
                </a:solidFill>
                <a:latin typeface="Liter"/>
                <a:ea typeface="Liter"/>
              </a:rPr>
              <a:t>Hours saved</a:t>
            </a:r>
            <a:endParaRPr lang="en-US" sz="1100"/>
          </a:p>
        </p:txBody>
      </p:sp>
      <p:sp>
        <p:nvSpPr>
          <p:cNvPr id="25" name="tile3"/>
          <p:cNvSpPr/>
          <p:nvPr/>
        </p:nvSpPr>
        <p:spPr>
          <a:xfrm>
            <a:off x="9042400" y="4368800"/>
            <a:ext cx="19812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</p:sp>
      <p:sp>
        <p:nvSpPr>
          <p:cNvPr id="26" name="tile3-val"/>
          <p:cNvSpPr txBox="1"/>
          <p:nvPr/>
        </p:nvSpPr>
        <p:spPr>
          <a:xfrm>
            <a:off x="9245600" y="4597400"/>
            <a:ext cx="1574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1A1A1A"/>
                </a:solidFill>
                <a:latin typeface="Liter"/>
                <a:ea typeface="Liter"/>
              </a:rPr>
              <a:t>17</a:t>
            </a:r>
            <a:endParaRPr lang="en-US" sz="2600"/>
          </a:p>
        </p:txBody>
      </p:sp>
      <p:sp>
        <p:nvSpPr>
          <p:cNvPr id="27" name="tile3-label"/>
          <p:cNvSpPr txBox="1"/>
          <p:nvPr/>
        </p:nvSpPr>
        <p:spPr>
          <a:xfrm>
            <a:off x="9245600" y="5105400"/>
            <a:ext cx="157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5B6472"/>
                </a:solidFill>
                <a:latin typeface="Liter"/>
                <a:ea typeface="Liter"/>
              </a:rPr>
              <a:t>Failed runs</a:t>
            </a:r>
            <a:endParaRPr lang="en-US" sz="1100"/>
          </a:p>
        </p:txBody>
      </p:sp>
      <p:sp>
        <p:nvSpPr>
          <p:cNvPr id="28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18 / 40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FEATURE 04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SOC2 by default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dd0-marker"/>
          <p:cNvSpPr/>
          <p:nvPr/>
        </p:nvSpPr>
        <p:spPr>
          <a:xfrm>
            <a:off x="812800" y="24638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dd0-text"/>
          <p:cNvSpPr txBox="1"/>
          <p:nvPr/>
        </p:nvSpPr>
        <p:spPr>
          <a:xfrm>
            <a:off x="1117600" y="23622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Not an add-on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security controls ship in every plan, including self-serve.</a:t>
            </a:r>
            <a:endParaRPr lang="en-US" sz="1300"/>
          </a:p>
        </p:txBody>
      </p:sp>
      <p:sp>
        <p:nvSpPr>
          <p:cNvPr id="7" name="dd1-marker"/>
          <p:cNvSpPr/>
          <p:nvPr/>
        </p:nvSpPr>
        <p:spPr>
          <a:xfrm>
            <a:off x="812800" y="32766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8" name="dd1-text"/>
          <p:cNvSpPr txBox="1"/>
          <p:nvPr/>
        </p:nvSpPr>
        <p:spPr>
          <a:xfrm>
            <a:off x="1117600" y="31750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Immutable audit log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every action recorded, tamper-evident, exportable.</a:t>
            </a:r>
            <a:endParaRPr lang="en-US" sz="1300"/>
          </a:p>
        </p:txBody>
      </p:sp>
      <p:sp>
        <p:nvSpPr>
          <p:cNvPr id="9" name="dd2-marker"/>
          <p:cNvSpPr/>
          <p:nvPr/>
        </p:nvSpPr>
        <p:spPr>
          <a:xfrm>
            <a:off x="812800" y="4089400"/>
            <a:ext cx="114300" cy="1143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0" name="dd2-text"/>
          <p:cNvSpPr txBox="1"/>
          <p:nvPr/>
        </p:nvSpPr>
        <p:spPr>
          <a:xfrm>
            <a:off x="1117600" y="39878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Enterprise identity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— SSO/SAML and SCIM provisioning from day one.</a:t>
            </a:r>
            <a:endParaRPr lang="en-US" sz="1300"/>
          </a:p>
        </p:txBody>
      </p:sp>
      <p:sp>
        <p:nvSpPr>
          <p:cNvPr id="11" name="stat-card"/>
          <p:cNvSpPr/>
          <p:nvPr/>
        </p:nvSpPr>
        <p:spPr>
          <a:xfrm>
            <a:off x="812800" y="5384800"/>
            <a:ext cx="5130800" cy="787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2" name="stat-num"/>
          <p:cNvSpPr txBox="1"/>
          <p:nvPr/>
        </p:nvSpPr>
        <p:spPr>
          <a:xfrm>
            <a:off x="1117600" y="5384800"/>
            <a:ext cx="165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6B00"/>
                </a:solidFill>
                <a:latin typeface="Liter"/>
                <a:ea typeface="Liter"/>
              </a:rPr>
              <a:t>2 wks</a:t>
            </a:r>
            <a:endParaRPr lang="en-US" sz="2800"/>
          </a:p>
        </p:txBody>
      </p:sp>
      <p:sp>
        <p:nvSpPr>
          <p:cNvPr id="13" name="stat-label"/>
          <p:cNvSpPr txBox="1"/>
          <p:nvPr/>
        </p:nvSpPr>
        <p:spPr>
          <a:xfrm>
            <a:off x="2819400" y="5384800"/>
            <a:ext cx="2997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A9BBD4"/>
                </a:solidFill>
                <a:latin typeface="Liter"/>
                <a:ea typeface="Liter"/>
              </a:rPr>
              <a:t>typical security review time saved per enterprise deal</a:t>
            </a:r>
            <a:endParaRPr lang="en-US" sz="1200"/>
          </a:p>
        </p:txBody>
      </p:sp>
      <p:sp>
        <p:nvSpPr>
          <p:cNvPr id="14" name="panel"/>
          <p:cNvSpPr/>
          <p:nvPr/>
        </p:nvSpPr>
        <p:spPr>
          <a:xfrm>
            <a:off x="6553200" y="2133600"/>
            <a:ext cx="4826000" cy="4038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5" name="panel-label"/>
          <p:cNvSpPr txBox="1"/>
          <p:nvPr/>
        </p:nvSpPr>
        <p:spPr>
          <a:xfrm>
            <a:off x="6858000" y="2387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7E93B0"/>
                </a:solidFill>
                <a:latin typeface="Liter"/>
                <a:ea typeface="Liter"/>
              </a:rPr>
              <a:t>COMPLIANCE POSTURE</a:t>
            </a:r>
            <a:endParaRPr lang="en-US" sz="1100"/>
          </a:p>
        </p:txBody>
      </p:sp>
      <p:sp>
        <p:nvSpPr>
          <p:cNvPr id="16" name="badge0"/>
          <p:cNvSpPr/>
          <p:nvPr/>
        </p:nvSpPr>
        <p:spPr>
          <a:xfrm>
            <a:off x="6858000" y="2870200"/>
            <a:ext cx="1981200" cy="812800"/>
          </a:xfrm>
          <a:prstGeom prst="rect">
            <a:avLst/>
          </a:prstGeom>
          <a:noFill/>
          <a:ln w="25400">
            <a:solidFill>
              <a:srgbClr val="FF6B00"/>
            </a:solidFill>
          </a:ln>
        </p:spPr>
      </p:sp>
      <p:sp>
        <p:nvSpPr>
          <p:cNvPr id="17" name="badge0-txt"/>
          <p:cNvSpPr txBox="1"/>
          <p:nvPr/>
        </p:nvSpPr>
        <p:spPr>
          <a:xfrm>
            <a:off x="6858000" y="2870200"/>
            <a:ext cx="1981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 spc="100" kern="0">
                <a:solidFill>
                  <a:srgbClr val="FFFFFF"/>
                </a:solidFill>
                <a:latin typeface="Liter"/>
                <a:ea typeface="Liter"/>
              </a:rPr>
              <a:t>SOC2 TYPE II</a:t>
            </a:r>
            <a:endParaRPr lang="en-US" sz="1300"/>
          </a:p>
        </p:txBody>
      </p:sp>
      <p:sp>
        <p:nvSpPr>
          <p:cNvPr id="18" name="badge1"/>
          <p:cNvSpPr/>
          <p:nvPr/>
        </p:nvSpPr>
        <p:spPr>
          <a:xfrm>
            <a:off x="9042400" y="2870200"/>
            <a:ext cx="1981200" cy="812800"/>
          </a:xfrm>
          <a:prstGeom prst="rect">
            <a:avLst/>
          </a:prstGeom>
          <a:noFill/>
          <a:ln w="25400">
            <a:solidFill>
              <a:srgbClr val="FF6B00"/>
            </a:solidFill>
          </a:ln>
        </p:spPr>
      </p:sp>
      <p:sp>
        <p:nvSpPr>
          <p:cNvPr id="19" name="badge1-txt"/>
          <p:cNvSpPr txBox="1"/>
          <p:nvPr/>
        </p:nvSpPr>
        <p:spPr>
          <a:xfrm>
            <a:off x="9042400" y="2870200"/>
            <a:ext cx="1981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 spc="100" kern="0">
                <a:solidFill>
                  <a:srgbClr val="FFFFFF"/>
                </a:solidFill>
                <a:latin typeface="Liter"/>
                <a:ea typeface="Liter"/>
              </a:rPr>
              <a:t>GDPR READY</a:t>
            </a:r>
            <a:endParaRPr lang="en-US" sz="1300"/>
          </a:p>
        </p:txBody>
      </p:sp>
      <p:sp>
        <p:nvSpPr>
          <p:cNvPr id="20" name="badge2"/>
          <p:cNvSpPr/>
          <p:nvPr/>
        </p:nvSpPr>
        <p:spPr>
          <a:xfrm>
            <a:off x="6858000" y="3937000"/>
            <a:ext cx="1981200" cy="812800"/>
          </a:xfrm>
          <a:prstGeom prst="rect">
            <a:avLst/>
          </a:prstGeom>
          <a:noFill/>
          <a:ln w="25400">
            <a:solidFill>
              <a:srgbClr val="FF6B00"/>
            </a:solidFill>
          </a:ln>
        </p:spPr>
      </p:sp>
      <p:sp>
        <p:nvSpPr>
          <p:cNvPr id="21" name="badge2-txt"/>
          <p:cNvSpPr txBox="1"/>
          <p:nvPr/>
        </p:nvSpPr>
        <p:spPr>
          <a:xfrm>
            <a:off x="6858000" y="3937000"/>
            <a:ext cx="1981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 spc="100" kern="0">
                <a:solidFill>
                  <a:srgbClr val="FFFFFF"/>
                </a:solidFill>
                <a:latin typeface="Liter"/>
                <a:ea typeface="Liter"/>
              </a:rPr>
              <a:t>ISO 27001*</a:t>
            </a:r>
            <a:endParaRPr lang="en-US" sz="1300"/>
          </a:p>
        </p:txBody>
      </p:sp>
      <p:sp>
        <p:nvSpPr>
          <p:cNvPr id="22" name="badge3"/>
          <p:cNvSpPr/>
          <p:nvPr/>
        </p:nvSpPr>
        <p:spPr>
          <a:xfrm>
            <a:off x="9042400" y="3937000"/>
            <a:ext cx="1981200" cy="812800"/>
          </a:xfrm>
          <a:prstGeom prst="rect">
            <a:avLst/>
          </a:prstGeom>
          <a:noFill/>
          <a:ln w="25400">
            <a:solidFill>
              <a:srgbClr val="FF6B00"/>
            </a:solidFill>
          </a:ln>
        </p:spPr>
      </p:sp>
      <p:sp>
        <p:nvSpPr>
          <p:cNvPr id="23" name="badge3-txt"/>
          <p:cNvSpPr txBox="1"/>
          <p:nvPr/>
        </p:nvSpPr>
        <p:spPr>
          <a:xfrm>
            <a:off x="9042400" y="3937000"/>
            <a:ext cx="1981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 spc="100" kern="0">
                <a:solidFill>
                  <a:srgbClr val="FFFFFF"/>
                </a:solidFill>
                <a:latin typeface="Liter"/>
                <a:ea typeface="Liter"/>
              </a:rPr>
              <a:t>SSO / SAML</a:t>
            </a:r>
            <a:endParaRPr lang="en-US" sz="1300"/>
          </a:p>
        </p:txBody>
      </p:sp>
      <p:sp>
        <p:nvSpPr>
          <p:cNvPr id="24" name="panel-note"/>
          <p:cNvSpPr txBox="1"/>
          <p:nvPr/>
        </p:nvSpPr>
        <p:spPr>
          <a:xfrm>
            <a:off x="6858000" y="5257800"/>
            <a:ext cx="4216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>
                <a:solidFill>
                  <a:srgbClr val="7E93B0"/>
                </a:solidFill>
                <a:latin typeface="Liter"/>
                <a:ea typeface="Liter"/>
              </a:rPr>
              <a:t>*ISO 27001 certification in progress, expected Q1 2027.</a:t>
            </a:r>
            <a:endParaRPr lang="en-US" sz="1000"/>
          </a:p>
        </p:txBody>
      </p:sp>
      <p:sp>
        <p:nvSpPr>
          <p:cNvPr id="25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19 / 40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How the platform fits together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col1-label"/>
          <p:cNvSpPr txBox="1"/>
          <p:nvPr/>
        </p:nvSpPr>
        <p:spPr>
          <a:xfrm>
            <a:off x="812800" y="2133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8A94A6"/>
                </a:solidFill>
                <a:latin typeface="Liter"/>
                <a:ea typeface="Liter"/>
              </a:rPr>
              <a:t>SOURCES</a:t>
            </a:r>
            <a:endParaRPr lang="en-US" sz="1200"/>
          </a:p>
        </p:txBody>
      </p:sp>
      <p:sp>
        <p:nvSpPr>
          <p:cNvPr id="6" name="col2-label"/>
          <p:cNvSpPr txBox="1"/>
          <p:nvPr/>
        </p:nvSpPr>
        <p:spPr>
          <a:xfrm>
            <a:off x="4699000" y="2133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8A94A6"/>
                </a:solidFill>
                <a:latin typeface="Liter"/>
                <a:ea typeface="Liter"/>
              </a:rPr>
              <a:t>NORTHWIND CORE</a:t>
            </a:r>
            <a:endParaRPr lang="en-US" sz="1200"/>
          </a:p>
        </p:txBody>
      </p:sp>
      <p:sp>
        <p:nvSpPr>
          <p:cNvPr id="7" name="col3-label"/>
          <p:cNvSpPr txBox="1"/>
          <p:nvPr/>
        </p:nvSpPr>
        <p:spPr>
          <a:xfrm>
            <a:off x="8585200" y="21336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8A94A6"/>
                </a:solidFill>
                <a:latin typeface="Liter"/>
                <a:ea typeface="Liter"/>
              </a:rPr>
              <a:t>DESTINATIONS</a:t>
            </a:r>
            <a:endParaRPr lang="en-US" sz="1200"/>
          </a:p>
        </p:txBody>
      </p:sp>
      <p:sp>
        <p:nvSpPr>
          <p:cNvPr id="8" name="src0"/>
          <p:cNvSpPr/>
          <p:nvPr/>
        </p:nvSpPr>
        <p:spPr>
          <a:xfrm>
            <a:off x="812800" y="2540000"/>
            <a:ext cx="2540000" cy="5334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9" name="src0-txt"/>
          <p:cNvSpPr txBox="1"/>
          <p:nvPr/>
        </p:nvSpPr>
        <p:spPr>
          <a:xfrm>
            <a:off x="812800" y="25400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CRM</a:t>
            </a:r>
            <a:endParaRPr lang="en-US" sz="1300"/>
          </a:p>
        </p:txBody>
      </p:sp>
      <p:sp>
        <p:nvSpPr>
          <p:cNvPr id="10" name="src1"/>
          <p:cNvSpPr/>
          <p:nvPr/>
        </p:nvSpPr>
        <p:spPr>
          <a:xfrm>
            <a:off x="812800" y="3225800"/>
            <a:ext cx="2540000" cy="5334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1" name="src1-txt"/>
          <p:cNvSpPr txBox="1"/>
          <p:nvPr/>
        </p:nvSpPr>
        <p:spPr>
          <a:xfrm>
            <a:off x="812800" y="32258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Billing</a:t>
            </a:r>
            <a:endParaRPr lang="en-US" sz="1300"/>
          </a:p>
        </p:txBody>
      </p:sp>
      <p:sp>
        <p:nvSpPr>
          <p:cNvPr id="12" name="src2"/>
          <p:cNvSpPr/>
          <p:nvPr/>
        </p:nvSpPr>
        <p:spPr>
          <a:xfrm>
            <a:off x="812800" y="3911600"/>
            <a:ext cx="2540000" cy="5334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3" name="src2-txt"/>
          <p:cNvSpPr txBox="1"/>
          <p:nvPr/>
        </p:nvSpPr>
        <p:spPr>
          <a:xfrm>
            <a:off x="812800" y="39116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Ticketing</a:t>
            </a:r>
            <a:endParaRPr lang="en-US" sz="1300"/>
          </a:p>
        </p:txBody>
      </p:sp>
      <p:sp>
        <p:nvSpPr>
          <p:cNvPr id="14" name="src3"/>
          <p:cNvSpPr/>
          <p:nvPr/>
        </p:nvSpPr>
        <p:spPr>
          <a:xfrm>
            <a:off x="812800" y="4597400"/>
            <a:ext cx="2540000" cy="5334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5" name="src3-txt"/>
          <p:cNvSpPr txBox="1"/>
          <p:nvPr/>
        </p:nvSpPr>
        <p:spPr>
          <a:xfrm>
            <a:off x="812800" y="45974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Data warehouse</a:t>
            </a:r>
            <a:endParaRPr lang="en-US" sz="1300"/>
          </a:p>
        </p:txBody>
      </p:sp>
      <p:sp>
        <p:nvSpPr>
          <p:cNvPr id="16" name="src4"/>
          <p:cNvSpPr/>
          <p:nvPr/>
        </p:nvSpPr>
        <p:spPr>
          <a:xfrm>
            <a:off x="812800" y="5283200"/>
            <a:ext cx="2540000" cy="5334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7" name="src4-txt"/>
          <p:cNvSpPr txBox="1"/>
          <p:nvPr/>
        </p:nvSpPr>
        <p:spPr>
          <a:xfrm>
            <a:off x="812800" y="5283200"/>
            <a:ext cx="2540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Email &amp; chat</a:t>
            </a:r>
            <a:endParaRPr lang="en-US" sz="1300"/>
          </a:p>
        </p:txBody>
      </p:sp>
      <p:sp>
        <p:nvSpPr>
          <p:cNvPr id="18" name="core0"/>
          <p:cNvSpPr/>
          <p:nvPr/>
        </p:nvSpPr>
        <p:spPr>
          <a:xfrm>
            <a:off x="4699000" y="2870200"/>
            <a:ext cx="2794000" cy="8636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core0-txt"/>
          <p:cNvSpPr txBox="1"/>
          <p:nvPr/>
        </p:nvSpPr>
        <p:spPr>
          <a:xfrm>
            <a:off x="4699000" y="2870200"/>
            <a:ext cx="2794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Liter"/>
                <a:ea typeface="Liter"/>
              </a:rPr>
              <a:t>Pipeline Engine</a:t>
            </a:r>
            <a:endParaRPr lang="en-US" sz="1400"/>
          </a:p>
        </p:txBody>
      </p:sp>
      <p:sp>
        <p:nvSpPr>
          <p:cNvPr id="20" name="core1"/>
          <p:cNvSpPr/>
          <p:nvPr/>
        </p:nvSpPr>
        <p:spPr>
          <a:xfrm>
            <a:off x="4699000" y="4038600"/>
            <a:ext cx="2794000" cy="863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21" name="core1-txt"/>
          <p:cNvSpPr txBox="1"/>
          <p:nvPr/>
        </p:nvSpPr>
        <p:spPr>
          <a:xfrm>
            <a:off x="4699000" y="4038600"/>
            <a:ext cx="2794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Liter"/>
                <a:ea typeface="Liter"/>
              </a:rPr>
              <a:t>Permissions &amp; SSO</a:t>
            </a:r>
            <a:endParaRPr lang="en-US" sz="1400"/>
          </a:p>
        </p:txBody>
      </p:sp>
      <p:sp>
        <p:nvSpPr>
          <p:cNvPr id="22" name="core2"/>
          <p:cNvSpPr/>
          <p:nvPr/>
        </p:nvSpPr>
        <p:spPr>
          <a:xfrm>
            <a:off x="4699000" y="5207000"/>
            <a:ext cx="2794000" cy="863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23" name="core2-txt"/>
          <p:cNvSpPr txBox="1"/>
          <p:nvPr/>
        </p:nvSpPr>
        <p:spPr>
          <a:xfrm>
            <a:off x="4699000" y="5207000"/>
            <a:ext cx="2794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FFFFFF"/>
                </a:solidFill>
                <a:latin typeface="Liter"/>
                <a:ea typeface="Liter"/>
              </a:rPr>
              <a:t>Audit Log</a:t>
            </a:r>
            <a:endParaRPr lang="en-US" sz="1400"/>
          </a:p>
        </p:txBody>
      </p:sp>
      <p:sp>
        <p:nvSpPr>
          <p:cNvPr id="24" name="dst0"/>
          <p:cNvSpPr/>
          <p:nvPr/>
        </p:nvSpPr>
        <p:spPr>
          <a:xfrm>
            <a:off x="8585200" y="2540000"/>
            <a:ext cx="2540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25" name="dst0-txt"/>
          <p:cNvSpPr txBox="1"/>
          <p:nvPr/>
        </p:nvSpPr>
        <p:spPr>
          <a:xfrm>
            <a:off x="8585200" y="2540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Dashboards</a:t>
            </a:r>
            <a:endParaRPr lang="en-US" sz="1300"/>
          </a:p>
        </p:txBody>
      </p:sp>
      <p:sp>
        <p:nvSpPr>
          <p:cNvPr id="26" name="dst1"/>
          <p:cNvSpPr/>
          <p:nvPr/>
        </p:nvSpPr>
        <p:spPr>
          <a:xfrm>
            <a:off x="8585200" y="3378200"/>
            <a:ext cx="2540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27" name="dst1-txt"/>
          <p:cNvSpPr txBox="1"/>
          <p:nvPr/>
        </p:nvSpPr>
        <p:spPr>
          <a:xfrm>
            <a:off x="8585200" y="33782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Alerts</a:t>
            </a:r>
            <a:endParaRPr lang="en-US" sz="1300"/>
          </a:p>
        </p:txBody>
      </p:sp>
      <p:sp>
        <p:nvSpPr>
          <p:cNvPr id="28" name="dst2"/>
          <p:cNvSpPr/>
          <p:nvPr/>
        </p:nvSpPr>
        <p:spPr>
          <a:xfrm>
            <a:off x="8585200" y="4216400"/>
            <a:ext cx="2540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29" name="dst2-txt"/>
          <p:cNvSpPr txBox="1"/>
          <p:nvPr/>
        </p:nvSpPr>
        <p:spPr>
          <a:xfrm>
            <a:off x="8585200" y="42164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Reports</a:t>
            </a:r>
            <a:endParaRPr lang="en-US" sz="1300"/>
          </a:p>
        </p:txBody>
      </p:sp>
      <p:sp>
        <p:nvSpPr>
          <p:cNvPr id="30" name="dst3"/>
          <p:cNvSpPr/>
          <p:nvPr/>
        </p:nvSpPr>
        <p:spPr>
          <a:xfrm>
            <a:off x="8585200" y="5054600"/>
            <a:ext cx="2540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</p:sp>
      <p:sp>
        <p:nvSpPr>
          <p:cNvPr id="31" name="dst3-txt"/>
          <p:cNvSpPr txBox="1"/>
          <p:nvPr/>
        </p:nvSpPr>
        <p:spPr>
          <a:xfrm>
            <a:off x="8585200" y="50546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Open API</a:t>
            </a:r>
            <a:endParaRPr lang="en-US" sz="1300"/>
          </a:p>
        </p:txBody>
      </p:sp>
      <p:sp>
        <p:nvSpPr>
          <p:cNvPr id="32" name="flow1-221"/>
          <p:cNvSpPr/>
          <p:nvPr/>
        </p:nvSpPr>
        <p:spPr>
          <a:xfrm>
            <a:off x="3556000" y="2806700"/>
            <a:ext cx="939800" cy="254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33" name="flow1-260"/>
          <p:cNvSpPr/>
          <p:nvPr/>
        </p:nvSpPr>
        <p:spPr>
          <a:xfrm>
            <a:off x="3556000" y="3302000"/>
            <a:ext cx="939800" cy="254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34" name="flow1-318"/>
          <p:cNvSpPr/>
          <p:nvPr/>
        </p:nvSpPr>
        <p:spPr>
          <a:xfrm>
            <a:off x="3556000" y="4038600"/>
            <a:ext cx="939800" cy="254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35" name="flow2-242"/>
          <p:cNvSpPr/>
          <p:nvPr/>
        </p:nvSpPr>
        <p:spPr>
          <a:xfrm>
            <a:off x="7696200" y="3073400"/>
            <a:ext cx="685800" cy="254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36" name="flow2-334"/>
          <p:cNvSpPr/>
          <p:nvPr/>
        </p:nvSpPr>
        <p:spPr>
          <a:xfrm>
            <a:off x="7696200" y="4241800"/>
            <a:ext cx="685800" cy="254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37" name="flow2-426"/>
          <p:cNvSpPr/>
          <p:nvPr/>
        </p:nvSpPr>
        <p:spPr>
          <a:xfrm>
            <a:off x="7696200" y="5410200"/>
            <a:ext cx="685800" cy="25400"/>
          </a:xfrm>
          <a:prstGeom prst="rect">
            <a:avLst/>
          </a:prstGeom>
          <a:solidFill>
            <a:srgbClr val="B7C0CE"/>
          </a:solidFill>
          <a:ln>
            <a:noFill/>
          </a:ln>
        </p:spPr>
      </p:sp>
      <p:sp>
        <p:nvSpPr>
          <p:cNvPr id="38" name="footnote"/>
          <p:cNvSpPr txBox="1"/>
          <p:nvPr/>
        </p:nvSpPr>
        <p:spPr>
          <a:xfrm>
            <a:off x="812800" y="60960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Simplified view. Event-driven runtime; 99.95% uptime SLA on Enterprise plans.</a:t>
            </a:r>
            <a:endParaRPr lang="en-US" sz="1100"/>
          </a:p>
        </p:txBody>
      </p:sp>
      <p:sp>
        <p:nvSpPr>
          <p:cNvPr id="39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20 / 40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Security and compliance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sec0-marker"/>
          <p:cNvSpPr/>
          <p:nvPr/>
        </p:nvSpPr>
        <p:spPr>
          <a:xfrm>
            <a:off x="812800" y="23368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sec0-title"/>
          <p:cNvSpPr txBox="1"/>
          <p:nvPr/>
        </p:nvSpPr>
        <p:spPr>
          <a:xfrm>
            <a:off x="1219200" y="22606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Encryption everywhere</a:t>
            </a:r>
            <a:endParaRPr lang="en-US" sz="1600"/>
          </a:p>
        </p:txBody>
      </p:sp>
      <p:sp>
        <p:nvSpPr>
          <p:cNvPr id="7" name="sec0-desc"/>
          <p:cNvSpPr txBox="1"/>
          <p:nvPr/>
        </p:nvSpPr>
        <p:spPr>
          <a:xfrm>
            <a:off x="1219200" y="2616200"/>
            <a:ext cx="711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TLS 1.3 in transit, AES-256 at rest, per-customer keys on Enterprise.</a:t>
            </a:r>
            <a:endParaRPr lang="en-US" sz="1200"/>
          </a:p>
        </p:txBody>
      </p:sp>
      <p:sp>
        <p:nvSpPr>
          <p:cNvPr id="8" name="sec1-marker"/>
          <p:cNvSpPr/>
          <p:nvPr/>
        </p:nvSpPr>
        <p:spPr>
          <a:xfrm>
            <a:off x="812800" y="32766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9" name="sec1-title"/>
          <p:cNvSpPr txBox="1"/>
          <p:nvPr/>
        </p:nvSpPr>
        <p:spPr>
          <a:xfrm>
            <a:off x="1219200" y="32004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Least-privilege access</a:t>
            </a:r>
            <a:endParaRPr lang="en-US" sz="1600"/>
          </a:p>
        </p:txBody>
      </p:sp>
      <p:sp>
        <p:nvSpPr>
          <p:cNvPr id="10" name="sec1-desc"/>
          <p:cNvSpPr txBox="1"/>
          <p:nvPr/>
        </p:nvSpPr>
        <p:spPr>
          <a:xfrm>
            <a:off x="1219200" y="3556000"/>
            <a:ext cx="711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Role-based permissions down to a single workflow; SCIM deprovisioning.</a:t>
            </a:r>
            <a:endParaRPr lang="en-US" sz="1200"/>
          </a:p>
        </p:txBody>
      </p:sp>
      <p:sp>
        <p:nvSpPr>
          <p:cNvPr id="11" name="sec2-marker"/>
          <p:cNvSpPr/>
          <p:nvPr/>
        </p:nvSpPr>
        <p:spPr>
          <a:xfrm>
            <a:off x="812800" y="42164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2" name="sec2-title"/>
          <p:cNvSpPr txBox="1"/>
          <p:nvPr/>
        </p:nvSpPr>
        <p:spPr>
          <a:xfrm>
            <a:off x="1219200" y="41402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Regional data residency</a:t>
            </a:r>
            <a:endParaRPr lang="en-US" sz="1600"/>
          </a:p>
        </p:txBody>
      </p:sp>
      <p:sp>
        <p:nvSpPr>
          <p:cNvPr id="13" name="sec2-desc"/>
          <p:cNvSpPr txBox="1"/>
          <p:nvPr/>
        </p:nvSpPr>
        <p:spPr>
          <a:xfrm>
            <a:off x="1219200" y="4495800"/>
            <a:ext cx="711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US region live; Frankfurt region ships Q4 2026 for EU customers.</a:t>
            </a:r>
            <a:endParaRPr lang="en-US" sz="1200"/>
          </a:p>
        </p:txBody>
      </p:sp>
      <p:sp>
        <p:nvSpPr>
          <p:cNvPr id="14" name="sec3-marker"/>
          <p:cNvSpPr/>
          <p:nvPr/>
        </p:nvSpPr>
        <p:spPr>
          <a:xfrm>
            <a:off x="812800" y="5156200"/>
            <a:ext cx="152400" cy="152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5" name="sec3-title"/>
          <p:cNvSpPr txBox="1"/>
          <p:nvPr/>
        </p:nvSpPr>
        <p:spPr>
          <a:xfrm>
            <a:off x="1219200" y="5080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Continuous assurance</a:t>
            </a:r>
            <a:endParaRPr lang="en-US" sz="1600"/>
          </a:p>
        </p:txBody>
      </p:sp>
      <p:sp>
        <p:nvSpPr>
          <p:cNvPr id="16" name="sec3-desc"/>
          <p:cNvSpPr txBox="1"/>
          <p:nvPr/>
        </p:nvSpPr>
        <p:spPr>
          <a:xfrm>
            <a:off x="1219200" y="5435600"/>
            <a:ext cx="711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Annual penetration tests, 24/7 monitoring, public status page.</a:t>
            </a:r>
            <a:endParaRPr lang="en-US" sz="1200"/>
          </a:p>
        </p:txBody>
      </p:sp>
      <p:sp>
        <p:nvSpPr>
          <p:cNvPr id="17" name="side-panel"/>
          <p:cNvSpPr/>
          <p:nvPr/>
        </p:nvSpPr>
        <p:spPr>
          <a:xfrm>
            <a:off x="8890000" y="2260600"/>
            <a:ext cx="2489200" cy="3581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8" name="side-title"/>
          <p:cNvSpPr txBox="1"/>
          <p:nvPr/>
        </p:nvSpPr>
        <p:spPr>
          <a:xfrm>
            <a:off x="9144000" y="2514600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b="1" spc="100" kern="0">
                <a:solidFill>
                  <a:srgbClr val="A9BBD4"/>
                </a:solidFill>
                <a:latin typeface="Liter"/>
                <a:ea typeface="Liter"/>
              </a:rPr>
              <a:t>TRUST CENTER</a:t>
            </a:r>
            <a:endParaRPr lang="en-US" sz="1200"/>
          </a:p>
        </p:txBody>
      </p:sp>
      <p:sp>
        <p:nvSpPr>
          <p:cNvPr id="19" name="trust0"/>
          <p:cNvSpPr txBox="1"/>
          <p:nvPr/>
        </p:nvSpPr>
        <p:spPr>
          <a:xfrm>
            <a:off x="9144000" y="31750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>
                <a:solidFill>
                  <a:srgbClr val="FFFFFF"/>
                </a:solidFill>
                <a:latin typeface="Liter"/>
                <a:ea typeface="Liter"/>
              </a:rPr>
              <a:t>soc2.northwindlabs.com</a:t>
            </a:r>
            <a:endParaRPr lang="en-US" sz="1100"/>
          </a:p>
        </p:txBody>
      </p:sp>
      <p:sp>
        <p:nvSpPr>
          <p:cNvPr id="20" name="trust0-rule"/>
          <p:cNvSpPr/>
          <p:nvPr/>
        </p:nvSpPr>
        <p:spPr>
          <a:xfrm>
            <a:off x="9144000" y="3657600"/>
            <a:ext cx="1981200" cy="12700"/>
          </a:xfrm>
          <a:prstGeom prst="rect">
            <a:avLst/>
          </a:prstGeom>
          <a:solidFill>
            <a:srgbClr val="2A4A7A"/>
          </a:solidFill>
          <a:ln>
            <a:noFill/>
          </a:ln>
        </p:spPr>
      </p:sp>
      <p:sp>
        <p:nvSpPr>
          <p:cNvPr id="21" name="trust1"/>
          <p:cNvSpPr txBox="1"/>
          <p:nvPr/>
        </p:nvSpPr>
        <p:spPr>
          <a:xfrm>
            <a:off x="9144000" y="37846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>
                <a:solidFill>
                  <a:srgbClr val="FFFFFF"/>
                </a:solidFill>
                <a:latin typeface="Liter"/>
                <a:ea typeface="Liter"/>
              </a:rPr>
              <a:t>status.northwindlabs.com</a:t>
            </a:r>
            <a:endParaRPr lang="en-US" sz="1100"/>
          </a:p>
        </p:txBody>
      </p:sp>
      <p:sp>
        <p:nvSpPr>
          <p:cNvPr id="22" name="trust1-rule"/>
          <p:cNvSpPr/>
          <p:nvPr/>
        </p:nvSpPr>
        <p:spPr>
          <a:xfrm>
            <a:off x="9144000" y="4267200"/>
            <a:ext cx="1981200" cy="12700"/>
          </a:xfrm>
          <a:prstGeom prst="rect">
            <a:avLst/>
          </a:prstGeom>
          <a:solidFill>
            <a:srgbClr val="2A4A7A"/>
          </a:solidFill>
          <a:ln>
            <a:noFill/>
          </a:ln>
        </p:spPr>
      </p:sp>
      <p:sp>
        <p:nvSpPr>
          <p:cNvPr id="23" name="trust2"/>
          <p:cNvSpPr txBox="1"/>
          <p:nvPr/>
        </p:nvSpPr>
        <p:spPr>
          <a:xfrm>
            <a:off x="9144000" y="43942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>
                <a:solidFill>
                  <a:srgbClr val="FFFFFF"/>
                </a:solidFill>
                <a:latin typeface="Liter"/>
                <a:ea typeface="Liter"/>
              </a:rPr>
              <a:t>DPA &amp; subprocessors</a:t>
            </a:r>
            <a:endParaRPr lang="en-US" sz="1100"/>
          </a:p>
        </p:txBody>
      </p:sp>
      <p:sp>
        <p:nvSpPr>
          <p:cNvPr id="24" name="trust2-rule"/>
          <p:cNvSpPr/>
          <p:nvPr/>
        </p:nvSpPr>
        <p:spPr>
          <a:xfrm>
            <a:off x="9144000" y="4876800"/>
            <a:ext cx="1981200" cy="12700"/>
          </a:xfrm>
          <a:prstGeom prst="rect">
            <a:avLst/>
          </a:prstGeom>
          <a:solidFill>
            <a:srgbClr val="2A4A7A"/>
          </a:solidFill>
          <a:ln>
            <a:noFill/>
          </a:ln>
        </p:spPr>
      </p:sp>
      <p:sp>
        <p:nvSpPr>
          <p:cNvPr id="25" name="trust3"/>
          <p:cNvSpPr txBox="1"/>
          <p:nvPr/>
        </p:nvSpPr>
        <p:spPr>
          <a:xfrm>
            <a:off x="9144000" y="5003800"/>
            <a:ext cx="1981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>
                <a:solidFill>
                  <a:srgbClr val="FFFFFF"/>
                </a:solidFill>
                <a:latin typeface="Liter"/>
                <a:ea typeface="Liter"/>
              </a:rPr>
              <a:t>Security whitepaper</a:t>
            </a:r>
            <a:endParaRPr lang="en-US" sz="1100"/>
          </a:p>
        </p:txBody>
      </p:sp>
      <p:sp>
        <p:nvSpPr>
          <p:cNvPr id="26" name="trust3-rule"/>
          <p:cNvSpPr/>
          <p:nvPr/>
        </p:nvSpPr>
        <p:spPr>
          <a:xfrm>
            <a:off x="9144000" y="5486400"/>
            <a:ext cx="1981200" cy="12700"/>
          </a:xfrm>
          <a:prstGeom prst="rect">
            <a:avLst/>
          </a:prstGeom>
          <a:solidFill>
            <a:srgbClr val="2A4A7A"/>
          </a:solidFill>
          <a:ln>
            <a:noFill/>
          </a:ln>
        </p:spPr>
      </p:sp>
      <p:sp>
        <p:nvSpPr>
          <p:cNvPr id="27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21 / 40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PRODUCT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Connects to the stack you already run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int0"/>
          <p:cNvSpPr/>
          <p:nvPr/>
        </p:nvSpPr>
        <p:spPr>
          <a:xfrm>
            <a:off x="812800" y="22606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int0-txt"/>
          <p:cNvSpPr txBox="1"/>
          <p:nvPr/>
        </p:nvSpPr>
        <p:spPr>
          <a:xfrm>
            <a:off x="812800" y="22606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Salesforce</a:t>
            </a:r>
            <a:endParaRPr lang="en-US" sz="1400"/>
          </a:p>
        </p:txBody>
      </p:sp>
      <p:sp>
        <p:nvSpPr>
          <p:cNvPr id="7" name="int1"/>
          <p:cNvSpPr/>
          <p:nvPr/>
        </p:nvSpPr>
        <p:spPr>
          <a:xfrm>
            <a:off x="3505200" y="22606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8" name="int1-txt"/>
          <p:cNvSpPr txBox="1"/>
          <p:nvPr/>
        </p:nvSpPr>
        <p:spPr>
          <a:xfrm>
            <a:off x="3505200" y="22606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HubSpot</a:t>
            </a:r>
            <a:endParaRPr lang="en-US" sz="1400"/>
          </a:p>
        </p:txBody>
      </p:sp>
      <p:sp>
        <p:nvSpPr>
          <p:cNvPr id="9" name="int2"/>
          <p:cNvSpPr/>
          <p:nvPr/>
        </p:nvSpPr>
        <p:spPr>
          <a:xfrm>
            <a:off x="6197600" y="22606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0" name="int2-txt"/>
          <p:cNvSpPr txBox="1"/>
          <p:nvPr/>
        </p:nvSpPr>
        <p:spPr>
          <a:xfrm>
            <a:off x="6197600" y="22606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Stripe</a:t>
            </a:r>
            <a:endParaRPr lang="en-US" sz="1400"/>
          </a:p>
        </p:txBody>
      </p:sp>
      <p:sp>
        <p:nvSpPr>
          <p:cNvPr id="11" name="int3"/>
          <p:cNvSpPr/>
          <p:nvPr/>
        </p:nvSpPr>
        <p:spPr>
          <a:xfrm>
            <a:off x="8890000" y="22606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int3-txt"/>
          <p:cNvSpPr txBox="1"/>
          <p:nvPr/>
        </p:nvSpPr>
        <p:spPr>
          <a:xfrm>
            <a:off x="8890000" y="22606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Zendesk</a:t>
            </a:r>
            <a:endParaRPr lang="en-US" sz="1400"/>
          </a:p>
        </p:txBody>
      </p:sp>
      <p:sp>
        <p:nvSpPr>
          <p:cNvPr id="13" name="int4"/>
          <p:cNvSpPr/>
          <p:nvPr/>
        </p:nvSpPr>
        <p:spPr>
          <a:xfrm>
            <a:off x="812800" y="32004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4" name="int4-txt"/>
          <p:cNvSpPr txBox="1"/>
          <p:nvPr/>
        </p:nvSpPr>
        <p:spPr>
          <a:xfrm>
            <a:off x="812800" y="32004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Slack</a:t>
            </a:r>
            <a:endParaRPr lang="en-US" sz="1400"/>
          </a:p>
        </p:txBody>
      </p:sp>
      <p:sp>
        <p:nvSpPr>
          <p:cNvPr id="15" name="int5"/>
          <p:cNvSpPr/>
          <p:nvPr/>
        </p:nvSpPr>
        <p:spPr>
          <a:xfrm>
            <a:off x="3505200" y="32004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6" name="int5-txt"/>
          <p:cNvSpPr txBox="1"/>
          <p:nvPr/>
        </p:nvSpPr>
        <p:spPr>
          <a:xfrm>
            <a:off x="3505200" y="32004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Jira</a:t>
            </a:r>
            <a:endParaRPr lang="en-US" sz="1400"/>
          </a:p>
        </p:txBody>
      </p:sp>
      <p:sp>
        <p:nvSpPr>
          <p:cNvPr id="17" name="int6"/>
          <p:cNvSpPr/>
          <p:nvPr/>
        </p:nvSpPr>
        <p:spPr>
          <a:xfrm>
            <a:off x="6197600" y="32004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8" name="int6-txt"/>
          <p:cNvSpPr txBox="1"/>
          <p:nvPr/>
        </p:nvSpPr>
        <p:spPr>
          <a:xfrm>
            <a:off x="6197600" y="32004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NetSuite</a:t>
            </a:r>
            <a:endParaRPr lang="en-US" sz="1400"/>
          </a:p>
        </p:txBody>
      </p:sp>
      <p:sp>
        <p:nvSpPr>
          <p:cNvPr id="19" name="int7"/>
          <p:cNvSpPr/>
          <p:nvPr/>
        </p:nvSpPr>
        <p:spPr>
          <a:xfrm>
            <a:off x="8890000" y="32004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0" name="int7-txt"/>
          <p:cNvSpPr txBox="1"/>
          <p:nvPr/>
        </p:nvSpPr>
        <p:spPr>
          <a:xfrm>
            <a:off x="8890000" y="32004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Snowflake</a:t>
            </a:r>
            <a:endParaRPr lang="en-US" sz="1400"/>
          </a:p>
        </p:txBody>
      </p:sp>
      <p:sp>
        <p:nvSpPr>
          <p:cNvPr id="21" name="int8"/>
          <p:cNvSpPr/>
          <p:nvPr/>
        </p:nvSpPr>
        <p:spPr>
          <a:xfrm>
            <a:off x="812800" y="41402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2" name="int8-txt"/>
          <p:cNvSpPr txBox="1"/>
          <p:nvPr/>
        </p:nvSpPr>
        <p:spPr>
          <a:xfrm>
            <a:off x="812800" y="41402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Shopify</a:t>
            </a:r>
            <a:endParaRPr lang="en-US" sz="1400"/>
          </a:p>
        </p:txBody>
      </p:sp>
      <p:sp>
        <p:nvSpPr>
          <p:cNvPr id="23" name="int9"/>
          <p:cNvSpPr/>
          <p:nvPr/>
        </p:nvSpPr>
        <p:spPr>
          <a:xfrm>
            <a:off x="3505200" y="41402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4" name="int9-txt"/>
          <p:cNvSpPr txBox="1"/>
          <p:nvPr/>
        </p:nvSpPr>
        <p:spPr>
          <a:xfrm>
            <a:off x="3505200" y="41402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Intercom</a:t>
            </a:r>
            <a:endParaRPr lang="en-US" sz="1400"/>
          </a:p>
        </p:txBody>
      </p:sp>
      <p:sp>
        <p:nvSpPr>
          <p:cNvPr id="25" name="int10"/>
          <p:cNvSpPr/>
          <p:nvPr/>
        </p:nvSpPr>
        <p:spPr>
          <a:xfrm>
            <a:off x="6197600" y="41402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6" name="int10-txt"/>
          <p:cNvSpPr txBox="1"/>
          <p:nvPr/>
        </p:nvSpPr>
        <p:spPr>
          <a:xfrm>
            <a:off x="6197600" y="41402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Workday</a:t>
            </a:r>
            <a:endParaRPr lang="en-US" sz="1400"/>
          </a:p>
        </p:txBody>
      </p:sp>
      <p:sp>
        <p:nvSpPr>
          <p:cNvPr id="27" name="int11"/>
          <p:cNvSpPr/>
          <p:nvPr/>
        </p:nvSpPr>
        <p:spPr>
          <a:xfrm>
            <a:off x="8890000" y="4140200"/>
            <a:ext cx="2489200" cy="736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8" name="int11-txt"/>
          <p:cNvSpPr txBox="1"/>
          <p:nvPr/>
        </p:nvSpPr>
        <p:spPr>
          <a:xfrm>
            <a:off x="8890000" y="4140200"/>
            <a:ext cx="2489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SAP</a:t>
            </a:r>
            <a:endParaRPr lang="en-US" sz="1400"/>
          </a:p>
        </p:txBody>
      </p:sp>
      <p:sp>
        <p:nvSpPr>
          <p:cNvPr id="29" name="more-note"/>
          <p:cNvSpPr txBox="1"/>
          <p:nvPr/>
        </p:nvSpPr>
        <p:spPr>
          <a:xfrm>
            <a:off x="812800" y="52578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…and 190+ more. Plus a </a:t>
            </a: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REST API and webhooks</a:t>
            </a: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 for anything custom.</a:t>
            </a:r>
            <a:endParaRPr lang="en-US" sz="1400"/>
          </a:p>
        </p:txBody>
      </p:sp>
      <p:sp>
        <p:nvSpPr>
          <p:cNvPr id="30" name="footnote"/>
          <p:cNvSpPr txBox="1"/>
          <p:nvPr/>
        </p:nvSpPr>
        <p:spPr>
          <a:xfrm>
            <a:off x="812800" y="5969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Trademarks belong to their respective owners; integration list illustrative.</a:t>
            </a:r>
            <a:endParaRPr lang="en-US" sz="1100"/>
          </a:p>
        </p:txBody>
      </p:sp>
      <p:sp>
        <p:nvSpPr>
          <p:cNvPr id="31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22 / 40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04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Business Model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Pricing and unit economics</a:t>
            </a:r>
            <a:endParaRPr lang="en-US" sz="15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BUSINESS MODEL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Simple pricing that scales with usage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t0-card"/>
          <p:cNvSpPr/>
          <p:nvPr/>
        </p:nvSpPr>
        <p:spPr>
          <a:xfrm>
            <a:off x="812800" y="2184400"/>
            <a:ext cx="3314700" cy="375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t0-name"/>
          <p:cNvSpPr txBox="1"/>
          <p:nvPr/>
        </p:nvSpPr>
        <p:spPr>
          <a:xfrm>
            <a:off x="1117600" y="2438400"/>
            <a:ext cx="27051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5B6472"/>
                </a:solidFill>
                <a:latin typeface="Liter"/>
                <a:ea typeface="Liter"/>
              </a:rPr>
              <a:t>STARTER</a:t>
            </a:r>
            <a:endParaRPr lang="en-US" sz="1200"/>
          </a:p>
        </p:txBody>
      </p:sp>
      <p:sp>
        <p:nvSpPr>
          <p:cNvPr id="7" name="t0-price"/>
          <p:cNvSpPr txBox="1"/>
          <p:nvPr/>
        </p:nvSpPr>
        <p:spPr>
          <a:xfrm>
            <a:off x="1117600" y="2743200"/>
            <a:ext cx="27051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1A1A1A"/>
                </a:solidFill>
                <a:latin typeface="Liter"/>
                <a:ea typeface="Liter"/>
              </a:rPr>
              <a:t>$490</a:t>
            </a:r>
            <a:endParaRPr lang="en-US" sz="3400"/>
          </a:p>
        </p:txBody>
      </p:sp>
      <p:sp>
        <p:nvSpPr>
          <p:cNvPr id="8" name="t0-per"/>
          <p:cNvSpPr txBox="1"/>
          <p:nvPr/>
        </p:nvSpPr>
        <p:spPr>
          <a:xfrm>
            <a:off x="1117600" y="3302000"/>
            <a:ext cx="27051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/ month</a:t>
            </a:r>
            <a:endParaRPr lang="en-US" sz="1100"/>
          </a:p>
        </p:txBody>
      </p:sp>
      <p:sp>
        <p:nvSpPr>
          <p:cNvPr id="9" name="t0-rule"/>
          <p:cNvSpPr/>
          <p:nvPr/>
        </p:nvSpPr>
        <p:spPr>
          <a:xfrm>
            <a:off x="1117600" y="3708400"/>
            <a:ext cx="27051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10" name="t0-f0-dot"/>
          <p:cNvSpPr/>
          <p:nvPr/>
        </p:nvSpPr>
        <p:spPr>
          <a:xfrm>
            <a:off x="1117600" y="39370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1" name="t0-f0"/>
          <p:cNvSpPr txBox="1"/>
          <p:nvPr/>
        </p:nvSpPr>
        <p:spPr>
          <a:xfrm>
            <a:off x="1346200" y="38354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Up to 5 workflows</a:t>
            </a:r>
            <a:endParaRPr lang="en-US" sz="1200"/>
          </a:p>
        </p:txBody>
      </p:sp>
      <p:sp>
        <p:nvSpPr>
          <p:cNvPr id="12" name="t0-f1-dot"/>
          <p:cNvSpPr/>
          <p:nvPr/>
        </p:nvSpPr>
        <p:spPr>
          <a:xfrm>
            <a:off x="1117600" y="43942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3" name="t0-f1"/>
          <p:cNvSpPr txBox="1"/>
          <p:nvPr/>
        </p:nvSpPr>
        <p:spPr>
          <a:xfrm>
            <a:off x="1346200" y="42926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2,000 runs / month</a:t>
            </a:r>
            <a:endParaRPr lang="en-US" sz="1200"/>
          </a:p>
        </p:txBody>
      </p:sp>
      <p:sp>
        <p:nvSpPr>
          <p:cNvPr id="14" name="t0-f2-dot"/>
          <p:cNvSpPr/>
          <p:nvPr/>
        </p:nvSpPr>
        <p:spPr>
          <a:xfrm>
            <a:off x="1117600" y="48514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5" name="t0-f2"/>
          <p:cNvSpPr txBox="1"/>
          <p:nvPr/>
        </p:nvSpPr>
        <p:spPr>
          <a:xfrm>
            <a:off x="1346200" y="4749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Core integrations</a:t>
            </a:r>
            <a:endParaRPr lang="en-US" sz="1200"/>
          </a:p>
        </p:txBody>
      </p:sp>
      <p:sp>
        <p:nvSpPr>
          <p:cNvPr id="16" name="t0-f3-dot"/>
          <p:cNvSpPr/>
          <p:nvPr/>
        </p:nvSpPr>
        <p:spPr>
          <a:xfrm>
            <a:off x="1117600" y="53086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7" name="t0-f3"/>
          <p:cNvSpPr txBox="1"/>
          <p:nvPr/>
        </p:nvSpPr>
        <p:spPr>
          <a:xfrm>
            <a:off x="1346200" y="52070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Community support</a:t>
            </a:r>
            <a:endParaRPr lang="en-US" sz="1200"/>
          </a:p>
        </p:txBody>
      </p:sp>
      <p:sp>
        <p:nvSpPr>
          <p:cNvPr id="18" name="t1-card"/>
          <p:cNvSpPr/>
          <p:nvPr/>
        </p:nvSpPr>
        <p:spPr>
          <a:xfrm>
            <a:off x="4432300" y="2184400"/>
            <a:ext cx="3314700" cy="3759200"/>
          </a:xfrm>
          <a:prstGeom prst="rect">
            <a:avLst/>
          </a:prstGeom>
          <a:solidFill>
            <a:srgbClr val="F2F4F7"/>
          </a:solidFill>
          <a:ln w="25400">
            <a:solidFill>
              <a:srgbClr val="FF6B00"/>
            </a:solidFill>
          </a:ln>
        </p:spPr>
      </p:sp>
      <p:sp>
        <p:nvSpPr>
          <p:cNvPr id="19" name="t1-name"/>
          <p:cNvSpPr txBox="1"/>
          <p:nvPr/>
        </p:nvSpPr>
        <p:spPr>
          <a:xfrm>
            <a:off x="4737100" y="2438400"/>
            <a:ext cx="27051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FF6B00"/>
                </a:solidFill>
                <a:latin typeface="Liter"/>
                <a:ea typeface="Liter"/>
              </a:rPr>
              <a:t>GROWTH</a:t>
            </a:r>
            <a:endParaRPr lang="en-US" sz="1200"/>
          </a:p>
        </p:txBody>
      </p:sp>
      <p:sp>
        <p:nvSpPr>
          <p:cNvPr id="20" name="t1-price"/>
          <p:cNvSpPr txBox="1"/>
          <p:nvPr/>
        </p:nvSpPr>
        <p:spPr>
          <a:xfrm>
            <a:off x="4737100" y="2743200"/>
            <a:ext cx="27051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1A1A1A"/>
                </a:solidFill>
                <a:latin typeface="Liter"/>
                <a:ea typeface="Liter"/>
              </a:rPr>
              <a:t>$1,900</a:t>
            </a:r>
            <a:endParaRPr lang="en-US" sz="3400"/>
          </a:p>
        </p:txBody>
      </p:sp>
      <p:sp>
        <p:nvSpPr>
          <p:cNvPr id="21" name="t1-per"/>
          <p:cNvSpPr txBox="1"/>
          <p:nvPr/>
        </p:nvSpPr>
        <p:spPr>
          <a:xfrm>
            <a:off x="4737100" y="3302000"/>
            <a:ext cx="27051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/ month</a:t>
            </a:r>
            <a:endParaRPr lang="en-US" sz="1100"/>
          </a:p>
        </p:txBody>
      </p:sp>
      <p:sp>
        <p:nvSpPr>
          <p:cNvPr id="22" name="t1-rule"/>
          <p:cNvSpPr/>
          <p:nvPr/>
        </p:nvSpPr>
        <p:spPr>
          <a:xfrm>
            <a:off x="4737100" y="3708400"/>
            <a:ext cx="27051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23" name="t1-f0-dot"/>
          <p:cNvSpPr/>
          <p:nvPr/>
        </p:nvSpPr>
        <p:spPr>
          <a:xfrm>
            <a:off x="4737100" y="39370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4" name="t1-f0"/>
          <p:cNvSpPr txBox="1"/>
          <p:nvPr/>
        </p:nvSpPr>
        <p:spPr>
          <a:xfrm>
            <a:off x="4965700" y="38354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Unlimited workflows</a:t>
            </a:r>
            <a:endParaRPr lang="en-US" sz="1200"/>
          </a:p>
        </p:txBody>
      </p:sp>
      <p:sp>
        <p:nvSpPr>
          <p:cNvPr id="25" name="t1-f1-dot"/>
          <p:cNvSpPr/>
          <p:nvPr/>
        </p:nvSpPr>
        <p:spPr>
          <a:xfrm>
            <a:off x="4737100" y="43942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6" name="t1-f1"/>
          <p:cNvSpPr txBox="1"/>
          <p:nvPr/>
        </p:nvSpPr>
        <p:spPr>
          <a:xfrm>
            <a:off x="4965700" y="42926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25,000 runs / month</a:t>
            </a:r>
            <a:endParaRPr lang="en-US" sz="1200"/>
          </a:p>
        </p:txBody>
      </p:sp>
      <p:sp>
        <p:nvSpPr>
          <p:cNvPr id="27" name="t1-f2-dot"/>
          <p:cNvSpPr/>
          <p:nvPr/>
        </p:nvSpPr>
        <p:spPr>
          <a:xfrm>
            <a:off x="4737100" y="48514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8" name="t1-f2"/>
          <p:cNvSpPr txBox="1"/>
          <p:nvPr/>
        </p:nvSpPr>
        <p:spPr>
          <a:xfrm>
            <a:off x="4965700" y="4749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Realtime metrics &amp; alerts</a:t>
            </a:r>
            <a:endParaRPr lang="en-US" sz="1200"/>
          </a:p>
        </p:txBody>
      </p:sp>
      <p:sp>
        <p:nvSpPr>
          <p:cNvPr id="29" name="t1-f3-dot"/>
          <p:cNvSpPr/>
          <p:nvPr/>
        </p:nvSpPr>
        <p:spPr>
          <a:xfrm>
            <a:off x="4737100" y="53086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0" name="t1-f3"/>
          <p:cNvSpPr txBox="1"/>
          <p:nvPr/>
        </p:nvSpPr>
        <p:spPr>
          <a:xfrm>
            <a:off x="4965700" y="52070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Priority support</a:t>
            </a:r>
            <a:endParaRPr lang="en-US" sz="1200"/>
          </a:p>
        </p:txBody>
      </p:sp>
      <p:sp>
        <p:nvSpPr>
          <p:cNvPr id="31" name="t2-card"/>
          <p:cNvSpPr/>
          <p:nvPr/>
        </p:nvSpPr>
        <p:spPr>
          <a:xfrm>
            <a:off x="8051800" y="2184400"/>
            <a:ext cx="3314700" cy="37592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32" name="t2-name"/>
          <p:cNvSpPr txBox="1"/>
          <p:nvPr/>
        </p:nvSpPr>
        <p:spPr>
          <a:xfrm>
            <a:off x="8356600" y="2438400"/>
            <a:ext cx="27051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5B6472"/>
                </a:solidFill>
                <a:latin typeface="Liter"/>
                <a:ea typeface="Liter"/>
              </a:rPr>
              <a:t>ENTERPRISE</a:t>
            </a:r>
            <a:endParaRPr lang="en-US" sz="1200"/>
          </a:p>
        </p:txBody>
      </p:sp>
      <p:sp>
        <p:nvSpPr>
          <p:cNvPr id="33" name="t2-price"/>
          <p:cNvSpPr txBox="1"/>
          <p:nvPr/>
        </p:nvSpPr>
        <p:spPr>
          <a:xfrm>
            <a:off x="8356600" y="2743200"/>
            <a:ext cx="27051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1A1A1A"/>
                </a:solidFill>
                <a:latin typeface="Liter"/>
                <a:ea typeface="Liter"/>
              </a:rPr>
              <a:t>Custom</a:t>
            </a:r>
            <a:endParaRPr lang="en-US" sz="3400"/>
          </a:p>
        </p:txBody>
      </p:sp>
      <p:sp>
        <p:nvSpPr>
          <p:cNvPr id="34" name="t2-per"/>
          <p:cNvSpPr txBox="1"/>
          <p:nvPr/>
        </p:nvSpPr>
        <p:spPr>
          <a:xfrm>
            <a:off x="8356600" y="3302000"/>
            <a:ext cx="27051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annual contract</a:t>
            </a:r>
            <a:endParaRPr lang="en-US" sz="1100"/>
          </a:p>
        </p:txBody>
      </p:sp>
      <p:sp>
        <p:nvSpPr>
          <p:cNvPr id="35" name="t2-rule"/>
          <p:cNvSpPr/>
          <p:nvPr/>
        </p:nvSpPr>
        <p:spPr>
          <a:xfrm>
            <a:off x="8356600" y="3708400"/>
            <a:ext cx="2705100" cy="12700"/>
          </a:xfrm>
          <a:prstGeom prst="rect">
            <a:avLst/>
          </a:prstGeom>
          <a:solidFill>
            <a:srgbClr val="D9DEE6"/>
          </a:solidFill>
          <a:ln>
            <a:noFill/>
          </a:ln>
        </p:spPr>
      </p:sp>
      <p:sp>
        <p:nvSpPr>
          <p:cNvPr id="36" name="t2-f0-dot"/>
          <p:cNvSpPr/>
          <p:nvPr/>
        </p:nvSpPr>
        <p:spPr>
          <a:xfrm>
            <a:off x="8356600" y="39370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7" name="t2-f0"/>
          <p:cNvSpPr txBox="1"/>
          <p:nvPr/>
        </p:nvSpPr>
        <p:spPr>
          <a:xfrm>
            <a:off x="8585200" y="38354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SSO/SAML &amp; SCIM</a:t>
            </a:r>
            <a:endParaRPr lang="en-US" sz="1200"/>
          </a:p>
        </p:txBody>
      </p:sp>
      <p:sp>
        <p:nvSpPr>
          <p:cNvPr id="38" name="t2-f1-dot"/>
          <p:cNvSpPr/>
          <p:nvPr/>
        </p:nvSpPr>
        <p:spPr>
          <a:xfrm>
            <a:off x="8356600" y="43942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9" name="t2-f1"/>
          <p:cNvSpPr txBox="1"/>
          <p:nvPr/>
        </p:nvSpPr>
        <p:spPr>
          <a:xfrm>
            <a:off x="8585200" y="42926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Audit log export</a:t>
            </a:r>
            <a:endParaRPr lang="en-US" sz="1200"/>
          </a:p>
        </p:txBody>
      </p:sp>
      <p:sp>
        <p:nvSpPr>
          <p:cNvPr id="40" name="t2-f2-dot"/>
          <p:cNvSpPr/>
          <p:nvPr/>
        </p:nvSpPr>
        <p:spPr>
          <a:xfrm>
            <a:off x="8356600" y="48514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41" name="t2-f2"/>
          <p:cNvSpPr txBox="1"/>
          <p:nvPr/>
        </p:nvSpPr>
        <p:spPr>
          <a:xfrm>
            <a:off x="8585200" y="47498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99.95% uptime SLA</a:t>
            </a:r>
            <a:endParaRPr lang="en-US" sz="1200"/>
          </a:p>
        </p:txBody>
      </p:sp>
      <p:sp>
        <p:nvSpPr>
          <p:cNvPr id="42" name="t2-f3-dot"/>
          <p:cNvSpPr/>
          <p:nvPr/>
        </p:nvSpPr>
        <p:spPr>
          <a:xfrm>
            <a:off x="8356600" y="5308600"/>
            <a:ext cx="88900" cy="889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43" name="t2-f3"/>
          <p:cNvSpPr txBox="1"/>
          <p:nvPr/>
        </p:nvSpPr>
        <p:spPr>
          <a:xfrm>
            <a:off x="8585200" y="5207000"/>
            <a:ext cx="2476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Dedicated CSM</a:t>
            </a:r>
            <a:endParaRPr lang="en-US" sz="1200"/>
          </a:p>
        </p:txBody>
      </p:sp>
      <p:sp>
        <p:nvSpPr>
          <p:cNvPr id="44" name="footnote"/>
          <p:cNvSpPr txBox="1"/>
          <p:nvPr/>
        </p:nvSpPr>
        <p:spPr>
          <a:xfrm>
            <a:off x="812800" y="6172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pricing. Usage-based overages apply above included run volumes.</a:t>
            </a:r>
            <a:endParaRPr lang="en-US" sz="1100"/>
          </a:p>
        </p:txBody>
      </p:sp>
      <p:sp>
        <p:nvSpPr>
          <p:cNvPr id="45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24 / 40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BUSINESS MODEL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Unit economics that compound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e0-card"/>
          <p:cNvSpPr/>
          <p:nvPr/>
        </p:nvSpPr>
        <p:spPr>
          <a:xfrm>
            <a:off x="812800" y="2260600"/>
            <a:ext cx="2489200" cy="1905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e0-num"/>
          <p:cNvSpPr txBox="1"/>
          <p:nvPr/>
        </p:nvSpPr>
        <p:spPr>
          <a:xfrm>
            <a:off x="1066800" y="2514600"/>
            <a:ext cx="198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6B00"/>
                </a:solidFill>
                <a:latin typeface="Liter"/>
                <a:ea typeface="Liter"/>
              </a:rPr>
              <a:t>$4.8k</a:t>
            </a:r>
            <a:endParaRPr lang="en-US" sz="3600"/>
          </a:p>
        </p:txBody>
      </p:sp>
      <p:sp>
        <p:nvSpPr>
          <p:cNvPr id="7" name="e0-label"/>
          <p:cNvSpPr txBox="1"/>
          <p:nvPr/>
        </p:nvSpPr>
        <p:spPr>
          <a:xfrm>
            <a:off x="1066800" y="3225800"/>
            <a:ext cx="1981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Blended CAC per new customer</a:t>
            </a:r>
            <a:endParaRPr lang="en-US" sz="1200"/>
          </a:p>
        </p:txBody>
      </p:sp>
      <p:sp>
        <p:nvSpPr>
          <p:cNvPr id="8" name="e1-card"/>
          <p:cNvSpPr/>
          <p:nvPr/>
        </p:nvSpPr>
        <p:spPr>
          <a:xfrm>
            <a:off x="3505200" y="2260600"/>
            <a:ext cx="2489200" cy="1905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9" name="e1-num"/>
          <p:cNvSpPr txBox="1"/>
          <p:nvPr/>
        </p:nvSpPr>
        <p:spPr>
          <a:xfrm>
            <a:off x="3759200" y="2514600"/>
            <a:ext cx="198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6B00"/>
                </a:solidFill>
                <a:latin typeface="Liter"/>
                <a:ea typeface="Liter"/>
              </a:rPr>
              <a:t>$58k</a:t>
            </a:r>
            <a:endParaRPr lang="en-US" sz="3600"/>
          </a:p>
        </p:txBody>
      </p:sp>
      <p:sp>
        <p:nvSpPr>
          <p:cNvPr id="10" name="e1-label"/>
          <p:cNvSpPr txBox="1"/>
          <p:nvPr/>
        </p:nvSpPr>
        <p:spPr>
          <a:xfrm>
            <a:off x="3759200" y="3225800"/>
            <a:ext cx="198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LTV on a 3-year horizon</a:t>
            </a:r>
            <a:endParaRPr lang="en-US" sz="1200"/>
          </a:p>
        </p:txBody>
      </p:sp>
      <p:sp>
        <p:nvSpPr>
          <p:cNvPr id="11" name="e2-card"/>
          <p:cNvSpPr/>
          <p:nvPr/>
        </p:nvSpPr>
        <p:spPr>
          <a:xfrm>
            <a:off x="6197600" y="2260600"/>
            <a:ext cx="2489200" cy="1905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e2-num"/>
          <p:cNvSpPr txBox="1"/>
          <p:nvPr/>
        </p:nvSpPr>
        <p:spPr>
          <a:xfrm>
            <a:off x="6451600" y="2514600"/>
            <a:ext cx="198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6B00"/>
                </a:solidFill>
                <a:latin typeface="Liter"/>
                <a:ea typeface="Liter"/>
              </a:rPr>
              <a:t>12x</a:t>
            </a:r>
            <a:endParaRPr lang="en-US" sz="3600"/>
          </a:p>
        </p:txBody>
      </p:sp>
      <p:sp>
        <p:nvSpPr>
          <p:cNvPr id="13" name="e2-label"/>
          <p:cNvSpPr txBox="1"/>
          <p:nvPr/>
        </p:nvSpPr>
        <p:spPr>
          <a:xfrm>
            <a:off x="6451600" y="3225800"/>
            <a:ext cx="198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LTV to CAC ratio</a:t>
            </a:r>
            <a:endParaRPr lang="en-US" sz="1200"/>
          </a:p>
        </p:txBody>
      </p:sp>
      <p:sp>
        <p:nvSpPr>
          <p:cNvPr id="14" name="e3-card"/>
          <p:cNvSpPr/>
          <p:nvPr/>
        </p:nvSpPr>
        <p:spPr>
          <a:xfrm>
            <a:off x="8890000" y="2260600"/>
            <a:ext cx="2489200" cy="1905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5" name="e3-num"/>
          <p:cNvSpPr txBox="1"/>
          <p:nvPr/>
        </p:nvSpPr>
        <p:spPr>
          <a:xfrm>
            <a:off x="9144000" y="2514600"/>
            <a:ext cx="198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6B00"/>
                </a:solidFill>
                <a:latin typeface="Liter"/>
                <a:ea typeface="Liter"/>
              </a:rPr>
              <a:t>7 mo</a:t>
            </a:r>
            <a:endParaRPr lang="en-US" sz="3600"/>
          </a:p>
        </p:txBody>
      </p:sp>
      <p:sp>
        <p:nvSpPr>
          <p:cNvPr id="16" name="e3-label"/>
          <p:cNvSpPr txBox="1"/>
          <p:nvPr/>
        </p:nvSpPr>
        <p:spPr>
          <a:xfrm>
            <a:off x="9144000" y="3225800"/>
            <a:ext cx="1981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Median CAC payback period</a:t>
            </a:r>
            <a:endParaRPr lang="en-US" sz="1200"/>
          </a:p>
        </p:txBody>
      </p:sp>
      <p:sp>
        <p:nvSpPr>
          <p:cNvPr id="17" name="breakdown-title"/>
          <p:cNvSpPr txBox="1"/>
          <p:nvPr/>
        </p:nvSpPr>
        <p:spPr>
          <a:xfrm>
            <a:off x="812800" y="45974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Gross margin trajectory</a:t>
            </a:r>
            <a:endParaRPr lang="en-US" sz="1500"/>
          </a:p>
        </p:txBody>
      </p:sp>
      <p:sp>
        <p:nvSpPr>
          <p:cNvPr id="18" name="gm1-bar"/>
          <p:cNvSpPr/>
          <p:nvPr/>
        </p:nvSpPr>
        <p:spPr>
          <a:xfrm>
            <a:off x="812800" y="5080000"/>
            <a:ext cx="3810000" cy="381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9" name="gm1-txt"/>
          <p:cNvSpPr txBox="1"/>
          <p:nvPr/>
        </p:nvSpPr>
        <p:spPr>
          <a:xfrm>
            <a:off x="965200" y="5080000"/>
            <a:ext cx="355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Liter"/>
                <a:ea typeface="Liter"/>
              </a:rPr>
              <a:t>2026: 71%</a:t>
            </a:r>
            <a:endParaRPr lang="en-US" sz="1200"/>
          </a:p>
        </p:txBody>
      </p:sp>
      <p:sp>
        <p:nvSpPr>
          <p:cNvPr id="20" name="gm2-bar"/>
          <p:cNvSpPr/>
          <p:nvPr/>
        </p:nvSpPr>
        <p:spPr>
          <a:xfrm>
            <a:off x="812800" y="5588000"/>
            <a:ext cx="4318000" cy="3810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21" name="gm2-txt"/>
          <p:cNvSpPr txBox="1"/>
          <p:nvPr/>
        </p:nvSpPr>
        <p:spPr>
          <a:xfrm>
            <a:off x="965200" y="5588000"/>
            <a:ext cx="406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Liter"/>
                <a:ea typeface="Liter"/>
              </a:rPr>
              <a:t>2027 plan: 78%</a:t>
            </a:r>
            <a:endParaRPr lang="en-US" sz="1200"/>
          </a:p>
        </p:txBody>
      </p:sp>
      <p:sp>
        <p:nvSpPr>
          <p:cNvPr id="22" name="gm-note"/>
          <p:cNvSpPr txBox="1"/>
          <p:nvPr/>
        </p:nvSpPr>
        <p:spPr>
          <a:xfrm>
            <a:off x="5842000" y="5080000"/>
            <a:ext cx="5537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Margin expands as workflow run volume amortizes fixed infrastructure and self-serve onboarding lowers cost to serve.</a:t>
            </a:r>
            <a:endParaRPr lang="en-US" sz="1200"/>
          </a:p>
        </p:txBody>
      </p:sp>
      <p:sp>
        <p:nvSpPr>
          <p:cNvPr id="23" name="footnote"/>
          <p:cNvSpPr txBox="1"/>
          <p:nvPr/>
        </p:nvSpPr>
        <p:spPr>
          <a:xfrm>
            <a:off x="812800" y="6172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unit economics based on FY2026 plan assumptions.</a:t>
            </a:r>
            <a:endParaRPr lang="en-US" sz="1100"/>
          </a:p>
        </p:txBody>
      </p:sp>
      <p:sp>
        <p:nvSpPr>
          <p:cNvPr id="24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25 / 40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05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Go-to-Market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How we reach and win customers</a:t>
            </a:r>
            <a:endParaRPr lang="en-US" sz="15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GO-TO-MARKET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Land self-serve, expand with sales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g0-phase"/>
          <p:cNvSpPr txBox="1"/>
          <p:nvPr/>
        </p:nvSpPr>
        <p:spPr>
          <a:xfrm>
            <a:off x="812800" y="2260600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 spc="200" kern="0">
                <a:solidFill>
                  <a:srgbClr val="FF6B00"/>
                </a:solidFill>
                <a:latin typeface="Liter"/>
                <a:ea typeface="Liter"/>
              </a:rPr>
              <a:t>PHASE 1</a:t>
            </a:r>
            <a:endParaRPr lang="en-US" sz="1100"/>
          </a:p>
        </p:txBody>
      </p:sp>
      <p:sp>
        <p:nvSpPr>
          <p:cNvPr id="6" name="g0-title"/>
          <p:cNvSpPr txBox="1"/>
          <p:nvPr/>
        </p:nvSpPr>
        <p:spPr>
          <a:xfrm>
            <a:off x="812800" y="2565400"/>
            <a:ext cx="33147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Product-led self-serve</a:t>
            </a:r>
            <a:endParaRPr lang="en-US" sz="1800"/>
          </a:p>
        </p:txBody>
      </p:sp>
      <p:sp>
        <p:nvSpPr>
          <p:cNvPr id="7" name="g0-when"/>
          <p:cNvSpPr/>
          <p:nvPr/>
        </p:nvSpPr>
        <p:spPr>
          <a:xfrm>
            <a:off x="812800" y="3048000"/>
            <a:ext cx="914400" cy="279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8" name="g0-when-txt"/>
          <p:cNvSpPr txBox="1"/>
          <p:nvPr/>
        </p:nvSpPr>
        <p:spPr>
          <a:xfrm>
            <a:off x="812800" y="30480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FFFFFF"/>
                </a:solidFill>
                <a:latin typeface="Liter"/>
                <a:ea typeface="Liter"/>
              </a:rPr>
              <a:t>2026</a:t>
            </a:r>
            <a:endParaRPr lang="en-US" sz="1000"/>
          </a:p>
        </p:txBody>
      </p:sp>
      <p:sp>
        <p:nvSpPr>
          <p:cNvPr id="9" name="g0-desc"/>
          <p:cNvSpPr txBox="1"/>
          <p:nvPr/>
        </p:nvSpPr>
        <p:spPr>
          <a:xfrm>
            <a:off x="812800" y="3530600"/>
            <a:ext cx="33147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Free tier drives trials; ops leaders automate their first workflow in under an hour and invite their team.</a:t>
            </a:r>
            <a:endParaRPr lang="en-US" sz="1300"/>
          </a:p>
        </p:txBody>
      </p:sp>
      <p:sp>
        <p:nvSpPr>
          <p:cNvPr id="10" name="g0-sep"/>
          <p:cNvSpPr/>
          <p:nvPr/>
        </p:nvSpPr>
        <p:spPr>
          <a:xfrm>
            <a:off x="812800" y="5080000"/>
            <a:ext cx="33147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11" name="g1-phase"/>
          <p:cNvSpPr txBox="1"/>
          <p:nvPr/>
        </p:nvSpPr>
        <p:spPr>
          <a:xfrm>
            <a:off x="4432300" y="2260600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 spc="200" kern="0">
                <a:solidFill>
                  <a:srgbClr val="FF6B00"/>
                </a:solidFill>
                <a:latin typeface="Liter"/>
                <a:ea typeface="Liter"/>
              </a:rPr>
              <a:t>PHASE 2</a:t>
            </a:r>
            <a:endParaRPr lang="en-US" sz="1100"/>
          </a:p>
        </p:txBody>
      </p:sp>
      <p:sp>
        <p:nvSpPr>
          <p:cNvPr id="12" name="g1-title"/>
          <p:cNvSpPr txBox="1"/>
          <p:nvPr/>
        </p:nvSpPr>
        <p:spPr>
          <a:xfrm>
            <a:off x="4432300" y="2565400"/>
            <a:ext cx="33147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Inside sales assist</a:t>
            </a:r>
            <a:endParaRPr lang="en-US" sz="1800"/>
          </a:p>
        </p:txBody>
      </p:sp>
      <p:sp>
        <p:nvSpPr>
          <p:cNvPr id="13" name="g1-when"/>
          <p:cNvSpPr/>
          <p:nvPr/>
        </p:nvSpPr>
        <p:spPr>
          <a:xfrm>
            <a:off x="4432300" y="3048000"/>
            <a:ext cx="914400" cy="279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4" name="g1-when-txt"/>
          <p:cNvSpPr txBox="1"/>
          <p:nvPr/>
        </p:nvSpPr>
        <p:spPr>
          <a:xfrm>
            <a:off x="4432300" y="30480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FFFFFF"/>
                </a:solidFill>
                <a:latin typeface="Liter"/>
                <a:ea typeface="Liter"/>
              </a:rPr>
              <a:t>2026–2027</a:t>
            </a:r>
            <a:endParaRPr lang="en-US" sz="1000"/>
          </a:p>
        </p:txBody>
      </p:sp>
      <p:sp>
        <p:nvSpPr>
          <p:cNvPr id="15" name="g1-desc"/>
          <p:cNvSpPr txBox="1"/>
          <p:nvPr/>
        </p:nvSpPr>
        <p:spPr>
          <a:xfrm>
            <a:off x="4432300" y="3530600"/>
            <a:ext cx="33147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Sales team converts high-usage accounts, expands seats, and lands first mid-market contracts.</a:t>
            </a:r>
            <a:endParaRPr lang="en-US" sz="1300"/>
          </a:p>
        </p:txBody>
      </p:sp>
      <p:sp>
        <p:nvSpPr>
          <p:cNvPr id="16" name="g1-sep"/>
          <p:cNvSpPr/>
          <p:nvPr/>
        </p:nvSpPr>
        <p:spPr>
          <a:xfrm>
            <a:off x="4432300" y="5080000"/>
            <a:ext cx="33147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17" name="g2-phase"/>
          <p:cNvSpPr txBox="1"/>
          <p:nvPr/>
        </p:nvSpPr>
        <p:spPr>
          <a:xfrm>
            <a:off x="8051800" y="2260600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 spc="200" kern="0">
                <a:solidFill>
                  <a:srgbClr val="FF6B00"/>
                </a:solidFill>
                <a:latin typeface="Liter"/>
                <a:ea typeface="Liter"/>
              </a:rPr>
              <a:t>PHASE 3</a:t>
            </a:r>
            <a:endParaRPr lang="en-US" sz="1100"/>
          </a:p>
        </p:txBody>
      </p:sp>
      <p:sp>
        <p:nvSpPr>
          <p:cNvPr id="18" name="g2-title"/>
          <p:cNvSpPr txBox="1"/>
          <p:nvPr/>
        </p:nvSpPr>
        <p:spPr>
          <a:xfrm>
            <a:off x="8051800" y="2565400"/>
            <a:ext cx="33147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Enterprise motion</a:t>
            </a:r>
            <a:endParaRPr lang="en-US" sz="1800"/>
          </a:p>
        </p:txBody>
      </p:sp>
      <p:sp>
        <p:nvSpPr>
          <p:cNvPr id="19" name="g2-when"/>
          <p:cNvSpPr/>
          <p:nvPr/>
        </p:nvSpPr>
        <p:spPr>
          <a:xfrm>
            <a:off x="8051800" y="3048000"/>
            <a:ext cx="914400" cy="279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20" name="g2-when-txt"/>
          <p:cNvSpPr txBox="1"/>
          <p:nvPr/>
        </p:nvSpPr>
        <p:spPr>
          <a:xfrm>
            <a:off x="8051800" y="30480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FFFFFF"/>
                </a:solidFill>
                <a:latin typeface="Liter"/>
                <a:ea typeface="Liter"/>
              </a:rPr>
              <a:t>2027</a:t>
            </a:r>
            <a:endParaRPr lang="en-US" sz="1000"/>
          </a:p>
        </p:txBody>
      </p:sp>
      <p:sp>
        <p:nvSpPr>
          <p:cNvPr id="21" name="g2-desc"/>
          <p:cNvSpPr txBox="1"/>
          <p:nvPr/>
        </p:nvSpPr>
        <p:spPr>
          <a:xfrm>
            <a:off x="8051800" y="3530600"/>
            <a:ext cx="33147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Dedicated AEs, security-first selling, and multi-year deals with regional data residency.</a:t>
            </a:r>
            <a:endParaRPr lang="en-US" sz="1300"/>
          </a:p>
        </p:txBody>
      </p:sp>
      <p:sp>
        <p:nvSpPr>
          <p:cNvPr id="22" name="g2-sep"/>
          <p:cNvSpPr/>
          <p:nvPr/>
        </p:nvSpPr>
        <p:spPr>
          <a:xfrm>
            <a:off x="8051800" y="5080000"/>
            <a:ext cx="3314700" cy="12700"/>
          </a:xfrm>
          <a:prstGeom prst="rect">
            <a:avLst/>
          </a:prstGeom>
          <a:solidFill>
            <a:srgbClr val="E4E7EC"/>
          </a:solidFill>
          <a:ln>
            <a:noFill/>
          </a:ln>
        </p:spPr>
      </p:sp>
      <p:sp>
        <p:nvSpPr>
          <p:cNvPr id="23" name="bottom-note"/>
          <p:cNvSpPr txBox="1"/>
          <p:nvPr/>
        </p:nvSpPr>
        <p:spPr>
          <a:xfrm>
            <a:off x="812800" y="5384800"/>
            <a:ext cx="10566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400">
                <a:solidFill>
                  <a:srgbClr val="1A1A1A"/>
                </a:solidFill>
                <a:latin typeface="Liter"/>
                <a:ea typeface="Liter"/>
              </a:rPr>
              <a:t>One funnel, three motions: </a:t>
            </a: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the same product</a:t>
            </a:r>
            <a:r>
              <a:rPr lang="en-US" sz="1400">
                <a:solidFill>
                  <a:srgbClr val="1A1A1A"/>
                </a:solidFill>
                <a:latin typeface="Liter"/>
                <a:ea typeface="Liter"/>
              </a:rPr>
              <a:t> carries a customer from a free trial to an enterprise contract — </a:t>
            </a: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no re-platforming, ever.</a:t>
            </a:r>
            <a:endParaRPr lang="en-US" sz="1400"/>
          </a:p>
        </p:txBody>
      </p:sp>
      <p:sp>
        <p:nvSpPr>
          <p:cNvPr id="24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27 / 40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GO-TO-MARKET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A funnel we can measure end to end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fn0-bar"/>
          <p:cNvSpPr/>
          <p:nvPr/>
        </p:nvSpPr>
        <p:spPr>
          <a:xfrm>
            <a:off x="812800" y="2311400"/>
            <a:ext cx="10566400" cy="660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6" name="fn0-label"/>
          <p:cNvSpPr txBox="1"/>
          <p:nvPr/>
        </p:nvSpPr>
        <p:spPr>
          <a:xfrm>
            <a:off x="1066800" y="23114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Liter"/>
                <a:ea typeface="Liter"/>
              </a:rPr>
              <a:t>Monthly site visitors</a:t>
            </a:r>
            <a:endParaRPr lang="en-US" sz="1300"/>
          </a:p>
        </p:txBody>
      </p:sp>
      <p:sp>
        <p:nvSpPr>
          <p:cNvPr id="7" name="fn0-val"/>
          <p:cNvSpPr txBox="1"/>
          <p:nvPr/>
        </p:nvSpPr>
        <p:spPr>
          <a:xfrm>
            <a:off x="1066800" y="2311400"/>
            <a:ext cx="10058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48,000</a:t>
            </a:r>
            <a:endParaRPr lang="en-US" sz="1500"/>
          </a:p>
        </p:txBody>
      </p:sp>
      <p:sp>
        <p:nvSpPr>
          <p:cNvPr id="8" name="fn1-bar"/>
          <p:cNvSpPr/>
          <p:nvPr/>
        </p:nvSpPr>
        <p:spPr>
          <a:xfrm>
            <a:off x="812800" y="3225800"/>
            <a:ext cx="7874000" cy="660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9" name="fn1-label"/>
          <p:cNvSpPr txBox="1"/>
          <p:nvPr/>
        </p:nvSpPr>
        <p:spPr>
          <a:xfrm>
            <a:off x="1066800" y="32258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Liter"/>
                <a:ea typeface="Liter"/>
              </a:rPr>
              <a:t>Started trials</a:t>
            </a:r>
            <a:endParaRPr lang="en-US" sz="1300"/>
          </a:p>
        </p:txBody>
      </p:sp>
      <p:sp>
        <p:nvSpPr>
          <p:cNvPr id="10" name="fn1-val"/>
          <p:cNvSpPr txBox="1"/>
          <p:nvPr/>
        </p:nvSpPr>
        <p:spPr>
          <a:xfrm>
            <a:off x="1066800" y="3225800"/>
            <a:ext cx="736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3,900</a:t>
            </a:r>
            <a:endParaRPr lang="en-US" sz="1500"/>
          </a:p>
        </p:txBody>
      </p:sp>
      <p:sp>
        <p:nvSpPr>
          <p:cNvPr id="11" name="fn2-bar"/>
          <p:cNvSpPr/>
          <p:nvPr/>
        </p:nvSpPr>
        <p:spPr>
          <a:xfrm>
            <a:off x="812800" y="4140200"/>
            <a:ext cx="5334000" cy="660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2" name="fn2-label"/>
          <p:cNvSpPr txBox="1"/>
          <p:nvPr/>
        </p:nvSpPr>
        <p:spPr>
          <a:xfrm>
            <a:off x="1066800" y="41402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Liter"/>
                <a:ea typeface="Liter"/>
              </a:rPr>
              <a:t>Product-qualified accounts</a:t>
            </a:r>
            <a:endParaRPr lang="en-US" sz="1300"/>
          </a:p>
        </p:txBody>
      </p:sp>
      <p:sp>
        <p:nvSpPr>
          <p:cNvPr id="13" name="fn2-val"/>
          <p:cNvSpPr txBox="1"/>
          <p:nvPr/>
        </p:nvSpPr>
        <p:spPr>
          <a:xfrm>
            <a:off x="1066800" y="4140200"/>
            <a:ext cx="482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640</a:t>
            </a:r>
            <a:endParaRPr lang="en-US" sz="1500"/>
          </a:p>
        </p:txBody>
      </p:sp>
      <p:sp>
        <p:nvSpPr>
          <p:cNvPr id="14" name="fn3-bar"/>
          <p:cNvSpPr/>
          <p:nvPr/>
        </p:nvSpPr>
        <p:spPr>
          <a:xfrm>
            <a:off x="812800" y="5054600"/>
            <a:ext cx="2794000" cy="6604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5" name="fn3-label"/>
          <p:cNvSpPr txBox="1"/>
          <p:nvPr/>
        </p:nvSpPr>
        <p:spPr>
          <a:xfrm>
            <a:off x="1066800" y="50546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FFFFF"/>
                </a:solidFill>
                <a:latin typeface="Liter"/>
                <a:ea typeface="Liter"/>
              </a:rPr>
              <a:t>Paying customers</a:t>
            </a:r>
            <a:endParaRPr lang="en-US" sz="1300"/>
          </a:p>
        </p:txBody>
      </p:sp>
      <p:sp>
        <p:nvSpPr>
          <p:cNvPr id="16" name="fn3-val"/>
          <p:cNvSpPr txBox="1"/>
          <p:nvPr/>
        </p:nvSpPr>
        <p:spPr>
          <a:xfrm>
            <a:off x="1066800" y="50546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92</a:t>
            </a:r>
            <a:endParaRPr lang="en-US" sz="1500"/>
          </a:p>
        </p:txBody>
      </p:sp>
      <p:sp>
        <p:nvSpPr>
          <p:cNvPr id="17" name="cv0"/>
          <p:cNvSpPr txBox="1"/>
          <p:nvPr/>
        </p:nvSpPr>
        <p:spPr>
          <a:xfrm>
            <a:off x="8890000" y="30226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8.1% start trial</a:t>
            </a:r>
            <a:endParaRPr lang="en-US" sz="1100"/>
          </a:p>
        </p:txBody>
      </p:sp>
      <p:sp>
        <p:nvSpPr>
          <p:cNvPr id="18" name="cv1"/>
          <p:cNvSpPr txBox="1"/>
          <p:nvPr/>
        </p:nvSpPr>
        <p:spPr>
          <a:xfrm>
            <a:off x="8890000" y="39370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16% qualify</a:t>
            </a:r>
            <a:endParaRPr lang="en-US" sz="1100"/>
          </a:p>
        </p:txBody>
      </p:sp>
      <p:sp>
        <p:nvSpPr>
          <p:cNvPr id="19" name="cv2"/>
          <p:cNvSpPr txBox="1"/>
          <p:nvPr/>
        </p:nvSpPr>
        <p:spPr>
          <a:xfrm>
            <a:off x="8890000" y="4851400"/>
            <a:ext cx="2489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14% convert</a:t>
            </a:r>
            <a:endParaRPr lang="en-US" sz="1100"/>
          </a:p>
        </p:txBody>
      </p:sp>
      <p:sp>
        <p:nvSpPr>
          <p:cNvPr id="20" name="footnote"/>
          <p:cNvSpPr txBox="1"/>
          <p:nvPr/>
        </p:nvSpPr>
        <p:spPr>
          <a:xfrm>
            <a:off x="812800" y="60960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monthly funnel, Q4 2026 plan. Bar widths schematic, not to scale.</a:t>
            </a:r>
            <a:endParaRPr lang="en-US" sz="1100"/>
          </a:p>
        </p:txBody>
      </p:sp>
      <p:sp>
        <p:nvSpPr>
          <p:cNvPr id="21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28 / 40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GO-TO-MARKET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How we win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graphicFrame>
        <p:nvGraphicFramePr>
          <p:cNvPr id="5" name="comp-table"/>
          <p:cNvGraphicFramePr>
            <a:graphicFrameLocks noGrp="1"/>
          </p:cNvGraphicFramePr>
          <p:nvPr/>
        </p:nvGraphicFramePr>
        <p:xfrm>
          <a:off x="812800" y="2184400"/>
          <a:ext cx="10566400" cy="3454400"/>
        </p:xfrm>
        <a:graphic>
          <a:graphicData uri="http://schemas.openxmlformats.org/drawingml/2006/table">
            <a:tbl>
              <a:tblPr/>
              <a:tblGrid>
                <a:gridCol w="2535936"/>
                <a:gridCol w="4015232"/>
                <a:gridCol w="4015232"/>
              </a:tblGrid>
              <a:tr h="6217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ALTERNATIVE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WHERE IT FALLS SHORT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NORTHWIND'S EDGE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</a:tr>
              <a:tr h="9326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Legacy automation suites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Six-figure contracts, 6-month implementations, built for IT departments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Live in days, priced for teams of 5–50, owned by 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9326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Point tools &amp; scripts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One workflow each; invisible to the rest of the org; breaks silently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One platform, shared visibility, alerting and audit built in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96723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Build in-house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Pulls engineers off the roadmap; the expert leaves, the workflow dies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Ops self-serves; engineers get their roadmap back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bottom-note"/>
          <p:cNvSpPr txBox="1"/>
          <p:nvPr/>
        </p:nvSpPr>
        <p:spPr>
          <a:xfrm>
            <a:off x="812800" y="59182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Win rate in competitive deals this year: </a:t>
            </a: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61%</a:t>
            </a: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 — most often against "do nothing."</a:t>
            </a:r>
            <a:endParaRPr lang="en-US" sz="1400"/>
          </a:p>
        </p:txBody>
      </p:sp>
      <p:sp>
        <p:nvSpPr>
          <p:cNvPr id="7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29 / 40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06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The Traction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Four quarters of compounding growth</a:t>
            </a:r>
            <a:endParaRPr lang="en-US" sz="15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TRACTION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2026, quarter by quarter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graphicFrame>
        <p:nvGraphicFramePr>
          <p:cNvPr id="5" name="metrics"/>
          <p:cNvGraphicFramePr>
            <a:graphicFrameLocks noGrp="1"/>
          </p:cNvGraphicFramePr>
          <p:nvPr/>
        </p:nvGraphicFramePr>
        <p:xfrm>
          <a:off x="812800" y="2184400"/>
          <a:ext cx="10566400" cy="3429000"/>
        </p:xfrm>
        <a:graphic>
          <a:graphicData uri="http://schemas.openxmlformats.org/drawingml/2006/table">
            <a:tbl>
              <a:tblPr/>
              <a:tblGrid>
                <a:gridCol w="2113280"/>
                <a:gridCol w="2113280"/>
                <a:gridCol w="2113280"/>
                <a:gridCol w="2113280"/>
                <a:gridCol w="2113280"/>
              </a:tblGrid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Q1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Q2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Q3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b="1" spc="100" kern="0">
                          <a:solidFill>
                            <a:srgbClr val="FFFFFF"/>
                          </a:solidFill>
                          <a:latin typeface="Liter"/>
                          <a:ea typeface="Liter"/>
                        </a:rPr>
                        <a:t>Q4 2026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ARR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$1.2M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$2.1M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$3.6M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$5.8M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Customers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34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57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92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NRR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108%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114%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121%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127%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  <a:tr h="6858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Headcount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19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>
                          <a:solidFill>
                            <a:srgbClr val="1A1A1A"/>
                          </a:solidFill>
                          <a:latin typeface="Liter"/>
                          <a:ea typeface="Liter"/>
                        </a:rPr>
                        <a:t>26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6B00"/>
                          </a:solidFill>
                          <a:latin typeface="Liter"/>
                          <a:ea typeface="Liter"/>
                        </a:rPr>
                        <a:t>34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7E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812800" y="5842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Illustrative plan figures for FY2026; NRR measured on trailing twelve-month cohort.</a:t>
            </a:r>
            <a:endParaRPr lang="en-US" sz="1100"/>
          </a:p>
        </p:txBody>
      </p:sp>
      <p:sp>
        <p:nvSpPr>
          <p:cNvPr id="7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31 / 40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TRACTION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ARR is compounding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plot"/>
          <p:cNvSpPr/>
          <p:nvPr/>
        </p:nvSpPr>
        <p:spPr>
          <a:xfrm>
            <a:off x="812800" y="2159000"/>
            <a:ext cx="10566400" cy="355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gb0"/>
          <p:cNvSpPr/>
          <p:nvPr/>
        </p:nvSpPr>
        <p:spPr>
          <a:xfrm>
            <a:off x="1651000" y="4724400"/>
            <a:ext cx="1219200" cy="736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7" name="gb0-val"/>
          <p:cNvSpPr txBox="1"/>
          <p:nvPr/>
        </p:nvSpPr>
        <p:spPr>
          <a:xfrm>
            <a:off x="1397000" y="4368800"/>
            <a:ext cx="172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$1.2M</a:t>
            </a:r>
            <a:endParaRPr lang="en-US" sz="1500"/>
          </a:p>
        </p:txBody>
      </p:sp>
      <p:sp>
        <p:nvSpPr>
          <p:cNvPr id="8" name="gb0-q"/>
          <p:cNvSpPr txBox="1"/>
          <p:nvPr/>
        </p:nvSpPr>
        <p:spPr>
          <a:xfrm>
            <a:off x="1397000" y="55372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Q1 2026</a:t>
            </a:r>
            <a:endParaRPr lang="en-US" sz="1200"/>
          </a:p>
        </p:txBody>
      </p:sp>
      <p:sp>
        <p:nvSpPr>
          <p:cNvPr id="9" name="gb1"/>
          <p:cNvSpPr/>
          <p:nvPr/>
        </p:nvSpPr>
        <p:spPr>
          <a:xfrm>
            <a:off x="4064000" y="4165600"/>
            <a:ext cx="1219200" cy="12954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0" name="gb1-val"/>
          <p:cNvSpPr txBox="1"/>
          <p:nvPr/>
        </p:nvSpPr>
        <p:spPr>
          <a:xfrm>
            <a:off x="3810000" y="3810000"/>
            <a:ext cx="172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$2.1M</a:t>
            </a:r>
            <a:endParaRPr lang="en-US" sz="1500"/>
          </a:p>
        </p:txBody>
      </p:sp>
      <p:sp>
        <p:nvSpPr>
          <p:cNvPr id="11" name="gb1-q"/>
          <p:cNvSpPr txBox="1"/>
          <p:nvPr/>
        </p:nvSpPr>
        <p:spPr>
          <a:xfrm>
            <a:off x="3810000" y="55372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Q2 2026</a:t>
            </a:r>
            <a:endParaRPr lang="en-US" sz="1200"/>
          </a:p>
        </p:txBody>
      </p:sp>
      <p:sp>
        <p:nvSpPr>
          <p:cNvPr id="12" name="gb2"/>
          <p:cNvSpPr/>
          <p:nvPr/>
        </p:nvSpPr>
        <p:spPr>
          <a:xfrm>
            <a:off x="6477000" y="3251200"/>
            <a:ext cx="1219200" cy="22098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3" name="gb2-val"/>
          <p:cNvSpPr txBox="1"/>
          <p:nvPr/>
        </p:nvSpPr>
        <p:spPr>
          <a:xfrm>
            <a:off x="6223000" y="2895600"/>
            <a:ext cx="172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$3.6M</a:t>
            </a:r>
            <a:endParaRPr lang="en-US" sz="1500"/>
          </a:p>
        </p:txBody>
      </p:sp>
      <p:sp>
        <p:nvSpPr>
          <p:cNvPr id="14" name="gb2-q"/>
          <p:cNvSpPr txBox="1"/>
          <p:nvPr/>
        </p:nvSpPr>
        <p:spPr>
          <a:xfrm>
            <a:off x="6223000" y="55372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Q3 2026</a:t>
            </a:r>
            <a:endParaRPr lang="en-US" sz="1200"/>
          </a:p>
        </p:txBody>
      </p:sp>
      <p:sp>
        <p:nvSpPr>
          <p:cNvPr id="15" name="gb3"/>
          <p:cNvSpPr/>
          <p:nvPr/>
        </p:nvSpPr>
        <p:spPr>
          <a:xfrm>
            <a:off x="8890000" y="1905000"/>
            <a:ext cx="1219200" cy="35560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6" name="gb3-val"/>
          <p:cNvSpPr txBox="1"/>
          <p:nvPr/>
        </p:nvSpPr>
        <p:spPr>
          <a:xfrm>
            <a:off x="8636000" y="1549400"/>
            <a:ext cx="172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1A1A1A"/>
                </a:solidFill>
                <a:latin typeface="Liter"/>
                <a:ea typeface="Liter"/>
              </a:rPr>
              <a:t>$5.8M</a:t>
            </a:r>
            <a:endParaRPr lang="en-US" sz="1500"/>
          </a:p>
        </p:txBody>
      </p:sp>
      <p:sp>
        <p:nvSpPr>
          <p:cNvPr id="17" name="gb3-q"/>
          <p:cNvSpPr txBox="1"/>
          <p:nvPr/>
        </p:nvSpPr>
        <p:spPr>
          <a:xfrm>
            <a:off x="8636000" y="5537200"/>
            <a:ext cx="172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Q4 2026</a:t>
            </a:r>
            <a:endParaRPr lang="en-US" sz="1200"/>
          </a:p>
        </p:txBody>
      </p:sp>
      <p:sp>
        <p:nvSpPr>
          <p:cNvPr id="18" name="growth-note"/>
          <p:cNvSpPr txBox="1"/>
          <p:nvPr/>
        </p:nvSpPr>
        <p:spPr>
          <a:xfrm>
            <a:off x="812800" y="59944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ARR grew </a:t>
            </a:r>
            <a:r>
              <a:rPr lang="en-US" sz="1400" b="1">
                <a:solidFill>
                  <a:srgbClr val="FF6B00"/>
                </a:solidFill>
                <a:latin typeface="Liter"/>
                <a:ea typeface="Liter"/>
              </a:rPr>
              <a:t>4.8× year to date</a:t>
            </a:r>
            <a:r>
              <a:rPr lang="en-US" sz="1400" b="1">
                <a:solidFill>
                  <a:srgbClr val="1A1A1A"/>
                </a:solidFill>
                <a:latin typeface="Liter"/>
                <a:ea typeface="Liter"/>
              </a:rPr>
              <a:t> — driven by seat expansion inside existing accounts.</a:t>
            </a:r>
            <a:endParaRPr lang="en-US" sz="1400"/>
          </a:p>
        </p:txBody>
      </p:sp>
      <p:sp>
        <p:nvSpPr>
          <p:cNvPr id="19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32 / 40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TRACTION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Customers across four industries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lg0"/>
          <p:cNvSpPr/>
          <p:nvPr/>
        </p:nvSpPr>
        <p:spPr>
          <a:xfrm>
            <a:off x="812800" y="22606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lg0-txt"/>
          <p:cNvSpPr txBox="1"/>
          <p:nvPr/>
        </p:nvSpPr>
        <p:spPr>
          <a:xfrm>
            <a:off x="812800" y="22606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Helio Freight</a:t>
            </a:r>
            <a:endParaRPr lang="en-US" sz="1400"/>
          </a:p>
        </p:txBody>
      </p:sp>
      <p:sp>
        <p:nvSpPr>
          <p:cNvPr id="7" name="lg1"/>
          <p:cNvSpPr/>
          <p:nvPr/>
        </p:nvSpPr>
        <p:spPr>
          <a:xfrm>
            <a:off x="3505200" y="22606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8" name="lg1-txt"/>
          <p:cNvSpPr txBox="1"/>
          <p:nvPr/>
        </p:nvSpPr>
        <p:spPr>
          <a:xfrm>
            <a:off x="3505200" y="22606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Cobalt Bank</a:t>
            </a:r>
            <a:endParaRPr lang="en-US" sz="1400"/>
          </a:p>
        </p:txBody>
      </p:sp>
      <p:sp>
        <p:nvSpPr>
          <p:cNvPr id="9" name="lg2"/>
          <p:cNvSpPr/>
          <p:nvPr/>
        </p:nvSpPr>
        <p:spPr>
          <a:xfrm>
            <a:off x="6197600" y="22606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0" name="lg2-txt"/>
          <p:cNvSpPr txBox="1"/>
          <p:nvPr/>
        </p:nvSpPr>
        <p:spPr>
          <a:xfrm>
            <a:off x="6197600" y="22606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Meridian Health</a:t>
            </a:r>
            <a:endParaRPr lang="en-US" sz="1400"/>
          </a:p>
        </p:txBody>
      </p:sp>
      <p:sp>
        <p:nvSpPr>
          <p:cNvPr id="11" name="lg3"/>
          <p:cNvSpPr/>
          <p:nvPr/>
        </p:nvSpPr>
        <p:spPr>
          <a:xfrm>
            <a:off x="8890000" y="22606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lg3-txt"/>
          <p:cNvSpPr txBox="1"/>
          <p:nvPr/>
        </p:nvSpPr>
        <p:spPr>
          <a:xfrm>
            <a:off x="8890000" y="22606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Vantage Robotics</a:t>
            </a:r>
            <a:endParaRPr lang="en-US" sz="1400"/>
          </a:p>
        </p:txBody>
      </p:sp>
      <p:sp>
        <p:nvSpPr>
          <p:cNvPr id="13" name="lg4"/>
          <p:cNvSpPr/>
          <p:nvPr/>
        </p:nvSpPr>
        <p:spPr>
          <a:xfrm>
            <a:off x="812800" y="33274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4" name="lg4-txt"/>
          <p:cNvSpPr txBox="1"/>
          <p:nvPr/>
        </p:nvSpPr>
        <p:spPr>
          <a:xfrm>
            <a:off x="812800" y="33274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Alto Insurance</a:t>
            </a:r>
            <a:endParaRPr lang="en-US" sz="1400"/>
          </a:p>
        </p:txBody>
      </p:sp>
      <p:sp>
        <p:nvSpPr>
          <p:cNvPr id="15" name="lg5"/>
          <p:cNvSpPr/>
          <p:nvPr/>
        </p:nvSpPr>
        <p:spPr>
          <a:xfrm>
            <a:off x="3505200" y="33274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6" name="lg5-txt"/>
          <p:cNvSpPr txBox="1"/>
          <p:nvPr/>
        </p:nvSpPr>
        <p:spPr>
          <a:xfrm>
            <a:off x="3505200" y="33274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Brightline Retail</a:t>
            </a:r>
            <a:endParaRPr lang="en-US" sz="1400"/>
          </a:p>
        </p:txBody>
      </p:sp>
      <p:sp>
        <p:nvSpPr>
          <p:cNvPr id="17" name="lg6"/>
          <p:cNvSpPr/>
          <p:nvPr/>
        </p:nvSpPr>
        <p:spPr>
          <a:xfrm>
            <a:off x="6197600" y="33274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8" name="lg6-txt"/>
          <p:cNvSpPr txBox="1"/>
          <p:nvPr/>
        </p:nvSpPr>
        <p:spPr>
          <a:xfrm>
            <a:off x="6197600" y="33274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Nimbus Air</a:t>
            </a:r>
            <a:endParaRPr lang="en-US" sz="1400"/>
          </a:p>
        </p:txBody>
      </p:sp>
      <p:sp>
        <p:nvSpPr>
          <p:cNvPr id="19" name="lg7"/>
          <p:cNvSpPr/>
          <p:nvPr/>
        </p:nvSpPr>
        <p:spPr>
          <a:xfrm>
            <a:off x="8890000" y="3327400"/>
            <a:ext cx="2489200" cy="863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0" name="lg7-txt"/>
          <p:cNvSpPr txBox="1"/>
          <p:nvPr/>
        </p:nvSpPr>
        <p:spPr>
          <a:xfrm>
            <a:off x="8890000" y="33274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5B6472"/>
                </a:solidFill>
                <a:latin typeface="Liter"/>
                <a:ea typeface="Liter"/>
              </a:rPr>
              <a:t>Ferrous Metals</a:t>
            </a:r>
            <a:endParaRPr lang="en-US" sz="1400"/>
          </a:p>
        </p:txBody>
      </p:sp>
      <p:sp>
        <p:nvSpPr>
          <p:cNvPr id="21" name="stat1"/>
          <p:cNvSpPr txBox="1"/>
          <p:nvPr/>
        </p:nvSpPr>
        <p:spPr>
          <a:xfrm>
            <a:off x="812800" y="47244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6B00"/>
                </a:solidFill>
                <a:latin typeface="Liter"/>
                <a:ea typeface="Liter"/>
              </a:rPr>
              <a:t>92</a:t>
            </a:r>
            <a:endParaRPr lang="en-US" sz="3400"/>
          </a:p>
        </p:txBody>
      </p:sp>
      <p:sp>
        <p:nvSpPr>
          <p:cNvPr id="22" name="stat1-label"/>
          <p:cNvSpPr txBox="1"/>
          <p:nvPr/>
        </p:nvSpPr>
        <p:spPr>
          <a:xfrm>
            <a:off x="812800" y="5486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Paying customers across logistics, fintech, and health</a:t>
            </a:r>
            <a:endParaRPr lang="en-US" sz="1200"/>
          </a:p>
        </p:txBody>
      </p:sp>
      <p:sp>
        <p:nvSpPr>
          <p:cNvPr id="23" name="stat2"/>
          <p:cNvSpPr txBox="1"/>
          <p:nvPr/>
        </p:nvSpPr>
        <p:spPr>
          <a:xfrm>
            <a:off x="4445000" y="47244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6B00"/>
                </a:solidFill>
                <a:latin typeface="Liter"/>
                <a:ea typeface="Liter"/>
              </a:rPr>
              <a:t>127%</a:t>
            </a:r>
            <a:endParaRPr lang="en-US" sz="3400"/>
          </a:p>
        </p:txBody>
      </p:sp>
      <p:sp>
        <p:nvSpPr>
          <p:cNvPr id="24" name="stat2-label"/>
          <p:cNvSpPr txBox="1"/>
          <p:nvPr/>
        </p:nvSpPr>
        <p:spPr>
          <a:xfrm>
            <a:off x="4445000" y="5486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Net revenue retention — accounts expand without being sold</a:t>
            </a:r>
            <a:endParaRPr lang="en-US" sz="1200"/>
          </a:p>
        </p:txBody>
      </p:sp>
      <p:sp>
        <p:nvSpPr>
          <p:cNvPr id="25" name="stat3"/>
          <p:cNvSpPr txBox="1"/>
          <p:nvPr/>
        </p:nvSpPr>
        <p:spPr>
          <a:xfrm>
            <a:off x="8077200" y="47244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FF6B00"/>
                </a:solidFill>
                <a:latin typeface="Liter"/>
                <a:ea typeface="Liter"/>
              </a:rPr>
              <a:t>6 wks</a:t>
            </a:r>
            <a:endParaRPr lang="en-US" sz="3400"/>
          </a:p>
        </p:txBody>
      </p:sp>
      <p:sp>
        <p:nvSpPr>
          <p:cNvPr id="26" name="stat3-label"/>
          <p:cNvSpPr txBox="1"/>
          <p:nvPr/>
        </p:nvSpPr>
        <p:spPr>
          <a:xfrm>
            <a:off x="8077200" y="5486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Median time from first login to company-wide rollout</a:t>
            </a:r>
            <a:endParaRPr lang="en-US" sz="1200"/>
          </a:p>
        </p:txBody>
      </p:sp>
      <p:sp>
        <p:nvSpPr>
          <p:cNvPr id="27" name="footnote"/>
          <p:cNvSpPr txBox="1"/>
          <p:nvPr/>
        </p:nvSpPr>
        <p:spPr>
          <a:xfrm>
            <a:off x="812800" y="6172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Customer names are illustrative placeholders.</a:t>
            </a:r>
            <a:endParaRPr lang="en-US" sz="1100"/>
          </a:p>
        </p:txBody>
      </p:sp>
      <p:sp>
        <p:nvSpPr>
          <p:cNvPr id="28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33 / 40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THE TRACTION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What a rollout looks like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cs-kicker"/>
          <p:cNvSpPr txBox="1"/>
          <p:nvPr/>
        </p:nvSpPr>
        <p:spPr>
          <a:xfrm>
            <a:off x="812800" y="2133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5B6472"/>
                </a:solidFill>
                <a:latin typeface="Liter"/>
                <a:ea typeface="Liter"/>
              </a:rPr>
              <a:t>CASE STUDY — HELIO FREIGHT (ILLUSTRATIVE)</a:t>
            </a:r>
            <a:endParaRPr lang="en-US" sz="1200"/>
          </a:p>
        </p:txBody>
      </p:sp>
      <p:sp>
        <p:nvSpPr>
          <p:cNvPr id="6" name="cs-title"/>
          <p:cNvSpPr txBox="1"/>
          <p:nvPr/>
        </p:nvSpPr>
        <p:spPr>
          <a:xfrm>
            <a:off x="812800" y="24638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2200" b="1">
                <a:solidFill>
                  <a:srgbClr val="1A1A1A"/>
                </a:solidFill>
                <a:latin typeface="Liter"/>
                <a:ea typeface="Liter"/>
              </a:rPr>
              <a:t>A 40-person ops team stopped scaling headcount</a:t>
            </a:r>
            <a:endParaRPr lang="en-US" sz="2200"/>
          </a:p>
        </p:txBody>
      </p:sp>
      <p:sp>
        <p:nvSpPr>
          <p:cNvPr id="7" name="cs-body"/>
          <p:cNvSpPr txBox="1"/>
          <p:nvPr/>
        </p:nvSpPr>
        <p:spPr>
          <a:xfrm>
            <a:off x="812800" y="3403600"/>
            <a:ext cx="5969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Helio Freight, a mid-market logistics company, ran shipment exceptions, carrier billing, and customer notifications across email and spreadsheets.</a:t>
            </a:r>
            <a:endParaRPr lang="en-US" sz="130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In week one, they connected their TMS and billing tools and automated the three highest-volume workflows. By week six, 80% of exception handling ran without human touch — with every action logged for their compliance team.</a:t>
            </a:r>
            <a:endParaRPr lang="en-US" sz="130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Planned ops hires for 2026 were cut from 8 to 3, while shipment volume grew 30%.</a:t>
            </a:r>
            <a:endParaRPr lang="en-US" sz="1300"/>
          </a:p>
        </p:txBody>
      </p:sp>
      <p:sp>
        <p:nvSpPr>
          <p:cNvPr id="8" name="cs0-card"/>
          <p:cNvSpPr/>
          <p:nvPr/>
        </p:nvSpPr>
        <p:spPr>
          <a:xfrm>
            <a:off x="7366000" y="2235200"/>
            <a:ext cx="4013200" cy="111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9" name="cs0-num"/>
          <p:cNvSpPr txBox="1"/>
          <p:nvPr/>
        </p:nvSpPr>
        <p:spPr>
          <a:xfrm>
            <a:off x="7670800" y="2235200"/>
            <a:ext cx="139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6B00"/>
                </a:solidFill>
                <a:latin typeface="Liter"/>
                <a:ea typeface="Liter"/>
              </a:rPr>
              <a:t>-48%</a:t>
            </a:r>
            <a:endParaRPr lang="en-US" sz="2800"/>
          </a:p>
        </p:txBody>
      </p:sp>
      <p:sp>
        <p:nvSpPr>
          <p:cNvPr id="10" name="cs0-label"/>
          <p:cNvSpPr txBox="1"/>
          <p:nvPr/>
        </p:nvSpPr>
        <p:spPr>
          <a:xfrm>
            <a:off x="9093200" y="2235200"/>
            <a:ext cx="20828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ops overhead per shipment</a:t>
            </a:r>
            <a:endParaRPr lang="en-US" sz="1200"/>
          </a:p>
        </p:txBody>
      </p:sp>
      <p:sp>
        <p:nvSpPr>
          <p:cNvPr id="11" name="cs1-card"/>
          <p:cNvSpPr/>
          <p:nvPr/>
        </p:nvSpPr>
        <p:spPr>
          <a:xfrm>
            <a:off x="7366000" y="3530600"/>
            <a:ext cx="4013200" cy="111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cs1-num"/>
          <p:cNvSpPr txBox="1"/>
          <p:nvPr/>
        </p:nvSpPr>
        <p:spPr>
          <a:xfrm>
            <a:off x="7670800" y="3530600"/>
            <a:ext cx="139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6B00"/>
                </a:solidFill>
                <a:latin typeface="Liter"/>
                <a:ea typeface="Liter"/>
              </a:rPr>
              <a:t>6 wks</a:t>
            </a:r>
            <a:endParaRPr lang="en-US" sz="2800"/>
          </a:p>
        </p:txBody>
      </p:sp>
      <p:sp>
        <p:nvSpPr>
          <p:cNvPr id="13" name="cs1-label"/>
          <p:cNvSpPr txBox="1"/>
          <p:nvPr/>
        </p:nvSpPr>
        <p:spPr>
          <a:xfrm>
            <a:off x="9093200" y="3962400"/>
            <a:ext cx="208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to full rollout</a:t>
            </a:r>
            <a:endParaRPr lang="en-US" sz="1200"/>
          </a:p>
        </p:txBody>
      </p:sp>
      <p:sp>
        <p:nvSpPr>
          <p:cNvPr id="14" name="cs2-card"/>
          <p:cNvSpPr/>
          <p:nvPr/>
        </p:nvSpPr>
        <p:spPr>
          <a:xfrm>
            <a:off x="7366000" y="4826000"/>
            <a:ext cx="4013200" cy="111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5" name="cs2-num"/>
          <p:cNvSpPr txBox="1"/>
          <p:nvPr/>
        </p:nvSpPr>
        <p:spPr>
          <a:xfrm>
            <a:off x="7670800" y="4826000"/>
            <a:ext cx="139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FF6B00"/>
                </a:solidFill>
                <a:latin typeface="Liter"/>
                <a:ea typeface="Liter"/>
              </a:rPr>
              <a:t>5</a:t>
            </a:r>
            <a:endParaRPr lang="en-US" sz="2800"/>
          </a:p>
        </p:txBody>
      </p:sp>
      <p:sp>
        <p:nvSpPr>
          <p:cNvPr id="16" name="cs2-label"/>
          <p:cNvSpPr txBox="1"/>
          <p:nvPr/>
        </p:nvSpPr>
        <p:spPr>
          <a:xfrm>
            <a:off x="9093200" y="5257800"/>
            <a:ext cx="208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hires avoided in 2026</a:t>
            </a:r>
            <a:endParaRPr lang="en-US" sz="1200"/>
          </a:p>
        </p:txBody>
      </p:sp>
      <p:sp>
        <p:nvSpPr>
          <p:cNvPr id="17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34 / 40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-mark"/>
          <p:cNvSpPr txBox="1"/>
          <p:nvPr/>
        </p:nvSpPr>
        <p:spPr>
          <a:xfrm>
            <a:off x="5461000" y="1168400"/>
            <a:ext cx="1270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600" b="1">
                <a:solidFill>
                  <a:srgbClr val="FF6B00"/>
                </a:solidFill>
                <a:latin typeface="Liter"/>
                <a:ea typeface="Liter"/>
              </a:rPr>
              <a:t>“</a:t>
            </a:r>
            <a:endParaRPr lang="en-US" sz="9600"/>
          </a:p>
        </p:txBody>
      </p:sp>
      <p:sp>
        <p:nvSpPr>
          <p:cNvPr id="3" name="quote"/>
          <p:cNvSpPr txBox="1"/>
          <p:nvPr/>
        </p:nvSpPr>
        <p:spPr>
          <a:xfrm>
            <a:off x="1905000" y="2489200"/>
            <a:ext cx="838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Northwind cut our ops overhead by half in six weeks.</a:t>
            </a:r>
            <a:endParaRPr lang="en-US" sz="3000"/>
          </a:p>
        </p:txBody>
      </p:sp>
      <p:sp>
        <p:nvSpPr>
          <p:cNvPr id="4" name="quote-rule"/>
          <p:cNvSpPr/>
          <p:nvPr/>
        </p:nvSpPr>
        <p:spPr>
          <a:xfrm>
            <a:off x="5842000" y="4241800"/>
            <a:ext cx="508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attribution"/>
          <p:cNvSpPr txBox="1"/>
          <p:nvPr/>
        </p:nvSpPr>
        <p:spPr>
          <a:xfrm>
            <a:off x="4191000" y="4470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5B6472"/>
                </a:solidFill>
                <a:latin typeface="Liter"/>
                <a:ea typeface="Liter"/>
              </a:rPr>
              <a:t>COO, Series B fintech</a:t>
            </a:r>
            <a:endParaRPr lang="en-US" sz="1400"/>
          </a:p>
        </p:txBody>
      </p:sp>
      <p:sp>
        <p:nvSpPr>
          <p:cNvPr id="6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35 / 40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ghost-number"/>
          <p:cNvSpPr txBox="1"/>
          <p:nvPr/>
        </p:nvSpPr>
        <p:spPr>
          <a:xfrm>
            <a:off x="5080000" y="889000"/>
            <a:ext cx="6299200" cy="508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5000" b="1">
                <a:solidFill>
                  <a:srgbClr val="1C3B68"/>
                </a:solidFill>
                <a:latin typeface="Liter"/>
                <a:ea typeface="Liter"/>
              </a:rPr>
              <a:t>07</a:t>
            </a:r>
            <a:endParaRPr lang="en-US" sz="25000"/>
          </a:p>
        </p:txBody>
      </p:sp>
      <p:sp>
        <p:nvSpPr>
          <p:cNvPr id="5" name="title-rule"/>
          <p:cNvSpPr/>
          <p:nvPr/>
        </p:nvSpPr>
        <p:spPr>
          <a:xfrm>
            <a:off x="812800" y="3276600"/>
            <a:ext cx="711200" cy="50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812800" y="3505200"/>
            <a:ext cx="711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FFFFFF"/>
                </a:solidFill>
                <a:latin typeface="Liter"/>
                <a:ea typeface="Liter"/>
              </a:rPr>
              <a:t>Team &amp; Ask</a:t>
            </a:r>
            <a:endParaRPr lang="en-US" sz="4000"/>
          </a:p>
        </p:txBody>
      </p:sp>
      <p:sp>
        <p:nvSpPr>
          <p:cNvPr id="7" name="subtitle"/>
          <p:cNvSpPr txBox="1"/>
          <p:nvPr/>
        </p:nvSpPr>
        <p:spPr>
          <a:xfrm>
            <a:off x="812800" y="4292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Who we are and what we need</a:t>
            </a:r>
            <a:endParaRPr lang="en-US" sz="15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TEAM &amp; ASK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Built by operators, for operators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tm0-card"/>
          <p:cNvSpPr/>
          <p:nvPr/>
        </p:nvSpPr>
        <p:spPr>
          <a:xfrm>
            <a:off x="812800" y="2184400"/>
            <a:ext cx="5181600" cy="177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6" name="tm0-mono"/>
          <p:cNvSpPr/>
          <p:nvPr/>
        </p:nvSpPr>
        <p:spPr>
          <a:xfrm>
            <a:off x="1117600" y="2489200"/>
            <a:ext cx="609600" cy="609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7" name="tm0-mono-txt"/>
          <p:cNvSpPr txBox="1"/>
          <p:nvPr/>
        </p:nvSpPr>
        <p:spPr>
          <a:xfrm>
            <a:off x="1117600" y="24892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AK</a:t>
            </a:r>
            <a:endParaRPr lang="en-US" sz="1500"/>
          </a:p>
        </p:txBody>
      </p:sp>
      <p:sp>
        <p:nvSpPr>
          <p:cNvPr id="8" name="tm0-name"/>
          <p:cNvSpPr txBox="1"/>
          <p:nvPr/>
        </p:nvSpPr>
        <p:spPr>
          <a:xfrm>
            <a:off x="1930400" y="25146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Anna Kowalski</a:t>
            </a:r>
            <a:endParaRPr lang="en-US" sz="1600"/>
          </a:p>
        </p:txBody>
      </p:sp>
      <p:sp>
        <p:nvSpPr>
          <p:cNvPr id="9" name="tm0-role"/>
          <p:cNvSpPr txBox="1"/>
          <p:nvPr/>
        </p:nvSpPr>
        <p:spPr>
          <a:xfrm>
            <a:off x="1930400" y="28448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6B00"/>
                </a:solidFill>
                <a:latin typeface="Liter"/>
                <a:ea typeface="Liter"/>
              </a:rPr>
              <a:t>Co-founder &amp; CEO</a:t>
            </a:r>
            <a:endParaRPr lang="en-US" sz="1100"/>
          </a:p>
        </p:txBody>
      </p:sp>
      <p:sp>
        <p:nvSpPr>
          <p:cNvPr id="10" name="tm0-bio"/>
          <p:cNvSpPr txBox="1"/>
          <p:nvPr/>
        </p:nvSpPr>
        <p:spPr>
          <a:xfrm>
            <a:off x="1117600" y="33020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Ex-Stripe ops tooling lead; scaled support ops 20→200 people.</a:t>
            </a:r>
            <a:endParaRPr lang="en-US" sz="1200"/>
          </a:p>
        </p:txBody>
      </p:sp>
      <p:sp>
        <p:nvSpPr>
          <p:cNvPr id="11" name="tm1-card"/>
          <p:cNvSpPr/>
          <p:nvPr/>
        </p:nvSpPr>
        <p:spPr>
          <a:xfrm>
            <a:off x="6197600" y="2184400"/>
            <a:ext cx="5181600" cy="177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2" name="tm1-mono"/>
          <p:cNvSpPr/>
          <p:nvPr/>
        </p:nvSpPr>
        <p:spPr>
          <a:xfrm>
            <a:off x="6502400" y="2489200"/>
            <a:ext cx="609600" cy="609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3" name="tm1-mono-txt"/>
          <p:cNvSpPr txBox="1"/>
          <p:nvPr/>
        </p:nvSpPr>
        <p:spPr>
          <a:xfrm>
            <a:off x="6502400" y="24892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JM</a:t>
            </a:r>
            <a:endParaRPr lang="en-US" sz="1500"/>
          </a:p>
        </p:txBody>
      </p:sp>
      <p:sp>
        <p:nvSpPr>
          <p:cNvPr id="14" name="tm1-name"/>
          <p:cNvSpPr txBox="1"/>
          <p:nvPr/>
        </p:nvSpPr>
        <p:spPr>
          <a:xfrm>
            <a:off x="7315200" y="25146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Jonas Meyer</a:t>
            </a:r>
            <a:endParaRPr lang="en-US" sz="1600"/>
          </a:p>
        </p:txBody>
      </p:sp>
      <p:sp>
        <p:nvSpPr>
          <p:cNvPr id="15" name="tm1-role"/>
          <p:cNvSpPr txBox="1"/>
          <p:nvPr/>
        </p:nvSpPr>
        <p:spPr>
          <a:xfrm>
            <a:off x="7315200" y="28448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6B00"/>
                </a:solidFill>
                <a:latin typeface="Liter"/>
                <a:ea typeface="Liter"/>
              </a:rPr>
              <a:t>Co-founder &amp; CTO</a:t>
            </a:r>
            <a:endParaRPr lang="en-US" sz="1100"/>
          </a:p>
        </p:txBody>
      </p:sp>
      <p:sp>
        <p:nvSpPr>
          <p:cNvPr id="16" name="tm1-bio"/>
          <p:cNvSpPr txBox="1"/>
          <p:nvPr/>
        </p:nvSpPr>
        <p:spPr>
          <a:xfrm>
            <a:off x="6502400" y="33020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Ex-Datadog staff engineer; built workflow infra at planetary scale.</a:t>
            </a:r>
            <a:endParaRPr lang="en-US" sz="1200"/>
          </a:p>
        </p:txBody>
      </p:sp>
      <p:sp>
        <p:nvSpPr>
          <p:cNvPr id="17" name="tm2-card"/>
          <p:cNvSpPr/>
          <p:nvPr/>
        </p:nvSpPr>
        <p:spPr>
          <a:xfrm>
            <a:off x="812800" y="4165600"/>
            <a:ext cx="5181600" cy="177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18" name="tm2-mono"/>
          <p:cNvSpPr/>
          <p:nvPr/>
        </p:nvSpPr>
        <p:spPr>
          <a:xfrm>
            <a:off x="1117600" y="4470400"/>
            <a:ext cx="609600" cy="609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9" name="tm2-mono-txt"/>
          <p:cNvSpPr txBox="1"/>
          <p:nvPr/>
        </p:nvSpPr>
        <p:spPr>
          <a:xfrm>
            <a:off x="1117600" y="4470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PS</a:t>
            </a:r>
            <a:endParaRPr lang="en-US" sz="1500"/>
          </a:p>
        </p:txBody>
      </p:sp>
      <p:sp>
        <p:nvSpPr>
          <p:cNvPr id="20" name="tm2-name"/>
          <p:cNvSpPr txBox="1"/>
          <p:nvPr/>
        </p:nvSpPr>
        <p:spPr>
          <a:xfrm>
            <a:off x="1930400" y="4495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Priya Shah</a:t>
            </a:r>
            <a:endParaRPr lang="en-US" sz="1600"/>
          </a:p>
        </p:txBody>
      </p:sp>
      <p:sp>
        <p:nvSpPr>
          <p:cNvPr id="21" name="tm2-role"/>
          <p:cNvSpPr txBox="1"/>
          <p:nvPr/>
        </p:nvSpPr>
        <p:spPr>
          <a:xfrm>
            <a:off x="1930400" y="4826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6B00"/>
                </a:solidFill>
                <a:latin typeface="Liter"/>
                <a:ea typeface="Liter"/>
              </a:rPr>
              <a:t>VP Product</a:t>
            </a:r>
            <a:endParaRPr lang="en-US" sz="1100"/>
          </a:p>
        </p:txBody>
      </p:sp>
      <p:sp>
        <p:nvSpPr>
          <p:cNvPr id="22" name="tm2-bio"/>
          <p:cNvSpPr txBox="1"/>
          <p:nvPr/>
        </p:nvSpPr>
        <p:spPr>
          <a:xfrm>
            <a:off x="1117600" y="52832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Ex-Asana; shipped automation features used by 100k+ teams.</a:t>
            </a:r>
            <a:endParaRPr lang="en-US" sz="1200"/>
          </a:p>
        </p:txBody>
      </p:sp>
      <p:sp>
        <p:nvSpPr>
          <p:cNvPr id="23" name="tm3-card"/>
          <p:cNvSpPr/>
          <p:nvPr/>
        </p:nvSpPr>
        <p:spPr>
          <a:xfrm>
            <a:off x="6197600" y="4165600"/>
            <a:ext cx="5181600" cy="177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</p:sp>
      <p:sp>
        <p:nvSpPr>
          <p:cNvPr id="24" name="tm3-mono"/>
          <p:cNvSpPr/>
          <p:nvPr/>
        </p:nvSpPr>
        <p:spPr>
          <a:xfrm>
            <a:off x="6502400" y="4470400"/>
            <a:ext cx="609600" cy="6096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25" name="tm3-mono-txt"/>
          <p:cNvSpPr txBox="1"/>
          <p:nvPr/>
        </p:nvSpPr>
        <p:spPr>
          <a:xfrm>
            <a:off x="6502400" y="4470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FFFFFF"/>
                </a:solidFill>
                <a:latin typeface="Liter"/>
                <a:ea typeface="Liter"/>
              </a:rPr>
              <a:t>TW</a:t>
            </a:r>
            <a:endParaRPr lang="en-US" sz="1500"/>
          </a:p>
        </p:txBody>
      </p:sp>
      <p:sp>
        <p:nvSpPr>
          <p:cNvPr id="26" name="tm3-name"/>
          <p:cNvSpPr txBox="1"/>
          <p:nvPr/>
        </p:nvSpPr>
        <p:spPr>
          <a:xfrm>
            <a:off x="7315200" y="4495800"/>
            <a:ext cx="3759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Tom Wright</a:t>
            </a:r>
            <a:endParaRPr lang="en-US" sz="1600"/>
          </a:p>
        </p:txBody>
      </p:sp>
      <p:sp>
        <p:nvSpPr>
          <p:cNvPr id="27" name="tm3-role"/>
          <p:cNvSpPr txBox="1"/>
          <p:nvPr/>
        </p:nvSpPr>
        <p:spPr>
          <a:xfrm>
            <a:off x="7315200" y="4826000"/>
            <a:ext cx="3759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FF6B00"/>
                </a:solidFill>
                <a:latin typeface="Liter"/>
                <a:ea typeface="Liter"/>
              </a:rPr>
              <a:t>Advisor</a:t>
            </a:r>
            <a:endParaRPr lang="en-US" sz="1100"/>
          </a:p>
        </p:txBody>
      </p:sp>
      <p:sp>
        <p:nvSpPr>
          <p:cNvPr id="28" name="tm3-bio"/>
          <p:cNvSpPr txBox="1"/>
          <p:nvPr/>
        </p:nvSpPr>
        <p:spPr>
          <a:xfrm>
            <a:off x="6502400" y="52832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>
                <a:solidFill>
                  <a:srgbClr val="5B6472"/>
                </a:solidFill>
                <a:latin typeface="Liter"/>
                <a:ea typeface="Liter"/>
              </a:rPr>
              <a:t>Former COO, two exits; wrote the playbook on mid-market ops.</a:t>
            </a:r>
            <a:endParaRPr lang="en-US" sz="1200"/>
          </a:p>
        </p:txBody>
      </p:sp>
      <p:sp>
        <p:nvSpPr>
          <p:cNvPr id="29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37 / 40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ROADMAP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The road ahead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track"/>
          <p:cNvSpPr/>
          <p:nvPr/>
        </p:nvSpPr>
        <p:spPr>
          <a:xfrm>
            <a:off x="812800" y="2755900"/>
            <a:ext cx="10566400" cy="25400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" name="node0"/>
          <p:cNvSpPr/>
          <p:nvPr/>
        </p:nvSpPr>
        <p:spPr>
          <a:xfrm>
            <a:off x="8128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q0-label"/>
          <p:cNvSpPr txBox="1"/>
          <p:nvPr/>
        </p:nvSpPr>
        <p:spPr>
          <a:xfrm>
            <a:off x="8128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Q1</a:t>
            </a:r>
            <a:endParaRPr lang="en-US" sz="1500"/>
          </a:p>
        </p:txBody>
      </p:sp>
      <p:sp>
        <p:nvSpPr>
          <p:cNvPr id="8" name="q0-title"/>
          <p:cNvSpPr txBox="1"/>
          <p:nvPr/>
        </p:nvSpPr>
        <p:spPr>
          <a:xfrm>
            <a:off x="8128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Beta</a:t>
            </a:r>
            <a:endParaRPr lang="en-US" sz="1800"/>
          </a:p>
        </p:txBody>
      </p:sp>
      <p:sp>
        <p:nvSpPr>
          <p:cNvPr id="9" name="q0-caption"/>
          <p:cNvSpPr txBox="1"/>
          <p:nvPr/>
        </p:nvSpPr>
        <p:spPr>
          <a:xfrm>
            <a:off x="812800" y="3784600"/>
            <a:ext cx="2413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Private beta live with 12 design partners; weekly release cadence.</a:t>
            </a:r>
            <a:endParaRPr lang="en-US" sz="1300"/>
          </a:p>
        </p:txBody>
      </p:sp>
      <p:sp>
        <p:nvSpPr>
          <p:cNvPr id="10" name="node1"/>
          <p:cNvSpPr/>
          <p:nvPr/>
        </p:nvSpPr>
        <p:spPr>
          <a:xfrm>
            <a:off x="34544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1" name="q1-label"/>
          <p:cNvSpPr txBox="1"/>
          <p:nvPr/>
        </p:nvSpPr>
        <p:spPr>
          <a:xfrm>
            <a:off x="34544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Q2</a:t>
            </a:r>
            <a:endParaRPr lang="en-US" sz="1500"/>
          </a:p>
        </p:txBody>
      </p:sp>
      <p:sp>
        <p:nvSpPr>
          <p:cNvPr id="12" name="q1-title"/>
          <p:cNvSpPr txBox="1"/>
          <p:nvPr/>
        </p:nvSpPr>
        <p:spPr>
          <a:xfrm>
            <a:off x="34544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GA</a:t>
            </a:r>
            <a:endParaRPr lang="en-US" sz="1800"/>
          </a:p>
        </p:txBody>
      </p:sp>
      <p:sp>
        <p:nvSpPr>
          <p:cNvPr id="13" name="q1-caption"/>
          <p:cNvSpPr txBox="1"/>
          <p:nvPr/>
        </p:nvSpPr>
        <p:spPr>
          <a:xfrm>
            <a:off x="3454400" y="3784600"/>
            <a:ext cx="2413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General availability with self-serve onboarding and usage-based pricing.</a:t>
            </a:r>
            <a:endParaRPr lang="en-US" sz="1300"/>
          </a:p>
        </p:txBody>
      </p:sp>
      <p:sp>
        <p:nvSpPr>
          <p:cNvPr id="14" name="node2"/>
          <p:cNvSpPr/>
          <p:nvPr/>
        </p:nvSpPr>
        <p:spPr>
          <a:xfrm>
            <a:off x="60960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5" name="q2-label"/>
          <p:cNvSpPr txBox="1"/>
          <p:nvPr/>
        </p:nvSpPr>
        <p:spPr>
          <a:xfrm>
            <a:off x="60960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Q3</a:t>
            </a:r>
            <a:endParaRPr lang="en-US" sz="1500"/>
          </a:p>
        </p:txBody>
      </p:sp>
      <p:sp>
        <p:nvSpPr>
          <p:cNvPr id="16" name="q2-title"/>
          <p:cNvSpPr txBox="1"/>
          <p:nvPr/>
        </p:nvSpPr>
        <p:spPr>
          <a:xfrm>
            <a:off x="60960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Enterprise tier</a:t>
            </a:r>
            <a:endParaRPr lang="en-US" sz="1800"/>
          </a:p>
        </p:txBody>
      </p:sp>
      <p:sp>
        <p:nvSpPr>
          <p:cNvPr id="17" name="q2-caption"/>
          <p:cNvSpPr txBox="1"/>
          <p:nvPr/>
        </p:nvSpPr>
        <p:spPr>
          <a:xfrm>
            <a:off x="6096000" y="3784600"/>
            <a:ext cx="2413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SSO/SAML, audit logs, and dedicated support for larger teams.</a:t>
            </a:r>
            <a:endParaRPr lang="en-US" sz="1300"/>
          </a:p>
        </p:txBody>
      </p:sp>
      <p:sp>
        <p:nvSpPr>
          <p:cNvPr id="18" name="node3"/>
          <p:cNvSpPr/>
          <p:nvPr/>
        </p:nvSpPr>
        <p:spPr>
          <a:xfrm>
            <a:off x="8737600" y="2667000"/>
            <a:ext cx="203200" cy="203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q3-label"/>
          <p:cNvSpPr txBox="1"/>
          <p:nvPr/>
        </p:nvSpPr>
        <p:spPr>
          <a:xfrm>
            <a:off x="8737600" y="3073400"/>
            <a:ext cx="152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FF6B00"/>
                </a:solidFill>
                <a:latin typeface="Liter"/>
                <a:ea typeface="Liter"/>
              </a:rPr>
              <a:t>Q4</a:t>
            </a:r>
            <a:endParaRPr lang="en-US" sz="1500"/>
          </a:p>
        </p:txBody>
      </p:sp>
      <p:sp>
        <p:nvSpPr>
          <p:cNvPr id="20" name="q3-title"/>
          <p:cNvSpPr txBox="1"/>
          <p:nvPr/>
        </p:nvSpPr>
        <p:spPr>
          <a:xfrm>
            <a:off x="8737600" y="34036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rgbClr val="1A1A1A"/>
                </a:solidFill>
                <a:latin typeface="Liter"/>
                <a:ea typeface="Liter"/>
              </a:rPr>
              <a:t>EU expansion</a:t>
            </a:r>
            <a:endParaRPr lang="en-US" sz="1800"/>
          </a:p>
        </p:txBody>
      </p:sp>
      <p:sp>
        <p:nvSpPr>
          <p:cNvPr id="21" name="q3-caption"/>
          <p:cNvSpPr txBox="1"/>
          <p:nvPr/>
        </p:nvSpPr>
        <p:spPr>
          <a:xfrm>
            <a:off x="8737600" y="3784600"/>
            <a:ext cx="2413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Frankfurt data region and GDPR-ready data processing terms.</a:t>
            </a:r>
            <a:endParaRPr lang="en-US" sz="1300"/>
          </a:p>
        </p:txBody>
      </p:sp>
      <p:sp>
        <p:nvSpPr>
          <p:cNvPr id="22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38 / 40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6B00"/>
                </a:solidFill>
                <a:latin typeface="Liter"/>
                <a:ea typeface="Liter"/>
              </a:rPr>
              <a:t>TEAM &amp; ASK</a:t>
            </a:r>
            <a:endParaRPr lang="en-US" sz="1300"/>
          </a:p>
        </p:txBody>
      </p:sp>
      <p:sp>
        <p:nvSpPr>
          <p:cNvPr id="3" name="title"/>
          <p:cNvSpPr txBox="1"/>
          <p:nvPr/>
        </p:nvSpPr>
        <p:spPr>
          <a:xfrm>
            <a:off x="812800" y="9652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A1A1A"/>
                </a:solidFill>
                <a:latin typeface="Liter"/>
                <a:ea typeface="Liter"/>
              </a:rPr>
              <a:t>The ask</a:t>
            </a:r>
            <a:endParaRPr lang="en-US" sz="3000"/>
          </a:p>
        </p:txBody>
      </p:sp>
      <p:sp>
        <p:nvSpPr>
          <p:cNvPr id="4" name="title-rule"/>
          <p:cNvSpPr/>
          <p:nvPr/>
        </p:nvSpPr>
        <p:spPr>
          <a:xfrm>
            <a:off x="812800" y="1676400"/>
            <a:ext cx="7112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5" name="ask-num"/>
          <p:cNvSpPr txBox="1"/>
          <p:nvPr/>
        </p:nvSpPr>
        <p:spPr>
          <a:xfrm>
            <a:off x="812800" y="21844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000" b="1">
                <a:solidFill>
                  <a:srgbClr val="FF6B00"/>
                </a:solidFill>
                <a:latin typeface="Liter"/>
                <a:ea typeface="Liter"/>
              </a:rPr>
              <a:t>$12M</a:t>
            </a:r>
            <a:endParaRPr lang="en-US" sz="6000"/>
          </a:p>
        </p:txBody>
      </p:sp>
      <p:sp>
        <p:nvSpPr>
          <p:cNvPr id="6" name="ask-label"/>
          <p:cNvSpPr txBox="1"/>
          <p:nvPr/>
        </p:nvSpPr>
        <p:spPr>
          <a:xfrm>
            <a:off x="812800" y="3276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1A1A1A"/>
                </a:solidFill>
                <a:latin typeface="Liter"/>
                <a:ea typeface="Liter"/>
              </a:rPr>
              <a:t>Series A to scale GTM and the platform</a:t>
            </a:r>
            <a:endParaRPr lang="en-US" sz="1600"/>
          </a:p>
        </p:txBody>
      </p:sp>
      <p:sp>
        <p:nvSpPr>
          <p:cNvPr id="7" name="ask-body"/>
          <p:cNvSpPr txBox="1"/>
          <p:nvPr/>
        </p:nvSpPr>
        <p:spPr>
          <a:xfrm>
            <a:off x="812800" y="37592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This round funds 18 months of runway to reach </a:t>
            </a:r>
            <a:r>
              <a:rPr lang="en-US" sz="1300" b="1">
                <a:solidFill>
                  <a:srgbClr val="1A1A1A"/>
                </a:solidFill>
                <a:latin typeface="Liter"/>
                <a:ea typeface="Liter"/>
              </a:rPr>
              <a:t>$14M ARR</a:t>
            </a: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 and 250+ customers by mid-2028.</a:t>
            </a:r>
            <a:endParaRPr lang="en-US" sz="130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300">
                <a:solidFill>
                  <a:srgbClr val="5B6472"/>
                </a:solidFill>
                <a:latin typeface="Liter"/>
                <a:ea typeface="Liter"/>
              </a:rPr>
              <a:t>Milestones: EU region live, enterprise motion proven with 10+ six-figure deals, and the integration catalog doubled to 400+.</a:t>
            </a:r>
            <a:endParaRPr lang="en-US" sz="1300"/>
          </a:p>
        </p:txBody>
      </p:sp>
      <p:sp>
        <p:nvSpPr>
          <p:cNvPr id="8" name="al0-label"/>
          <p:cNvSpPr txBox="1"/>
          <p:nvPr/>
        </p:nvSpPr>
        <p:spPr>
          <a:xfrm>
            <a:off x="6604000" y="2260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A1A1A"/>
                </a:solidFill>
                <a:latin typeface="Liter"/>
                <a:ea typeface="Liter"/>
              </a:rPr>
              <a:t>Product &amp; engineering</a:t>
            </a:r>
            <a:endParaRPr lang="en-US" sz="1200"/>
          </a:p>
        </p:txBody>
      </p:sp>
      <p:sp>
        <p:nvSpPr>
          <p:cNvPr id="9" name="al0-bar"/>
          <p:cNvSpPr/>
          <p:nvPr/>
        </p:nvSpPr>
        <p:spPr>
          <a:xfrm>
            <a:off x="6604000" y="2565400"/>
            <a:ext cx="4826000" cy="3048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0" name="al0-val"/>
          <p:cNvSpPr txBox="1"/>
          <p:nvPr/>
        </p:nvSpPr>
        <p:spPr>
          <a:xfrm>
            <a:off x="10922000" y="2565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300" b="1">
                <a:solidFill>
                  <a:srgbClr val="FF6B00"/>
                </a:solidFill>
                <a:latin typeface="Liter"/>
                <a:ea typeface="Liter"/>
              </a:rPr>
              <a:t>45%</a:t>
            </a:r>
            <a:endParaRPr lang="en-US" sz="1300"/>
          </a:p>
        </p:txBody>
      </p:sp>
      <p:sp>
        <p:nvSpPr>
          <p:cNvPr id="11" name="al1-label"/>
          <p:cNvSpPr txBox="1"/>
          <p:nvPr/>
        </p:nvSpPr>
        <p:spPr>
          <a:xfrm>
            <a:off x="6604000" y="31242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A1A1A"/>
                </a:solidFill>
                <a:latin typeface="Liter"/>
                <a:ea typeface="Liter"/>
              </a:rPr>
              <a:t>Go-to-market</a:t>
            </a:r>
            <a:endParaRPr lang="en-US" sz="1200"/>
          </a:p>
        </p:txBody>
      </p:sp>
      <p:sp>
        <p:nvSpPr>
          <p:cNvPr id="12" name="al1-bar"/>
          <p:cNvSpPr/>
          <p:nvPr/>
        </p:nvSpPr>
        <p:spPr>
          <a:xfrm>
            <a:off x="6604000" y="3429000"/>
            <a:ext cx="3759200" cy="3048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3" name="al1-val"/>
          <p:cNvSpPr txBox="1"/>
          <p:nvPr/>
        </p:nvSpPr>
        <p:spPr>
          <a:xfrm>
            <a:off x="10922000" y="34290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300" b="1">
                <a:solidFill>
                  <a:srgbClr val="FF6B00"/>
                </a:solidFill>
                <a:latin typeface="Liter"/>
                <a:ea typeface="Liter"/>
              </a:rPr>
              <a:t>35%</a:t>
            </a:r>
            <a:endParaRPr lang="en-US" sz="1300"/>
          </a:p>
        </p:txBody>
      </p:sp>
      <p:sp>
        <p:nvSpPr>
          <p:cNvPr id="14" name="al2-label"/>
          <p:cNvSpPr txBox="1"/>
          <p:nvPr/>
        </p:nvSpPr>
        <p:spPr>
          <a:xfrm>
            <a:off x="6604000" y="3987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A1A1A"/>
                </a:solidFill>
                <a:latin typeface="Liter"/>
                <a:ea typeface="Liter"/>
              </a:rPr>
              <a:t>Team &amp; operations</a:t>
            </a:r>
            <a:endParaRPr lang="en-US" sz="1200"/>
          </a:p>
        </p:txBody>
      </p:sp>
      <p:sp>
        <p:nvSpPr>
          <p:cNvPr id="15" name="al2-bar"/>
          <p:cNvSpPr/>
          <p:nvPr/>
        </p:nvSpPr>
        <p:spPr>
          <a:xfrm>
            <a:off x="6604000" y="4292600"/>
            <a:ext cx="1612900" cy="3048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16" name="al2-val"/>
          <p:cNvSpPr txBox="1"/>
          <p:nvPr/>
        </p:nvSpPr>
        <p:spPr>
          <a:xfrm>
            <a:off x="10922000" y="42926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300" b="1">
                <a:solidFill>
                  <a:srgbClr val="FF6B00"/>
                </a:solidFill>
                <a:latin typeface="Liter"/>
                <a:ea typeface="Liter"/>
              </a:rPr>
              <a:t>15%</a:t>
            </a:r>
            <a:endParaRPr lang="en-US" sz="1300"/>
          </a:p>
        </p:txBody>
      </p:sp>
      <p:sp>
        <p:nvSpPr>
          <p:cNvPr id="17" name="al3-label"/>
          <p:cNvSpPr txBox="1"/>
          <p:nvPr/>
        </p:nvSpPr>
        <p:spPr>
          <a:xfrm>
            <a:off x="6604000" y="4851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1A1A1A"/>
                </a:solidFill>
                <a:latin typeface="Liter"/>
                <a:ea typeface="Liter"/>
              </a:rPr>
              <a:t>Reserve</a:t>
            </a:r>
            <a:endParaRPr lang="en-US" sz="1200"/>
          </a:p>
        </p:txBody>
      </p:sp>
      <p:sp>
        <p:nvSpPr>
          <p:cNvPr id="18" name="al3-bar"/>
          <p:cNvSpPr/>
          <p:nvPr/>
        </p:nvSpPr>
        <p:spPr>
          <a:xfrm>
            <a:off x="6604000" y="5156200"/>
            <a:ext cx="533400" cy="304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19" name="al3-val"/>
          <p:cNvSpPr txBox="1"/>
          <p:nvPr/>
        </p:nvSpPr>
        <p:spPr>
          <a:xfrm>
            <a:off x="10922000" y="5156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300" b="1">
                <a:solidFill>
                  <a:srgbClr val="FF6B00"/>
                </a:solidFill>
                <a:latin typeface="Liter"/>
                <a:ea typeface="Liter"/>
              </a:rPr>
              <a:t>5%</a:t>
            </a:r>
            <a:endParaRPr lang="en-US" sz="1300"/>
          </a:p>
        </p:txBody>
      </p:sp>
      <p:sp>
        <p:nvSpPr>
          <p:cNvPr id="20" name="alloc-title"/>
          <p:cNvSpPr txBox="1"/>
          <p:nvPr/>
        </p:nvSpPr>
        <p:spPr>
          <a:xfrm>
            <a:off x="6604000" y="1879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8A94A6"/>
                </a:solidFill>
                <a:latin typeface="Liter"/>
                <a:ea typeface="Liter"/>
              </a:rPr>
              <a:t>USE OF FUNDS</a:t>
            </a:r>
            <a:endParaRPr lang="en-US" sz="1200"/>
          </a:p>
        </p:txBody>
      </p:sp>
      <p:sp>
        <p:nvSpPr>
          <p:cNvPr id="21" name="footnote"/>
          <p:cNvSpPr txBox="1"/>
          <p:nvPr/>
        </p:nvSpPr>
        <p:spPr>
          <a:xfrm>
            <a:off x="812800" y="6172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All figures illustrative for a fictional company.</a:t>
            </a:r>
            <a:endParaRPr lang="en-US" sz="1100"/>
          </a:p>
        </p:txBody>
      </p:sp>
      <p:sp>
        <p:nvSpPr>
          <p:cNvPr id="22" name="pageno"/>
          <p:cNvSpPr txBox="1"/>
          <p:nvPr/>
        </p:nvSpPr>
        <p:spPr>
          <a:xfrm>
            <a:off x="10566400" y="64262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A94A6"/>
                </a:solidFill>
                <a:latin typeface="Liter"/>
                <a:ea typeface="Liter"/>
              </a:rPr>
              <a:t>39 / 40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-mark"/>
          <p:cNvSpPr/>
          <p:nvPr/>
        </p:nvSpPr>
        <p:spPr>
          <a:xfrm>
            <a:off x="812800" y="660400"/>
            <a:ext cx="177800" cy="1778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3" name="wordmark-text"/>
          <p:cNvSpPr txBox="1"/>
          <p:nvPr/>
        </p:nvSpPr>
        <p:spPr>
          <a:xfrm>
            <a:off x="1117600" y="609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b="1" spc="300" kern="0">
                <a:solidFill>
                  <a:srgbClr val="FFFFFF"/>
                </a:solidFill>
                <a:latin typeface="Liter"/>
                <a:ea typeface="Liter"/>
              </a:rPr>
              <a:t>NORTHWIND LABS</a:t>
            </a:r>
            <a:endParaRPr lang="en-US" sz="1300"/>
          </a:p>
        </p:txBody>
      </p:sp>
      <p:sp>
        <p:nvSpPr>
          <p:cNvPr id="4" name="deco-frame"/>
          <p:cNvSpPr/>
          <p:nvPr/>
        </p:nvSpPr>
        <p:spPr>
          <a:xfrm>
            <a:off x="8382000" y="1651000"/>
            <a:ext cx="2794000" cy="2794000"/>
          </a:xfrm>
          <a:prstGeom prst="rect">
            <a:avLst/>
          </a:prstGeom>
          <a:noFill/>
          <a:ln w="12700">
            <a:solidFill>
              <a:srgbClr val="FF6B00"/>
            </a:solidFill>
          </a:ln>
        </p:spPr>
      </p:sp>
      <p:sp>
        <p:nvSpPr>
          <p:cNvPr id="5" name="deco-frame-inner"/>
          <p:cNvSpPr/>
          <p:nvPr/>
        </p:nvSpPr>
        <p:spPr>
          <a:xfrm>
            <a:off x="8585200" y="1854200"/>
            <a:ext cx="2387600" cy="2387600"/>
          </a:xfrm>
          <a:prstGeom prst="rect">
            <a:avLst/>
          </a:prstGeom>
          <a:noFill/>
          <a:ln w="12700">
            <a:solidFill>
              <a:srgbClr val="FF6B00">
                <a:alpha val="30196"/>
              </a:srgbClr>
            </a:solidFill>
          </a:ln>
        </p:spPr>
      </p:sp>
      <p:sp>
        <p:nvSpPr>
          <p:cNvPr id="6" name="accent-bar"/>
          <p:cNvSpPr/>
          <p:nvPr/>
        </p:nvSpPr>
        <p:spPr>
          <a:xfrm>
            <a:off x="812800" y="2692400"/>
            <a:ext cx="914400" cy="76200"/>
          </a:xfrm>
          <a:prstGeom prst="rect">
            <a:avLst/>
          </a:prstGeom>
          <a:solidFill>
            <a:srgbClr val="FF6B00"/>
          </a:solidFill>
          <a:ln>
            <a:noFill/>
          </a:ln>
        </p:spPr>
      </p:sp>
      <p:sp>
        <p:nvSpPr>
          <p:cNvPr id="7" name="title"/>
          <p:cNvSpPr txBox="1"/>
          <p:nvPr/>
        </p:nvSpPr>
        <p:spPr>
          <a:xfrm>
            <a:off x="762000" y="2921000"/>
            <a:ext cx="889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6800" b="1" spc="200" kern="0">
                <a:solidFill>
                  <a:srgbClr val="FFFFFF"/>
                </a:solidFill>
                <a:latin typeface="Liter"/>
                <a:ea typeface="Liter"/>
              </a:rPr>
              <a:t>Let's talk.</a:t>
            </a:r>
            <a:endParaRPr lang="en-US" sz="6800"/>
          </a:p>
        </p:txBody>
      </p:sp>
      <p:sp>
        <p:nvSpPr>
          <p:cNvPr id="8" name="email"/>
          <p:cNvSpPr txBox="1"/>
          <p:nvPr/>
        </p:nvSpPr>
        <p:spPr>
          <a:xfrm>
            <a:off x="812800" y="42164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6B00"/>
                </a:solidFill>
                <a:latin typeface="Liter"/>
                <a:ea typeface="Liter"/>
              </a:rPr>
              <a:t>hello@northwindlabs.com</a:t>
            </a:r>
            <a:endParaRPr lang="en-US" sz="2000"/>
          </a:p>
        </p:txBody>
      </p:sp>
      <p:sp>
        <p:nvSpPr>
          <p:cNvPr id="9" name="web"/>
          <p:cNvSpPr txBox="1"/>
          <p:nvPr/>
        </p:nvSpPr>
        <p:spPr>
          <a:xfrm>
            <a:off x="812800" y="46482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A9BBD4"/>
                </a:solidFill>
                <a:latin typeface="Liter"/>
                <a:ea typeface="Liter"/>
              </a:rPr>
              <a:t>northwindlabs.com</a:t>
            </a:r>
            <a:endParaRPr lang="en-US" sz="1500"/>
          </a:p>
        </p:txBody>
      </p:sp>
      <p:sp>
        <p:nvSpPr>
          <p:cNvPr id="10" name="date"/>
          <p:cNvSpPr txBox="1"/>
          <p:nvPr/>
        </p:nvSpPr>
        <p:spPr>
          <a:xfrm>
            <a:off x="812800" y="6172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7E93B0"/>
                </a:solidFill>
                <a:latin typeface="Liter"/>
                <a:ea typeface="Liter"/>
              </a:rPr>
              <a:t>Northwind Labs · Investor Deck 2026 · Confidential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40</Slides>
</Properties>
</file>

<file path=docProps/core.xml><?xml version="1.0" encoding="utf-8"?>
<cp:coreProperties xmlns:cp="http://schemas.openxmlformats.org/package/2006/metadata/core-properties" xmlns:dc="http://purl.org/dc/elements/1.1/">
  <dc:title>Northwind Labs — Investor Deck 2026 (40 slides)</dc:title>
  <dc:subject>Northwind Labs — Investor Deck 2026 (40 slides)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{"Label":"Northwind Labs — Investor Deck 2026 (40 slides)","ContentProducer":"001191110108MACG2KBH8F10000","ProduceID":"19f8b1cd-b2e2-8d7a-8000-0000ebc99590","ReservedCode1":"","ContentPropagator":"001191110108MACG2KBH8F20000","PropagateID":"19f8a8f1-df32-8cc9-8000-09cef0c43f6a","ReservedCode2":""}</vt:lpwstr>
  </property>
</Properties>
</file>