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Units shipped (k)</c:v>
                </c:pt>
              </c:strCache>
            </c:strRef>
          </c:tx>
          <c:spPr>
            <a:solidFill>
              <a:srgbClr val="22D3EE"/>
            </a:solidFill>
          </c:spPr>
          <c:cat>
            <c:strRef>
              <c:f>Sheet1!$A$2:$A$5</c:f>
              <c:strCache>
                <c:ptCount val="4"/>
                <c:pt idx="0">
                  <c:v>Q1 FY26</c:v>
                </c:pt>
                <c:pt idx="1">
                  <c:v>Q2 FY26</c:v>
                </c:pt>
                <c:pt idx="2">
                  <c:v>Q3 FY26E</c:v>
                </c:pt>
                <c:pt idx="3">
                  <c:v>Q4 FY26E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21</c:v>
                </c:pt>
                <c:pt idx="2">
                  <c:v>34</c:v>
                </c:pt>
                <c:pt idx="3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 (k)</c:v>
                </c:pt>
              </c:strCache>
            </c:strRef>
          </c:tx>
          <c:spPr>
            <a:solidFill>
              <a:srgbClr val="8B5CF6"/>
            </a:solidFill>
          </c:spPr>
          <c:cat>
            <c:strRef>
              <c:f>Sheet1!$A$2:$A$5</c:f>
              <c:strCache>
                <c:ptCount val="4"/>
                <c:pt idx="0">
                  <c:v>Q1 FY26</c:v>
                </c:pt>
                <c:pt idx="1">
                  <c:v>Q2 FY26</c:v>
                </c:pt>
                <c:pt idx="2">
                  <c:v>Q3 FY26E</c:v>
                </c:pt>
                <c:pt idx="3">
                  <c:v>Q4 FY26E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16</c:v>
                </c:pt>
                <c:pt idx="2">
                  <c:v>24</c:v>
                </c:pt>
                <c:pt idx="3">
                  <c:v>32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EAF2FF"/>
                  </a:solidFill>
                  <a:latin typeface="Quattrocento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FB3D9"/>
            </a:solidFill>
          </a:ln>
        </c:spPr>
        <c:txPr>
          <a:bodyPr/>
          <a:lstStyle/>
          <a:p>
            <a:pPr>
              <a:defRPr sz="900">
                <a:solidFill>
                  <a:srgbClr val="9FB3D9"/>
                </a:solidFill>
                <a:latin typeface="Quattrocento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356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9FB3D9"/>
            </a:solidFill>
          </a:ln>
        </c:spPr>
        <c:txPr>
          <a:bodyPr/>
          <a:lstStyle/>
          <a:p>
            <a:pPr>
              <a:defRPr sz="900">
                <a:solidFill>
                  <a:srgbClr val="9FB3D9"/>
                </a:solidFill>
                <a:latin typeface="QuattrocentoSans"/>
              </a:defRPr>
            </a:pPr>
          </a:p>
        </c:txPr>
        <c:crossAx val="-2068027336"/>
        <c:crosses val="autoZero"/>
      </c:valAx>
    </c:plotArea>
    <c:legend>
      <c:overlay val="0"/>
      <c:txPr>
        <a:bodyPr/>
        <a:lstStyle/>
        <a:p>
          <a:pPr>
            <a:defRPr sz="1000">
              <a:solidFill>
                <a:srgbClr val="EAF2FF"/>
              </a:solidFill>
              <a:latin typeface="QuattrocentoSa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_bg.jpg"/>
          <p:cNvPicPr>
            <a:picLocks noChangeAspect="1"/>
          </p:cNvPicPr>
          <p:nvPr/>
        </p:nvPicPr>
        <p:blipFill>
          <a:blip r:embed="rId2"/>
          <a:srcRect t="4622" b="462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>
                  <a:alpha val="88000"/>
                </a:srgbClr>
              </a:gs>
              <a:gs pos="55000">
                <a:srgbClr val="0B1026">
                  <a:alpha val="45000"/>
                </a:srgbClr>
              </a:gs>
              <a:gs pos="100000">
                <a:srgbClr val="0B1026">
                  <a:alpha val="8000"/>
                </a:srgbClr>
              </a:gs>
            </a:gsLst>
            <a:lin ang="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16000" y="-1143000"/>
            <a:ext cx="4064000" cy="4064000"/>
          </a:xfrm>
          <a:prstGeom prst="ellipse">
            <a:avLst/>
          </a:prstGeom>
          <a:solidFill>
            <a:srgbClr val="8B5CF6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4826000"/>
            <a:ext cx="4318000" cy="43180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1905000"/>
            <a:ext cx="6604000" cy="3048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8400" y="2260600"/>
            <a:ext cx="5842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2D3EE"/>
                </a:solidFill>
                <a:latin typeface="Liter"/>
              </a:rPr>
              <a:t>A E T H E R L I N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400" y="2692400"/>
            <a:ext cx="5842000" cy="12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Liter"/>
              </a:rPr>
              <a:t>GLASS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400" y="3581400"/>
            <a:ext cx="5842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AF2FF"/>
                </a:solidFill>
                <a:latin typeface="QuattrocentoSans"/>
              </a:rPr>
              <a:t>Shareholder Overview — Connected Eyewear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400" y="4013200"/>
            <a:ext cx="1524000" cy="381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EC489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8400" y="4191000"/>
            <a:ext cx="5842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FB3D9"/>
                </a:solidFill>
                <a:latin typeface="QuattrocentoSans"/>
              </a:rPr>
              <a:t>Early sales, product roadmap, and the path to scale · FY2026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4516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Fictional company · All figures illustrative · Strictly private &amp;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52000" y="-1524000"/>
            <a:ext cx="4572000" cy="4572000"/>
          </a:xfrm>
          <a:prstGeom prst="ellipse">
            <a:avLst/>
          </a:prstGeom>
          <a:solidFill>
            <a:srgbClr val="8B5CF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778000" y="4572000"/>
            <a:ext cx="4318000" cy="4318000"/>
          </a:xfrm>
          <a:prstGeom prst="ellipse">
            <a:avLst/>
          </a:prstGeom>
          <a:solidFill>
            <a:srgbClr val="22D3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SHAREHOLDER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Today's 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1905000"/>
            <a:ext cx="50800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800" y="2133600"/>
            <a:ext cx="88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2D3EE"/>
                </a:solidFill>
                <a:latin typeface="Li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0400" y="1905000"/>
            <a:ext cx="36830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AF2FF"/>
                </a:solidFill>
                <a:latin typeface="QuattrocentoSans"/>
              </a:rPr>
              <a:t>Why connected eyewear, why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378200"/>
            <a:ext cx="50800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606800"/>
            <a:ext cx="88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B5CF6"/>
                </a:solidFill>
                <a:latin typeface="Li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0400" y="3378200"/>
            <a:ext cx="36830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AF2FF"/>
                </a:solidFill>
                <a:latin typeface="QuattrocentoSans"/>
              </a:rPr>
              <a:t>AetherLink One — product &amp;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4851400"/>
            <a:ext cx="50800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6800" y="5080000"/>
            <a:ext cx="88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EC4899"/>
                </a:solidFill>
                <a:latin typeface="Lite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0400" y="4851400"/>
            <a:ext cx="36830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AF2FF"/>
                </a:solidFill>
                <a:latin typeface="QuattrocentoSans"/>
              </a:rPr>
              <a:t>Early sales traction &amp; unit economics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0000" y="1905000"/>
            <a:ext cx="50800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4800" y="2133600"/>
            <a:ext cx="88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2DD4BF"/>
                </a:solidFill>
                <a:latin typeface="Li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8400" y="1905000"/>
            <a:ext cx="36830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AF2FF"/>
                </a:solidFill>
                <a:latin typeface="QuattrocentoSans"/>
              </a:rPr>
              <a:t>Scenarios, customers &amp; social proof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0000" y="3378200"/>
            <a:ext cx="50800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4800" y="3606800"/>
            <a:ext cx="88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  <a:latin typeface="Liter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8400" y="3378200"/>
            <a:ext cx="36830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AF2FF"/>
                </a:solidFill>
                <a:latin typeface="QuattrocentoSans"/>
              </a:rPr>
              <a:t>Business model &amp; revenue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0000" y="4851400"/>
            <a:ext cx="50800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54800" y="5080000"/>
            <a:ext cx="889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7DD3FC"/>
                </a:solidFill>
                <a:latin typeface="Liter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8400" y="4851400"/>
            <a:ext cx="36830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EAF2FF"/>
                </a:solidFill>
                <a:latin typeface="QuattrocentoSans"/>
              </a:rPr>
              <a:t>Roadmap, team &amp; the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1040"/>
              </a:gs>
              <a:gs pos="55000">
                <a:srgbClr val="0B1026"/>
              </a:gs>
              <a:gs pos="100000">
                <a:srgbClr val="062A3A"/>
              </a:gs>
            </a:gsLst>
            <a:lin ang="75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74000" y="762000"/>
            <a:ext cx="3810000" cy="3810000"/>
          </a:xfrm>
          <a:prstGeom prst="ellipse">
            <a:avLst/>
          </a:prstGeom>
          <a:solidFill>
            <a:srgbClr val="EC489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8000" y="3810000"/>
            <a:ext cx="3302000" cy="33020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826000" y="2286000"/>
            <a:ext cx="2540000" cy="2540000"/>
          </a:xfrm>
          <a:prstGeom prst="ellipse">
            <a:avLst/>
          </a:prstGeom>
          <a:solidFill>
            <a:srgbClr val="8B5CF6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143000"/>
            <a:ext cx="10668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Liter"/>
              </a:rPr>
              <a:t>O U R   V I S I O 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1905000"/>
            <a:ext cx="9398000" cy="215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EAF2FF"/>
                </a:solidFill>
                <a:latin typeface="Liter"/>
              </a:rPr>
              <a:t>Information should meet your eyes — </a:t>
            </a:r>
            <a:r>
              <a:rPr sz="3400" b="1" i="0">
                <a:solidFill>
                  <a:srgbClr val="22D3EE"/>
                </a:solidFill>
                <a:latin typeface="Liter"/>
              </a:rPr>
              <a:t>not steal your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000" y="43180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i="0">
                <a:solidFill>
                  <a:srgbClr val="9FB3D9"/>
                </a:solidFill>
                <a:latin typeface="QuattrocentoSans"/>
              </a:rPr>
              <a:t>AetherLink Glass puts navigation, translation, capture and communication into a featherweight frame people actually wear all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rson_city.jpg"/>
          <p:cNvPicPr>
            <a:picLocks noChangeAspect="1"/>
          </p:cNvPicPr>
          <p:nvPr/>
        </p:nvPicPr>
        <p:blipFill>
          <a:blip r:embed="rId2"/>
          <a:srcRect l="25897" r="25897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  <a:effectLst/>
        </p:spPr>
      </p:pic>
      <p:sp>
        <p:nvSpPr>
          <p:cNvPr id="4" name="Rectangle 3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gradFill>
            <a:gsLst>
              <a:gs pos="0">
                <a:srgbClr val="0B1026">
                  <a:alpha val="55000"/>
                </a:srgbClr>
              </a:gs>
              <a:gs pos="100000">
                <a:srgbClr val="0B1026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Screens Own Our 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2032000"/>
            <a:ext cx="5969000" cy="3810000"/>
          </a:xfrm>
          <a:prstGeom prst="roundRect">
            <a:avLst>
              <a:gd name="adj" fmla="val 9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7600" y="2362200"/>
            <a:ext cx="5334000" cy="317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18000"/>
              </a:lnSpc>
              <a:spcAft>
                <a:spcPts val="12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50" b="1">
                <a:solidFill>
                  <a:srgbClr val="22D3EE"/>
                </a:solidFill>
                <a:latin typeface="QuattrocentoSans"/>
              </a:rPr>
              <a:t>7+ hours</a:t>
            </a:r>
            <a:r>
              <a:rPr sz="1250" b="0">
                <a:solidFill>
                  <a:srgbClr val="EAF2FF"/>
                </a:solidFill>
                <a:latin typeface="QuattrocentoSans"/>
              </a:rPr>
              <a:t> of daily screen time — eyes down, world missed</a:t>
            </a:r>
          </a:p>
          <a:p>
            <a:pPr marL="190500" indent="-190500">
              <a:lnSpc>
                <a:spcPct val="118000"/>
              </a:lnSpc>
              <a:spcAft>
                <a:spcPts val="12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50" b="1">
                <a:solidFill>
                  <a:srgbClr val="EAF2FF"/>
                </a:solidFill>
                <a:latin typeface="QuattrocentoSans"/>
              </a:rPr>
              <a:t>Phones interrupt flow</a:t>
            </a:r>
            <a:r>
              <a:rPr sz="1250" b="0">
                <a:solidFill>
                  <a:srgbClr val="EAF2FF"/>
                </a:solidFill>
                <a:latin typeface="QuattrocentoSans"/>
              </a:rPr>
              <a:t>: 96 pickups per day on average</a:t>
            </a:r>
          </a:p>
          <a:p>
            <a:pPr marL="190500" indent="-190500">
              <a:lnSpc>
                <a:spcPct val="118000"/>
              </a:lnSpc>
              <a:spcAft>
                <a:spcPts val="12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50" b="1">
                <a:solidFill>
                  <a:srgbClr val="EAF2FF"/>
                </a:solidFill>
                <a:latin typeface="QuattrocentoSans"/>
              </a:rPr>
              <a:t>Navigation, translation and capture</a:t>
            </a:r>
            <a:r>
              <a:rPr sz="1250" b="0">
                <a:solidFill>
                  <a:srgbClr val="EAF2FF"/>
                </a:solidFill>
                <a:latin typeface="QuattrocentoSans"/>
              </a:rPr>
              <a:t> all demand a free hand and a fast glance</a:t>
            </a:r>
          </a:p>
          <a:p>
            <a:pPr marL="190500" indent="-190500">
              <a:lnSpc>
                <a:spcPct val="118000"/>
              </a:lnSpc>
              <a:spcAft>
                <a:spcPts val="12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50" b="1">
                <a:solidFill>
                  <a:srgbClr val="EAF2FF"/>
                </a:solidFill>
                <a:latin typeface="QuattrocentoSans"/>
              </a:rPr>
              <a:t>Existing headsets are too heavy, too odd, too expensive</a:t>
            </a:r>
            <a:r>
              <a:rPr sz="1250" b="0">
                <a:solidFill>
                  <a:srgbClr val="EAF2FF"/>
                </a:solidFill>
                <a:latin typeface="QuattrocentoSans"/>
              </a:rPr>
              <a:t> for daily wear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70000" y="-1524000"/>
            <a:ext cx="4826000" cy="4826000"/>
          </a:xfrm>
          <a:prstGeom prst="ellipse">
            <a:avLst/>
          </a:prstGeom>
          <a:solidFill>
            <a:srgbClr val="6366F1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duct_glasses.jpg"/>
          <p:cNvPicPr>
            <a:picLocks noChangeAspect="1"/>
          </p:cNvPicPr>
          <p:nvPr/>
        </p:nvPicPr>
        <p:blipFill>
          <a:blip r:embed="rId2"/>
          <a:srcRect l="8681" r="8681"/>
          <a:stretch>
            <a:fillRect/>
          </a:stretch>
        </p:blipFill>
        <p:spPr>
          <a:xfrm>
            <a:off x="762000" y="1524000"/>
            <a:ext cx="5588000" cy="4191000"/>
          </a:xfrm>
          <a:prstGeom prst="rect">
            <a:avLst/>
          </a:prstGeom>
          <a:effectLst/>
        </p:spPr>
      </p:pic>
      <p:sp>
        <p:nvSpPr>
          <p:cNvPr id="5" name="Rounded Rectangle 4"/>
          <p:cNvSpPr/>
          <p:nvPr/>
        </p:nvSpPr>
        <p:spPr>
          <a:xfrm>
            <a:off x="762000" y="1524000"/>
            <a:ext cx="5588000" cy="4191000"/>
          </a:xfrm>
          <a:prstGeom prst="roundRect">
            <a:avLst>
              <a:gd name="adj" fmla="val 6000"/>
            </a:avLst>
          </a:prstGeom>
          <a:ln w="15240">
            <a:solidFill>
              <a:srgbClr val="FFFFFF">
                <a:alpha val="30000"/>
              </a:srgbClr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THE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Meet AetherLink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32000"/>
            <a:ext cx="4826000" cy="279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18000"/>
              </a:lnSpc>
              <a:spcAft>
                <a:spcPts val="11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50" b="1">
                <a:solidFill>
                  <a:srgbClr val="22D3EE"/>
                </a:solidFill>
                <a:latin typeface="QuattrocentoSans"/>
              </a:rPr>
              <a:t>38 g</a:t>
            </a:r>
            <a:r>
              <a:rPr sz="1250" b="0">
                <a:solidFill>
                  <a:srgbClr val="EAF2FF"/>
                </a:solidFill>
                <a:latin typeface="QuattrocentoSans"/>
              </a:rPr>
              <a:t> — lighter than most sunglasses</a:t>
            </a:r>
          </a:p>
          <a:p>
            <a:pPr marL="190500" indent="-190500">
              <a:lnSpc>
                <a:spcPct val="118000"/>
              </a:lnSpc>
              <a:spcAft>
                <a:spcPts val="11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50" b="1">
                <a:solidFill>
                  <a:srgbClr val="EAF2FF"/>
                </a:solidFill>
                <a:latin typeface="QuattrocentoSans"/>
              </a:rPr>
              <a:t>Binocular micro-LED waveguides</a:t>
            </a:r>
            <a:r>
              <a:rPr sz="1250" b="0">
                <a:solidFill>
                  <a:srgbClr val="EAF2FF"/>
                </a:solidFill>
                <a:latin typeface="QuattrocentoSans"/>
              </a:rPr>
              <a:t>, 2,000 nits, daylight readable</a:t>
            </a:r>
          </a:p>
          <a:p>
            <a:pPr marL="190500" indent="-190500">
              <a:lnSpc>
                <a:spcPct val="118000"/>
              </a:lnSpc>
              <a:spcAft>
                <a:spcPts val="11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50" b="1">
                <a:solidFill>
                  <a:srgbClr val="EAF2FF"/>
                </a:solidFill>
                <a:latin typeface="QuattrocentoSans"/>
              </a:rPr>
              <a:t>All-day battery</a:t>
            </a:r>
            <a:r>
              <a:rPr sz="1250" b="0">
                <a:solidFill>
                  <a:srgbClr val="EAF2FF"/>
                </a:solidFill>
                <a:latin typeface="QuattrocentoSans"/>
              </a:rPr>
              <a:t> with 15-minute fast top-up</a:t>
            </a:r>
          </a:p>
          <a:p>
            <a:pPr marL="190500" indent="-190500">
              <a:lnSpc>
                <a:spcPct val="118000"/>
              </a:lnSpc>
              <a:spcAft>
                <a:spcPts val="11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50" b="1">
                <a:solidFill>
                  <a:srgbClr val="EAF2FF"/>
                </a:solidFill>
                <a:latin typeface="QuattrocentoSans"/>
              </a:rPr>
              <a:t>On-device AI</a:t>
            </a:r>
            <a:r>
              <a:rPr sz="1250" b="0">
                <a:solidFill>
                  <a:srgbClr val="EAF2FF"/>
                </a:solidFill>
                <a:latin typeface="QuattrocentoSans"/>
              </a:rPr>
              <a:t> for translation, capture and glanceable navigation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080000"/>
            <a:ext cx="1473200" cy="43180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5080000"/>
            <a:ext cx="14732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AF2FF"/>
                </a:solidFill>
                <a:latin typeface="Liter"/>
              </a:rPr>
              <a:t>$499 LAUNCH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83600" y="5080000"/>
            <a:ext cx="1473200" cy="431800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3600" y="5080000"/>
            <a:ext cx="14732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AF2FF"/>
                </a:solidFill>
                <a:latin typeface="Liter"/>
              </a:rPr>
              <a:t>IP54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9200" y="5080000"/>
            <a:ext cx="1473200" cy="431800"/>
          </a:xfrm>
          <a:prstGeom prst="roundRect">
            <a:avLst>
              <a:gd name="adj" fmla="val 50000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EC4899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9200" y="5080000"/>
            <a:ext cx="14732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AF2FF"/>
                </a:solidFill>
                <a:latin typeface="Liter"/>
              </a:rPr>
              <a:t>RX READY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318000"/>
            <a:ext cx="4064000" cy="4064000"/>
          </a:xfrm>
          <a:prstGeom prst="ellipse">
            <a:avLst/>
          </a:prstGeom>
          <a:solidFill>
            <a:srgbClr val="EC4899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524000" y="1016000"/>
            <a:ext cx="3810000" cy="3810000"/>
          </a:xfrm>
          <a:prstGeom prst="ellipse">
            <a:avLst/>
          </a:prstGeom>
          <a:solidFill>
            <a:srgbClr val="22D3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Three Things It Does Brilliantly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24000" y="1625600"/>
            <a:ext cx="2286000" cy="22860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2000" y="2159000"/>
            <a:ext cx="3454400" cy="3175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6800" y="2489200"/>
            <a:ext cx="279400" cy="2794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2997200"/>
            <a:ext cx="284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Liter"/>
              </a:rPr>
              <a:t>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454400"/>
            <a:ext cx="28448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AF2FF"/>
                </a:solidFill>
                <a:latin typeface="QuattrocentoSans"/>
              </a:rPr>
              <a:t>Navigation &amp; alerts float at the edge of vision — arrivals, turns, gates, without breaking stride.</a:t>
            </a:r>
          </a:p>
        </p:txBody>
      </p:sp>
      <p:sp>
        <p:nvSpPr>
          <p:cNvPr id="13" name="Oval 12"/>
          <p:cNvSpPr/>
          <p:nvPr/>
        </p:nvSpPr>
        <p:spPr>
          <a:xfrm>
            <a:off x="5334000" y="1625600"/>
            <a:ext cx="2286000" cy="2286000"/>
          </a:xfrm>
          <a:prstGeom prst="ellipse">
            <a:avLst/>
          </a:prstGeom>
          <a:solidFill>
            <a:srgbClr val="8B5CF6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2159000"/>
            <a:ext cx="3454400" cy="3175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76800" y="2489200"/>
            <a:ext cx="279400" cy="27940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800" y="2997200"/>
            <a:ext cx="284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Liter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0" y="3454400"/>
            <a:ext cx="28448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AF2FF"/>
                </a:solidFill>
                <a:latin typeface="QuattrocentoSans"/>
              </a:rPr>
              <a:t>Live translation and captions rendered in-frame, on-device, in 27 languages.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0" y="1625600"/>
            <a:ext cx="2286000" cy="2286000"/>
          </a:xfrm>
          <a:prstGeom prst="ellipse">
            <a:avLst/>
          </a:prstGeom>
          <a:solidFill>
            <a:srgbClr val="EC4899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82000" y="2159000"/>
            <a:ext cx="3454400" cy="3175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0" y="2489200"/>
            <a:ext cx="279400" cy="2794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2997200"/>
            <a:ext cx="28448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Liter"/>
              </a:rPr>
              <a:t>REMEMBER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454400"/>
            <a:ext cx="2844800" cy="165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EAF2FF"/>
                </a:solidFill>
                <a:latin typeface="QuattrocentoSans"/>
              </a:rPr>
              <a:t>First-person capture and instant recall: 'what was that restaurant from March?'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689600"/>
            <a:ext cx="10668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EAF2FF"/>
                </a:solidFill>
                <a:latin typeface="Liter"/>
              </a:rPr>
              <a:t>One frame, one AI companion — </a:t>
            </a:r>
            <a:r>
              <a:rPr sz="1400" b="1" i="0">
                <a:solidFill>
                  <a:srgbClr val="22D3EE"/>
                </a:solidFill>
                <a:latin typeface="Liter"/>
              </a:rPr>
              <a:t>three superpowers you use every hour.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From Box to First Glance in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4200" y="2159000"/>
            <a:ext cx="1524000" cy="1524000"/>
          </a:xfrm>
          <a:prstGeom prst="ellipse">
            <a:avLst/>
          </a:prstGeom>
          <a:gradFill>
            <a:gsLst>
              <a:gs pos="0">
                <a:srgbClr val="22D3EE">
                  <a:alpha val="85000"/>
                </a:srgbClr>
              </a:gs>
              <a:gs pos="100000">
                <a:srgbClr val="0B1026">
                  <a:alpha val="25000"/>
                </a:srgbClr>
              </a:gs>
            </a:gsLst>
            <a:lin ang="3300000" scaled="1"/>
          </a:gradFill>
          <a:ln w="15240">
            <a:solidFill>
              <a:srgbClr val="22D3EE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4200" y="2159000"/>
            <a:ext cx="1524000" cy="15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Liter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51000" y="2641600"/>
            <a:ext cx="2108200" cy="1651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54200" y="28702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Liter"/>
              </a:rPr>
              <a:t>PAIR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200400"/>
            <a:ext cx="17526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EAF2FF"/>
                </a:solidFill>
                <a:latin typeface="QuattrocentoSans"/>
              </a:rPr>
              <a:t>Phone or standalone eSIM setup</a:t>
            </a:r>
          </a:p>
        </p:txBody>
      </p:sp>
      <p:sp>
        <p:nvSpPr>
          <p:cNvPr id="11" name="Oval 10"/>
          <p:cNvSpPr/>
          <p:nvPr/>
        </p:nvSpPr>
        <p:spPr>
          <a:xfrm>
            <a:off x="3352800" y="2159000"/>
            <a:ext cx="1524000" cy="1524000"/>
          </a:xfrm>
          <a:prstGeom prst="ellipse">
            <a:avLst/>
          </a:prstGeom>
          <a:gradFill>
            <a:gsLst>
              <a:gs pos="0">
                <a:srgbClr val="8B5CF6">
                  <a:alpha val="85000"/>
                </a:srgbClr>
              </a:gs>
              <a:gs pos="100000">
                <a:srgbClr val="0B1026">
                  <a:alpha val="25000"/>
                </a:srgbClr>
              </a:gs>
            </a:gsLst>
            <a:lin ang="3300000" scaled="1"/>
          </a:gradFill>
          <a:ln w="15240">
            <a:solidFill>
              <a:srgbClr val="8B5CF6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2800" y="2159000"/>
            <a:ext cx="1524000" cy="15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Liter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2641600"/>
            <a:ext cx="2108200" cy="1651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2800" y="28702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Liter"/>
              </a:rPr>
              <a:t>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2800" y="3200400"/>
            <a:ext cx="17526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EAF2FF"/>
                </a:solidFill>
                <a:latin typeface="QuattrocentoSans"/>
              </a:rPr>
              <a:t>Auto IPD calibration, RX snap-ins</a:t>
            </a:r>
          </a:p>
        </p:txBody>
      </p:sp>
      <p:sp>
        <p:nvSpPr>
          <p:cNvPr id="16" name="Oval 15"/>
          <p:cNvSpPr/>
          <p:nvPr/>
        </p:nvSpPr>
        <p:spPr>
          <a:xfrm>
            <a:off x="6121400" y="2159000"/>
            <a:ext cx="1524000" cy="1524000"/>
          </a:xfrm>
          <a:prstGeom prst="ellipse">
            <a:avLst/>
          </a:prstGeom>
          <a:gradFill>
            <a:gsLst>
              <a:gs pos="0">
                <a:srgbClr val="EC4899">
                  <a:alpha val="85000"/>
                </a:srgbClr>
              </a:gs>
              <a:gs pos="100000">
                <a:srgbClr val="0B1026">
                  <a:alpha val="25000"/>
                </a:srgbClr>
              </a:gs>
            </a:gsLst>
            <a:lin ang="3300000" scaled="1"/>
          </a:gradFill>
          <a:ln w="15240">
            <a:solidFill>
              <a:srgbClr val="EC4899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1400" y="2159000"/>
            <a:ext cx="1524000" cy="15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Liter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88200" y="2641600"/>
            <a:ext cx="2108200" cy="1651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91400" y="28702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  <a:latin typeface="Liter"/>
              </a:rPr>
              <a:t>GLANCE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1400" y="3200400"/>
            <a:ext cx="17526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EAF2FF"/>
                </a:solidFill>
                <a:latin typeface="QuattrocentoSans"/>
              </a:rPr>
              <a:t>Choose your micro-apps</a:t>
            </a:r>
          </a:p>
        </p:txBody>
      </p:sp>
      <p:sp>
        <p:nvSpPr>
          <p:cNvPr id="21" name="Oval 20"/>
          <p:cNvSpPr/>
          <p:nvPr/>
        </p:nvSpPr>
        <p:spPr>
          <a:xfrm>
            <a:off x="8890000" y="2159000"/>
            <a:ext cx="1524000" cy="1524000"/>
          </a:xfrm>
          <a:prstGeom prst="ellipse">
            <a:avLst/>
          </a:prstGeom>
          <a:gradFill>
            <a:gsLst>
              <a:gs pos="0">
                <a:srgbClr val="2DD4BF">
                  <a:alpha val="85000"/>
                </a:srgbClr>
              </a:gs>
              <a:gs pos="100000">
                <a:srgbClr val="0B1026">
                  <a:alpha val="25000"/>
                </a:srgbClr>
              </a:gs>
            </a:gsLst>
            <a:lin ang="3300000" scaled="1"/>
          </a:gradFill>
          <a:ln w="15240">
            <a:solidFill>
              <a:srgbClr val="2DD4BF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90000" y="2159000"/>
            <a:ext cx="1524000" cy="152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Liter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56800" y="2641600"/>
            <a:ext cx="2108200" cy="1651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0000" y="2870200"/>
            <a:ext cx="1752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Liter"/>
              </a:rPr>
              <a:t>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0000" y="3200400"/>
            <a:ext cx="1752600" cy="965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EAF2FF"/>
                </a:solidFill>
                <a:latin typeface="QuattrocentoSans"/>
              </a:rPr>
              <a:t>All-day wear, nightly dock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953000"/>
            <a:ext cx="10668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9FB3D9"/>
                </a:solidFill>
                <a:latin typeface="QuattrocentoSans"/>
              </a:rPr>
              <a:t>Mediated by AetherOS — our glance-first operating layer that decides what deserves your attention, and what never interrupts.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90000" y="-1270000"/>
            <a:ext cx="4318000" cy="4318000"/>
          </a:xfrm>
          <a:prstGeom prst="ellipse">
            <a:avLst/>
          </a:prstGeom>
          <a:solidFill>
            <a:srgbClr val="8B5CF6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A Category Crossing Into the Mainstream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2032000"/>
            <a:ext cx="3454400" cy="2286000"/>
          </a:xfrm>
          <a:prstGeom prst="roundRect">
            <a:avLst>
              <a:gd name="adj" fmla="val 9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311400"/>
            <a:ext cx="28448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22D3EE"/>
                </a:solidFill>
                <a:latin typeface="Liter"/>
              </a:rPr>
              <a:t>$34B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" y="3124200"/>
            <a:ext cx="711200" cy="381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3327400"/>
            <a:ext cx="2844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AF2FF"/>
                </a:solidFill>
                <a:latin typeface="QuattrocentoSans"/>
              </a:rPr>
              <a:t>global smart-eyewear TAM by 2030, 24% CAGR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032000"/>
            <a:ext cx="3454400" cy="2286000"/>
          </a:xfrm>
          <a:prstGeom prst="roundRect">
            <a:avLst>
              <a:gd name="adj" fmla="val 9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6800" y="2311400"/>
            <a:ext cx="28448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8B5CF6"/>
                </a:solidFill>
                <a:latin typeface="Liter"/>
              </a:rPr>
              <a:t>142M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0" y="3124200"/>
            <a:ext cx="711200" cy="38100"/>
          </a:xfrm>
          <a:prstGeom prst="rect">
            <a:avLst/>
          </a:prstGeom>
          <a:gradFill>
            <a:gsLst>
              <a:gs pos="0">
                <a:srgbClr val="8B5CF6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800" y="3327400"/>
            <a:ext cx="2844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AF2FF"/>
                </a:solidFill>
                <a:latin typeface="QuattrocentoSans"/>
              </a:rPr>
              <a:t>units shipped annually by 2030 (industry consensus)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0" y="2032000"/>
            <a:ext cx="3454400" cy="2286000"/>
          </a:xfrm>
          <a:prstGeom prst="roundRect">
            <a:avLst>
              <a:gd name="adj" fmla="val 9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311400"/>
            <a:ext cx="2844800" cy="71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C4899"/>
                </a:solidFill>
                <a:latin typeface="Liter"/>
              </a:rPr>
              <a:t>68%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3124200"/>
            <a:ext cx="711200" cy="38100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3327400"/>
            <a:ext cx="2844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AF2FF"/>
                </a:solidFill>
                <a:latin typeface="QuattrocentoSans"/>
              </a:rPr>
              <a:t>of early adopters cite navigation &amp; translation as killer apps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826000"/>
            <a:ext cx="10668000" cy="1219200"/>
          </a:xfrm>
          <a:prstGeom prst="roundRect">
            <a:avLst>
              <a:gd name="adj" fmla="val 9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68400" y="4826000"/>
            <a:ext cx="9906000" cy="1219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22D3EE"/>
                </a:solidFill>
                <a:latin typeface="QuattrocentoSans"/>
              </a:rPr>
              <a:t>Our wedge: </a:t>
            </a:r>
            <a:r>
              <a:rPr sz="1400" b="0" i="0">
                <a:solidFill>
                  <a:srgbClr val="EAF2FF"/>
                </a:solidFill>
                <a:latin typeface="QuattrocentoSans"/>
              </a:rPr>
              <a:t>style-first frames at a mainstream price — the segment competitors abandoned chasing enterprise.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524000" y="4064000"/>
            <a:ext cx="4064000" cy="4064000"/>
          </a:xfrm>
          <a:prstGeom prst="ellipse">
            <a:avLst/>
          </a:prstGeom>
          <a:solidFill>
            <a:srgbClr val="22D3EE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EARLY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First Two Quarters Beat the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2000" y="1778000"/>
          <a:ext cx="7112000" cy="4064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382000" y="1905000"/>
            <a:ext cx="3048000" cy="1778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133600"/>
            <a:ext cx="2438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22D3EE"/>
                </a:solidFill>
                <a:latin typeface="Liter"/>
              </a:rPr>
              <a:t>115k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743200"/>
            <a:ext cx="2438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AF2FF"/>
                </a:solidFill>
                <a:latin typeface="QuattrocentoSans"/>
              </a:rPr>
              <a:t>units in FY2026 plan — 3.9× our first-year forecast set at seed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82000" y="3937000"/>
            <a:ext cx="3048000" cy="1778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165600"/>
            <a:ext cx="24384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C4899"/>
                </a:solidFill>
                <a:latin typeface="Liter"/>
              </a:rPr>
              <a:t>41%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775200"/>
            <a:ext cx="24384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EAF2FF"/>
                </a:solidFill>
                <a:latin typeface="QuattrocentoSans"/>
              </a:rPr>
              <a:t>of Q2 orders came from referrals and creator waitlists — zero paid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IN THE WILD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One Frame, Four Everyday Lives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rson_city.jpg"/>
          <p:cNvPicPr>
            <a:picLocks noChangeAspect="1"/>
          </p:cNvPicPr>
          <p:nvPr/>
        </p:nvPicPr>
        <p:blipFill>
          <a:blip r:embed="rId2"/>
          <a:srcRect l="26162" r="26162"/>
          <a:stretch>
            <a:fillRect/>
          </a:stretch>
        </p:blipFill>
        <p:spPr>
          <a:xfrm>
            <a:off x="762000" y="1905000"/>
            <a:ext cx="2540000" cy="3302000"/>
          </a:xfrm>
          <a:prstGeom prst="rect">
            <a:avLst/>
          </a:prstGeom>
          <a:effectLst/>
        </p:spPr>
      </p:pic>
      <p:sp>
        <p:nvSpPr>
          <p:cNvPr id="7" name="Rounded Rectangle 6"/>
          <p:cNvSpPr/>
          <p:nvPr/>
        </p:nvSpPr>
        <p:spPr>
          <a:xfrm>
            <a:off x="762000" y="1905000"/>
            <a:ext cx="2540000" cy="3302000"/>
          </a:xfrm>
          <a:prstGeom prst="roundRect">
            <a:avLst>
              <a:gd name="adj" fmla="val 5000"/>
            </a:avLst>
          </a:prstGeom>
          <a:ln w="12700">
            <a:solidFill>
              <a:srgbClr val="FFFFFF">
                <a:alpha val="25000"/>
              </a:srgbClr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9000" y="4445000"/>
            <a:ext cx="2286000" cy="1168400"/>
          </a:xfrm>
          <a:prstGeom prst="roundRect">
            <a:avLst>
              <a:gd name="adj" fmla="val 9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4597400"/>
            <a:ext cx="1981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Liter"/>
              </a:rPr>
              <a:t>COMMUTE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1400" y="4876800"/>
            <a:ext cx="1981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EAF2FF"/>
                </a:solidFill>
                <a:latin typeface="QuattrocentoSans"/>
              </a:rPr>
              <a:t>Glanceable turns, no phone-out moments</a:t>
            </a:r>
          </a:p>
        </p:txBody>
      </p:sp>
      <p:pic>
        <p:nvPicPr>
          <p:cNvPr id="11" name="Picture 10" descr="person_fitness.jpg"/>
          <p:cNvPicPr>
            <a:picLocks noChangeAspect="1"/>
          </p:cNvPicPr>
          <p:nvPr/>
        </p:nvPicPr>
        <p:blipFill>
          <a:blip r:embed="rId3"/>
          <a:srcRect l="26162" r="26162"/>
          <a:stretch>
            <a:fillRect/>
          </a:stretch>
        </p:blipFill>
        <p:spPr>
          <a:xfrm>
            <a:off x="3467100" y="1905000"/>
            <a:ext cx="2540000" cy="3302000"/>
          </a:xfrm>
          <a:prstGeom prst="rect">
            <a:avLst/>
          </a:prstGeom>
          <a:effectLst/>
        </p:spPr>
      </p:pic>
      <p:sp>
        <p:nvSpPr>
          <p:cNvPr id="12" name="Rounded Rectangle 11"/>
          <p:cNvSpPr/>
          <p:nvPr/>
        </p:nvSpPr>
        <p:spPr>
          <a:xfrm>
            <a:off x="3467100" y="1905000"/>
            <a:ext cx="2540000" cy="3302000"/>
          </a:xfrm>
          <a:prstGeom prst="roundRect">
            <a:avLst>
              <a:gd name="adj" fmla="val 5000"/>
            </a:avLst>
          </a:prstGeom>
          <a:ln w="12700">
            <a:solidFill>
              <a:srgbClr val="FFFFFF">
                <a:alpha val="25000"/>
              </a:srgbClr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94100" y="4445000"/>
            <a:ext cx="2286000" cy="1168400"/>
          </a:xfrm>
          <a:prstGeom prst="roundRect">
            <a:avLst>
              <a:gd name="adj" fmla="val 9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6500" y="4597400"/>
            <a:ext cx="1981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Liter"/>
              </a:rPr>
              <a:t>TRAIN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6500" y="4876800"/>
            <a:ext cx="1981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EAF2FF"/>
                </a:solidFill>
                <a:latin typeface="QuattrocentoSans"/>
              </a:rPr>
              <a:t>Pace and heart-rate in view, hands free</a:t>
            </a:r>
          </a:p>
        </p:txBody>
      </p:sp>
      <p:pic>
        <p:nvPicPr>
          <p:cNvPr id="16" name="Picture 15" descr="person_home.jpg"/>
          <p:cNvPicPr>
            <a:picLocks noChangeAspect="1"/>
          </p:cNvPicPr>
          <p:nvPr/>
        </p:nvPicPr>
        <p:blipFill>
          <a:blip r:embed="rId4"/>
          <a:srcRect l="26162" r="26162"/>
          <a:stretch>
            <a:fillRect/>
          </a:stretch>
        </p:blipFill>
        <p:spPr>
          <a:xfrm>
            <a:off x="6172200" y="1905000"/>
            <a:ext cx="2540000" cy="3302000"/>
          </a:xfrm>
          <a:prstGeom prst="rect">
            <a:avLst/>
          </a:prstGeom>
          <a:effectLst/>
        </p:spPr>
      </p:pic>
      <p:sp>
        <p:nvSpPr>
          <p:cNvPr id="17" name="Rounded Rectangle 16"/>
          <p:cNvSpPr/>
          <p:nvPr/>
        </p:nvSpPr>
        <p:spPr>
          <a:xfrm>
            <a:off x="6172200" y="1905000"/>
            <a:ext cx="2540000" cy="3302000"/>
          </a:xfrm>
          <a:prstGeom prst="roundRect">
            <a:avLst>
              <a:gd name="adj" fmla="val 5000"/>
            </a:avLst>
          </a:prstGeom>
          <a:ln w="12700">
            <a:solidFill>
              <a:srgbClr val="FFFFFF">
                <a:alpha val="25000"/>
              </a:srgbClr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99200" y="4445000"/>
            <a:ext cx="2286000" cy="1168400"/>
          </a:xfrm>
          <a:prstGeom prst="roundRect">
            <a:avLst>
              <a:gd name="adj" fmla="val 9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0" y="4597400"/>
            <a:ext cx="1981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Liter"/>
              </a:rP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600" y="4876800"/>
            <a:ext cx="1981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EAF2FF"/>
                </a:solidFill>
                <a:latin typeface="QuattrocentoSans"/>
              </a:rPr>
              <a:t>Calls and captions that feel face-to-face</a:t>
            </a:r>
          </a:p>
        </p:txBody>
      </p:sp>
      <p:pic>
        <p:nvPicPr>
          <p:cNvPr id="21" name="Picture 20" descr="person_event.jpg"/>
          <p:cNvPicPr>
            <a:picLocks noChangeAspect="1"/>
          </p:cNvPicPr>
          <p:nvPr/>
        </p:nvPicPr>
        <p:blipFill>
          <a:blip r:embed="rId5"/>
          <a:srcRect l="26162" r="26162"/>
          <a:stretch>
            <a:fillRect/>
          </a:stretch>
        </p:blipFill>
        <p:spPr>
          <a:xfrm>
            <a:off x="8877300" y="1905000"/>
            <a:ext cx="2540000" cy="3302000"/>
          </a:xfrm>
          <a:prstGeom prst="rect">
            <a:avLst/>
          </a:prstGeom>
          <a:effectLst/>
        </p:spPr>
      </p:pic>
      <p:sp>
        <p:nvSpPr>
          <p:cNvPr id="22" name="Rounded Rectangle 21"/>
          <p:cNvSpPr/>
          <p:nvPr/>
        </p:nvSpPr>
        <p:spPr>
          <a:xfrm>
            <a:off x="8877300" y="1905000"/>
            <a:ext cx="2540000" cy="3302000"/>
          </a:xfrm>
          <a:prstGeom prst="roundRect">
            <a:avLst>
              <a:gd name="adj" fmla="val 5000"/>
            </a:avLst>
          </a:prstGeom>
          <a:ln w="12700">
            <a:solidFill>
              <a:srgbClr val="FFFFFF">
                <a:alpha val="25000"/>
              </a:srgbClr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04300" y="4445000"/>
            <a:ext cx="2286000" cy="1168400"/>
          </a:xfrm>
          <a:prstGeom prst="roundRect">
            <a:avLst>
              <a:gd name="adj" fmla="val 9000"/>
            </a:avLst>
          </a:prstGeom>
          <a:solidFill>
            <a:srgbClr val="FFFFFF">
              <a:alpha val="22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6700" y="4597400"/>
            <a:ext cx="1981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Liter"/>
              </a:rPr>
              <a:t>EXPERIENCE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6700" y="4876800"/>
            <a:ext cx="1981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EAF2FF"/>
                </a:solidFill>
                <a:latin typeface="QuattrocentoSans"/>
              </a:rPr>
              <a:t>Capture the moment without leaving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erson_home.jpg"/>
          <p:cNvPicPr>
            <a:picLocks noChangeAspect="1"/>
          </p:cNvPicPr>
          <p:nvPr/>
        </p:nvPicPr>
        <p:blipFill>
          <a:blip r:embed="rId2"/>
          <a:srcRect l="25897" r="25897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  <a:effectLst/>
        </p:spPr>
      </p:pic>
      <p:sp>
        <p:nvSpPr>
          <p:cNvPr id="4" name="Rectangle 3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gradFill>
            <a:gsLst>
              <a:gs pos="0">
                <a:srgbClr val="0B1026">
                  <a:alpha val="15000"/>
                </a:srgbClr>
              </a:gs>
              <a:gs pos="100000">
                <a:srgbClr val="0B1026">
                  <a:alpha val="6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69000" y="1651000"/>
            <a:ext cx="5461000" cy="3556000"/>
          </a:xfrm>
          <a:prstGeom prst="roundRect">
            <a:avLst>
              <a:gd name="adj" fmla="val 9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0" y="1930400"/>
            <a:ext cx="1270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22D3EE"/>
                </a:solidFill>
                <a:latin typeface="Liter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2870200"/>
            <a:ext cx="4699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0">
                <a:solidFill>
                  <a:srgbClr val="FFFFFF"/>
                </a:solidFill>
                <a:latin typeface="QuattrocentoSans"/>
              </a:rPr>
              <a:t>I stopped taking my phone out on walks. </a:t>
            </a:r>
            <a:r>
              <a:rPr sz="1500" b="0" i="0">
                <a:solidFill>
                  <a:srgbClr val="EAF2FF"/>
                </a:solidFill>
                <a:latin typeface="QuattrocentoSans"/>
              </a:rPr>
              <a:t>Directions, messages, photos — it all just floats there when I need it, and disappears when I don't.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4470400"/>
            <a:ext cx="609600" cy="381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0" y="4622800"/>
            <a:ext cx="4699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2D3EE"/>
                </a:solidFill>
                <a:latin typeface="Liter"/>
              </a:rPr>
              <a:t>MARA J. — BETA PILOT #0417, LISBON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4876800"/>
            <a:ext cx="469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FB3D9"/>
                </a:solidFill>
                <a:latin typeface="QuattrocentoSans"/>
              </a:rPr>
              <a:t>Waitlist NPS 71 · 4.8/5 comfort rating after 30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98000" y="4064000"/>
            <a:ext cx="3810000" cy="38100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Hardware Margin + Companion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2000" y="2032000"/>
            <a:ext cx="3454400" cy="2667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2032000"/>
            <a:ext cx="3454400" cy="635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22D3EE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6800" y="2311400"/>
            <a:ext cx="284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Liter"/>
              </a:rPr>
              <a:t>AETHERLINK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2667000"/>
            <a:ext cx="28448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Liter"/>
              </a:rPr>
              <a:t>$499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403600"/>
            <a:ext cx="2844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AF2FF"/>
                </a:solidFill>
                <a:latin typeface="QuattrocentoSans"/>
              </a:rPr>
              <a:t>Hardware, 38% blended gross margin at current 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032000"/>
            <a:ext cx="3454400" cy="2667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32000"/>
            <a:ext cx="3454400" cy="63500"/>
          </a:xfrm>
          <a:prstGeom prst="rect">
            <a:avLst/>
          </a:prstGeom>
          <a:gradFill>
            <a:gsLst>
              <a:gs pos="0">
                <a:srgbClr val="8B5CF6"/>
              </a:gs>
              <a:gs pos="100000">
                <a:srgbClr val="8B5CF6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76800" y="2311400"/>
            <a:ext cx="284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Liter"/>
              </a:rPr>
              <a:t>AETHER+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76800" y="2667000"/>
            <a:ext cx="28448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Liter"/>
              </a:rPr>
              <a:t>$9/mo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3403600"/>
            <a:ext cx="2844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AF2FF"/>
                </a:solidFill>
                <a:latin typeface="QuattrocentoSans"/>
              </a:rPr>
              <a:t>Cloud recall, advanced translation packs, priority AI — 31% attach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2000" y="2032000"/>
            <a:ext cx="3454400" cy="2667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82000" y="2032000"/>
            <a:ext cx="3454400" cy="63500"/>
          </a:xfrm>
          <a:prstGeom prst="rect">
            <a:avLst/>
          </a:prstGeom>
          <a:gradFill>
            <a:gsLst>
              <a:gs pos="0">
                <a:srgbClr val="EC4899"/>
              </a:gs>
              <a:gs pos="100000">
                <a:srgbClr val="EC4899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2311400"/>
            <a:ext cx="28448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Liter"/>
              </a:rPr>
              <a:t>AETHER CARE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67000"/>
            <a:ext cx="28448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Liter"/>
              </a:rPr>
              <a:t>$79/yr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403600"/>
            <a:ext cx="2844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AF2FF"/>
                </a:solidFill>
                <a:latin typeface="QuattrocentoSans"/>
              </a:rPr>
              <a:t>Accidental-damage cover &amp; lens refresh — 44% attach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5080000"/>
            <a:ext cx="10668000" cy="965200"/>
          </a:xfrm>
          <a:prstGeom prst="roundRect">
            <a:avLst>
              <a:gd name="adj" fmla="val 9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68400" y="5080000"/>
            <a:ext cx="9906000" cy="965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AF2FF"/>
                </a:solidFill>
                <a:latin typeface="QuattrocentoSans"/>
              </a:rPr>
              <a:t>Blended FY2027 revenue target: </a:t>
            </a:r>
            <a:r>
              <a:rPr sz="1400" b="1" i="0">
                <a:solidFill>
                  <a:srgbClr val="22D3EE"/>
                </a:solidFill>
                <a:latin typeface="QuattrocentoSans"/>
              </a:rPr>
              <a:t>$86M</a:t>
            </a:r>
            <a:r>
              <a:rPr sz="1400" b="0" i="0">
                <a:solidFill>
                  <a:srgbClr val="EAF2FF"/>
                </a:solidFill>
                <a:latin typeface="QuattrocentoSans"/>
              </a:rPr>
              <a:t> — 71% hardware, 29% recurring services.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Eight Quarters, Three Generations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6000" y="3403600"/>
            <a:ext cx="10160000" cy="25400"/>
          </a:xfrm>
          <a:prstGeom prst="rect">
            <a:avLst/>
          </a:prstGeom>
          <a:gradFill>
            <a:gsLst>
              <a:gs pos="0">
                <a:srgbClr val="22D3EE"/>
              </a:gs>
              <a:gs pos="50000">
                <a:srgbClr val="8B5CF6"/>
              </a:gs>
              <a:gs pos="100000">
                <a:srgbClr val="EC4899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24000" y="3276600"/>
            <a:ext cx="279400" cy="279400"/>
          </a:xfrm>
          <a:prstGeom prst="ellipse">
            <a:avLst/>
          </a:prstGeom>
          <a:solidFill>
            <a:srgbClr val="22D3EE"/>
          </a:solidFill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6000" y="2235200"/>
            <a:ext cx="2413000" cy="1016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51000" y="3251200"/>
            <a:ext cx="25400" cy="2540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9200" y="2362200"/>
            <a:ext cx="203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FB3D9"/>
                </a:solidFill>
                <a:latin typeface="Liter"/>
              </a:rPr>
              <a:t>Q3 FY26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2590800"/>
            <a:ext cx="2032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Liter"/>
              </a:rPr>
              <a:t>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870200"/>
            <a:ext cx="2032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AF2FF"/>
                </a:solidFill>
                <a:latin typeface="QuattrocentoSans"/>
              </a:rPr>
              <a:t>Retail launch, 2 colors</a:t>
            </a:r>
          </a:p>
        </p:txBody>
      </p:sp>
      <p:sp>
        <p:nvSpPr>
          <p:cNvPr id="13" name="Oval 12"/>
          <p:cNvSpPr/>
          <p:nvPr/>
        </p:nvSpPr>
        <p:spPr>
          <a:xfrm>
            <a:off x="4064000" y="3276600"/>
            <a:ext cx="279400" cy="279400"/>
          </a:xfrm>
          <a:prstGeom prst="ellipse">
            <a:avLst/>
          </a:prstGeom>
          <a:solidFill>
            <a:srgbClr val="8B5CF6"/>
          </a:solidFill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56000" y="3886200"/>
            <a:ext cx="2413000" cy="1016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91000" y="3276600"/>
            <a:ext cx="25400" cy="330200"/>
          </a:xfrm>
          <a:prstGeom prst="rect">
            <a:avLst/>
          </a:prstGeom>
          <a:solidFill>
            <a:srgbClr val="8B5CF6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9200" y="4013200"/>
            <a:ext cx="203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FB3D9"/>
                </a:solidFill>
                <a:latin typeface="Liter"/>
              </a:rPr>
              <a:t>Q1 FY27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9200" y="4241800"/>
            <a:ext cx="2032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Liter"/>
              </a:rPr>
              <a:t>ONE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9200" y="4521200"/>
            <a:ext cx="2032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AF2FF"/>
                </a:solidFill>
                <a:latin typeface="QuattrocentoSans"/>
              </a:rPr>
              <a:t>Sport frame, HR sensing</a:t>
            </a:r>
          </a:p>
        </p:txBody>
      </p:sp>
      <p:sp>
        <p:nvSpPr>
          <p:cNvPr id="19" name="Oval 18"/>
          <p:cNvSpPr/>
          <p:nvPr/>
        </p:nvSpPr>
        <p:spPr>
          <a:xfrm>
            <a:off x="6604000" y="3276600"/>
            <a:ext cx="279400" cy="279400"/>
          </a:xfrm>
          <a:prstGeom prst="ellipse">
            <a:avLst/>
          </a:prstGeom>
          <a:solidFill>
            <a:srgbClr val="EC4899"/>
          </a:solidFill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96000" y="2235200"/>
            <a:ext cx="2413000" cy="1016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31000" y="3251200"/>
            <a:ext cx="25400" cy="25400"/>
          </a:xfrm>
          <a:prstGeom prst="rect">
            <a:avLst/>
          </a:prstGeom>
          <a:solidFill>
            <a:srgbClr val="EC4899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9200" y="2362200"/>
            <a:ext cx="203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FB3D9"/>
                </a:solidFill>
                <a:latin typeface="Liter"/>
              </a:rPr>
              <a:t>Q3 FY27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9200" y="2590800"/>
            <a:ext cx="2032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  <a:latin typeface="Liter"/>
              </a:rPr>
              <a:t>TWO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70200"/>
            <a:ext cx="2032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AF2FF"/>
                </a:solidFill>
                <a:latin typeface="QuattrocentoSans"/>
              </a:rPr>
              <a:t>2× battery, binocular SLAM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0" y="3276600"/>
            <a:ext cx="279400" cy="279400"/>
          </a:xfrm>
          <a:prstGeom prst="ellipse">
            <a:avLst/>
          </a:prstGeom>
          <a:solidFill>
            <a:srgbClr val="2DD4BF"/>
          </a:solidFill>
          <a:ln w="15240">
            <a:solidFill>
              <a:srgbClr val="FFFFFF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36000" y="3886200"/>
            <a:ext cx="2413000" cy="1016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71000" y="3276600"/>
            <a:ext cx="25400" cy="330200"/>
          </a:xfrm>
          <a:prstGeom prst="rect">
            <a:avLst/>
          </a:prstGeom>
          <a:solidFill>
            <a:srgbClr val="2DD4B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9200" y="4013200"/>
            <a:ext cx="203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FB3D9"/>
                </a:solidFill>
                <a:latin typeface="Liter"/>
              </a:rPr>
              <a:t>Q2 FY28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9200" y="4241800"/>
            <a:ext cx="2032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DD4BF"/>
                </a:solidFill>
                <a:latin typeface="Liter"/>
              </a:rPr>
              <a:t>TWO 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9200" y="4521200"/>
            <a:ext cx="2032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EAF2FF"/>
                </a:solidFill>
                <a:latin typeface="QuattrocentoSans"/>
              </a:rPr>
              <a:t>Developer edition + SDK 2.0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000" y="5461000"/>
            <a:ext cx="10668000" cy="787400"/>
          </a:xfrm>
          <a:prstGeom prst="roundRect">
            <a:avLst>
              <a:gd name="adj" fmla="val 9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2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8400" y="5461000"/>
            <a:ext cx="9906000" cy="787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AF2FF"/>
                </a:solidFill>
                <a:latin typeface="QuattrocentoSans"/>
              </a:rPr>
              <a:t>SDK ships with every generation — </a:t>
            </a:r>
            <a:r>
              <a:rPr sz="1300" b="1" i="0">
                <a:solidFill>
                  <a:srgbClr val="22D3EE"/>
                </a:solidFill>
                <a:latin typeface="QuattrocentoSans"/>
              </a:rPr>
              <a:t>1,900 developers</a:t>
            </a:r>
            <a:r>
              <a:rPr sz="1300" b="0" i="0">
                <a:solidFill>
                  <a:srgbClr val="EAF2FF"/>
                </a:solidFill>
                <a:latin typeface="QuattrocentoSans"/>
              </a:rPr>
              <a:t> already building glance-apps.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026"/>
              </a:gs>
              <a:gs pos="100000">
                <a:srgbClr val="131B3F"/>
              </a:gs>
            </a:gsLst>
            <a:lin ang="69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m_lab.jpg"/>
          <p:cNvPicPr>
            <a:picLocks noChangeAspect="1"/>
          </p:cNvPicPr>
          <p:nvPr/>
        </p:nvPicPr>
        <p:blipFill>
          <a:blip r:embed="rId2"/>
          <a:srcRect l="9326" r="9326"/>
          <a:stretch>
            <a:fillRect/>
          </a:stretch>
        </p:blipFill>
        <p:spPr>
          <a:xfrm>
            <a:off x="6096000" y="1270000"/>
            <a:ext cx="5334000" cy="4064000"/>
          </a:xfrm>
          <a:prstGeom prst="rect">
            <a:avLst/>
          </a:prstGeom>
          <a:effectLst/>
        </p:spPr>
      </p:pic>
      <p:sp>
        <p:nvSpPr>
          <p:cNvPr id="4" name="Rounded Rectangle 3"/>
          <p:cNvSpPr/>
          <p:nvPr/>
        </p:nvSpPr>
        <p:spPr>
          <a:xfrm>
            <a:off x="6096000" y="1270000"/>
            <a:ext cx="5334000" cy="4064000"/>
          </a:xfrm>
          <a:prstGeom prst="roundRect">
            <a:avLst>
              <a:gd name="adj" fmla="val 5000"/>
            </a:avLst>
          </a:prstGeom>
          <a:ln w="12700">
            <a:solidFill>
              <a:srgbClr val="FFFFFF">
                <a:alpha val="28000"/>
              </a:srgbClr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889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Liter"/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63600"/>
            <a:ext cx="106680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Liter"/>
              </a:rPr>
              <a:t>Built by People Who Ship Optics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422400"/>
            <a:ext cx="812800" cy="50800"/>
          </a:xfrm>
          <a:prstGeom prst="rect">
            <a:avLst/>
          </a:prstGeom>
          <a:gradFill>
            <a:gsLst>
              <a:gs pos="0">
                <a:srgbClr val="22D3EE"/>
              </a:gs>
              <a:gs pos="100000">
                <a:srgbClr val="8B5CF6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2000" y="2032000"/>
            <a:ext cx="4826000" cy="3175000"/>
          </a:xfrm>
          <a:prstGeom prst="roundRect">
            <a:avLst>
              <a:gd name="adj" fmla="val 9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7600" y="2311400"/>
            <a:ext cx="4191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190500" indent="-190500">
              <a:lnSpc>
                <a:spcPct val="118000"/>
              </a:lnSpc>
              <a:spcAft>
                <a:spcPts val="11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00" b="1">
                <a:solidFill>
                  <a:srgbClr val="EAF2FF"/>
                </a:solidFill>
                <a:latin typeface="QuattrocentoSans"/>
              </a:rPr>
              <a:t>CEO — ex-wearables lead</a:t>
            </a:r>
            <a:r>
              <a:rPr sz="1200" b="0">
                <a:solidFill>
                  <a:srgbClr val="EAF2FF"/>
                </a:solidFill>
                <a:latin typeface="QuattrocentoSans"/>
              </a:rPr>
              <a:t>, shipped 4 optical consumer products</a:t>
            </a:r>
          </a:p>
          <a:p>
            <a:pPr marL="190500" indent="-190500">
              <a:lnSpc>
                <a:spcPct val="118000"/>
              </a:lnSpc>
              <a:spcAft>
                <a:spcPts val="11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00" b="1">
                <a:solidFill>
                  <a:srgbClr val="EAF2FF"/>
                </a:solidFill>
                <a:latin typeface="QuattrocentoSans"/>
              </a:rPr>
              <a:t>CTO — computational-imaging PhD</a:t>
            </a:r>
            <a:r>
              <a:rPr sz="1200" b="0">
                <a:solidFill>
                  <a:srgbClr val="EAF2FF"/>
                </a:solidFill>
                <a:latin typeface="QuattrocentoSans"/>
              </a:rPr>
              <a:t>, 31 patents in waveguide display</a:t>
            </a:r>
          </a:p>
          <a:p>
            <a:pPr marL="190500" indent="-190500">
              <a:lnSpc>
                <a:spcPct val="118000"/>
              </a:lnSpc>
              <a:spcAft>
                <a:spcPts val="11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00" b="1">
                <a:solidFill>
                  <a:srgbClr val="EAF2FF"/>
                </a:solidFill>
                <a:latin typeface="QuattrocentoSans"/>
              </a:rPr>
              <a:t>VP Design — award-winning frame studio</a:t>
            </a:r>
            <a:r>
              <a:rPr sz="1200" b="0">
                <a:solidFill>
                  <a:srgbClr val="EAF2FF"/>
                </a:solidFill>
                <a:latin typeface="QuattrocentoSans"/>
              </a:rPr>
              <a:t>, fashion-first industrial design</a:t>
            </a:r>
          </a:p>
          <a:p>
            <a:pPr marL="190500" indent="-190500">
              <a:lnSpc>
                <a:spcPct val="118000"/>
              </a:lnSpc>
              <a:spcAft>
                <a:spcPts val="1100"/>
              </a:spcAft>
              <a:buClr>
                <a:srgbClr val="22D3EE"/>
              </a:buClr>
              <a:buFont typeface="QuattrocentoSans"/>
              <a:buChar char="•"/>
            </a:pPr>
            <a:r>
              <a:rPr sz="1200" b="1">
                <a:solidFill>
                  <a:srgbClr val="22D3EE"/>
                </a:solidFill>
                <a:latin typeface="QuattrocentoSans"/>
              </a:rPr>
              <a:t>68 people</a:t>
            </a:r>
            <a:r>
              <a:rPr sz="1200" b="0">
                <a:solidFill>
                  <a:srgbClr val="EAF2FF"/>
                </a:solidFill>
                <a:latin typeface="QuattrocentoSans"/>
              </a:rPr>
              <a:t> across optics, AI, retail and supply 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5588000"/>
            <a:ext cx="2540000" cy="431800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588000"/>
            <a:ext cx="25400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AF2FF"/>
                </a:solidFill>
                <a:latin typeface="Liter"/>
              </a:rPr>
              <a:t>2 DESIGN AWARDS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6000" y="5588000"/>
            <a:ext cx="2540000" cy="43180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6000" y="5588000"/>
            <a:ext cx="25400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EAF2FF"/>
                </a:solidFill>
                <a:latin typeface="Liter"/>
              </a:rPr>
              <a:t>31 PATENTS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6040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9FB3D9"/>
                </a:solidFill>
                <a:latin typeface="QuattrocentoSans"/>
              </a:rPr>
              <a:t>AetherLink Inc. — Shareholder Overview · Fictional figures for discussion only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1040"/>
              </a:gs>
              <a:gs pos="60000">
                <a:srgbClr val="0B1026"/>
              </a:gs>
              <a:gs pos="100000">
                <a:srgbClr val="062A3A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70000" y="-1270000"/>
            <a:ext cx="4572000" cy="4572000"/>
          </a:xfrm>
          <a:prstGeom prst="ellipse">
            <a:avLst/>
          </a:prstGeom>
          <a:solidFill>
            <a:srgbClr val="8B5CF6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382000" y="3810000"/>
            <a:ext cx="4826000" cy="4826000"/>
          </a:xfrm>
          <a:prstGeom prst="ellipse">
            <a:avLst/>
          </a:prstGeom>
          <a:solidFill>
            <a:srgbClr val="22D3E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34000" y="762000"/>
            <a:ext cx="2794000" cy="2794000"/>
          </a:xfrm>
          <a:prstGeom prst="ellipse">
            <a:avLst/>
          </a:prstGeom>
          <a:solidFill>
            <a:srgbClr val="EC4899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168400"/>
            <a:ext cx="10668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2D3EE"/>
                </a:solidFill>
                <a:latin typeface="Liter"/>
              </a:rPr>
              <a:t>T H E   A S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7000" y="1727200"/>
            <a:ext cx="9398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Liter"/>
              </a:rPr>
              <a:t>$40M Series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2000" y="2997200"/>
            <a:ext cx="8128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EAF2FF"/>
                </a:solidFill>
                <a:latin typeface="QuattrocentoSans"/>
              </a:rPr>
              <a:t>To take AetherLink One to retail scale, fund Generation Two, and grow the developer platform.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7000" y="4013200"/>
            <a:ext cx="2159000" cy="1270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67000" y="4216400"/>
            <a:ext cx="215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22D3EE"/>
                </a:solidFill>
                <a:latin typeface="Liter"/>
              </a:rPr>
              <a:t>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9400" y="4724400"/>
            <a:ext cx="185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EAF2FF"/>
                </a:solidFill>
                <a:latin typeface="QuattrocentoSans"/>
              </a:rPr>
              <a:t>Manufacturing &amp; retail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0" y="4013200"/>
            <a:ext cx="2159000" cy="1270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80000" y="4216400"/>
            <a:ext cx="215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8B5CF6"/>
                </a:solidFill>
                <a:latin typeface="Liter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2400" y="4724400"/>
            <a:ext cx="185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EAF2FF"/>
                </a:solidFill>
                <a:latin typeface="QuattrocentoSans"/>
              </a:rPr>
              <a:t>Gen-2 R&amp;D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3000" y="4013200"/>
            <a:ext cx="2159000" cy="1270000"/>
          </a:xfrm>
          <a:prstGeom prst="roundRect">
            <a:avLst>
              <a:gd name="adj" fmla="val 9000"/>
            </a:avLst>
          </a:prstGeom>
          <a:solidFill>
            <a:srgbClr val="FFFFFF">
              <a:alpha val="13000"/>
            </a:srgbClr>
          </a:solidFill>
          <a:ln w="12700">
            <a:solidFill>
              <a:srgbClr val="FFFFFF">
                <a:alpha val="3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3000" y="4216400"/>
            <a:ext cx="215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C4899"/>
                </a:solidFill>
                <a:latin typeface="Liter"/>
              </a:rPr>
              <a:t>15%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5400" y="4724400"/>
            <a:ext cx="1854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EAF2FF"/>
                </a:solidFill>
                <a:latin typeface="QuattrocentoSans"/>
              </a:rPr>
              <a:t>Platform &amp; team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740400"/>
            <a:ext cx="10668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2D3EE"/>
                </a:solidFill>
                <a:latin typeface="Liter"/>
              </a:rPr>
              <a:t>A E T H E R L I N K   —   hello@aetherlink.example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6451600"/>
            <a:ext cx="106680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0" i="0">
                <a:solidFill>
                  <a:srgbClr val="9FB3D9"/>
                </a:solidFill>
                <a:latin typeface="QuattrocentoSans"/>
              </a:rPr>
              <a:t>Fictional company · All figures illustrative · Strictly 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etherLink Glass">
      <a:dk1>
        <a:sysClr val="windowText" lastClr="0B1026"/>
      </a:dk1>
      <a:lt1>
        <a:sysClr val="window" lastClr="FFFFFF"/>
      </a:lt1>
      <a:dk2>
        <a:srgbClr val="131B3F"/>
      </a:dk2>
      <a:lt2>
        <a:srgbClr val="EAF2FF"/>
      </a:lt2>
      <a:accent1>
        <a:srgbClr val="22D3EE"/>
      </a:accent1>
      <a:accent2>
        <a:srgbClr val="8B5CF6"/>
      </a:accent2>
      <a:accent3>
        <a:srgbClr val="EC4899"/>
      </a:accent3>
      <a:accent4>
        <a:srgbClr val="6366F1"/>
      </a:accent4>
      <a:accent5>
        <a:srgbClr val="2DD4BF"/>
      </a:accent5>
      <a:accent6>
        <a:srgbClr val="7DD3FC"/>
      </a:accent6>
      <a:hlink>
        <a:srgbClr val="7DD3FC"/>
      </a:hlink>
      <a:folHlink>
        <a:srgbClr val="8B5CF6"/>
      </a:folHlink>
    </a:clrScheme>
    <a:fontScheme name="AetherLink Type">
      <a:majorFont>
        <a:latin typeface="Li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Quattrocento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