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x="18288000" cy="10287000"/>
  <p:notesSz cx="6858000" cy="9144000"/>
  <p:embeddedFontLst>
    <p:embeddedFont>
      <p:font typeface="Helvetica Now Bold" charset="1" panose="020B0804030202020204"/>
      <p:regular r:id="rId21"/>
    </p:embeddedFont>
    <p:embeddedFont>
      <p:font typeface="Public Sans" charset="1" panose="00000000000000000000"/>
      <p:regular r:id="rId22"/>
    </p:embeddedFont>
    <p:embeddedFont>
      <p:font typeface="Public Sans Bold" charset="1" panose="00000000000000000000"/>
      <p:regular r:id="rId2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fonts/font21.fntdata" Type="http://schemas.openxmlformats.org/officeDocument/2006/relationships/font"/><Relationship Id="rId22" Target="fonts/font22.fntdata" Type="http://schemas.openxmlformats.org/officeDocument/2006/relationships/font"/><Relationship Id="rId23" Target="fonts/font23.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pn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jpeg" Type="http://schemas.openxmlformats.org/officeDocument/2006/relationships/image"/><Relationship Id="rId3" Target="../media/image3.png" Type="http://schemas.openxmlformats.org/officeDocument/2006/relationships/image"/><Relationship Id="rId4" Target="../media/image4.svg" Type="http://schemas.openxmlformats.org/officeDocument/2006/relationships/image"/><Relationship Id="rId5" Target="../media/image6.png" Type="http://schemas.openxmlformats.org/officeDocument/2006/relationships/image"/><Relationship Id="rId6" Target="../media/image7.svg" Type="http://schemas.openxmlformats.org/officeDocument/2006/relationships/image"/><Relationship Id="rId7" Target="../media/image8.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jpeg" Type="http://schemas.openxmlformats.org/officeDocument/2006/relationships/image"/><Relationship Id="rId3" Target="../media/image3.png" Type="http://schemas.openxmlformats.org/officeDocument/2006/relationships/image"/><Relationship Id="rId4" Target="../media/image4.svg" Type="http://schemas.openxmlformats.org/officeDocument/2006/relationships/image"/><Relationship Id="rId5" Target="../media/image6.png" Type="http://schemas.openxmlformats.org/officeDocument/2006/relationships/image"/><Relationship Id="rId6" Target="../media/image7.svg" Type="http://schemas.openxmlformats.org/officeDocument/2006/relationships/image"/><Relationship Id="rId7" Target="../media/image9.png" Type="http://schemas.openxmlformats.org/officeDocument/2006/relationships/image"/><Relationship Id="rId8" Target="../media/image10.png" Type="http://schemas.openxmlformats.org/officeDocument/2006/relationships/image"/><Relationship Id="rId9" Target="../media/image11.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jpeg" Type="http://schemas.openxmlformats.org/officeDocument/2006/relationships/image"/><Relationship Id="rId3" Target="../media/image3.png" Type="http://schemas.openxmlformats.org/officeDocument/2006/relationships/image"/><Relationship Id="rId4" Target="../media/image4.svg" Type="http://schemas.openxmlformats.org/officeDocument/2006/relationships/image"/><Relationship Id="rId5" Target="../media/image10.png" Type="http://schemas.openxmlformats.org/officeDocument/2006/relationships/image"/><Relationship Id="rId6" Target="../media/image11.svg" Type="http://schemas.openxmlformats.org/officeDocument/2006/relationships/image"/><Relationship Id="rId7" Target="../media/image6.png" Type="http://schemas.openxmlformats.org/officeDocument/2006/relationships/image"/><Relationship Id="rId8" Target="../media/image7.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jpeg" Type="http://schemas.openxmlformats.org/officeDocument/2006/relationships/image"/><Relationship Id="rId3" Target="../media/image3.png" Type="http://schemas.openxmlformats.org/officeDocument/2006/relationships/image"/><Relationship Id="rId4" Target="../media/image4.svg" Type="http://schemas.openxmlformats.org/officeDocument/2006/relationships/image"/><Relationship Id="rId5" Target="../media/image6.png" Type="http://schemas.openxmlformats.org/officeDocument/2006/relationships/image"/><Relationship Id="rId6" Target="../media/image7.svg" Type="http://schemas.openxmlformats.org/officeDocument/2006/relationships/image"/><Relationship Id="rId7" Target="../media/image12.png" Type="http://schemas.openxmlformats.org/officeDocument/2006/relationships/image"/><Relationship Id="rId8" Target="../media/image13.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jpeg" Type="http://schemas.openxmlformats.org/officeDocument/2006/relationships/image"/><Relationship Id="rId3" Target="../media/image3.png" Type="http://schemas.openxmlformats.org/officeDocument/2006/relationships/image"/><Relationship Id="rId4" Target="../media/image4.svg" Type="http://schemas.openxmlformats.org/officeDocument/2006/relationships/image"/><Relationship Id="rId5" Target="../media/image6.png" Type="http://schemas.openxmlformats.org/officeDocument/2006/relationships/image"/><Relationship Id="rId6" Target="../media/image7.svg" Type="http://schemas.openxmlformats.org/officeDocument/2006/relationships/image"/><Relationship Id="rId7" Target="../media/image14.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jpeg" Type="http://schemas.openxmlformats.org/officeDocument/2006/relationships/image"/><Relationship Id="rId3" Target="../media/image3.png" Type="http://schemas.openxmlformats.org/officeDocument/2006/relationships/image"/><Relationship Id="rId4" Target="../media/image4.svg" Type="http://schemas.openxmlformats.org/officeDocument/2006/relationships/image"/><Relationship Id="rId5" Target="../media/image10.png" Type="http://schemas.openxmlformats.org/officeDocument/2006/relationships/image"/><Relationship Id="rId6" Target="../media/image11.svg" Type="http://schemas.openxmlformats.org/officeDocument/2006/relationships/image"/><Relationship Id="rId7" Target="../media/image6.png" Type="http://schemas.openxmlformats.org/officeDocument/2006/relationships/image"/><Relationship Id="rId8" Target="../media/image7.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jpeg" Type="http://schemas.openxmlformats.org/officeDocument/2006/relationships/image"/><Relationship Id="rId3" Target="../media/image3.png" Type="http://schemas.openxmlformats.org/officeDocument/2006/relationships/image"/><Relationship Id="rId4" Target="../media/image4.svg" Type="http://schemas.openxmlformats.org/officeDocument/2006/relationships/image"/><Relationship Id="rId5" Target="../media/image6.png" Type="http://schemas.openxmlformats.org/officeDocument/2006/relationships/image"/><Relationship Id="rId6" Target="../media/image7.svg" Type="http://schemas.openxmlformats.org/officeDocument/2006/relationships/image"/><Relationship Id="rId7" Target="../media/image15.png" Type="http://schemas.openxmlformats.org/officeDocument/2006/relationships/image"/><Relationship Id="rId8" Target="../media/image10.png" Type="http://schemas.openxmlformats.org/officeDocument/2006/relationships/image"/><Relationship Id="rId9" Target="../media/image11.sv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jpeg" Type="http://schemas.openxmlformats.org/officeDocument/2006/relationships/image"/><Relationship Id="rId3" Target="../media/image3.png" Type="http://schemas.openxmlformats.org/officeDocument/2006/relationships/image"/><Relationship Id="rId4" Target="../media/image4.svg" Type="http://schemas.openxmlformats.org/officeDocument/2006/relationships/image"/><Relationship Id="rId5" Target="../media/image6.png" Type="http://schemas.openxmlformats.org/officeDocument/2006/relationships/image"/><Relationship Id="rId6" Target="../media/image7.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jpeg" Type="http://schemas.openxmlformats.org/officeDocument/2006/relationships/image"/><Relationship Id="rId3" Target="../media/image3.png" Type="http://schemas.openxmlformats.org/officeDocument/2006/relationships/image"/><Relationship Id="rId4" Target="../media/image4.svg" Type="http://schemas.openxmlformats.org/officeDocument/2006/relationships/image"/><Relationship Id="rId5" Target="../media/image6.png" Type="http://schemas.openxmlformats.org/officeDocument/2006/relationships/image"/><Relationship Id="rId6" Target="../media/image7.sv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jpeg" Type="http://schemas.openxmlformats.org/officeDocument/2006/relationships/image"/><Relationship Id="rId3" Target="../media/image3.png" Type="http://schemas.openxmlformats.org/officeDocument/2006/relationships/image"/><Relationship Id="rId4" Target="../media/image4.svg" Type="http://schemas.openxmlformats.org/officeDocument/2006/relationships/image"/><Relationship Id="rId5" Target="../media/image6.png" Type="http://schemas.openxmlformats.org/officeDocument/2006/relationships/image"/><Relationship Id="rId6" Target="../media/image7.sv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jpeg" Type="http://schemas.openxmlformats.org/officeDocument/2006/relationships/image"/><Relationship Id="rId3" Target="../media/image3.png" Type="http://schemas.openxmlformats.org/officeDocument/2006/relationships/image"/><Relationship Id="rId4" Target="../media/image4.svg" Type="http://schemas.openxmlformats.org/officeDocument/2006/relationships/image"/><Relationship Id="rId5" Target="../media/image6.png" Type="http://schemas.openxmlformats.org/officeDocument/2006/relationships/image"/><Relationship Id="rId6" Target="../media/image7.sv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jpeg" Type="http://schemas.openxmlformats.org/officeDocument/2006/relationships/image"/><Relationship Id="rId3" Target="../media/image3.png" Type="http://schemas.openxmlformats.org/officeDocument/2006/relationships/image"/><Relationship Id="rId4" Target="../media/image4.svg" Type="http://schemas.openxmlformats.org/officeDocument/2006/relationships/image"/><Relationship Id="rId5" Target="../media/image6.png" Type="http://schemas.openxmlformats.org/officeDocument/2006/relationships/image"/><Relationship Id="rId6" Target="../media/image7.svg" Type="http://schemas.openxmlformats.org/officeDocument/2006/relationships/image"/><Relationship Id="rId7" Target="../media/image12.png" Type="http://schemas.openxmlformats.org/officeDocument/2006/relationships/image"/><Relationship Id="rId8" Target="../media/image13.sv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jpeg" Type="http://schemas.openxmlformats.org/officeDocument/2006/relationships/image"/><Relationship Id="rId3" Target="../media/image3.png" Type="http://schemas.openxmlformats.org/officeDocument/2006/relationships/image"/><Relationship Id="rId4" Target="../media/image4.svg" Type="http://schemas.openxmlformats.org/officeDocument/2006/relationships/image"/><Relationship Id="rId5" Target="../media/image6.png" Type="http://schemas.openxmlformats.org/officeDocument/2006/relationships/image"/><Relationship Id="rId6" Target="../media/image7.svg" Type="http://schemas.openxmlformats.org/officeDocument/2006/relationships/image"/><Relationship Id="rId7" Target="../media/image16.png" Type="http://schemas.openxmlformats.org/officeDocument/2006/relationships/image"/><Relationship Id="rId8" Target="../media/image10.png" Type="http://schemas.openxmlformats.org/officeDocument/2006/relationships/image"/><Relationship Id="rId9" Target="../media/image11.sv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0.png" Type="http://schemas.openxmlformats.org/officeDocument/2006/relationships/image"/><Relationship Id="rId11" Target="../media/image21.svg" Type="http://schemas.openxmlformats.org/officeDocument/2006/relationships/image"/><Relationship Id="rId12" Target="../media/image22.png" Type="http://schemas.openxmlformats.org/officeDocument/2006/relationships/image"/><Relationship Id="rId13" Target="../media/image23.svg" Type="http://schemas.openxmlformats.org/officeDocument/2006/relationships/image"/><Relationship Id="rId2" Target="../media/image5.jpeg" Type="http://schemas.openxmlformats.org/officeDocument/2006/relationships/image"/><Relationship Id="rId3" Target="../media/image6.png" Type="http://schemas.openxmlformats.org/officeDocument/2006/relationships/image"/><Relationship Id="rId4" Target="../media/image7.svg" Type="http://schemas.openxmlformats.org/officeDocument/2006/relationships/image"/><Relationship Id="rId5" Target="../media/image3.png" Type="http://schemas.openxmlformats.org/officeDocument/2006/relationships/image"/><Relationship Id="rId6" Target="../media/image4.svg" Type="http://schemas.openxmlformats.org/officeDocument/2006/relationships/image"/><Relationship Id="rId7" Target="../media/image17.png" Type="http://schemas.openxmlformats.org/officeDocument/2006/relationships/image"/><Relationship Id="rId8" Target="../media/image18.png" Type="http://schemas.openxmlformats.org/officeDocument/2006/relationships/image"/><Relationship Id="rId9" Target="../media/image19.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66" r="0" b="-666"/>
            </a:stretch>
          </a:blipFill>
        </p:spPr>
      </p:sp>
      <p:sp>
        <p:nvSpPr>
          <p:cNvPr name="Freeform 3" id="3"/>
          <p:cNvSpPr/>
          <p:nvPr/>
        </p:nvSpPr>
        <p:spPr>
          <a:xfrm flipH="false" flipV="false" rot="0">
            <a:off x="12456976" y="-1543138"/>
            <a:ext cx="5754883" cy="11452504"/>
          </a:xfrm>
          <a:custGeom>
            <a:avLst/>
            <a:gdLst/>
            <a:ahLst/>
            <a:cxnLst/>
            <a:rect r="r" b="b" t="t" l="l"/>
            <a:pathLst>
              <a:path h="11452504" w="5754883">
                <a:moveTo>
                  <a:pt x="0" y="0"/>
                </a:moveTo>
                <a:lnTo>
                  <a:pt x="5754883" y="0"/>
                </a:lnTo>
                <a:lnTo>
                  <a:pt x="5754883" y="11452504"/>
                </a:lnTo>
                <a:lnTo>
                  <a:pt x="0" y="11452504"/>
                </a:lnTo>
                <a:lnTo>
                  <a:pt x="0" y="0"/>
                </a:lnTo>
                <a:close/>
              </a:path>
            </a:pathLst>
          </a:custGeom>
          <a:blipFill>
            <a:blip r:embed="rId3"/>
            <a:stretch>
              <a:fillRect l="0" t="0" r="0" b="0"/>
            </a:stretch>
          </a:blipFill>
        </p:spPr>
      </p:sp>
      <p:grpSp>
        <p:nvGrpSpPr>
          <p:cNvPr name="Group 4" id="4"/>
          <p:cNvGrpSpPr/>
          <p:nvPr/>
        </p:nvGrpSpPr>
        <p:grpSpPr>
          <a:xfrm rot="0">
            <a:off x="1534840" y="6807176"/>
            <a:ext cx="4816999" cy="659988"/>
            <a:chOff x="0" y="0"/>
            <a:chExt cx="2966156" cy="406400"/>
          </a:xfrm>
        </p:grpSpPr>
        <p:sp>
          <p:nvSpPr>
            <p:cNvPr name="Freeform 5" id="5"/>
            <p:cNvSpPr/>
            <p:nvPr/>
          </p:nvSpPr>
          <p:spPr>
            <a:xfrm flipH="false" flipV="false" rot="0">
              <a:off x="0" y="0"/>
              <a:ext cx="2966156" cy="406400"/>
            </a:xfrm>
            <a:custGeom>
              <a:avLst/>
              <a:gdLst/>
              <a:ahLst/>
              <a:cxnLst/>
              <a:rect r="r" b="b" t="t" l="l"/>
              <a:pathLst>
                <a:path h="406400" w="2966156">
                  <a:moveTo>
                    <a:pt x="2762956" y="0"/>
                  </a:moveTo>
                  <a:cubicBezTo>
                    <a:pt x="2875180" y="0"/>
                    <a:pt x="2966156" y="90976"/>
                    <a:pt x="2966156" y="203200"/>
                  </a:cubicBezTo>
                  <a:cubicBezTo>
                    <a:pt x="2966156" y="315424"/>
                    <a:pt x="2875180" y="406400"/>
                    <a:pt x="2762956"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6" id="6"/>
            <p:cNvSpPr txBox="true"/>
            <p:nvPr/>
          </p:nvSpPr>
          <p:spPr>
            <a:xfrm>
              <a:off x="0" y="-57150"/>
              <a:ext cx="2966156" cy="463550"/>
            </a:xfrm>
            <a:prstGeom prst="rect">
              <a:avLst/>
            </a:prstGeom>
          </p:spPr>
          <p:txBody>
            <a:bodyPr anchor="ctr" rtlCol="false" tIns="50800" lIns="50800" bIns="50800" rIns="50800"/>
            <a:lstStyle/>
            <a:p>
              <a:pPr algn="ctr" marL="0" indent="0" lvl="0">
                <a:lnSpc>
                  <a:spcPts val="3428"/>
                </a:lnSpc>
              </a:pPr>
            </a:p>
          </p:txBody>
        </p:sp>
      </p:grpSp>
      <p:grpSp>
        <p:nvGrpSpPr>
          <p:cNvPr name="Group 7" id="7"/>
          <p:cNvGrpSpPr/>
          <p:nvPr/>
        </p:nvGrpSpPr>
        <p:grpSpPr>
          <a:xfrm rot="0">
            <a:off x="1534840" y="642100"/>
            <a:ext cx="1313931" cy="773201"/>
            <a:chOff x="0" y="0"/>
            <a:chExt cx="690612" cy="406400"/>
          </a:xfrm>
        </p:grpSpPr>
        <p:sp>
          <p:nvSpPr>
            <p:cNvPr name="Freeform 8" id="8"/>
            <p:cNvSpPr/>
            <p:nvPr/>
          </p:nvSpPr>
          <p:spPr>
            <a:xfrm flipH="false" flipV="false" rot="0">
              <a:off x="0" y="0"/>
              <a:ext cx="690612" cy="406400"/>
            </a:xfrm>
            <a:custGeom>
              <a:avLst/>
              <a:gdLst/>
              <a:ahLst/>
              <a:cxnLst/>
              <a:rect r="r" b="b" t="t" l="l"/>
              <a:pathLst>
                <a:path h="406400" w="690612">
                  <a:moveTo>
                    <a:pt x="487412" y="0"/>
                  </a:moveTo>
                  <a:cubicBezTo>
                    <a:pt x="599636" y="0"/>
                    <a:pt x="690612" y="90976"/>
                    <a:pt x="690612" y="203200"/>
                  </a:cubicBezTo>
                  <a:cubicBezTo>
                    <a:pt x="690612" y="315424"/>
                    <a:pt x="599636" y="406400"/>
                    <a:pt x="487412"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9" id="9"/>
            <p:cNvSpPr txBox="true"/>
            <p:nvPr/>
          </p:nvSpPr>
          <p:spPr>
            <a:xfrm>
              <a:off x="0" y="-57150"/>
              <a:ext cx="690612" cy="463550"/>
            </a:xfrm>
            <a:prstGeom prst="rect">
              <a:avLst/>
            </a:prstGeom>
          </p:spPr>
          <p:txBody>
            <a:bodyPr anchor="ctr" rtlCol="false" tIns="50800" lIns="50800" bIns="50800" rIns="50800"/>
            <a:lstStyle/>
            <a:p>
              <a:pPr algn="ctr" marL="0" indent="0" lvl="0">
                <a:lnSpc>
                  <a:spcPts val="3428"/>
                </a:lnSpc>
              </a:pPr>
            </a:p>
          </p:txBody>
        </p:sp>
      </p:grpSp>
      <p:sp>
        <p:nvSpPr>
          <p:cNvPr name="Freeform 10" id="10"/>
          <p:cNvSpPr/>
          <p:nvPr/>
        </p:nvSpPr>
        <p:spPr>
          <a:xfrm flipH="false" flipV="false" rot="0">
            <a:off x="1886092" y="789479"/>
            <a:ext cx="611427" cy="478441"/>
          </a:xfrm>
          <a:custGeom>
            <a:avLst/>
            <a:gdLst/>
            <a:ahLst/>
            <a:cxnLst/>
            <a:rect r="r" b="b" t="t" l="l"/>
            <a:pathLst>
              <a:path h="478441" w="611427">
                <a:moveTo>
                  <a:pt x="0" y="0"/>
                </a:moveTo>
                <a:lnTo>
                  <a:pt x="611427" y="0"/>
                </a:lnTo>
                <a:lnTo>
                  <a:pt x="611427" y="478442"/>
                </a:lnTo>
                <a:lnTo>
                  <a:pt x="0" y="47844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1" id="11"/>
          <p:cNvSpPr txBox="true"/>
          <p:nvPr/>
        </p:nvSpPr>
        <p:spPr>
          <a:xfrm rot="0">
            <a:off x="1534840" y="2119641"/>
            <a:ext cx="11636426" cy="1101513"/>
          </a:xfrm>
          <a:prstGeom prst="rect">
            <a:avLst/>
          </a:prstGeom>
        </p:spPr>
        <p:txBody>
          <a:bodyPr anchor="t" rtlCol="false" tIns="0" lIns="0" bIns="0" rIns="0">
            <a:spAutoFit/>
          </a:bodyPr>
          <a:lstStyle/>
          <a:p>
            <a:pPr algn="l" marL="0" indent="0" lvl="0">
              <a:lnSpc>
                <a:spcPts val="8933"/>
              </a:lnSpc>
              <a:spcBef>
                <a:spcPct val="0"/>
              </a:spcBef>
            </a:pPr>
            <a:r>
              <a:rPr lang="en-US" b="true" sz="6381">
                <a:solidFill>
                  <a:srgbClr val="000000"/>
                </a:solidFill>
                <a:latin typeface="Helvetica Now Bold"/>
                <a:ea typeface="Helvetica Now Bold"/>
                <a:cs typeface="Helvetica Now Bold"/>
                <a:sym typeface="Helvetica Now Bold"/>
              </a:rPr>
              <a:t>AETHERLINK</a:t>
            </a:r>
          </a:p>
        </p:txBody>
      </p:sp>
      <p:sp>
        <p:nvSpPr>
          <p:cNvPr name="TextBox 12" id="12"/>
          <p:cNvSpPr txBox="true"/>
          <p:nvPr/>
        </p:nvSpPr>
        <p:spPr>
          <a:xfrm rot="0">
            <a:off x="1534840" y="3537535"/>
            <a:ext cx="11636426" cy="1101513"/>
          </a:xfrm>
          <a:prstGeom prst="rect">
            <a:avLst/>
          </a:prstGeom>
        </p:spPr>
        <p:txBody>
          <a:bodyPr anchor="t" rtlCol="false" tIns="0" lIns="0" bIns="0" rIns="0">
            <a:spAutoFit/>
          </a:bodyPr>
          <a:lstStyle/>
          <a:p>
            <a:pPr algn="l" marL="0" indent="0" lvl="0">
              <a:lnSpc>
                <a:spcPts val="8933"/>
              </a:lnSpc>
              <a:spcBef>
                <a:spcPct val="0"/>
              </a:spcBef>
            </a:pPr>
            <a:r>
              <a:rPr lang="en-US" b="true" sz="6381">
                <a:solidFill>
                  <a:srgbClr val="003E7E"/>
                </a:solidFill>
                <a:latin typeface="Helvetica Now Bold"/>
                <a:ea typeface="Helvetica Now Bold"/>
                <a:cs typeface="Helvetica Now Bold"/>
                <a:sym typeface="Helvetica Now Bold"/>
              </a:rPr>
              <a:t>GLASS: THE</a:t>
            </a:r>
          </a:p>
        </p:txBody>
      </p:sp>
      <p:sp>
        <p:nvSpPr>
          <p:cNvPr name="TextBox 13" id="13"/>
          <p:cNvSpPr txBox="true"/>
          <p:nvPr/>
        </p:nvSpPr>
        <p:spPr>
          <a:xfrm rot="0">
            <a:off x="1534840" y="4896272"/>
            <a:ext cx="11636426" cy="1101513"/>
          </a:xfrm>
          <a:prstGeom prst="rect">
            <a:avLst/>
          </a:prstGeom>
        </p:spPr>
        <p:txBody>
          <a:bodyPr anchor="t" rtlCol="false" tIns="0" lIns="0" bIns="0" rIns="0">
            <a:spAutoFit/>
          </a:bodyPr>
          <a:lstStyle/>
          <a:p>
            <a:pPr algn="l" marL="0" indent="0" lvl="0">
              <a:lnSpc>
                <a:spcPts val="8933"/>
              </a:lnSpc>
              <a:spcBef>
                <a:spcPct val="0"/>
              </a:spcBef>
            </a:pPr>
            <a:r>
              <a:rPr lang="en-US" b="true" sz="6381">
                <a:solidFill>
                  <a:srgbClr val="003E7E"/>
                </a:solidFill>
                <a:latin typeface="Helvetica Now Bold"/>
                <a:ea typeface="Helvetica Now Bold"/>
                <a:cs typeface="Helvetica Now Bold"/>
                <a:sym typeface="Helvetica Now Bold"/>
              </a:rPr>
              <a:t>FUTURE OF SMART EYEWEAR</a:t>
            </a:r>
          </a:p>
        </p:txBody>
      </p:sp>
      <p:sp>
        <p:nvSpPr>
          <p:cNvPr name="TextBox 14" id="14"/>
          <p:cNvSpPr txBox="true"/>
          <p:nvPr/>
        </p:nvSpPr>
        <p:spPr>
          <a:xfrm rot="0">
            <a:off x="1534840" y="8421316"/>
            <a:ext cx="3259371" cy="269686"/>
          </a:xfrm>
          <a:prstGeom prst="rect">
            <a:avLst/>
          </a:prstGeom>
        </p:spPr>
        <p:txBody>
          <a:bodyPr anchor="t" rtlCol="false" tIns="0" lIns="0" bIns="0" rIns="0">
            <a:spAutoFit/>
          </a:bodyPr>
          <a:lstStyle/>
          <a:p>
            <a:pPr algn="l" marL="0" indent="0" lvl="0">
              <a:lnSpc>
                <a:spcPts val="2151"/>
              </a:lnSpc>
              <a:spcBef>
                <a:spcPct val="0"/>
              </a:spcBef>
            </a:pPr>
            <a:r>
              <a:rPr lang="en-US" sz="1537">
                <a:solidFill>
                  <a:srgbClr val="000000"/>
                </a:solidFill>
                <a:latin typeface="Public Sans"/>
                <a:ea typeface="Public Sans"/>
                <a:cs typeface="Public Sans"/>
                <a:sym typeface="Public Sans"/>
              </a:rPr>
              <a:t>See less screen. Know more.</a:t>
            </a:r>
          </a:p>
        </p:txBody>
      </p:sp>
      <p:sp>
        <p:nvSpPr>
          <p:cNvPr name="TextBox 15" id="15"/>
          <p:cNvSpPr txBox="true"/>
          <p:nvPr/>
        </p:nvSpPr>
        <p:spPr>
          <a:xfrm rot="0">
            <a:off x="6351839" y="8366510"/>
            <a:ext cx="5641462" cy="434458"/>
          </a:xfrm>
          <a:prstGeom prst="rect">
            <a:avLst/>
          </a:prstGeom>
        </p:spPr>
        <p:txBody>
          <a:bodyPr anchor="t" rtlCol="false" tIns="0" lIns="0" bIns="0" rIns="0">
            <a:spAutoFit/>
          </a:bodyPr>
          <a:lstStyle/>
          <a:p>
            <a:pPr algn="l" marL="0" indent="0" lvl="0">
              <a:lnSpc>
                <a:spcPts val="1778"/>
              </a:lnSpc>
              <a:spcBef>
                <a:spcPct val="0"/>
              </a:spcBef>
            </a:pPr>
            <a:r>
              <a:rPr lang="en-US" sz="1270">
                <a:solidFill>
                  <a:srgbClr val="000000"/>
                </a:solidFill>
                <a:latin typeface="Public Sans"/>
                <a:ea typeface="Public Sans"/>
                <a:cs typeface="Public Sans"/>
                <a:sym typeface="Public Sans"/>
              </a:rPr>
              <a:t>Presented by the AetherLink Executive Team</a:t>
            </a:r>
          </a:p>
          <a:p>
            <a:pPr algn="l" marL="0" indent="0" lvl="0">
              <a:lnSpc>
                <a:spcPts val="1778"/>
              </a:lnSpc>
              <a:spcBef>
                <a:spcPct val="0"/>
              </a:spcBef>
            </a:pPr>
            <a:r>
              <a:rPr lang="en-US" sz="1270">
                <a:solidFill>
                  <a:srgbClr val="000000"/>
                </a:solidFill>
                <a:latin typeface="Public Sans"/>
                <a:ea typeface="Public Sans"/>
                <a:cs typeface="Public Sans"/>
                <a:sym typeface="Public Sans"/>
              </a:rPr>
              <a:t>Shareholder Presentation — 2030</a:t>
            </a:r>
          </a:p>
        </p:txBody>
      </p:sp>
      <p:sp>
        <p:nvSpPr>
          <p:cNvPr name="TextBox 16" id="16"/>
          <p:cNvSpPr txBox="true"/>
          <p:nvPr/>
        </p:nvSpPr>
        <p:spPr>
          <a:xfrm rot="0">
            <a:off x="3027434" y="735202"/>
            <a:ext cx="1285113" cy="422341"/>
          </a:xfrm>
          <a:prstGeom prst="rect">
            <a:avLst/>
          </a:prstGeom>
        </p:spPr>
        <p:txBody>
          <a:bodyPr anchor="t" rtlCol="false" tIns="0" lIns="0" bIns="0" rIns="0">
            <a:spAutoFit/>
          </a:bodyPr>
          <a:lstStyle/>
          <a:p>
            <a:pPr algn="l" marL="0" indent="0" lvl="0">
              <a:lnSpc>
                <a:spcPts val="1680"/>
              </a:lnSpc>
              <a:spcBef>
                <a:spcPct val="0"/>
              </a:spcBef>
            </a:pPr>
            <a:r>
              <a:rPr lang="en-US" sz="1200">
                <a:solidFill>
                  <a:srgbClr val="000000"/>
                </a:solidFill>
                <a:latin typeface="Public Sans"/>
                <a:ea typeface="Public Sans"/>
                <a:cs typeface="Public Sans"/>
                <a:sym typeface="Public Sans"/>
              </a:rPr>
              <a:t>AetherLink</a:t>
            </a:r>
          </a:p>
          <a:p>
            <a:pPr algn="l" marL="0" indent="0" lvl="0">
              <a:lnSpc>
                <a:spcPts val="1680"/>
              </a:lnSpc>
              <a:spcBef>
                <a:spcPct val="0"/>
              </a:spcBef>
            </a:pPr>
            <a:r>
              <a:rPr lang="en-US" sz="1200">
                <a:solidFill>
                  <a:srgbClr val="000000"/>
                </a:solidFill>
                <a:latin typeface="Public Sans"/>
                <a:ea typeface="Public Sans"/>
                <a:cs typeface="Public Sans"/>
                <a:sym typeface="Public Sans"/>
              </a:rPr>
              <a:t>Glass</a:t>
            </a:r>
          </a:p>
        </p:txBody>
      </p:sp>
      <p:sp>
        <p:nvSpPr>
          <p:cNvPr name="TextBox 17" id="17"/>
          <p:cNvSpPr txBox="true"/>
          <p:nvPr/>
        </p:nvSpPr>
        <p:spPr>
          <a:xfrm rot="0">
            <a:off x="1534840" y="6941933"/>
            <a:ext cx="4816999" cy="232536"/>
          </a:xfrm>
          <a:prstGeom prst="rect">
            <a:avLst/>
          </a:prstGeom>
        </p:spPr>
        <p:txBody>
          <a:bodyPr anchor="t" rtlCol="false" tIns="0" lIns="0" bIns="0" rIns="0">
            <a:spAutoFit/>
          </a:bodyPr>
          <a:lstStyle/>
          <a:p>
            <a:pPr algn="ctr" marL="0" indent="0" lvl="0">
              <a:lnSpc>
                <a:spcPts val="1947"/>
              </a:lnSpc>
              <a:spcBef>
                <a:spcPct val="0"/>
              </a:spcBef>
            </a:pPr>
            <a:r>
              <a:rPr lang="en-US" sz="1390" spc="297">
                <a:solidFill>
                  <a:srgbClr val="FFFFFF"/>
                </a:solidFill>
                <a:latin typeface="Public Sans"/>
                <a:ea typeface="Public Sans"/>
                <a:cs typeface="Public Sans"/>
                <a:sym typeface="Public Sans"/>
              </a:rPr>
              <a:t>SHAREHOLDER PRESENTATION 2030</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40109" t="-29261" r="0" b="-13027"/>
            </a:stretch>
          </a:blipFill>
        </p:spPr>
      </p:sp>
      <p:grpSp>
        <p:nvGrpSpPr>
          <p:cNvPr name="Group 3" id="3"/>
          <p:cNvGrpSpPr/>
          <p:nvPr/>
        </p:nvGrpSpPr>
        <p:grpSpPr>
          <a:xfrm rot="0">
            <a:off x="1534840" y="642100"/>
            <a:ext cx="1313931" cy="773201"/>
            <a:chOff x="0" y="0"/>
            <a:chExt cx="690612" cy="406400"/>
          </a:xfrm>
        </p:grpSpPr>
        <p:sp>
          <p:nvSpPr>
            <p:cNvPr name="Freeform 4" id="4"/>
            <p:cNvSpPr/>
            <p:nvPr/>
          </p:nvSpPr>
          <p:spPr>
            <a:xfrm flipH="false" flipV="false" rot="0">
              <a:off x="0" y="0"/>
              <a:ext cx="690612" cy="406400"/>
            </a:xfrm>
            <a:custGeom>
              <a:avLst/>
              <a:gdLst/>
              <a:ahLst/>
              <a:cxnLst/>
              <a:rect r="r" b="b" t="t" l="l"/>
              <a:pathLst>
                <a:path h="406400" w="690612">
                  <a:moveTo>
                    <a:pt x="487412" y="0"/>
                  </a:moveTo>
                  <a:cubicBezTo>
                    <a:pt x="599636" y="0"/>
                    <a:pt x="690612" y="90976"/>
                    <a:pt x="690612" y="203200"/>
                  </a:cubicBezTo>
                  <a:cubicBezTo>
                    <a:pt x="690612" y="315424"/>
                    <a:pt x="599636" y="406400"/>
                    <a:pt x="487412"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5" id="5"/>
            <p:cNvSpPr txBox="true"/>
            <p:nvPr/>
          </p:nvSpPr>
          <p:spPr>
            <a:xfrm>
              <a:off x="0" y="-57150"/>
              <a:ext cx="690612" cy="463550"/>
            </a:xfrm>
            <a:prstGeom prst="rect">
              <a:avLst/>
            </a:prstGeom>
          </p:spPr>
          <p:txBody>
            <a:bodyPr anchor="ctr" rtlCol="false" tIns="50800" lIns="50800" bIns="50800" rIns="50800"/>
            <a:lstStyle/>
            <a:p>
              <a:pPr algn="ctr" marL="0" indent="0" lvl="0">
                <a:lnSpc>
                  <a:spcPts val="3428"/>
                </a:lnSpc>
              </a:pPr>
            </a:p>
          </p:txBody>
        </p:sp>
      </p:grpSp>
      <p:sp>
        <p:nvSpPr>
          <p:cNvPr name="Freeform 6" id="6"/>
          <p:cNvSpPr/>
          <p:nvPr/>
        </p:nvSpPr>
        <p:spPr>
          <a:xfrm flipH="false" flipV="false" rot="0">
            <a:off x="1886092" y="789479"/>
            <a:ext cx="611427" cy="478441"/>
          </a:xfrm>
          <a:custGeom>
            <a:avLst/>
            <a:gdLst/>
            <a:ahLst/>
            <a:cxnLst/>
            <a:rect r="r" b="b" t="t" l="l"/>
            <a:pathLst>
              <a:path h="478441" w="611427">
                <a:moveTo>
                  <a:pt x="0" y="0"/>
                </a:moveTo>
                <a:lnTo>
                  <a:pt x="611427" y="0"/>
                </a:lnTo>
                <a:lnTo>
                  <a:pt x="611427" y="478442"/>
                </a:lnTo>
                <a:lnTo>
                  <a:pt x="0" y="478442"/>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7" id="7"/>
          <p:cNvSpPr/>
          <p:nvPr/>
        </p:nvSpPr>
        <p:spPr>
          <a:xfrm flipH="true" flipV="true" rot="0">
            <a:off x="6575805" y="4181911"/>
            <a:ext cx="5690196" cy="10393052"/>
          </a:xfrm>
          <a:custGeom>
            <a:avLst/>
            <a:gdLst/>
            <a:ahLst/>
            <a:cxnLst/>
            <a:rect r="r" b="b" t="t" l="l"/>
            <a:pathLst>
              <a:path h="10393052" w="5690196">
                <a:moveTo>
                  <a:pt x="5690196" y="10393051"/>
                </a:moveTo>
                <a:lnTo>
                  <a:pt x="0" y="10393051"/>
                </a:lnTo>
                <a:lnTo>
                  <a:pt x="0" y="0"/>
                </a:lnTo>
                <a:lnTo>
                  <a:pt x="5690196" y="0"/>
                </a:lnTo>
                <a:lnTo>
                  <a:pt x="5690196" y="10393051"/>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8" id="8"/>
          <p:cNvGrpSpPr/>
          <p:nvPr/>
        </p:nvGrpSpPr>
        <p:grpSpPr>
          <a:xfrm rot="0">
            <a:off x="-478867" y="2630891"/>
            <a:ext cx="9771642" cy="8073919"/>
            <a:chOff x="0" y="0"/>
            <a:chExt cx="1513883" cy="1250861"/>
          </a:xfrm>
        </p:grpSpPr>
        <p:sp>
          <p:nvSpPr>
            <p:cNvPr name="Freeform 9" id="9"/>
            <p:cNvSpPr/>
            <p:nvPr/>
          </p:nvSpPr>
          <p:spPr>
            <a:xfrm flipH="false" flipV="false" rot="0">
              <a:off x="0" y="0"/>
              <a:ext cx="1513883" cy="1250861"/>
            </a:xfrm>
            <a:custGeom>
              <a:avLst/>
              <a:gdLst/>
              <a:ahLst/>
              <a:cxnLst/>
              <a:rect r="r" b="b" t="t" l="l"/>
              <a:pathLst>
                <a:path h="1250861" w="1513883">
                  <a:moveTo>
                    <a:pt x="31691" y="0"/>
                  </a:moveTo>
                  <a:lnTo>
                    <a:pt x="1482192" y="0"/>
                  </a:lnTo>
                  <a:cubicBezTo>
                    <a:pt x="1490597" y="0"/>
                    <a:pt x="1498657" y="3339"/>
                    <a:pt x="1504601" y="9282"/>
                  </a:cubicBezTo>
                  <a:cubicBezTo>
                    <a:pt x="1510544" y="15225"/>
                    <a:pt x="1513883" y="23286"/>
                    <a:pt x="1513883" y="31691"/>
                  </a:cubicBezTo>
                  <a:lnTo>
                    <a:pt x="1513883" y="1219170"/>
                  </a:lnTo>
                  <a:cubicBezTo>
                    <a:pt x="1513883" y="1236673"/>
                    <a:pt x="1499694" y="1250861"/>
                    <a:pt x="1482192" y="1250861"/>
                  </a:cubicBezTo>
                  <a:lnTo>
                    <a:pt x="31691" y="1250861"/>
                  </a:lnTo>
                  <a:cubicBezTo>
                    <a:pt x="23286" y="1250861"/>
                    <a:pt x="15225" y="1247522"/>
                    <a:pt x="9282" y="1241579"/>
                  </a:cubicBezTo>
                  <a:cubicBezTo>
                    <a:pt x="3339" y="1235636"/>
                    <a:pt x="0" y="1227575"/>
                    <a:pt x="0" y="1219170"/>
                  </a:cubicBezTo>
                  <a:lnTo>
                    <a:pt x="0" y="31691"/>
                  </a:lnTo>
                  <a:cubicBezTo>
                    <a:pt x="0" y="23286"/>
                    <a:pt x="3339" y="15225"/>
                    <a:pt x="9282" y="9282"/>
                  </a:cubicBezTo>
                  <a:cubicBezTo>
                    <a:pt x="15225" y="3339"/>
                    <a:pt x="23286" y="0"/>
                    <a:pt x="31691" y="0"/>
                  </a:cubicBezTo>
                  <a:close/>
                </a:path>
              </a:pathLst>
            </a:custGeom>
            <a:blipFill>
              <a:blip r:embed="rId7"/>
              <a:stretch>
                <a:fillRect l="-1082" t="0" r="-1082" b="0"/>
              </a:stretch>
            </a:blipFill>
          </p:spPr>
        </p:sp>
      </p:grpSp>
      <p:sp>
        <p:nvSpPr>
          <p:cNvPr name="TextBox 10" id="10"/>
          <p:cNvSpPr txBox="true"/>
          <p:nvPr/>
        </p:nvSpPr>
        <p:spPr>
          <a:xfrm rot="0">
            <a:off x="3027434" y="735202"/>
            <a:ext cx="1285113" cy="422341"/>
          </a:xfrm>
          <a:prstGeom prst="rect">
            <a:avLst/>
          </a:prstGeom>
        </p:spPr>
        <p:txBody>
          <a:bodyPr anchor="t" rtlCol="false" tIns="0" lIns="0" bIns="0" rIns="0">
            <a:spAutoFit/>
          </a:bodyPr>
          <a:lstStyle/>
          <a:p>
            <a:pPr algn="l" marL="0" indent="0" lvl="0">
              <a:lnSpc>
                <a:spcPts val="1680"/>
              </a:lnSpc>
              <a:spcBef>
                <a:spcPct val="0"/>
              </a:spcBef>
            </a:pPr>
            <a:r>
              <a:rPr lang="en-US" sz="1200">
                <a:solidFill>
                  <a:srgbClr val="000000"/>
                </a:solidFill>
                <a:latin typeface="Public Sans"/>
                <a:ea typeface="Public Sans"/>
                <a:cs typeface="Public Sans"/>
                <a:sym typeface="Public Sans"/>
              </a:rPr>
              <a:t>Keithston and Partners</a:t>
            </a:r>
          </a:p>
        </p:txBody>
      </p:sp>
      <p:sp>
        <p:nvSpPr>
          <p:cNvPr name="TextBox 11" id="11"/>
          <p:cNvSpPr txBox="true"/>
          <p:nvPr/>
        </p:nvSpPr>
        <p:spPr>
          <a:xfrm rot="0">
            <a:off x="11362836" y="1500645"/>
            <a:ext cx="5032479" cy="555024"/>
          </a:xfrm>
          <a:prstGeom prst="rect">
            <a:avLst/>
          </a:prstGeom>
        </p:spPr>
        <p:txBody>
          <a:bodyPr anchor="t" rtlCol="false" tIns="0" lIns="0" bIns="0" rIns="0">
            <a:spAutoFit/>
          </a:bodyPr>
          <a:lstStyle/>
          <a:p>
            <a:pPr algn="l" marL="0" indent="0" lvl="0">
              <a:lnSpc>
                <a:spcPts val="4518"/>
              </a:lnSpc>
              <a:spcBef>
                <a:spcPct val="0"/>
              </a:spcBef>
            </a:pPr>
            <a:r>
              <a:rPr lang="en-US" b="true" sz="3227">
                <a:solidFill>
                  <a:srgbClr val="003E7E"/>
                </a:solidFill>
                <a:latin typeface="Helvetica Now Bold"/>
                <a:ea typeface="Helvetica Now Bold"/>
                <a:cs typeface="Helvetica Now Bold"/>
                <a:sym typeface="Helvetica Now Bold"/>
              </a:rPr>
              <a:t>VISION &amp;</a:t>
            </a:r>
          </a:p>
        </p:txBody>
      </p:sp>
      <p:sp>
        <p:nvSpPr>
          <p:cNvPr name="TextBox 12" id="12"/>
          <p:cNvSpPr txBox="true"/>
          <p:nvPr/>
        </p:nvSpPr>
        <p:spPr>
          <a:xfrm rot="0">
            <a:off x="11362836" y="2564216"/>
            <a:ext cx="5032479" cy="1125346"/>
          </a:xfrm>
          <a:prstGeom prst="rect">
            <a:avLst/>
          </a:prstGeom>
        </p:spPr>
        <p:txBody>
          <a:bodyPr anchor="t" rtlCol="false" tIns="0" lIns="0" bIns="0" rIns="0">
            <a:spAutoFit/>
          </a:bodyPr>
          <a:lstStyle/>
          <a:p>
            <a:pPr algn="l" marL="0" indent="0" lvl="0">
              <a:lnSpc>
                <a:spcPts val="4518"/>
              </a:lnSpc>
              <a:spcBef>
                <a:spcPct val="0"/>
              </a:spcBef>
            </a:pPr>
            <a:r>
              <a:rPr lang="en-US" b="true" sz="3227">
                <a:solidFill>
                  <a:srgbClr val="000000"/>
                </a:solidFill>
                <a:latin typeface="Helvetica Now Bold"/>
                <a:ea typeface="Helvetica Now Bold"/>
                <a:cs typeface="Helvetica Now Bold"/>
                <a:sym typeface="Helvetica Now Bold"/>
              </a:rPr>
              <a:t>PRODUCT</a:t>
            </a:r>
          </a:p>
          <a:p>
            <a:pPr algn="l" marL="0" indent="0" lvl="0">
              <a:lnSpc>
                <a:spcPts val="4518"/>
              </a:lnSpc>
              <a:spcBef>
                <a:spcPct val="0"/>
              </a:spcBef>
            </a:pPr>
            <a:r>
              <a:rPr lang="en-US" b="true" sz="3227">
                <a:solidFill>
                  <a:srgbClr val="000000"/>
                </a:solidFill>
                <a:latin typeface="Helvetica Now Bold"/>
                <a:ea typeface="Helvetica Now Bold"/>
                <a:cs typeface="Helvetica Now Bold"/>
                <a:sym typeface="Helvetica Now Bold"/>
              </a:rPr>
              <a:t>DEFINITION</a:t>
            </a:r>
          </a:p>
        </p:txBody>
      </p:sp>
      <p:sp>
        <p:nvSpPr>
          <p:cNvPr name="TextBox 13" id="13"/>
          <p:cNvSpPr txBox="true"/>
          <p:nvPr/>
        </p:nvSpPr>
        <p:spPr>
          <a:xfrm rot="0">
            <a:off x="11362836" y="4538577"/>
            <a:ext cx="3220782" cy="764279"/>
          </a:xfrm>
          <a:prstGeom prst="rect">
            <a:avLst/>
          </a:prstGeom>
        </p:spPr>
        <p:txBody>
          <a:bodyPr anchor="t" rtlCol="false" tIns="0" lIns="0" bIns="0" rIns="0">
            <a:spAutoFit/>
          </a:bodyPr>
          <a:lstStyle/>
          <a:p>
            <a:pPr algn="l" marL="0" indent="0" lvl="0">
              <a:lnSpc>
                <a:spcPts val="3101"/>
              </a:lnSpc>
              <a:spcBef>
                <a:spcPct val="0"/>
              </a:spcBef>
            </a:pPr>
            <a:r>
              <a:rPr lang="en-US" b="true" sz="2215">
                <a:solidFill>
                  <a:srgbClr val="003E7E"/>
                </a:solidFill>
                <a:latin typeface="Public Sans Bold"/>
                <a:ea typeface="Public Sans Bold"/>
                <a:cs typeface="Public Sans Bold"/>
                <a:sym typeface="Public Sans Bold"/>
              </a:rPr>
              <a:t>See Less Screen. Know More.</a:t>
            </a:r>
          </a:p>
        </p:txBody>
      </p:sp>
      <p:sp>
        <p:nvSpPr>
          <p:cNvPr name="TextBox 14" id="14"/>
          <p:cNvSpPr txBox="true"/>
          <p:nvPr/>
        </p:nvSpPr>
        <p:spPr>
          <a:xfrm rot="0">
            <a:off x="11362836" y="5893011"/>
            <a:ext cx="5032479" cy="836295"/>
          </a:xfrm>
          <a:prstGeom prst="rect">
            <a:avLst/>
          </a:prstGeom>
        </p:spPr>
        <p:txBody>
          <a:bodyPr anchor="t" rtlCol="false" tIns="0" lIns="0" bIns="0" rIns="0">
            <a:spAutoFit/>
          </a:bodyPr>
          <a:lstStyle/>
          <a:p>
            <a:pPr algn="l" marL="0" indent="0" lvl="0">
              <a:lnSpc>
                <a:spcPts val="1679"/>
              </a:lnSpc>
              <a:spcBef>
                <a:spcPct val="0"/>
              </a:spcBef>
            </a:pPr>
            <a:r>
              <a:rPr lang="en-US" sz="1200">
                <a:solidFill>
                  <a:srgbClr val="343434"/>
                </a:solidFill>
                <a:latin typeface="Public Sans"/>
                <a:ea typeface="Public Sans"/>
                <a:cs typeface="Public Sans"/>
                <a:sym typeface="Public Sans"/>
              </a:rPr>
              <a:t>AetherLink Glass redefines how we interact with digital information — ambient, contextual, and far less intrusive. Smart eyewear becomes the mainstream interface, delivering what you need, exactly when you need it, without pulling you away from the world.</a:t>
            </a:r>
          </a:p>
        </p:txBody>
      </p:sp>
      <p:sp>
        <p:nvSpPr>
          <p:cNvPr name="TextBox 15" id="15"/>
          <p:cNvSpPr txBox="true"/>
          <p:nvPr/>
        </p:nvSpPr>
        <p:spPr>
          <a:xfrm rot="0">
            <a:off x="11362836" y="7406358"/>
            <a:ext cx="5032479" cy="626745"/>
          </a:xfrm>
          <a:prstGeom prst="rect">
            <a:avLst/>
          </a:prstGeom>
        </p:spPr>
        <p:txBody>
          <a:bodyPr anchor="t" rtlCol="false" tIns="0" lIns="0" bIns="0" rIns="0">
            <a:spAutoFit/>
          </a:bodyPr>
          <a:lstStyle/>
          <a:p>
            <a:pPr algn="l" marL="0" indent="0" lvl="0">
              <a:lnSpc>
                <a:spcPts val="1679"/>
              </a:lnSpc>
              <a:spcBef>
                <a:spcPct val="0"/>
              </a:spcBef>
            </a:pPr>
            <a:r>
              <a:rPr lang="en-US" sz="1200">
                <a:solidFill>
                  <a:srgbClr val="343434"/>
                </a:solidFill>
                <a:latin typeface="Public Sans"/>
                <a:ea typeface="Public Sans"/>
                <a:cs typeface="Public Sans"/>
                <a:sym typeface="Public Sans"/>
              </a:rPr>
              <a:t>AetherLink Glass is premium smart eyewear engineered for discreet, real-time, hands-free digital access. Designed for professionals who demand more from their tools — without the burden of another screen.</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40109" t="-29261" r="0" b="-13027"/>
            </a:stretch>
          </a:blipFill>
        </p:spPr>
      </p:sp>
      <p:grpSp>
        <p:nvGrpSpPr>
          <p:cNvPr name="Group 3" id="3"/>
          <p:cNvGrpSpPr/>
          <p:nvPr/>
        </p:nvGrpSpPr>
        <p:grpSpPr>
          <a:xfrm rot="0">
            <a:off x="1534840" y="642100"/>
            <a:ext cx="1313931" cy="773201"/>
            <a:chOff x="0" y="0"/>
            <a:chExt cx="690612" cy="406400"/>
          </a:xfrm>
        </p:grpSpPr>
        <p:sp>
          <p:nvSpPr>
            <p:cNvPr name="Freeform 4" id="4"/>
            <p:cNvSpPr/>
            <p:nvPr/>
          </p:nvSpPr>
          <p:spPr>
            <a:xfrm flipH="false" flipV="false" rot="0">
              <a:off x="0" y="0"/>
              <a:ext cx="690612" cy="406400"/>
            </a:xfrm>
            <a:custGeom>
              <a:avLst/>
              <a:gdLst/>
              <a:ahLst/>
              <a:cxnLst/>
              <a:rect r="r" b="b" t="t" l="l"/>
              <a:pathLst>
                <a:path h="406400" w="690612">
                  <a:moveTo>
                    <a:pt x="487412" y="0"/>
                  </a:moveTo>
                  <a:cubicBezTo>
                    <a:pt x="599636" y="0"/>
                    <a:pt x="690612" y="90976"/>
                    <a:pt x="690612" y="203200"/>
                  </a:cubicBezTo>
                  <a:cubicBezTo>
                    <a:pt x="690612" y="315424"/>
                    <a:pt x="599636" y="406400"/>
                    <a:pt x="487412"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5" id="5"/>
            <p:cNvSpPr txBox="true"/>
            <p:nvPr/>
          </p:nvSpPr>
          <p:spPr>
            <a:xfrm>
              <a:off x="0" y="-57150"/>
              <a:ext cx="690612" cy="463550"/>
            </a:xfrm>
            <a:prstGeom prst="rect">
              <a:avLst/>
            </a:prstGeom>
          </p:spPr>
          <p:txBody>
            <a:bodyPr anchor="ctr" rtlCol="false" tIns="50800" lIns="50800" bIns="50800" rIns="50800"/>
            <a:lstStyle/>
            <a:p>
              <a:pPr algn="ctr" marL="0" indent="0" lvl="0">
                <a:lnSpc>
                  <a:spcPts val="3428"/>
                </a:lnSpc>
              </a:pPr>
            </a:p>
          </p:txBody>
        </p:sp>
      </p:grpSp>
      <p:sp>
        <p:nvSpPr>
          <p:cNvPr name="Freeform 6" id="6"/>
          <p:cNvSpPr/>
          <p:nvPr/>
        </p:nvSpPr>
        <p:spPr>
          <a:xfrm flipH="false" flipV="false" rot="0">
            <a:off x="1886092" y="789479"/>
            <a:ext cx="611427" cy="478441"/>
          </a:xfrm>
          <a:custGeom>
            <a:avLst/>
            <a:gdLst/>
            <a:ahLst/>
            <a:cxnLst/>
            <a:rect r="r" b="b" t="t" l="l"/>
            <a:pathLst>
              <a:path h="478441" w="611427">
                <a:moveTo>
                  <a:pt x="0" y="0"/>
                </a:moveTo>
                <a:lnTo>
                  <a:pt x="611427" y="0"/>
                </a:lnTo>
                <a:lnTo>
                  <a:pt x="611427" y="478442"/>
                </a:lnTo>
                <a:lnTo>
                  <a:pt x="0" y="478442"/>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7" id="7"/>
          <p:cNvSpPr/>
          <p:nvPr/>
        </p:nvSpPr>
        <p:spPr>
          <a:xfrm flipH="false" flipV="true" rot="0">
            <a:off x="15442902" y="4061774"/>
            <a:ext cx="5690196" cy="10393052"/>
          </a:xfrm>
          <a:custGeom>
            <a:avLst/>
            <a:gdLst/>
            <a:ahLst/>
            <a:cxnLst/>
            <a:rect r="r" b="b" t="t" l="l"/>
            <a:pathLst>
              <a:path h="10393052" w="5690196">
                <a:moveTo>
                  <a:pt x="0" y="10393052"/>
                </a:moveTo>
                <a:lnTo>
                  <a:pt x="5690196" y="10393052"/>
                </a:lnTo>
                <a:lnTo>
                  <a:pt x="5690196" y="0"/>
                </a:lnTo>
                <a:lnTo>
                  <a:pt x="0" y="0"/>
                </a:lnTo>
                <a:lnTo>
                  <a:pt x="0" y="10393052"/>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8" id="8"/>
          <p:cNvGrpSpPr/>
          <p:nvPr/>
        </p:nvGrpSpPr>
        <p:grpSpPr>
          <a:xfrm rot="0">
            <a:off x="8214899" y="-406662"/>
            <a:ext cx="10555071" cy="5550162"/>
            <a:chOff x="0" y="0"/>
            <a:chExt cx="1635257" cy="859865"/>
          </a:xfrm>
        </p:grpSpPr>
        <p:sp>
          <p:nvSpPr>
            <p:cNvPr name="Freeform 9" id="9"/>
            <p:cNvSpPr/>
            <p:nvPr/>
          </p:nvSpPr>
          <p:spPr>
            <a:xfrm flipH="false" flipV="false" rot="0">
              <a:off x="0" y="0"/>
              <a:ext cx="1635257" cy="859865"/>
            </a:xfrm>
            <a:custGeom>
              <a:avLst/>
              <a:gdLst/>
              <a:ahLst/>
              <a:cxnLst/>
              <a:rect r="r" b="b" t="t" l="l"/>
              <a:pathLst>
                <a:path h="859865" w="1635257">
                  <a:moveTo>
                    <a:pt x="29339" y="0"/>
                  </a:moveTo>
                  <a:lnTo>
                    <a:pt x="1605918" y="0"/>
                  </a:lnTo>
                  <a:cubicBezTo>
                    <a:pt x="1613699" y="0"/>
                    <a:pt x="1621161" y="3091"/>
                    <a:pt x="1626664" y="8593"/>
                  </a:cubicBezTo>
                  <a:cubicBezTo>
                    <a:pt x="1632166" y="14095"/>
                    <a:pt x="1635257" y="21558"/>
                    <a:pt x="1635257" y="29339"/>
                  </a:cubicBezTo>
                  <a:lnTo>
                    <a:pt x="1635257" y="830526"/>
                  </a:lnTo>
                  <a:cubicBezTo>
                    <a:pt x="1635257" y="838307"/>
                    <a:pt x="1632166" y="845770"/>
                    <a:pt x="1626664" y="851272"/>
                  </a:cubicBezTo>
                  <a:cubicBezTo>
                    <a:pt x="1621161" y="856774"/>
                    <a:pt x="1613699" y="859865"/>
                    <a:pt x="1605918" y="859865"/>
                  </a:cubicBezTo>
                  <a:lnTo>
                    <a:pt x="29339" y="859865"/>
                  </a:lnTo>
                  <a:cubicBezTo>
                    <a:pt x="21558" y="859865"/>
                    <a:pt x="14095" y="856774"/>
                    <a:pt x="8593" y="851272"/>
                  </a:cubicBezTo>
                  <a:cubicBezTo>
                    <a:pt x="3091" y="845770"/>
                    <a:pt x="0" y="838307"/>
                    <a:pt x="0" y="830526"/>
                  </a:cubicBezTo>
                  <a:lnTo>
                    <a:pt x="0" y="29339"/>
                  </a:lnTo>
                  <a:cubicBezTo>
                    <a:pt x="0" y="21558"/>
                    <a:pt x="3091" y="14095"/>
                    <a:pt x="8593" y="8593"/>
                  </a:cubicBezTo>
                  <a:cubicBezTo>
                    <a:pt x="14095" y="3091"/>
                    <a:pt x="21558" y="0"/>
                    <a:pt x="29339" y="0"/>
                  </a:cubicBezTo>
                  <a:close/>
                </a:path>
              </a:pathLst>
            </a:custGeom>
            <a:blipFill>
              <a:blip r:embed="rId7"/>
              <a:stretch>
                <a:fillRect l="0" t="-4200" r="0" b="-4200"/>
              </a:stretch>
            </a:blipFill>
          </p:spPr>
        </p:sp>
      </p:grpSp>
      <p:grpSp>
        <p:nvGrpSpPr>
          <p:cNvPr name="Group 10" id="10"/>
          <p:cNvGrpSpPr/>
          <p:nvPr/>
        </p:nvGrpSpPr>
        <p:grpSpPr>
          <a:xfrm rot="0">
            <a:off x="8214899" y="8139289"/>
            <a:ext cx="8878441" cy="659988"/>
            <a:chOff x="0" y="0"/>
            <a:chExt cx="5467064" cy="406400"/>
          </a:xfrm>
        </p:grpSpPr>
        <p:sp>
          <p:nvSpPr>
            <p:cNvPr name="Freeform 11" id="11"/>
            <p:cNvSpPr/>
            <p:nvPr/>
          </p:nvSpPr>
          <p:spPr>
            <a:xfrm flipH="false" flipV="false" rot="0">
              <a:off x="0" y="0"/>
              <a:ext cx="5467064" cy="406400"/>
            </a:xfrm>
            <a:custGeom>
              <a:avLst/>
              <a:gdLst/>
              <a:ahLst/>
              <a:cxnLst/>
              <a:rect r="r" b="b" t="t" l="l"/>
              <a:pathLst>
                <a:path h="406400" w="5467064">
                  <a:moveTo>
                    <a:pt x="5263864" y="0"/>
                  </a:moveTo>
                  <a:cubicBezTo>
                    <a:pt x="5376088" y="0"/>
                    <a:pt x="5467064" y="90976"/>
                    <a:pt x="5467064" y="203200"/>
                  </a:cubicBezTo>
                  <a:cubicBezTo>
                    <a:pt x="5467064" y="315424"/>
                    <a:pt x="5376088" y="406400"/>
                    <a:pt x="5263864"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12" id="12"/>
            <p:cNvSpPr txBox="true"/>
            <p:nvPr/>
          </p:nvSpPr>
          <p:spPr>
            <a:xfrm>
              <a:off x="0" y="-57150"/>
              <a:ext cx="5467064" cy="463550"/>
            </a:xfrm>
            <a:prstGeom prst="rect">
              <a:avLst/>
            </a:prstGeom>
          </p:spPr>
          <p:txBody>
            <a:bodyPr anchor="ctr" rtlCol="false" tIns="50800" lIns="50800" bIns="50800" rIns="50800"/>
            <a:lstStyle/>
            <a:p>
              <a:pPr algn="ctr" marL="0" indent="0" lvl="0">
                <a:lnSpc>
                  <a:spcPts val="3428"/>
                </a:lnSpc>
              </a:pPr>
            </a:p>
          </p:txBody>
        </p:sp>
      </p:grpSp>
      <p:grpSp>
        <p:nvGrpSpPr>
          <p:cNvPr name="Group 13" id="13"/>
          <p:cNvGrpSpPr/>
          <p:nvPr/>
        </p:nvGrpSpPr>
        <p:grpSpPr>
          <a:xfrm rot="0">
            <a:off x="8214899" y="7341026"/>
            <a:ext cx="8878441" cy="659988"/>
            <a:chOff x="0" y="0"/>
            <a:chExt cx="5467064" cy="406400"/>
          </a:xfrm>
        </p:grpSpPr>
        <p:sp>
          <p:nvSpPr>
            <p:cNvPr name="Freeform 14" id="14"/>
            <p:cNvSpPr/>
            <p:nvPr/>
          </p:nvSpPr>
          <p:spPr>
            <a:xfrm flipH="false" flipV="false" rot="0">
              <a:off x="0" y="0"/>
              <a:ext cx="5467064" cy="406400"/>
            </a:xfrm>
            <a:custGeom>
              <a:avLst/>
              <a:gdLst/>
              <a:ahLst/>
              <a:cxnLst/>
              <a:rect r="r" b="b" t="t" l="l"/>
              <a:pathLst>
                <a:path h="406400" w="5467064">
                  <a:moveTo>
                    <a:pt x="5263864" y="0"/>
                  </a:moveTo>
                  <a:cubicBezTo>
                    <a:pt x="5376088" y="0"/>
                    <a:pt x="5467064" y="90976"/>
                    <a:pt x="5467064" y="203200"/>
                  </a:cubicBezTo>
                  <a:cubicBezTo>
                    <a:pt x="5467064" y="315424"/>
                    <a:pt x="5376088" y="406400"/>
                    <a:pt x="5263864"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15" id="15"/>
            <p:cNvSpPr txBox="true"/>
            <p:nvPr/>
          </p:nvSpPr>
          <p:spPr>
            <a:xfrm>
              <a:off x="0" y="-57150"/>
              <a:ext cx="5467064" cy="463550"/>
            </a:xfrm>
            <a:prstGeom prst="rect">
              <a:avLst/>
            </a:prstGeom>
          </p:spPr>
          <p:txBody>
            <a:bodyPr anchor="ctr" rtlCol="false" tIns="50800" lIns="50800" bIns="50800" rIns="50800"/>
            <a:lstStyle/>
            <a:p>
              <a:pPr algn="ctr" marL="0" indent="0" lvl="0">
                <a:lnSpc>
                  <a:spcPts val="3428"/>
                </a:lnSpc>
              </a:pPr>
            </a:p>
          </p:txBody>
        </p:sp>
      </p:grpSp>
      <p:grpSp>
        <p:nvGrpSpPr>
          <p:cNvPr name="Group 16" id="16"/>
          <p:cNvGrpSpPr/>
          <p:nvPr/>
        </p:nvGrpSpPr>
        <p:grpSpPr>
          <a:xfrm rot="0">
            <a:off x="8214899" y="6542763"/>
            <a:ext cx="8784418" cy="659988"/>
            <a:chOff x="0" y="0"/>
            <a:chExt cx="5409168" cy="406400"/>
          </a:xfrm>
        </p:grpSpPr>
        <p:sp>
          <p:nvSpPr>
            <p:cNvPr name="Freeform 17" id="17"/>
            <p:cNvSpPr/>
            <p:nvPr/>
          </p:nvSpPr>
          <p:spPr>
            <a:xfrm flipH="false" flipV="false" rot="0">
              <a:off x="0" y="0"/>
              <a:ext cx="5409168" cy="406400"/>
            </a:xfrm>
            <a:custGeom>
              <a:avLst/>
              <a:gdLst/>
              <a:ahLst/>
              <a:cxnLst/>
              <a:rect r="r" b="b" t="t" l="l"/>
              <a:pathLst>
                <a:path h="406400" w="5409168">
                  <a:moveTo>
                    <a:pt x="5205968" y="0"/>
                  </a:moveTo>
                  <a:cubicBezTo>
                    <a:pt x="5318192" y="0"/>
                    <a:pt x="5409168" y="90976"/>
                    <a:pt x="5409168" y="203200"/>
                  </a:cubicBezTo>
                  <a:cubicBezTo>
                    <a:pt x="5409168" y="315424"/>
                    <a:pt x="5318192" y="406400"/>
                    <a:pt x="5205968"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18" id="18"/>
            <p:cNvSpPr txBox="true"/>
            <p:nvPr/>
          </p:nvSpPr>
          <p:spPr>
            <a:xfrm>
              <a:off x="0" y="-57150"/>
              <a:ext cx="5409168" cy="463550"/>
            </a:xfrm>
            <a:prstGeom prst="rect">
              <a:avLst/>
            </a:prstGeom>
          </p:spPr>
          <p:txBody>
            <a:bodyPr anchor="ctr" rtlCol="false" tIns="50800" lIns="50800" bIns="50800" rIns="50800"/>
            <a:lstStyle/>
            <a:p>
              <a:pPr algn="ctr" marL="0" indent="0" lvl="0">
                <a:lnSpc>
                  <a:spcPts val="3428"/>
                </a:lnSpc>
              </a:pPr>
            </a:p>
          </p:txBody>
        </p:sp>
      </p:grpSp>
      <p:grpSp>
        <p:nvGrpSpPr>
          <p:cNvPr name="Group 19" id="19"/>
          <p:cNvGrpSpPr/>
          <p:nvPr/>
        </p:nvGrpSpPr>
        <p:grpSpPr>
          <a:xfrm rot="0">
            <a:off x="8214899" y="5744500"/>
            <a:ext cx="8878441" cy="659988"/>
            <a:chOff x="0" y="0"/>
            <a:chExt cx="5467064" cy="406400"/>
          </a:xfrm>
        </p:grpSpPr>
        <p:sp>
          <p:nvSpPr>
            <p:cNvPr name="Freeform 20" id="20"/>
            <p:cNvSpPr/>
            <p:nvPr/>
          </p:nvSpPr>
          <p:spPr>
            <a:xfrm flipH="false" flipV="false" rot="0">
              <a:off x="0" y="0"/>
              <a:ext cx="5467064" cy="406400"/>
            </a:xfrm>
            <a:custGeom>
              <a:avLst/>
              <a:gdLst/>
              <a:ahLst/>
              <a:cxnLst/>
              <a:rect r="r" b="b" t="t" l="l"/>
              <a:pathLst>
                <a:path h="406400" w="5467064">
                  <a:moveTo>
                    <a:pt x="5263864" y="0"/>
                  </a:moveTo>
                  <a:cubicBezTo>
                    <a:pt x="5376088" y="0"/>
                    <a:pt x="5467064" y="90976"/>
                    <a:pt x="5467064" y="203200"/>
                  </a:cubicBezTo>
                  <a:cubicBezTo>
                    <a:pt x="5467064" y="315424"/>
                    <a:pt x="5376088" y="406400"/>
                    <a:pt x="5263864"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21" id="21"/>
            <p:cNvSpPr txBox="true"/>
            <p:nvPr/>
          </p:nvSpPr>
          <p:spPr>
            <a:xfrm>
              <a:off x="0" y="-57150"/>
              <a:ext cx="5467064" cy="463550"/>
            </a:xfrm>
            <a:prstGeom prst="rect">
              <a:avLst/>
            </a:prstGeom>
          </p:spPr>
          <p:txBody>
            <a:bodyPr anchor="ctr" rtlCol="false" tIns="50800" lIns="50800" bIns="50800" rIns="50800"/>
            <a:lstStyle/>
            <a:p>
              <a:pPr algn="ctr" marL="0" indent="0" lvl="0">
                <a:lnSpc>
                  <a:spcPts val="3428"/>
                </a:lnSpc>
              </a:pPr>
            </a:p>
          </p:txBody>
        </p:sp>
      </p:grpSp>
      <p:sp>
        <p:nvSpPr>
          <p:cNvPr name="Freeform 22" id="22"/>
          <p:cNvSpPr/>
          <p:nvPr/>
        </p:nvSpPr>
        <p:spPr>
          <a:xfrm flipH="false" flipV="false" rot="0">
            <a:off x="8544880" y="5911395"/>
            <a:ext cx="346100" cy="326199"/>
          </a:xfrm>
          <a:custGeom>
            <a:avLst/>
            <a:gdLst/>
            <a:ahLst/>
            <a:cxnLst/>
            <a:rect r="r" b="b" t="t" l="l"/>
            <a:pathLst>
              <a:path h="326199" w="346100">
                <a:moveTo>
                  <a:pt x="0" y="0"/>
                </a:moveTo>
                <a:lnTo>
                  <a:pt x="346100" y="0"/>
                </a:lnTo>
                <a:lnTo>
                  <a:pt x="346100" y="326199"/>
                </a:lnTo>
                <a:lnTo>
                  <a:pt x="0" y="326199"/>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23" id="23"/>
          <p:cNvSpPr/>
          <p:nvPr/>
        </p:nvSpPr>
        <p:spPr>
          <a:xfrm flipH="false" flipV="false" rot="0">
            <a:off x="8544880" y="6709658"/>
            <a:ext cx="346100" cy="326199"/>
          </a:xfrm>
          <a:custGeom>
            <a:avLst/>
            <a:gdLst/>
            <a:ahLst/>
            <a:cxnLst/>
            <a:rect r="r" b="b" t="t" l="l"/>
            <a:pathLst>
              <a:path h="326199" w="346100">
                <a:moveTo>
                  <a:pt x="0" y="0"/>
                </a:moveTo>
                <a:lnTo>
                  <a:pt x="346100" y="0"/>
                </a:lnTo>
                <a:lnTo>
                  <a:pt x="346100" y="326199"/>
                </a:lnTo>
                <a:lnTo>
                  <a:pt x="0" y="326199"/>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24" id="24"/>
          <p:cNvSpPr/>
          <p:nvPr/>
        </p:nvSpPr>
        <p:spPr>
          <a:xfrm flipH="false" flipV="false" rot="0">
            <a:off x="8544880" y="7507920"/>
            <a:ext cx="346100" cy="326199"/>
          </a:xfrm>
          <a:custGeom>
            <a:avLst/>
            <a:gdLst/>
            <a:ahLst/>
            <a:cxnLst/>
            <a:rect r="r" b="b" t="t" l="l"/>
            <a:pathLst>
              <a:path h="326199" w="346100">
                <a:moveTo>
                  <a:pt x="0" y="0"/>
                </a:moveTo>
                <a:lnTo>
                  <a:pt x="346100" y="0"/>
                </a:lnTo>
                <a:lnTo>
                  <a:pt x="346100" y="326200"/>
                </a:lnTo>
                <a:lnTo>
                  <a:pt x="0" y="3262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25" id="25"/>
          <p:cNvSpPr/>
          <p:nvPr/>
        </p:nvSpPr>
        <p:spPr>
          <a:xfrm flipH="false" flipV="false" rot="0">
            <a:off x="8544880" y="8306183"/>
            <a:ext cx="346100" cy="326199"/>
          </a:xfrm>
          <a:custGeom>
            <a:avLst/>
            <a:gdLst/>
            <a:ahLst/>
            <a:cxnLst/>
            <a:rect r="r" b="b" t="t" l="l"/>
            <a:pathLst>
              <a:path h="326199" w="346100">
                <a:moveTo>
                  <a:pt x="0" y="0"/>
                </a:moveTo>
                <a:lnTo>
                  <a:pt x="346100" y="0"/>
                </a:lnTo>
                <a:lnTo>
                  <a:pt x="346100" y="326199"/>
                </a:lnTo>
                <a:lnTo>
                  <a:pt x="0" y="326199"/>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26" id="26"/>
          <p:cNvSpPr txBox="true"/>
          <p:nvPr/>
        </p:nvSpPr>
        <p:spPr>
          <a:xfrm rot="0">
            <a:off x="1534840" y="2388738"/>
            <a:ext cx="5032479" cy="971087"/>
          </a:xfrm>
          <a:prstGeom prst="rect">
            <a:avLst/>
          </a:prstGeom>
        </p:spPr>
        <p:txBody>
          <a:bodyPr anchor="t" rtlCol="false" tIns="0" lIns="0" bIns="0" rIns="0">
            <a:spAutoFit/>
          </a:bodyPr>
          <a:lstStyle/>
          <a:p>
            <a:pPr algn="l" marL="0" indent="0" lvl="0">
              <a:lnSpc>
                <a:spcPts val="7958"/>
              </a:lnSpc>
              <a:spcBef>
                <a:spcPct val="0"/>
              </a:spcBef>
            </a:pPr>
            <a:r>
              <a:rPr lang="en-US" b="true" sz="5684">
                <a:solidFill>
                  <a:srgbClr val="003E7E"/>
                </a:solidFill>
                <a:latin typeface="Helvetica Now Bold"/>
                <a:ea typeface="Helvetica Now Bold"/>
                <a:cs typeface="Helvetica Now Bold"/>
                <a:sym typeface="Helvetica Now Bold"/>
              </a:rPr>
              <a:t>MARKET</a:t>
            </a:r>
          </a:p>
        </p:txBody>
      </p:sp>
      <p:sp>
        <p:nvSpPr>
          <p:cNvPr name="TextBox 27" id="27"/>
          <p:cNvSpPr txBox="true"/>
          <p:nvPr/>
        </p:nvSpPr>
        <p:spPr>
          <a:xfrm rot="0">
            <a:off x="1534840" y="3452309"/>
            <a:ext cx="5032479" cy="971087"/>
          </a:xfrm>
          <a:prstGeom prst="rect">
            <a:avLst/>
          </a:prstGeom>
        </p:spPr>
        <p:txBody>
          <a:bodyPr anchor="t" rtlCol="false" tIns="0" lIns="0" bIns="0" rIns="0">
            <a:spAutoFit/>
          </a:bodyPr>
          <a:lstStyle/>
          <a:p>
            <a:pPr algn="l" marL="0" indent="0" lvl="0">
              <a:lnSpc>
                <a:spcPts val="7958"/>
              </a:lnSpc>
              <a:spcBef>
                <a:spcPct val="0"/>
              </a:spcBef>
            </a:pPr>
            <a:r>
              <a:rPr lang="en-US" b="true" sz="5684">
                <a:solidFill>
                  <a:srgbClr val="000000"/>
                </a:solidFill>
                <a:latin typeface="Helvetica Now Bold"/>
                <a:ea typeface="Helvetica Now Bold"/>
                <a:cs typeface="Helvetica Now Bold"/>
                <a:sym typeface="Helvetica Now Bold"/>
              </a:rPr>
              <a:t>OPPORTUNITY</a:t>
            </a:r>
          </a:p>
        </p:txBody>
      </p:sp>
      <p:sp>
        <p:nvSpPr>
          <p:cNvPr name="TextBox 28" id="28"/>
          <p:cNvSpPr txBox="true"/>
          <p:nvPr/>
        </p:nvSpPr>
        <p:spPr>
          <a:xfrm rot="0">
            <a:off x="1534840" y="5464771"/>
            <a:ext cx="3612382" cy="764279"/>
          </a:xfrm>
          <a:prstGeom prst="rect">
            <a:avLst/>
          </a:prstGeom>
        </p:spPr>
        <p:txBody>
          <a:bodyPr anchor="t" rtlCol="false" tIns="0" lIns="0" bIns="0" rIns="0">
            <a:spAutoFit/>
          </a:bodyPr>
          <a:lstStyle/>
          <a:p>
            <a:pPr algn="l" marL="0" indent="0" lvl="0">
              <a:lnSpc>
                <a:spcPts val="3101"/>
              </a:lnSpc>
              <a:spcBef>
                <a:spcPct val="0"/>
              </a:spcBef>
            </a:pPr>
            <a:r>
              <a:rPr lang="en-US" b="true" sz="2215">
                <a:solidFill>
                  <a:srgbClr val="003E7E"/>
                </a:solidFill>
                <a:latin typeface="Public Sans Bold"/>
                <a:ea typeface="Public Sans Bold"/>
                <a:cs typeface="Public Sans Bold"/>
                <a:sym typeface="Public Sans Bold"/>
              </a:rPr>
              <a:t>A Rapidly Expanding Sector</a:t>
            </a:r>
          </a:p>
        </p:txBody>
      </p:sp>
      <p:sp>
        <p:nvSpPr>
          <p:cNvPr name="TextBox 29" id="29"/>
          <p:cNvSpPr txBox="true"/>
          <p:nvPr/>
        </p:nvSpPr>
        <p:spPr>
          <a:xfrm rot="0">
            <a:off x="1534840" y="6809680"/>
            <a:ext cx="4942110" cy="1989631"/>
          </a:xfrm>
          <a:prstGeom prst="rect">
            <a:avLst/>
          </a:prstGeom>
        </p:spPr>
        <p:txBody>
          <a:bodyPr anchor="t" rtlCol="false" tIns="0" lIns="0" bIns="0" rIns="0">
            <a:spAutoFit/>
          </a:bodyPr>
          <a:lstStyle/>
          <a:p>
            <a:pPr algn="l" marL="0" indent="0" lvl="0">
              <a:lnSpc>
                <a:spcPts val="2685"/>
              </a:lnSpc>
              <a:spcBef>
                <a:spcPct val="0"/>
              </a:spcBef>
            </a:pPr>
            <a:r>
              <a:rPr lang="en-US" sz="1918">
                <a:solidFill>
                  <a:srgbClr val="343434"/>
                </a:solidFill>
                <a:latin typeface="Public Sans"/>
                <a:ea typeface="Public Sans"/>
                <a:cs typeface="Public Sans"/>
                <a:sym typeface="Public Sans"/>
              </a:rPr>
              <a:t>Smart eyewear is emerging as the next defining consumer and enterprise platform. Converging trends in AI, miniaturization, and screen fatigue are accelerating demand for ambient, context-aware wearables.</a:t>
            </a:r>
          </a:p>
        </p:txBody>
      </p:sp>
      <p:sp>
        <p:nvSpPr>
          <p:cNvPr name="TextBox 30" id="30"/>
          <p:cNvSpPr txBox="true"/>
          <p:nvPr/>
        </p:nvSpPr>
        <p:spPr>
          <a:xfrm rot="0">
            <a:off x="3027434" y="735202"/>
            <a:ext cx="1285113" cy="422341"/>
          </a:xfrm>
          <a:prstGeom prst="rect">
            <a:avLst/>
          </a:prstGeom>
        </p:spPr>
        <p:txBody>
          <a:bodyPr anchor="t" rtlCol="false" tIns="0" lIns="0" bIns="0" rIns="0">
            <a:spAutoFit/>
          </a:bodyPr>
          <a:lstStyle/>
          <a:p>
            <a:pPr algn="l" marL="0" indent="0" lvl="0">
              <a:lnSpc>
                <a:spcPts val="1680"/>
              </a:lnSpc>
              <a:spcBef>
                <a:spcPct val="0"/>
              </a:spcBef>
            </a:pPr>
            <a:r>
              <a:rPr lang="en-US" sz="1200">
                <a:solidFill>
                  <a:srgbClr val="000000"/>
                </a:solidFill>
                <a:latin typeface="Public Sans"/>
                <a:ea typeface="Public Sans"/>
                <a:cs typeface="Public Sans"/>
                <a:sym typeface="Public Sans"/>
              </a:rPr>
              <a:t>Keithston and Partners</a:t>
            </a:r>
          </a:p>
        </p:txBody>
      </p:sp>
      <p:sp>
        <p:nvSpPr>
          <p:cNvPr name="TextBox 31" id="31"/>
          <p:cNvSpPr txBox="true"/>
          <p:nvPr/>
        </p:nvSpPr>
        <p:spPr>
          <a:xfrm rot="0">
            <a:off x="9075003" y="5734975"/>
            <a:ext cx="7924314" cy="676275"/>
          </a:xfrm>
          <a:prstGeom prst="rect">
            <a:avLst/>
          </a:prstGeom>
        </p:spPr>
        <p:txBody>
          <a:bodyPr anchor="t" rtlCol="false" tIns="0" lIns="0" bIns="0" rIns="0">
            <a:spAutoFit/>
          </a:bodyPr>
          <a:lstStyle/>
          <a:p>
            <a:pPr algn="l" marL="0" indent="0" lvl="0">
              <a:lnSpc>
                <a:spcPts val="2658"/>
              </a:lnSpc>
            </a:pPr>
            <a:r>
              <a:rPr lang="en-US" b="true" sz="2215">
                <a:solidFill>
                  <a:srgbClr val="FFFFFF"/>
                </a:solidFill>
                <a:latin typeface="Public Sans Bold"/>
                <a:ea typeface="Public Sans Bold"/>
                <a:cs typeface="Public Sans Bold"/>
                <a:sym typeface="Public Sans Bold"/>
              </a:rPr>
              <a:t>Wearables evolving from passive tracking to active interaction</a:t>
            </a:r>
          </a:p>
        </p:txBody>
      </p:sp>
      <p:sp>
        <p:nvSpPr>
          <p:cNvPr name="TextBox 32" id="32"/>
          <p:cNvSpPr txBox="true"/>
          <p:nvPr/>
        </p:nvSpPr>
        <p:spPr>
          <a:xfrm rot="0">
            <a:off x="8966969" y="6750476"/>
            <a:ext cx="7924314" cy="342900"/>
          </a:xfrm>
          <a:prstGeom prst="rect">
            <a:avLst/>
          </a:prstGeom>
        </p:spPr>
        <p:txBody>
          <a:bodyPr anchor="t" rtlCol="false" tIns="0" lIns="0" bIns="0" rIns="0">
            <a:spAutoFit/>
          </a:bodyPr>
          <a:lstStyle/>
          <a:p>
            <a:pPr algn="l" marL="0" indent="0" lvl="0">
              <a:lnSpc>
                <a:spcPts val="2658"/>
              </a:lnSpc>
            </a:pPr>
            <a:r>
              <a:rPr lang="en-US" b="true" sz="2215">
                <a:solidFill>
                  <a:srgbClr val="FFFFFF"/>
                </a:solidFill>
                <a:latin typeface="Public Sans Bold"/>
                <a:ea typeface="Public Sans Bold"/>
                <a:cs typeface="Public Sans Bold"/>
                <a:sym typeface="Public Sans Bold"/>
              </a:rPr>
              <a:t>AI amplifies the value of context-aware, always-on devices</a:t>
            </a:r>
          </a:p>
        </p:txBody>
      </p:sp>
      <p:sp>
        <p:nvSpPr>
          <p:cNvPr name="TextBox 33" id="33"/>
          <p:cNvSpPr txBox="true"/>
          <p:nvPr/>
        </p:nvSpPr>
        <p:spPr>
          <a:xfrm rot="0">
            <a:off x="9075003" y="7324739"/>
            <a:ext cx="7708244" cy="676275"/>
          </a:xfrm>
          <a:prstGeom prst="rect">
            <a:avLst/>
          </a:prstGeom>
        </p:spPr>
        <p:txBody>
          <a:bodyPr anchor="t" rtlCol="false" tIns="0" lIns="0" bIns="0" rIns="0">
            <a:spAutoFit/>
          </a:bodyPr>
          <a:lstStyle/>
          <a:p>
            <a:pPr algn="l" marL="0" indent="0" lvl="0">
              <a:lnSpc>
                <a:spcPts val="2658"/>
              </a:lnSpc>
            </a:pPr>
            <a:r>
              <a:rPr lang="en-US" b="true" sz="2215">
                <a:solidFill>
                  <a:srgbClr val="FFFFFF"/>
                </a:solidFill>
                <a:latin typeface="Public Sans Bold"/>
                <a:ea typeface="Public Sans Bold"/>
                <a:cs typeface="Public Sans Bold"/>
                <a:sym typeface="Public Sans Bold"/>
              </a:rPr>
              <a:t>Growing user fatigue with screen dependence drives alternatives</a:t>
            </a:r>
          </a:p>
        </p:txBody>
      </p:sp>
      <p:sp>
        <p:nvSpPr>
          <p:cNvPr name="TextBox 34" id="34"/>
          <p:cNvSpPr txBox="true"/>
          <p:nvPr/>
        </p:nvSpPr>
        <p:spPr>
          <a:xfrm rot="0">
            <a:off x="9075003" y="8134364"/>
            <a:ext cx="6958427" cy="676275"/>
          </a:xfrm>
          <a:prstGeom prst="rect">
            <a:avLst/>
          </a:prstGeom>
        </p:spPr>
        <p:txBody>
          <a:bodyPr anchor="t" rtlCol="false" tIns="0" lIns="0" bIns="0" rIns="0">
            <a:spAutoFit/>
          </a:bodyPr>
          <a:lstStyle/>
          <a:p>
            <a:pPr algn="l" marL="0" indent="0" lvl="0">
              <a:lnSpc>
                <a:spcPts val="2658"/>
              </a:lnSpc>
            </a:pPr>
            <a:r>
              <a:rPr lang="en-US" b="true" sz="2215">
                <a:solidFill>
                  <a:srgbClr val="FFFFFF"/>
                </a:solidFill>
                <a:latin typeface="Public Sans Bold"/>
                <a:ea typeface="Public Sans Bold"/>
                <a:cs typeface="Public Sans Bold"/>
                <a:sym typeface="Public Sans Bold"/>
              </a:rPr>
              <a:t>Projected multi-billion USD smart eyewear market by 2028</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40109" t="-29261" r="0" b="-13027"/>
            </a:stretch>
          </a:blipFill>
        </p:spPr>
      </p:sp>
      <p:grpSp>
        <p:nvGrpSpPr>
          <p:cNvPr name="Group 3" id="3"/>
          <p:cNvGrpSpPr/>
          <p:nvPr/>
        </p:nvGrpSpPr>
        <p:grpSpPr>
          <a:xfrm rot="0">
            <a:off x="1534840" y="642100"/>
            <a:ext cx="1313931" cy="773201"/>
            <a:chOff x="0" y="0"/>
            <a:chExt cx="690612" cy="406400"/>
          </a:xfrm>
        </p:grpSpPr>
        <p:sp>
          <p:nvSpPr>
            <p:cNvPr name="Freeform 4" id="4"/>
            <p:cNvSpPr/>
            <p:nvPr/>
          </p:nvSpPr>
          <p:spPr>
            <a:xfrm flipH="false" flipV="false" rot="0">
              <a:off x="0" y="0"/>
              <a:ext cx="690612" cy="406400"/>
            </a:xfrm>
            <a:custGeom>
              <a:avLst/>
              <a:gdLst/>
              <a:ahLst/>
              <a:cxnLst/>
              <a:rect r="r" b="b" t="t" l="l"/>
              <a:pathLst>
                <a:path h="406400" w="690612">
                  <a:moveTo>
                    <a:pt x="487412" y="0"/>
                  </a:moveTo>
                  <a:cubicBezTo>
                    <a:pt x="599636" y="0"/>
                    <a:pt x="690612" y="90976"/>
                    <a:pt x="690612" y="203200"/>
                  </a:cubicBezTo>
                  <a:cubicBezTo>
                    <a:pt x="690612" y="315424"/>
                    <a:pt x="599636" y="406400"/>
                    <a:pt x="487412"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5" id="5"/>
            <p:cNvSpPr txBox="true"/>
            <p:nvPr/>
          </p:nvSpPr>
          <p:spPr>
            <a:xfrm>
              <a:off x="0" y="-57150"/>
              <a:ext cx="690612" cy="463550"/>
            </a:xfrm>
            <a:prstGeom prst="rect">
              <a:avLst/>
            </a:prstGeom>
          </p:spPr>
          <p:txBody>
            <a:bodyPr anchor="ctr" rtlCol="false" tIns="50800" lIns="50800" bIns="50800" rIns="50800"/>
            <a:lstStyle/>
            <a:p>
              <a:pPr algn="ctr" marL="0" indent="0" lvl="0">
                <a:lnSpc>
                  <a:spcPts val="3428"/>
                </a:lnSpc>
              </a:pPr>
            </a:p>
          </p:txBody>
        </p:sp>
      </p:grpSp>
      <p:sp>
        <p:nvSpPr>
          <p:cNvPr name="Freeform 6" id="6"/>
          <p:cNvSpPr/>
          <p:nvPr/>
        </p:nvSpPr>
        <p:spPr>
          <a:xfrm flipH="false" flipV="false" rot="0">
            <a:off x="1886092" y="789479"/>
            <a:ext cx="611427" cy="478441"/>
          </a:xfrm>
          <a:custGeom>
            <a:avLst/>
            <a:gdLst/>
            <a:ahLst/>
            <a:cxnLst/>
            <a:rect r="r" b="b" t="t" l="l"/>
            <a:pathLst>
              <a:path h="478441" w="611427">
                <a:moveTo>
                  <a:pt x="0" y="0"/>
                </a:moveTo>
                <a:lnTo>
                  <a:pt x="611427" y="0"/>
                </a:lnTo>
                <a:lnTo>
                  <a:pt x="611427" y="478442"/>
                </a:lnTo>
                <a:lnTo>
                  <a:pt x="0" y="478442"/>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7" id="7"/>
          <p:cNvSpPr txBox="true"/>
          <p:nvPr/>
        </p:nvSpPr>
        <p:spPr>
          <a:xfrm rot="0">
            <a:off x="3027434" y="725677"/>
            <a:ext cx="1285113" cy="568191"/>
          </a:xfrm>
          <a:prstGeom prst="rect">
            <a:avLst/>
          </a:prstGeom>
        </p:spPr>
        <p:txBody>
          <a:bodyPr anchor="t" rtlCol="false" tIns="0" lIns="0" bIns="0" rIns="0">
            <a:spAutoFit/>
          </a:bodyPr>
          <a:lstStyle/>
          <a:p>
            <a:pPr algn="l" marL="0" indent="0" lvl="0">
              <a:lnSpc>
                <a:spcPts val="2260"/>
              </a:lnSpc>
              <a:spcBef>
                <a:spcPct val="0"/>
              </a:spcBef>
            </a:pPr>
            <a:r>
              <a:rPr lang="en-US" sz="1614">
                <a:solidFill>
                  <a:srgbClr val="000000"/>
                </a:solidFill>
                <a:latin typeface="Public Sans"/>
                <a:ea typeface="Public Sans"/>
                <a:cs typeface="Public Sans"/>
                <a:sym typeface="Public Sans"/>
              </a:rPr>
              <a:t>AetherLink Glass</a:t>
            </a:r>
          </a:p>
        </p:txBody>
      </p:sp>
      <p:sp>
        <p:nvSpPr>
          <p:cNvPr name="TextBox 8" id="8"/>
          <p:cNvSpPr txBox="true"/>
          <p:nvPr/>
        </p:nvSpPr>
        <p:spPr>
          <a:xfrm rot="0">
            <a:off x="4648566" y="1301000"/>
            <a:ext cx="8990869" cy="963249"/>
          </a:xfrm>
          <a:prstGeom prst="rect">
            <a:avLst/>
          </a:prstGeom>
        </p:spPr>
        <p:txBody>
          <a:bodyPr anchor="t" rtlCol="false" tIns="0" lIns="0" bIns="0" rIns="0">
            <a:spAutoFit/>
          </a:bodyPr>
          <a:lstStyle/>
          <a:p>
            <a:pPr algn="ctr" marL="0" indent="0" lvl="0">
              <a:lnSpc>
                <a:spcPts val="7807"/>
              </a:lnSpc>
              <a:spcBef>
                <a:spcPct val="0"/>
              </a:spcBef>
            </a:pPr>
            <a:r>
              <a:rPr lang="en-US" b="true" sz="5576">
                <a:solidFill>
                  <a:srgbClr val="003E7E"/>
                </a:solidFill>
                <a:latin typeface="Helvetica Now Bold"/>
                <a:ea typeface="Helvetica Now Bold"/>
                <a:cs typeface="Helvetica Now Bold"/>
                <a:sym typeface="Helvetica Now Bold"/>
              </a:rPr>
              <a:t>PRODUCT LINE OVERVIEW</a:t>
            </a:r>
          </a:p>
        </p:txBody>
      </p:sp>
      <p:sp>
        <p:nvSpPr>
          <p:cNvPr name="TextBox 9" id="9"/>
          <p:cNvSpPr txBox="true"/>
          <p:nvPr/>
        </p:nvSpPr>
        <p:spPr>
          <a:xfrm rot="0">
            <a:off x="6444397" y="2976719"/>
            <a:ext cx="5399206" cy="514448"/>
          </a:xfrm>
          <a:prstGeom prst="rect">
            <a:avLst/>
          </a:prstGeom>
        </p:spPr>
        <p:txBody>
          <a:bodyPr anchor="t" rtlCol="false" tIns="0" lIns="0" bIns="0" rIns="0">
            <a:spAutoFit/>
          </a:bodyPr>
          <a:lstStyle/>
          <a:p>
            <a:pPr algn="ctr" marL="0" indent="0" lvl="0">
              <a:lnSpc>
                <a:spcPts val="4194"/>
              </a:lnSpc>
              <a:spcBef>
                <a:spcPct val="0"/>
              </a:spcBef>
            </a:pPr>
            <a:r>
              <a:rPr lang="en-US" b="true" sz="2996">
                <a:solidFill>
                  <a:srgbClr val="003E7E"/>
                </a:solidFill>
                <a:latin typeface="Public Sans Bold"/>
                <a:ea typeface="Public Sans Bold"/>
                <a:cs typeface="Public Sans Bold"/>
                <a:sym typeface="Public Sans Bold"/>
              </a:rPr>
              <a:t>Three Tiers. One Vision.</a:t>
            </a:r>
          </a:p>
        </p:txBody>
      </p:sp>
      <p:sp>
        <p:nvSpPr>
          <p:cNvPr name="TextBox 10" id="10"/>
          <p:cNvSpPr txBox="true"/>
          <p:nvPr/>
        </p:nvSpPr>
        <p:spPr>
          <a:xfrm rot="0">
            <a:off x="4313110" y="3668224"/>
            <a:ext cx="9661781" cy="656387"/>
          </a:xfrm>
          <a:prstGeom prst="rect">
            <a:avLst/>
          </a:prstGeom>
        </p:spPr>
        <p:txBody>
          <a:bodyPr anchor="t" rtlCol="false" tIns="0" lIns="0" bIns="0" rIns="0">
            <a:spAutoFit/>
          </a:bodyPr>
          <a:lstStyle/>
          <a:p>
            <a:pPr algn="ctr" marL="0" indent="0" lvl="0">
              <a:lnSpc>
                <a:spcPts val="2671"/>
              </a:lnSpc>
              <a:spcBef>
                <a:spcPct val="0"/>
              </a:spcBef>
            </a:pPr>
            <a:r>
              <a:rPr lang="en-US" sz="1908">
                <a:solidFill>
                  <a:srgbClr val="343434"/>
                </a:solidFill>
                <a:latin typeface="Public Sans"/>
                <a:ea typeface="Public Sans"/>
                <a:cs typeface="Public Sans"/>
                <a:sym typeface="Public Sans"/>
              </a:rPr>
              <a:t>AetherLink Glass is available in three editions, each tailored to a distinct audience — from premium consumers to enterprise deployments at scale.</a:t>
            </a:r>
          </a:p>
        </p:txBody>
      </p:sp>
      <p:grpSp>
        <p:nvGrpSpPr>
          <p:cNvPr name="Group 11" id="11"/>
          <p:cNvGrpSpPr/>
          <p:nvPr/>
        </p:nvGrpSpPr>
        <p:grpSpPr>
          <a:xfrm rot="0">
            <a:off x="1522293" y="5128036"/>
            <a:ext cx="830968" cy="830968"/>
            <a:chOff x="0" y="0"/>
            <a:chExt cx="406400" cy="406400"/>
          </a:xfrm>
        </p:grpSpPr>
        <p:sp>
          <p:nvSpPr>
            <p:cNvPr name="Freeform 12" id="12"/>
            <p:cNvSpPr/>
            <p:nvPr/>
          </p:nvSpPr>
          <p:spPr>
            <a:xfrm flipH="false" flipV="false" rot="0">
              <a:off x="0" y="0"/>
              <a:ext cx="406400" cy="406400"/>
            </a:xfrm>
            <a:custGeom>
              <a:avLst/>
              <a:gdLst/>
              <a:ahLst/>
              <a:cxnLst/>
              <a:rect r="r" b="b" t="t" l="l"/>
              <a:pathLst>
                <a:path h="406400" w="406400">
                  <a:moveTo>
                    <a:pt x="203200" y="0"/>
                  </a:moveTo>
                  <a:cubicBezTo>
                    <a:pt x="315424" y="0"/>
                    <a:pt x="406400" y="90976"/>
                    <a:pt x="406400" y="203200"/>
                  </a:cubicBezTo>
                  <a:cubicBezTo>
                    <a:pt x="406400" y="315424"/>
                    <a:pt x="315424" y="406400"/>
                    <a:pt x="203200"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13" id="13"/>
            <p:cNvSpPr txBox="true"/>
            <p:nvPr/>
          </p:nvSpPr>
          <p:spPr>
            <a:xfrm>
              <a:off x="0" y="-57150"/>
              <a:ext cx="406400" cy="463550"/>
            </a:xfrm>
            <a:prstGeom prst="rect">
              <a:avLst/>
            </a:prstGeom>
          </p:spPr>
          <p:txBody>
            <a:bodyPr anchor="ctr" rtlCol="false" tIns="50800" lIns="50800" bIns="50800" rIns="50800"/>
            <a:lstStyle/>
            <a:p>
              <a:pPr algn="ctr" marL="0" indent="0" lvl="0">
                <a:lnSpc>
                  <a:spcPts val="3428"/>
                </a:lnSpc>
              </a:pPr>
            </a:p>
          </p:txBody>
        </p:sp>
      </p:grpSp>
      <p:grpSp>
        <p:nvGrpSpPr>
          <p:cNvPr name="Group 14" id="14"/>
          <p:cNvGrpSpPr/>
          <p:nvPr/>
        </p:nvGrpSpPr>
        <p:grpSpPr>
          <a:xfrm rot="0">
            <a:off x="9640475" y="5128036"/>
            <a:ext cx="830968" cy="830968"/>
            <a:chOff x="0" y="0"/>
            <a:chExt cx="406400" cy="406400"/>
          </a:xfrm>
        </p:grpSpPr>
        <p:sp>
          <p:nvSpPr>
            <p:cNvPr name="Freeform 15" id="15"/>
            <p:cNvSpPr/>
            <p:nvPr/>
          </p:nvSpPr>
          <p:spPr>
            <a:xfrm flipH="false" flipV="false" rot="0">
              <a:off x="0" y="0"/>
              <a:ext cx="406400" cy="406400"/>
            </a:xfrm>
            <a:custGeom>
              <a:avLst/>
              <a:gdLst/>
              <a:ahLst/>
              <a:cxnLst/>
              <a:rect r="r" b="b" t="t" l="l"/>
              <a:pathLst>
                <a:path h="406400" w="406400">
                  <a:moveTo>
                    <a:pt x="203200" y="0"/>
                  </a:moveTo>
                  <a:cubicBezTo>
                    <a:pt x="315424" y="0"/>
                    <a:pt x="406400" y="90976"/>
                    <a:pt x="406400" y="203200"/>
                  </a:cubicBezTo>
                  <a:cubicBezTo>
                    <a:pt x="406400" y="315424"/>
                    <a:pt x="315424" y="406400"/>
                    <a:pt x="203200"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16" id="16"/>
            <p:cNvSpPr txBox="true"/>
            <p:nvPr/>
          </p:nvSpPr>
          <p:spPr>
            <a:xfrm>
              <a:off x="0" y="-57150"/>
              <a:ext cx="406400" cy="463550"/>
            </a:xfrm>
            <a:prstGeom prst="rect">
              <a:avLst/>
            </a:prstGeom>
          </p:spPr>
          <p:txBody>
            <a:bodyPr anchor="ctr" rtlCol="false" tIns="50800" lIns="50800" bIns="50800" rIns="50800"/>
            <a:lstStyle/>
            <a:p>
              <a:pPr algn="ctr" marL="0" indent="0" lvl="0">
                <a:lnSpc>
                  <a:spcPts val="3428"/>
                </a:lnSpc>
              </a:pPr>
            </a:p>
          </p:txBody>
        </p:sp>
      </p:grpSp>
      <p:grpSp>
        <p:nvGrpSpPr>
          <p:cNvPr name="Group 17" id="17"/>
          <p:cNvGrpSpPr/>
          <p:nvPr/>
        </p:nvGrpSpPr>
        <p:grpSpPr>
          <a:xfrm rot="0">
            <a:off x="1522293" y="7360375"/>
            <a:ext cx="830968" cy="830968"/>
            <a:chOff x="0" y="0"/>
            <a:chExt cx="406400" cy="406400"/>
          </a:xfrm>
        </p:grpSpPr>
        <p:sp>
          <p:nvSpPr>
            <p:cNvPr name="Freeform 18" id="18"/>
            <p:cNvSpPr/>
            <p:nvPr/>
          </p:nvSpPr>
          <p:spPr>
            <a:xfrm flipH="false" flipV="false" rot="0">
              <a:off x="0" y="0"/>
              <a:ext cx="406400" cy="406400"/>
            </a:xfrm>
            <a:custGeom>
              <a:avLst/>
              <a:gdLst/>
              <a:ahLst/>
              <a:cxnLst/>
              <a:rect r="r" b="b" t="t" l="l"/>
              <a:pathLst>
                <a:path h="406400" w="406400">
                  <a:moveTo>
                    <a:pt x="203200" y="0"/>
                  </a:moveTo>
                  <a:cubicBezTo>
                    <a:pt x="315424" y="0"/>
                    <a:pt x="406400" y="90976"/>
                    <a:pt x="406400" y="203200"/>
                  </a:cubicBezTo>
                  <a:cubicBezTo>
                    <a:pt x="406400" y="315424"/>
                    <a:pt x="315424" y="406400"/>
                    <a:pt x="203200"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19" id="19"/>
            <p:cNvSpPr txBox="true"/>
            <p:nvPr/>
          </p:nvSpPr>
          <p:spPr>
            <a:xfrm>
              <a:off x="0" y="-57150"/>
              <a:ext cx="406400" cy="463550"/>
            </a:xfrm>
            <a:prstGeom prst="rect">
              <a:avLst/>
            </a:prstGeom>
          </p:spPr>
          <p:txBody>
            <a:bodyPr anchor="ctr" rtlCol="false" tIns="50800" lIns="50800" bIns="50800" rIns="50800"/>
            <a:lstStyle/>
            <a:p>
              <a:pPr algn="ctr" marL="0" indent="0" lvl="0">
                <a:lnSpc>
                  <a:spcPts val="3428"/>
                </a:lnSpc>
              </a:pPr>
            </a:p>
          </p:txBody>
        </p:sp>
      </p:grpSp>
      <p:grpSp>
        <p:nvGrpSpPr>
          <p:cNvPr name="Group 20" id="20"/>
          <p:cNvGrpSpPr/>
          <p:nvPr/>
        </p:nvGrpSpPr>
        <p:grpSpPr>
          <a:xfrm rot="0">
            <a:off x="9640475" y="7360375"/>
            <a:ext cx="830968" cy="830968"/>
            <a:chOff x="0" y="0"/>
            <a:chExt cx="406400" cy="406400"/>
          </a:xfrm>
        </p:grpSpPr>
        <p:sp>
          <p:nvSpPr>
            <p:cNvPr name="Freeform 21" id="21"/>
            <p:cNvSpPr/>
            <p:nvPr/>
          </p:nvSpPr>
          <p:spPr>
            <a:xfrm flipH="false" flipV="false" rot="0">
              <a:off x="0" y="0"/>
              <a:ext cx="406400" cy="406400"/>
            </a:xfrm>
            <a:custGeom>
              <a:avLst/>
              <a:gdLst/>
              <a:ahLst/>
              <a:cxnLst/>
              <a:rect r="r" b="b" t="t" l="l"/>
              <a:pathLst>
                <a:path h="406400" w="406400">
                  <a:moveTo>
                    <a:pt x="203200" y="0"/>
                  </a:moveTo>
                  <a:cubicBezTo>
                    <a:pt x="315424" y="0"/>
                    <a:pt x="406400" y="90976"/>
                    <a:pt x="406400" y="203200"/>
                  </a:cubicBezTo>
                  <a:cubicBezTo>
                    <a:pt x="406400" y="315424"/>
                    <a:pt x="315424" y="406400"/>
                    <a:pt x="203200"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22" id="22"/>
            <p:cNvSpPr txBox="true"/>
            <p:nvPr/>
          </p:nvSpPr>
          <p:spPr>
            <a:xfrm>
              <a:off x="0" y="-57150"/>
              <a:ext cx="406400" cy="463550"/>
            </a:xfrm>
            <a:prstGeom prst="rect">
              <a:avLst/>
            </a:prstGeom>
          </p:spPr>
          <p:txBody>
            <a:bodyPr anchor="ctr" rtlCol="false" tIns="50800" lIns="50800" bIns="50800" rIns="50800"/>
            <a:lstStyle/>
            <a:p>
              <a:pPr algn="ctr" marL="0" indent="0" lvl="0">
                <a:lnSpc>
                  <a:spcPts val="3428"/>
                </a:lnSpc>
              </a:pPr>
            </a:p>
          </p:txBody>
        </p:sp>
      </p:grpSp>
      <p:sp>
        <p:nvSpPr>
          <p:cNvPr name="Freeform 23" id="23"/>
          <p:cNvSpPr/>
          <p:nvPr/>
        </p:nvSpPr>
        <p:spPr>
          <a:xfrm flipH="false" flipV="false" rot="0">
            <a:off x="1764727" y="5380421"/>
            <a:ext cx="346100" cy="326199"/>
          </a:xfrm>
          <a:custGeom>
            <a:avLst/>
            <a:gdLst/>
            <a:ahLst/>
            <a:cxnLst/>
            <a:rect r="r" b="b" t="t" l="l"/>
            <a:pathLst>
              <a:path h="326199" w="346100">
                <a:moveTo>
                  <a:pt x="0" y="0"/>
                </a:moveTo>
                <a:lnTo>
                  <a:pt x="346100" y="0"/>
                </a:lnTo>
                <a:lnTo>
                  <a:pt x="346100" y="326199"/>
                </a:lnTo>
                <a:lnTo>
                  <a:pt x="0" y="326199"/>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24" id="24"/>
          <p:cNvSpPr/>
          <p:nvPr/>
        </p:nvSpPr>
        <p:spPr>
          <a:xfrm flipH="false" flipV="false" rot="0">
            <a:off x="9882909" y="5380421"/>
            <a:ext cx="346100" cy="326199"/>
          </a:xfrm>
          <a:custGeom>
            <a:avLst/>
            <a:gdLst/>
            <a:ahLst/>
            <a:cxnLst/>
            <a:rect r="r" b="b" t="t" l="l"/>
            <a:pathLst>
              <a:path h="326199" w="346100">
                <a:moveTo>
                  <a:pt x="0" y="0"/>
                </a:moveTo>
                <a:lnTo>
                  <a:pt x="346100" y="0"/>
                </a:lnTo>
                <a:lnTo>
                  <a:pt x="346100" y="326199"/>
                </a:lnTo>
                <a:lnTo>
                  <a:pt x="0" y="326199"/>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25" id="25"/>
          <p:cNvSpPr/>
          <p:nvPr/>
        </p:nvSpPr>
        <p:spPr>
          <a:xfrm flipH="false" flipV="false" rot="0">
            <a:off x="1764727" y="7612759"/>
            <a:ext cx="346100" cy="326199"/>
          </a:xfrm>
          <a:custGeom>
            <a:avLst/>
            <a:gdLst/>
            <a:ahLst/>
            <a:cxnLst/>
            <a:rect r="r" b="b" t="t" l="l"/>
            <a:pathLst>
              <a:path h="326199" w="346100">
                <a:moveTo>
                  <a:pt x="0" y="0"/>
                </a:moveTo>
                <a:lnTo>
                  <a:pt x="346100" y="0"/>
                </a:lnTo>
                <a:lnTo>
                  <a:pt x="346100" y="326200"/>
                </a:lnTo>
                <a:lnTo>
                  <a:pt x="0" y="32620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26" id="26"/>
          <p:cNvSpPr/>
          <p:nvPr/>
        </p:nvSpPr>
        <p:spPr>
          <a:xfrm flipH="false" flipV="false" rot="0">
            <a:off x="9882909" y="7612759"/>
            <a:ext cx="346100" cy="326199"/>
          </a:xfrm>
          <a:custGeom>
            <a:avLst/>
            <a:gdLst/>
            <a:ahLst/>
            <a:cxnLst/>
            <a:rect r="r" b="b" t="t" l="l"/>
            <a:pathLst>
              <a:path h="326199" w="346100">
                <a:moveTo>
                  <a:pt x="0" y="0"/>
                </a:moveTo>
                <a:lnTo>
                  <a:pt x="346100" y="0"/>
                </a:lnTo>
                <a:lnTo>
                  <a:pt x="346100" y="326200"/>
                </a:lnTo>
                <a:lnTo>
                  <a:pt x="0" y="32620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7" id="27"/>
          <p:cNvSpPr txBox="true"/>
          <p:nvPr/>
        </p:nvSpPr>
        <p:spPr>
          <a:xfrm rot="0">
            <a:off x="2613587" y="5370896"/>
            <a:ext cx="4069957" cy="457200"/>
          </a:xfrm>
          <a:prstGeom prst="rect">
            <a:avLst/>
          </a:prstGeom>
        </p:spPr>
        <p:txBody>
          <a:bodyPr anchor="t" rtlCol="false" tIns="0" lIns="0" bIns="0" rIns="0">
            <a:spAutoFit/>
          </a:bodyPr>
          <a:lstStyle/>
          <a:p>
            <a:pPr algn="l" marL="0" indent="0" lvl="0">
              <a:lnSpc>
                <a:spcPts val="3595"/>
              </a:lnSpc>
            </a:pPr>
            <a:r>
              <a:rPr lang="en-US" b="true" sz="2996">
                <a:solidFill>
                  <a:srgbClr val="003E7E"/>
                </a:solidFill>
                <a:latin typeface="Public Sans Bold"/>
                <a:ea typeface="Public Sans Bold"/>
                <a:cs typeface="Public Sans Bold"/>
                <a:sym typeface="Public Sans Bold"/>
              </a:rPr>
              <a:t>Core Edition — €799</a:t>
            </a:r>
          </a:p>
        </p:txBody>
      </p:sp>
      <p:sp>
        <p:nvSpPr>
          <p:cNvPr name="TextBox 28" id="28"/>
          <p:cNvSpPr txBox="true"/>
          <p:nvPr/>
        </p:nvSpPr>
        <p:spPr>
          <a:xfrm rot="0">
            <a:off x="10728619" y="5370896"/>
            <a:ext cx="3858456" cy="457200"/>
          </a:xfrm>
          <a:prstGeom prst="rect">
            <a:avLst/>
          </a:prstGeom>
        </p:spPr>
        <p:txBody>
          <a:bodyPr anchor="t" rtlCol="false" tIns="0" lIns="0" bIns="0" rIns="0">
            <a:spAutoFit/>
          </a:bodyPr>
          <a:lstStyle/>
          <a:p>
            <a:pPr algn="l" marL="0" indent="0" lvl="0">
              <a:lnSpc>
                <a:spcPts val="3595"/>
              </a:lnSpc>
            </a:pPr>
            <a:r>
              <a:rPr lang="en-US" b="true" sz="2996">
                <a:solidFill>
                  <a:srgbClr val="003E7E"/>
                </a:solidFill>
                <a:latin typeface="Public Sans Bold"/>
                <a:ea typeface="Public Sans Bold"/>
                <a:cs typeface="Public Sans Bold"/>
                <a:sym typeface="Public Sans Bold"/>
              </a:rPr>
              <a:t>Pro Edition — €1,149</a:t>
            </a:r>
          </a:p>
        </p:txBody>
      </p:sp>
      <p:sp>
        <p:nvSpPr>
          <p:cNvPr name="TextBox 29" id="29"/>
          <p:cNvSpPr txBox="true"/>
          <p:nvPr/>
        </p:nvSpPr>
        <p:spPr>
          <a:xfrm rot="0">
            <a:off x="2497519" y="7542496"/>
            <a:ext cx="5683618" cy="457200"/>
          </a:xfrm>
          <a:prstGeom prst="rect">
            <a:avLst/>
          </a:prstGeom>
        </p:spPr>
        <p:txBody>
          <a:bodyPr anchor="t" rtlCol="false" tIns="0" lIns="0" bIns="0" rIns="0">
            <a:spAutoFit/>
          </a:bodyPr>
          <a:lstStyle/>
          <a:p>
            <a:pPr algn="l" marL="0" indent="0" lvl="0">
              <a:lnSpc>
                <a:spcPts val="3595"/>
              </a:lnSpc>
            </a:pPr>
            <a:r>
              <a:rPr lang="en-US" b="true" sz="2996">
                <a:solidFill>
                  <a:srgbClr val="003E7E"/>
                </a:solidFill>
                <a:latin typeface="Public Sans Bold"/>
                <a:ea typeface="Public Sans Bold"/>
                <a:cs typeface="Public Sans Bold"/>
                <a:sym typeface="Public Sans Bold"/>
              </a:rPr>
              <a:t>Enterprise Edition — €1,299+</a:t>
            </a:r>
          </a:p>
        </p:txBody>
      </p:sp>
      <p:sp>
        <p:nvSpPr>
          <p:cNvPr name="Freeform 30" id="30"/>
          <p:cNvSpPr/>
          <p:nvPr/>
        </p:nvSpPr>
        <p:spPr>
          <a:xfrm flipH="false" flipV="false" rot="0">
            <a:off x="14718695" y="-2553339"/>
            <a:ext cx="5690196" cy="10393052"/>
          </a:xfrm>
          <a:custGeom>
            <a:avLst/>
            <a:gdLst/>
            <a:ahLst/>
            <a:cxnLst/>
            <a:rect r="r" b="b" t="t" l="l"/>
            <a:pathLst>
              <a:path h="10393052" w="5690196">
                <a:moveTo>
                  <a:pt x="0" y="0"/>
                </a:moveTo>
                <a:lnTo>
                  <a:pt x="5690196" y="0"/>
                </a:lnTo>
                <a:lnTo>
                  <a:pt x="5690196" y="10393051"/>
                </a:lnTo>
                <a:lnTo>
                  <a:pt x="0" y="10393051"/>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31" id="31"/>
          <p:cNvSpPr txBox="true"/>
          <p:nvPr/>
        </p:nvSpPr>
        <p:spPr>
          <a:xfrm rot="0">
            <a:off x="10842919" y="7542496"/>
            <a:ext cx="4359972" cy="457200"/>
          </a:xfrm>
          <a:prstGeom prst="rect">
            <a:avLst/>
          </a:prstGeom>
        </p:spPr>
        <p:txBody>
          <a:bodyPr anchor="t" rtlCol="false" tIns="0" lIns="0" bIns="0" rIns="0">
            <a:spAutoFit/>
          </a:bodyPr>
          <a:lstStyle/>
          <a:p>
            <a:pPr algn="l" marL="0" indent="0" lvl="0">
              <a:lnSpc>
                <a:spcPts val="3595"/>
              </a:lnSpc>
            </a:pPr>
            <a:r>
              <a:rPr lang="en-US" b="true" sz="2996">
                <a:solidFill>
                  <a:srgbClr val="003E7E"/>
                </a:solidFill>
                <a:latin typeface="Public Sans Bold"/>
                <a:ea typeface="Public Sans Bold"/>
                <a:cs typeface="Public Sans Bold"/>
                <a:sym typeface="Public Sans Bold"/>
              </a:rPr>
              <a:t>Strategic Positioning</a:t>
            </a:r>
          </a:p>
        </p:txBody>
      </p:sp>
      <p:sp>
        <p:nvSpPr>
          <p:cNvPr name="TextBox 32" id="32"/>
          <p:cNvSpPr txBox="true"/>
          <p:nvPr/>
        </p:nvSpPr>
        <p:spPr>
          <a:xfrm rot="0">
            <a:off x="1522293" y="6138052"/>
            <a:ext cx="7125231" cy="533136"/>
          </a:xfrm>
          <a:prstGeom prst="rect">
            <a:avLst/>
          </a:prstGeom>
        </p:spPr>
        <p:txBody>
          <a:bodyPr anchor="t" rtlCol="false" tIns="0" lIns="0" bIns="0" rIns="0">
            <a:spAutoFit/>
          </a:bodyPr>
          <a:lstStyle/>
          <a:p>
            <a:pPr algn="l" marL="0" indent="0" lvl="0">
              <a:lnSpc>
                <a:spcPts val="2114"/>
              </a:lnSpc>
              <a:spcBef>
                <a:spcPct val="0"/>
              </a:spcBef>
            </a:pPr>
            <a:r>
              <a:rPr lang="en-US" sz="1510">
                <a:solidFill>
                  <a:srgbClr val="343434"/>
                </a:solidFill>
                <a:latin typeface="Public Sans"/>
                <a:ea typeface="Public Sans"/>
                <a:cs typeface="Public Sans"/>
                <a:sym typeface="Public Sans"/>
              </a:rPr>
              <a:t>Designed for premium consumers seeking a seamless, stylish smart eyewear experience with essential GlanceView and Context Engine features.</a:t>
            </a:r>
          </a:p>
        </p:txBody>
      </p:sp>
      <p:sp>
        <p:nvSpPr>
          <p:cNvPr name="TextBox 33" id="33"/>
          <p:cNvSpPr txBox="true"/>
          <p:nvPr/>
        </p:nvSpPr>
        <p:spPr>
          <a:xfrm rot="0">
            <a:off x="9640475" y="6138052"/>
            <a:ext cx="7125231" cy="533136"/>
          </a:xfrm>
          <a:prstGeom prst="rect">
            <a:avLst/>
          </a:prstGeom>
        </p:spPr>
        <p:txBody>
          <a:bodyPr anchor="t" rtlCol="false" tIns="0" lIns="0" bIns="0" rIns="0">
            <a:spAutoFit/>
          </a:bodyPr>
          <a:lstStyle/>
          <a:p>
            <a:pPr algn="l" marL="0" indent="0" lvl="0">
              <a:lnSpc>
                <a:spcPts val="2114"/>
              </a:lnSpc>
              <a:spcBef>
                <a:spcPct val="0"/>
              </a:spcBef>
            </a:pPr>
            <a:r>
              <a:rPr lang="en-US" sz="1510">
                <a:solidFill>
                  <a:srgbClr val="343434"/>
                </a:solidFill>
                <a:latin typeface="Public Sans"/>
                <a:ea typeface="Public Sans"/>
                <a:cs typeface="Public Sans"/>
                <a:sym typeface="Public Sans"/>
              </a:rPr>
              <a:t>Built for professionals and executives requiring Memory Capture, Live Language Assist, and advanced productivity integrations for daily high-performance use.</a:t>
            </a:r>
          </a:p>
        </p:txBody>
      </p:sp>
      <p:sp>
        <p:nvSpPr>
          <p:cNvPr name="TextBox 34" id="34"/>
          <p:cNvSpPr txBox="true"/>
          <p:nvPr/>
        </p:nvSpPr>
        <p:spPr>
          <a:xfrm rot="0">
            <a:off x="1522293" y="8370390"/>
            <a:ext cx="7125231" cy="533136"/>
          </a:xfrm>
          <a:prstGeom prst="rect">
            <a:avLst/>
          </a:prstGeom>
        </p:spPr>
        <p:txBody>
          <a:bodyPr anchor="t" rtlCol="false" tIns="0" lIns="0" bIns="0" rIns="0">
            <a:spAutoFit/>
          </a:bodyPr>
          <a:lstStyle/>
          <a:p>
            <a:pPr algn="l" marL="0" indent="0" lvl="0">
              <a:lnSpc>
                <a:spcPts val="2114"/>
              </a:lnSpc>
              <a:spcBef>
                <a:spcPct val="0"/>
              </a:spcBef>
            </a:pPr>
            <a:r>
              <a:rPr lang="en-US" sz="1510">
                <a:solidFill>
                  <a:srgbClr val="343434"/>
                </a:solidFill>
                <a:latin typeface="Public Sans"/>
                <a:ea typeface="Public Sans"/>
                <a:cs typeface="Public Sans"/>
                <a:sym typeface="Public Sans"/>
              </a:rPr>
              <a:t>Engineered for scaled deployments with fleet management, enterprise software subscriptions, and dedicated support contracts for large organisations.</a:t>
            </a:r>
          </a:p>
        </p:txBody>
      </p:sp>
      <p:sp>
        <p:nvSpPr>
          <p:cNvPr name="TextBox 35" id="35"/>
          <p:cNvSpPr txBox="true"/>
          <p:nvPr/>
        </p:nvSpPr>
        <p:spPr>
          <a:xfrm rot="0">
            <a:off x="9640475" y="8370390"/>
            <a:ext cx="7125231" cy="533136"/>
          </a:xfrm>
          <a:prstGeom prst="rect">
            <a:avLst/>
          </a:prstGeom>
        </p:spPr>
        <p:txBody>
          <a:bodyPr anchor="t" rtlCol="false" tIns="0" lIns="0" bIns="0" rIns="0">
            <a:spAutoFit/>
          </a:bodyPr>
          <a:lstStyle/>
          <a:p>
            <a:pPr algn="l" marL="0" indent="0" lvl="0">
              <a:lnSpc>
                <a:spcPts val="2114"/>
              </a:lnSpc>
              <a:spcBef>
                <a:spcPct val="0"/>
              </a:spcBef>
            </a:pPr>
            <a:r>
              <a:rPr lang="en-US" sz="1510">
                <a:solidFill>
                  <a:srgbClr val="343434"/>
                </a:solidFill>
                <a:latin typeface="Public Sans"/>
                <a:ea typeface="Public Sans"/>
                <a:cs typeface="Public Sans"/>
                <a:sym typeface="Public Sans"/>
              </a:rPr>
              <a:t>All editions share the same lightweight form factor and privacy-first design — prioritising daily adoption probability over maximum technical specifications.</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40109" t="-29261" r="0" b="-13027"/>
            </a:stretch>
          </a:blipFill>
        </p:spPr>
      </p:sp>
      <p:grpSp>
        <p:nvGrpSpPr>
          <p:cNvPr name="Group 3" id="3"/>
          <p:cNvGrpSpPr/>
          <p:nvPr/>
        </p:nvGrpSpPr>
        <p:grpSpPr>
          <a:xfrm rot="0">
            <a:off x="1534840" y="642100"/>
            <a:ext cx="1313931" cy="773201"/>
            <a:chOff x="0" y="0"/>
            <a:chExt cx="690612" cy="406400"/>
          </a:xfrm>
        </p:grpSpPr>
        <p:sp>
          <p:nvSpPr>
            <p:cNvPr name="Freeform 4" id="4"/>
            <p:cNvSpPr/>
            <p:nvPr/>
          </p:nvSpPr>
          <p:spPr>
            <a:xfrm flipH="false" flipV="false" rot="0">
              <a:off x="0" y="0"/>
              <a:ext cx="690612" cy="406400"/>
            </a:xfrm>
            <a:custGeom>
              <a:avLst/>
              <a:gdLst/>
              <a:ahLst/>
              <a:cxnLst/>
              <a:rect r="r" b="b" t="t" l="l"/>
              <a:pathLst>
                <a:path h="406400" w="690612">
                  <a:moveTo>
                    <a:pt x="487412" y="0"/>
                  </a:moveTo>
                  <a:cubicBezTo>
                    <a:pt x="599636" y="0"/>
                    <a:pt x="690612" y="90976"/>
                    <a:pt x="690612" y="203200"/>
                  </a:cubicBezTo>
                  <a:cubicBezTo>
                    <a:pt x="690612" y="315424"/>
                    <a:pt x="599636" y="406400"/>
                    <a:pt x="487412"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5" id="5"/>
            <p:cNvSpPr txBox="true"/>
            <p:nvPr/>
          </p:nvSpPr>
          <p:spPr>
            <a:xfrm>
              <a:off x="0" y="-57150"/>
              <a:ext cx="690612" cy="463550"/>
            </a:xfrm>
            <a:prstGeom prst="rect">
              <a:avLst/>
            </a:prstGeom>
          </p:spPr>
          <p:txBody>
            <a:bodyPr anchor="ctr" rtlCol="false" tIns="50800" lIns="50800" bIns="50800" rIns="50800"/>
            <a:lstStyle/>
            <a:p>
              <a:pPr algn="ctr" marL="0" indent="0" lvl="0">
                <a:lnSpc>
                  <a:spcPts val="3428"/>
                </a:lnSpc>
              </a:pPr>
            </a:p>
          </p:txBody>
        </p:sp>
      </p:grpSp>
      <p:sp>
        <p:nvSpPr>
          <p:cNvPr name="Freeform 6" id="6"/>
          <p:cNvSpPr/>
          <p:nvPr/>
        </p:nvSpPr>
        <p:spPr>
          <a:xfrm flipH="false" flipV="false" rot="0">
            <a:off x="1886092" y="789479"/>
            <a:ext cx="611427" cy="478441"/>
          </a:xfrm>
          <a:custGeom>
            <a:avLst/>
            <a:gdLst/>
            <a:ahLst/>
            <a:cxnLst/>
            <a:rect r="r" b="b" t="t" l="l"/>
            <a:pathLst>
              <a:path h="478441" w="611427">
                <a:moveTo>
                  <a:pt x="0" y="0"/>
                </a:moveTo>
                <a:lnTo>
                  <a:pt x="611427" y="0"/>
                </a:lnTo>
                <a:lnTo>
                  <a:pt x="611427" y="478442"/>
                </a:lnTo>
                <a:lnTo>
                  <a:pt x="0" y="478442"/>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7" id="7"/>
          <p:cNvGrpSpPr/>
          <p:nvPr/>
        </p:nvGrpSpPr>
        <p:grpSpPr>
          <a:xfrm rot="0">
            <a:off x="1534840" y="7620967"/>
            <a:ext cx="7106110" cy="1332842"/>
            <a:chOff x="0" y="0"/>
            <a:chExt cx="2166741" cy="406400"/>
          </a:xfrm>
        </p:grpSpPr>
        <p:sp>
          <p:nvSpPr>
            <p:cNvPr name="Freeform 8" id="8"/>
            <p:cNvSpPr/>
            <p:nvPr/>
          </p:nvSpPr>
          <p:spPr>
            <a:xfrm flipH="false" flipV="false" rot="0">
              <a:off x="0" y="0"/>
              <a:ext cx="2166741" cy="406400"/>
            </a:xfrm>
            <a:custGeom>
              <a:avLst/>
              <a:gdLst/>
              <a:ahLst/>
              <a:cxnLst/>
              <a:rect r="r" b="b" t="t" l="l"/>
              <a:pathLst>
                <a:path h="406400" w="2166741">
                  <a:moveTo>
                    <a:pt x="1963541" y="0"/>
                  </a:moveTo>
                  <a:cubicBezTo>
                    <a:pt x="2075765" y="0"/>
                    <a:pt x="2166741" y="90976"/>
                    <a:pt x="2166741" y="203200"/>
                  </a:cubicBezTo>
                  <a:cubicBezTo>
                    <a:pt x="2166741" y="315424"/>
                    <a:pt x="2075765" y="406400"/>
                    <a:pt x="1963541" y="406400"/>
                  </a:cubicBezTo>
                  <a:lnTo>
                    <a:pt x="203200" y="406400"/>
                  </a:lnTo>
                  <a:cubicBezTo>
                    <a:pt x="90976" y="406400"/>
                    <a:pt x="0" y="315424"/>
                    <a:pt x="0" y="203200"/>
                  </a:cubicBezTo>
                  <a:cubicBezTo>
                    <a:pt x="0" y="90976"/>
                    <a:pt x="90976" y="0"/>
                    <a:pt x="203200" y="0"/>
                  </a:cubicBezTo>
                  <a:close/>
                </a:path>
              </a:pathLst>
            </a:custGeom>
            <a:ln w="19050" cap="sq">
              <a:solidFill>
                <a:srgbClr val="003E7E"/>
              </a:solidFill>
              <a:prstDash val="solid"/>
              <a:miter/>
            </a:ln>
          </p:spPr>
        </p:sp>
        <p:sp>
          <p:nvSpPr>
            <p:cNvPr name="TextBox 9" id="9"/>
            <p:cNvSpPr txBox="true"/>
            <p:nvPr/>
          </p:nvSpPr>
          <p:spPr>
            <a:xfrm>
              <a:off x="0" y="-57150"/>
              <a:ext cx="2166741" cy="463550"/>
            </a:xfrm>
            <a:prstGeom prst="rect">
              <a:avLst/>
            </a:prstGeom>
          </p:spPr>
          <p:txBody>
            <a:bodyPr anchor="ctr" rtlCol="false" tIns="50800" lIns="50800" bIns="50800" rIns="50800"/>
            <a:lstStyle/>
            <a:p>
              <a:pPr algn="ctr" marL="0" indent="0" lvl="0">
                <a:lnSpc>
                  <a:spcPts val="3428"/>
                </a:lnSpc>
              </a:pPr>
            </a:p>
          </p:txBody>
        </p:sp>
      </p:grpSp>
      <p:sp>
        <p:nvSpPr>
          <p:cNvPr name="Freeform 10" id="10"/>
          <p:cNvSpPr/>
          <p:nvPr/>
        </p:nvSpPr>
        <p:spPr>
          <a:xfrm flipH="false" flipV="false" rot="0">
            <a:off x="14718695" y="-2553339"/>
            <a:ext cx="5690196" cy="10393052"/>
          </a:xfrm>
          <a:custGeom>
            <a:avLst/>
            <a:gdLst/>
            <a:ahLst/>
            <a:cxnLst/>
            <a:rect r="r" b="b" t="t" l="l"/>
            <a:pathLst>
              <a:path h="10393052" w="5690196">
                <a:moveTo>
                  <a:pt x="0" y="0"/>
                </a:moveTo>
                <a:lnTo>
                  <a:pt x="5690196" y="0"/>
                </a:lnTo>
                <a:lnTo>
                  <a:pt x="5690196" y="10393051"/>
                </a:lnTo>
                <a:lnTo>
                  <a:pt x="0" y="10393051"/>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11" id="11"/>
          <p:cNvGrpSpPr/>
          <p:nvPr/>
        </p:nvGrpSpPr>
        <p:grpSpPr>
          <a:xfrm rot="0">
            <a:off x="9647051" y="7620967"/>
            <a:ext cx="7106110" cy="1332842"/>
            <a:chOff x="0" y="0"/>
            <a:chExt cx="2166741" cy="406400"/>
          </a:xfrm>
        </p:grpSpPr>
        <p:sp>
          <p:nvSpPr>
            <p:cNvPr name="Freeform 12" id="12"/>
            <p:cNvSpPr/>
            <p:nvPr/>
          </p:nvSpPr>
          <p:spPr>
            <a:xfrm flipH="false" flipV="false" rot="0">
              <a:off x="0" y="0"/>
              <a:ext cx="2166741" cy="406400"/>
            </a:xfrm>
            <a:custGeom>
              <a:avLst/>
              <a:gdLst/>
              <a:ahLst/>
              <a:cxnLst/>
              <a:rect r="r" b="b" t="t" l="l"/>
              <a:pathLst>
                <a:path h="406400" w="2166741">
                  <a:moveTo>
                    <a:pt x="1963541" y="0"/>
                  </a:moveTo>
                  <a:cubicBezTo>
                    <a:pt x="2075765" y="0"/>
                    <a:pt x="2166741" y="90976"/>
                    <a:pt x="2166741" y="203200"/>
                  </a:cubicBezTo>
                  <a:cubicBezTo>
                    <a:pt x="2166741" y="315424"/>
                    <a:pt x="2075765" y="406400"/>
                    <a:pt x="1963541" y="406400"/>
                  </a:cubicBezTo>
                  <a:lnTo>
                    <a:pt x="203200" y="406400"/>
                  </a:lnTo>
                  <a:cubicBezTo>
                    <a:pt x="90976" y="406400"/>
                    <a:pt x="0" y="315424"/>
                    <a:pt x="0" y="203200"/>
                  </a:cubicBezTo>
                  <a:cubicBezTo>
                    <a:pt x="0" y="90976"/>
                    <a:pt x="90976" y="0"/>
                    <a:pt x="203200" y="0"/>
                  </a:cubicBezTo>
                  <a:close/>
                </a:path>
              </a:pathLst>
            </a:custGeom>
            <a:ln w="19050" cap="sq">
              <a:solidFill>
                <a:srgbClr val="003E7E"/>
              </a:solidFill>
              <a:prstDash val="solid"/>
              <a:miter/>
            </a:ln>
          </p:spPr>
        </p:sp>
        <p:sp>
          <p:nvSpPr>
            <p:cNvPr name="TextBox 13" id="13"/>
            <p:cNvSpPr txBox="true"/>
            <p:nvPr/>
          </p:nvSpPr>
          <p:spPr>
            <a:xfrm>
              <a:off x="0" y="-57150"/>
              <a:ext cx="2166741" cy="463550"/>
            </a:xfrm>
            <a:prstGeom prst="rect">
              <a:avLst/>
            </a:prstGeom>
          </p:spPr>
          <p:txBody>
            <a:bodyPr anchor="ctr" rtlCol="false" tIns="50800" lIns="50800" bIns="50800" rIns="50800"/>
            <a:lstStyle/>
            <a:p>
              <a:pPr algn="ctr" marL="0" indent="0" lvl="0">
                <a:lnSpc>
                  <a:spcPts val="3428"/>
                </a:lnSpc>
              </a:pPr>
            </a:p>
          </p:txBody>
        </p:sp>
      </p:grpSp>
      <p:grpSp>
        <p:nvGrpSpPr>
          <p:cNvPr name="Group 14" id="14"/>
          <p:cNvGrpSpPr/>
          <p:nvPr/>
        </p:nvGrpSpPr>
        <p:grpSpPr>
          <a:xfrm rot="0">
            <a:off x="1534840" y="6026864"/>
            <a:ext cx="7106110" cy="1332842"/>
            <a:chOff x="0" y="0"/>
            <a:chExt cx="2166741" cy="406400"/>
          </a:xfrm>
        </p:grpSpPr>
        <p:sp>
          <p:nvSpPr>
            <p:cNvPr name="Freeform 15" id="15"/>
            <p:cNvSpPr/>
            <p:nvPr/>
          </p:nvSpPr>
          <p:spPr>
            <a:xfrm flipH="false" flipV="false" rot="0">
              <a:off x="0" y="0"/>
              <a:ext cx="2166741" cy="406400"/>
            </a:xfrm>
            <a:custGeom>
              <a:avLst/>
              <a:gdLst/>
              <a:ahLst/>
              <a:cxnLst/>
              <a:rect r="r" b="b" t="t" l="l"/>
              <a:pathLst>
                <a:path h="406400" w="2166741">
                  <a:moveTo>
                    <a:pt x="1963541" y="0"/>
                  </a:moveTo>
                  <a:cubicBezTo>
                    <a:pt x="2075765" y="0"/>
                    <a:pt x="2166741" y="90976"/>
                    <a:pt x="2166741" y="203200"/>
                  </a:cubicBezTo>
                  <a:cubicBezTo>
                    <a:pt x="2166741" y="315424"/>
                    <a:pt x="2075765" y="406400"/>
                    <a:pt x="1963541" y="406400"/>
                  </a:cubicBezTo>
                  <a:lnTo>
                    <a:pt x="203200" y="406400"/>
                  </a:lnTo>
                  <a:cubicBezTo>
                    <a:pt x="90976" y="406400"/>
                    <a:pt x="0" y="315424"/>
                    <a:pt x="0" y="203200"/>
                  </a:cubicBezTo>
                  <a:cubicBezTo>
                    <a:pt x="0" y="90976"/>
                    <a:pt x="90976" y="0"/>
                    <a:pt x="203200" y="0"/>
                  </a:cubicBezTo>
                  <a:close/>
                </a:path>
              </a:pathLst>
            </a:custGeom>
            <a:ln w="19050" cap="sq">
              <a:solidFill>
                <a:srgbClr val="003E7E"/>
              </a:solidFill>
              <a:prstDash val="solid"/>
              <a:miter/>
            </a:ln>
          </p:spPr>
        </p:sp>
        <p:sp>
          <p:nvSpPr>
            <p:cNvPr name="TextBox 16" id="16"/>
            <p:cNvSpPr txBox="true"/>
            <p:nvPr/>
          </p:nvSpPr>
          <p:spPr>
            <a:xfrm>
              <a:off x="0" y="-57150"/>
              <a:ext cx="2166741" cy="463550"/>
            </a:xfrm>
            <a:prstGeom prst="rect">
              <a:avLst/>
            </a:prstGeom>
          </p:spPr>
          <p:txBody>
            <a:bodyPr anchor="ctr" rtlCol="false" tIns="50800" lIns="50800" bIns="50800" rIns="50800"/>
            <a:lstStyle/>
            <a:p>
              <a:pPr algn="ctr" marL="0" indent="0" lvl="0">
                <a:lnSpc>
                  <a:spcPts val="3428"/>
                </a:lnSpc>
              </a:pPr>
            </a:p>
          </p:txBody>
        </p:sp>
      </p:grpSp>
      <p:grpSp>
        <p:nvGrpSpPr>
          <p:cNvPr name="Group 17" id="17"/>
          <p:cNvGrpSpPr/>
          <p:nvPr/>
        </p:nvGrpSpPr>
        <p:grpSpPr>
          <a:xfrm rot="0">
            <a:off x="9647051" y="6026864"/>
            <a:ext cx="7106110" cy="1332842"/>
            <a:chOff x="0" y="0"/>
            <a:chExt cx="2166741" cy="406400"/>
          </a:xfrm>
        </p:grpSpPr>
        <p:sp>
          <p:nvSpPr>
            <p:cNvPr name="Freeform 18" id="18"/>
            <p:cNvSpPr/>
            <p:nvPr/>
          </p:nvSpPr>
          <p:spPr>
            <a:xfrm flipH="false" flipV="false" rot="0">
              <a:off x="0" y="0"/>
              <a:ext cx="2166741" cy="406400"/>
            </a:xfrm>
            <a:custGeom>
              <a:avLst/>
              <a:gdLst/>
              <a:ahLst/>
              <a:cxnLst/>
              <a:rect r="r" b="b" t="t" l="l"/>
              <a:pathLst>
                <a:path h="406400" w="2166741">
                  <a:moveTo>
                    <a:pt x="1963541" y="0"/>
                  </a:moveTo>
                  <a:cubicBezTo>
                    <a:pt x="2075765" y="0"/>
                    <a:pt x="2166741" y="90976"/>
                    <a:pt x="2166741" y="203200"/>
                  </a:cubicBezTo>
                  <a:cubicBezTo>
                    <a:pt x="2166741" y="315424"/>
                    <a:pt x="2075765" y="406400"/>
                    <a:pt x="1963541" y="406400"/>
                  </a:cubicBezTo>
                  <a:lnTo>
                    <a:pt x="203200" y="406400"/>
                  </a:lnTo>
                  <a:cubicBezTo>
                    <a:pt x="90976" y="406400"/>
                    <a:pt x="0" y="315424"/>
                    <a:pt x="0" y="203200"/>
                  </a:cubicBezTo>
                  <a:cubicBezTo>
                    <a:pt x="0" y="90976"/>
                    <a:pt x="90976" y="0"/>
                    <a:pt x="203200" y="0"/>
                  </a:cubicBezTo>
                  <a:close/>
                </a:path>
              </a:pathLst>
            </a:custGeom>
            <a:ln w="19050" cap="sq">
              <a:solidFill>
                <a:srgbClr val="003E7E"/>
              </a:solidFill>
              <a:prstDash val="solid"/>
              <a:miter/>
            </a:ln>
          </p:spPr>
        </p:sp>
        <p:sp>
          <p:nvSpPr>
            <p:cNvPr name="TextBox 19" id="19"/>
            <p:cNvSpPr txBox="true"/>
            <p:nvPr/>
          </p:nvSpPr>
          <p:spPr>
            <a:xfrm>
              <a:off x="0" y="-57150"/>
              <a:ext cx="2166741" cy="463550"/>
            </a:xfrm>
            <a:prstGeom prst="rect">
              <a:avLst/>
            </a:prstGeom>
          </p:spPr>
          <p:txBody>
            <a:bodyPr anchor="ctr" rtlCol="false" tIns="50800" lIns="50800" bIns="50800" rIns="50800"/>
            <a:lstStyle/>
            <a:p>
              <a:pPr algn="ctr" marL="0" indent="0" lvl="0">
                <a:lnSpc>
                  <a:spcPts val="3428"/>
                </a:lnSpc>
              </a:pPr>
            </a:p>
          </p:txBody>
        </p:sp>
      </p:grpSp>
      <p:grpSp>
        <p:nvGrpSpPr>
          <p:cNvPr name="Group 20" id="20"/>
          <p:cNvGrpSpPr/>
          <p:nvPr/>
        </p:nvGrpSpPr>
        <p:grpSpPr>
          <a:xfrm rot="0">
            <a:off x="1886092" y="6348371"/>
            <a:ext cx="689827" cy="689827"/>
            <a:chOff x="0" y="0"/>
            <a:chExt cx="812800" cy="812800"/>
          </a:xfrm>
        </p:grpSpPr>
        <p:sp>
          <p:nvSpPr>
            <p:cNvPr name="Freeform 21" id="21"/>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3E7E"/>
            </a:solidFill>
          </p:spPr>
        </p:sp>
        <p:sp>
          <p:nvSpPr>
            <p:cNvPr name="TextBox 22" id="22"/>
            <p:cNvSpPr txBox="true"/>
            <p:nvPr/>
          </p:nvSpPr>
          <p:spPr>
            <a:xfrm>
              <a:off x="76200" y="19050"/>
              <a:ext cx="660400" cy="717550"/>
            </a:xfrm>
            <a:prstGeom prst="rect">
              <a:avLst/>
            </a:prstGeom>
          </p:spPr>
          <p:txBody>
            <a:bodyPr anchor="ctr" rtlCol="false" tIns="50800" lIns="50800" bIns="50800" rIns="50800"/>
            <a:lstStyle/>
            <a:p>
              <a:pPr algn="ctr" marL="0" indent="0" lvl="0">
                <a:lnSpc>
                  <a:spcPts val="3428"/>
                </a:lnSpc>
              </a:pPr>
            </a:p>
          </p:txBody>
        </p:sp>
      </p:grpSp>
      <p:grpSp>
        <p:nvGrpSpPr>
          <p:cNvPr name="Group 23" id="23"/>
          <p:cNvGrpSpPr/>
          <p:nvPr/>
        </p:nvGrpSpPr>
        <p:grpSpPr>
          <a:xfrm rot="0">
            <a:off x="9980169" y="6348371"/>
            <a:ext cx="689827" cy="689827"/>
            <a:chOff x="0" y="0"/>
            <a:chExt cx="812800" cy="812800"/>
          </a:xfrm>
        </p:grpSpPr>
        <p:sp>
          <p:nvSpPr>
            <p:cNvPr name="Freeform 24" id="24"/>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3E7E"/>
            </a:solidFill>
          </p:spPr>
        </p:sp>
        <p:sp>
          <p:nvSpPr>
            <p:cNvPr name="TextBox 25" id="25"/>
            <p:cNvSpPr txBox="true"/>
            <p:nvPr/>
          </p:nvSpPr>
          <p:spPr>
            <a:xfrm>
              <a:off x="76200" y="19050"/>
              <a:ext cx="660400" cy="717550"/>
            </a:xfrm>
            <a:prstGeom prst="rect">
              <a:avLst/>
            </a:prstGeom>
          </p:spPr>
          <p:txBody>
            <a:bodyPr anchor="ctr" rtlCol="false" tIns="50800" lIns="50800" bIns="50800" rIns="50800"/>
            <a:lstStyle/>
            <a:p>
              <a:pPr algn="ctr" marL="0" indent="0" lvl="0">
                <a:lnSpc>
                  <a:spcPts val="3428"/>
                </a:lnSpc>
              </a:pPr>
            </a:p>
          </p:txBody>
        </p:sp>
      </p:grpSp>
      <p:grpSp>
        <p:nvGrpSpPr>
          <p:cNvPr name="Group 26" id="26"/>
          <p:cNvGrpSpPr/>
          <p:nvPr/>
        </p:nvGrpSpPr>
        <p:grpSpPr>
          <a:xfrm rot="0">
            <a:off x="1886092" y="7942474"/>
            <a:ext cx="689827" cy="689827"/>
            <a:chOff x="0" y="0"/>
            <a:chExt cx="812800" cy="812800"/>
          </a:xfrm>
        </p:grpSpPr>
        <p:sp>
          <p:nvSpPr>
            <p:cNvPr name="Freeform 27" id="2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3E7E"/>
            </a:solidFill>
          </p:spPr>
        </p:sp>
        <p:sp>
          <p:nvSpPr>
            <p:cNvPr name="TextBox 28" id="28"/>
            <p:cNvSpPr txBox="true"/>
            <p:nvPr/>
          </p:nvSpPr>
          <p:spPr>
            <a:xfrm>
              <a:off x="76200" y="19050"/>
              <a:ext cx="660400" cy="717550"/>
            </a:xfrm>
            <a:prstGeom prst="rect">
              <a:avLst/>
            </a:prstGeom>
          </p:spPr>
          <p:txBody>
            <a:bodyPr anchor="ctr" rtlCol="false" tIns="50800" lIns="50800" bIns="50800" rIns="50800"/>
            <a:lstStyle/>
            <a:p>
              <a:pPr algn="ctr" marL="0" indent="0" lvl="0">
                <a:lnSpc>
                  <a:spcPts val="3428"/>
                </a:lnSpc>
              </a:pPr>
            </a:p>
          </p:txBody>
        </p:sp>
      </p:grpSp>
      <p:grpSp>
        <p:nvGrpSpPr>
          <p:cNvPr name="Group 29" id="29"/>
          <p:cNvGrpSpPr/>
          <p:nvPr/>
        </p:nvGrpSpPr>
        <p:grpSpPr>
          <a:xfrm rot="0">
            <a:off x="9980169" y="7942474"/>
            <a:ext cx="689827" cy="689827"/>
            <a:chOff x="0" y="0"/>
            <a:chExt cx="812800" cy="812800"/>
          </a:xfrm>
        </p:grpSpPr>
        <p:sp>
          <p:nvSpPr>
            <p:cNvPr name="Freeform 30" id="30"/>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3E7E"/>
            </a:solidFill>
          </p:spPr>
        </p:sp>
        <p:sp>
          <p:nvSpPr>
            <p:cNvPr name="TextBox 31" id="31"/>
            <p:cNvSpPr txBox="true"/>
            <p:nvPr/>
          </p:nvSpPr>
          <p:spPr>
            <a:xfrm>
              <a:off x="76200" y="19050"/>
              <a:ext cx="660400" cy="717550"/>
            </a:xfrm>
            <a:prstGeom prst="rect">
              <a:avLst/>
            </a:prstGeom>
          </p:spPr>
          <p:txBody>
            <a:bodyPr anchor="ctr" rtlCol="false" tIns="50800" lIns="50800" bIns="50800" rIns="50800"/>
            <a:lstStyle/>
            <a:p>
              <a:pPr algn="ctr" marL="0" indent="0" lvl="0">
                <a:lnSpc>
                  <a:spcPts val="3428"/>
                </a:lnSpc>
              </a:pPr>
            </a:p>
          </p:txBody>
        </p:sp>
      </p:grpSp>
      <p:sp>
        <p:nvSpPr>
          <p:cNvPr name="Freeform 32" id="32"/>
          <p:cNvSpPr/>
          <p:nvPr/>
        </p:nvSpPr>
        <p:spPr>
          <a:xfrm flipH="false" flipV="false" rot="0">
            <a:off x="2079656" y="6591502"/>
            <a:ext cx="302700" cy="203566"/>
          </a:xfrm>
          <a:custGeom>
            <a:avLst/>
            <a:gdLst/>
            <a:ahLst/>
            <a:cxnLst/>
            <a:rect r="r" b="b" t="t" l="l"/>
            <a:pathLst>
              <a:path h="203566" w="302700">
                <a:moveTo>
                  <a:pt x="0" y="0"/>
                </a:moveTo>
                <a:lnTo>
                  <a:pt x="302700" y="0"/>
                </a:lnTo>
                <a:lnTo>
                  <a:pt x="302700" y="203566"/>
                </a:lnTo>
                <a:lnTo>
                  <a:pt x="0" y="203566"/>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33" id="33"/>
          <p:cNvSpPr/>
          <p:nvPr/>
        </p:nvSpPr>
        <p:spPr>
          <a:xfrm flipH="false" flipV="false" rot="0">
            <a:off x="10173733" y="6591502"/>
            <a:ext cx="302700" cy="203566"/>
          </a:xfrm>
          <a:custGeom>
            <a:avLst/>
            <a:gdLst/>
            <a:ahLst/>
            <a:cxnLst/>
            <a:rect r="r" b="b" t="t" l="l"/>
            <a:pathLst>
              <a:path h="203566" w="302700">
                <a:moveTo>
                  <a:pt x="0" y="0"/>
                </a:moveTo>
                <a:lnTo>
                  <a:pt x="302700" y="0"/>
                </a:lnTo>
                <a:lnTo>
                  <a:pt x="302700" y="203566"/>
                </a:lnTo>
                <a:lnTo>
                  <a:pt x="0" y="203566"/>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34" id="34"/>
          <p:cNvSpPr/>
          <p:nvPr/>
        </p:nvSpPr>
        <p:spPr>
          <a:xfrm flipH="false" flipV="false" rot="0">
            <a:off x="2079656" y="8185605"/>
            <a:ext cx="302700" cy="203566"/>
          </a:xfrm>
          <a:custGeom>
            <a:avLst/>
            <a:gdLst/>
            <a:ahLst/>
            <a:cxnLst/>
            <a:rect r="r" b="b" t="t" l="l"/>
            <a:pathLst>
              <a:path h="203566" w="302700">
                <a:moveTo>
                  <a:pt x="0" y="0"/>
                </a:moveTo>
                <a:lnTo>
                  <a:pt x="302700" y="0"/>
                </a:lnTo>
                <a:lnTo>
                  <a:pt x="302700" y="203566"/>
                </a:lnTo>
                <a:lnTo>
                  <a:pt x="0" y="203566"/>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35" id="35"/>
          <p:cNvSpPr/>
          <p:nvPr/>
        </p:nvSpPr>
        <p:spPr>
          <a:xfrm flipH="false" flipV="false" rot="0">
            <a:off x="10173733" y="8185605"/>
            <a:ext cx="302700" cy="203566"/>
          </a:xfrm>
          <a:custGeom>
            <a:avLst/>
            <a:gdLst/>
            <a:ahLst/>
            <a:cxnLst/>
            <a:rect r="r" b="b" t="t" l="l"/>
            <a:pathLst>
              <a:path h="203566" w="302700">
                <a:moveTo>
                  <a:pt x="0" y="0"/>
                </a:moveTo>
                <a:lnTo>
                  <a:pt x="302700" y="0"/>
                </a:lnTo>
                <a:lnTo>
                  <a:pt x="302700" y="203566"/>
                </a:lnTo>
                <a:lnTo>
                  <a:pt x="0" y="203566"/>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36" id="36"/>
          <p:cNvSpPr txBox="true"/>
          <p:nvPr/>
        </p:nvSpPr>
        <p:spPr>
          <a:xfrm rot="0">
            <a:off x="9647051" y="2729022"/>
            <a:ext cx="7106110" cy="1197047"/>
          </a:xfrm>
          <a:prstGeom prst="rect">
            <a:avLst/>
          </a:prstGeom>
        </p:spPr>
        <p:txBody>
          <a:bodyPr anchor="t" rtlCol="false" tIns="0" lIns="0" bIns="0" rIns="0">
            <a:spAutoFit/>
          </a:bodyPr>
          <a:lstStyle/>
          <a:p>
            <a:pPr algn="l" marL="0" indent="0" lvl="0">
              <a:lnSpc>
                <a:spcPts val="9811"/>
              </a:lnSpc>
              <a:spcBef>
                <a:spcPct val="0"/>
              </a:spcBef>
            </a:pPr>
            <a:r>
              <a:rPr lang="en-US" b="true" sz="7008">
                <a:solidFill>
                  <a:srgbClr val="003E7E"/>
                </a:solidFill>
                <a:latin typeface="Helvetica Now Bold"/>
                <a:ea typeface="Helvetica Now Bold"/>
                <a:cs typeface="Helvetica Now Bold"/>
                <a:sym typeface="Helvetica Now Bold"/>
              </a:rPr>
              <a:t>KEY</a:t>
            </a:r>
          </a:p>
        </p:txBody>
      </p:sp>
      <p:sp>
        <p:nvSpPr>
          <p:cNvPr name="TextBox 37" id="37"/>
          <p:cNvSpPr txBox="true"/>
          <p:nvPr/>
        </p:nvSpPr>
        <p:spPr>
          <a:xfrm rot="0">
            <a:off x="9647051" y="3792593"/>
            <a:ext cx="7106110" cy="1197047"/>
          </a:xfrm>
          <a:prstGeom prst="rect">
            <a:avLst/>
          </a:prstGeom>
        </p:spPr>
        <p:txBody>
          <a:bodyPr anchor="t" rtlCol="false" tIns="0" lIns="0" bIns="0" rIns="0">
            <a:spAutoFit/>
          </a:bodyPr>
          <a:lstStyle/>
          <a:p>
            <a:pPr algn="l" marL="0" indent="0" lvl="0">
              <a:lnSpc>
                <a:spcPts val="9811"/>
              </a:lnSpc>
              <a:spcBef>
                <a:spcPct val="0"/>
              </a:spcBef>
            </a:pPr>
            <a:r>
              <a:rPr lang="en-US" b="true" sz="7008">
                <a:solidFill>
                  <a:srgbClr val="000000"/>
                </a:solidFill>
                <a:latin typeface="Helvetica Now Bold"/>
                <a:ea typeface="Helvetica Now Bold"/>
                <a:cs typeface="Helvetica Now Bold"/>
                <a:sym typeface="Helvetica Now Bold"/>
              </a:rPr>
              <a:t>FEATURES</a:t>
            </a:r>
          </a:p>
        </p:txBody>
      </p:sp>
      <p:sp>
        <p:nvSpPr>
          <p:cNvPr name="TextBox 38" id="38"/>
          <p:cNvSpPr txBox="true"/>
          <p:nvPr/>
        </p:nvSpPr>
        <p:spPr>
          <a:xfrm rot="0">
            <a:off x="1534840" y="2321758"/>
            <a:ext cx="3220782" cy="764279"/>
          </a:xfrm>
          <a:prstGeom prst="rect">
            <a:avLst/>
          </a:prstGeom>
        </p:spPr>
        <p:txBody>
          <a:bodyPr anchor="t" rtlCol="false" tIns="0" lIns="0" bIns="0" rIns="0">
            <a:spAutoFit/>
          </a:bodyPr>
          <a:lstStyle/>
          <a:p>
            <a:pPr algn="l" marL="0" indent="0" lvl="0">
              <a:lnSpc>
                <a:spcPts val="3101"/>
              </a:lnSpc>
              <a:spcBef>
                <a:spcPct val="0"/>
              </a:spcBef>
            </a:pPr>
            <a:r>
              <a:rPr lang="en-US" b="true" sz="2215">
                <a:solidFill>
                  <a:srgbClr val="003E7E"/>
                </a:solidFill>
                <a:latin typeface="Public Sans Bold"/>
                <a:ea typeface="Public Sans Bold"/>
                <a:cs typeface="Public Sans Bold"/>
                <a:sym typeface="Public Sans Bold"/>
              </a:rPr>
              <a:t>Core Product Innovations</a:t>
            </a:r>
          </a:p>
        </p:txBody>
      </p:sp>
      <p:sp>
        <p:nvSpPr>
          <p:cNvPr name="TextBox 39" id="39"/>
          <p:cNvSpPr txBox="true"/>
          <p:nvPr/>
        </p:nvSpPr>
        <p:spPr>
          <a:xfrm rot="0">
            <a:off x="1534840" y="3666667"/>
            <a:ext cx="7106110" cy="989472"/>
          </a:xfrm>
          <a:prstGeom prst="rect">
            <a:avLst/>
          </a:prstGeom>
        </p:spPr>
        <p:txBody>
          <a:bodyPr anchor="t" rtlCol="false" tIns="0" lIns="0" bIns="0" rIns="0">
            <a:spAutoFit/>
          </a:bodyPr>
          <a:lstStyle/>
          <a:p>
            <a:pPr algn="l" marL="0" indent="0" lvl="0">
              <a:lnSpc>
                <a:spcPts val="2687"/>
              </a:lnSpc>
              <a:spcBef>
                <a:spcPct val="0"/>
              </a:spcBef>
            </a:pPr>
            <a:r>
              <a:rPr lang="en-US" sz="1919">
                <a:solidFill>
                  <a:srgbClr val="343434"/>
                </a:solidFill>
                <a:latin typeface="Public Sans"/>
                <a:ea typeface="Public Sans"/>
                <a:cs typeface="Public Sans"/>
                <a:sym typeface="Public Sans"/>
              </a:rPr>
              <a:t>AetherLink Glass is engineered around four breakthrough technologies that together deliver a seamless, discreet, and intelligent wearable experience for everyday use.</a:t>
            </a:r>
          </a:p>
        </p:txBody>
      </p:sp>
      <p:sp>
        <p:nvSpPr>
          <p:cNvPr name="TextBox 40" id="40"/>
          <p:cNvSpPr txBox="true"/>
          <p:nvPr/>
        </p:nvSpPr>
        <p:spPr>
          <a:xfrm rot="0">
            <a:off x="3027434" y="735202"/>
            <a:ext cx="1285113" cy="422341"/>
          </a:xfrm>
          <a:prstGeom prst="rect">
            <a:avLst/>
          </a:prstGeom>
        </p:spPr>
        <p:txBody>
          <a:bodyPr anchor="t" rtlCol="false" tIns="0" lIns="0" bIns="0" rIns="0">
            <a:spAutoFit/>
          </a:bodyPr>
          <a:lstStyle/>
          <a:p>
            <a:pPr algn="l" marL="0" indent="0" lvl="0">
              <a:lnSpc>
                <a:spcPts val="1680"/>
              </a:lnSpc>
              <a:spcBef>
                <a:spcPct val="0"/>
              </a:spcBef>
            </a:pPr>
            <a:r>
              <a:rPr lang="en-US" sz="1200">
                <a:solidFill>
                  <a:srgbClr val="000000"/>
                </a:solidFill>
                <a:latin typeface="Public Sans"/>
                <a:ea typeface="Public Sans"/>
                <a:cs typeface="Public Sans"/>
                <a:sym typeface="Public Sans"/>
              </a:rPr>
              <a:t>Keithston and Partners</a:t>
            </a:r>
          </a:p>
        </p:txBody>
      </p:sp>
      <p:sp>
        <p:nvSpPr>
          <p:cNvPr name="TextBox 41" id="41"/>
          <p:cNvSpPr txBox="true"/>
          <p:nvPr/>
        </p:nvSpPr>
        <p:spPr>
          <a:xfrm rot="0">
            <a:off x="2879957" y="7830187"/>
            <a:ext cx="4506356" cy="1009650"/>
          </a:xfrm>
          <a:prstGeom prst="rect">
            <a:avLst/>
          </a:prstGeom>
        </p:spPr>
        <p:txBody>
          <a:bodyPr anchor="t" rtlCol="false" tIns="0" lIns="0" bIns="0" rIns="0">
            <a:spAutoFit/>
          </a:bodyPr>
          <a:lstStyle/>
          <a:p>
            <a:pPr algn="l" marL="0" indent="0" lvl="0">
              <a:lnSpc>
                <a:spcPts val="2658"/>
              </a:lnSpc>
            </a:pPr>
            <a:r>
              <a:rPr lang="en-US" b="true" sz="2215">
                <a:solidFill>
                  <a:srgbClr val="003E7E"/>
                </a:solidFill>
                <a:latin typeface="Public Sans Bold"/>
                <a:ea typeface="Public Sans Bold"/>
                <a:cs typeface="Public Sans Bold"/>
                <a:sym typeface="Public Sans Bold"/>
              </a:rPr>
              <a:t>Live Language Assist</a:t>
            </a:r>
          </a:p>
          <a:p>
            <a:pPr algn="l" marL="0" indent="0" lvl="0">
              <a:lnSpc>
                <a:spcPts val="2658"/>
              </a:lnSpc>
            </a:pPr>
            <a:r>
              <a:rPr lang="en-US" b="true" sz="2215">
                <a:solidFill>
                  <a:srgbClr val="003E7E"/>
                </a:solidFill>
                <a:latin typeface="Public Sans Bold"/>
                <a:ea typeface="Public Sans Bold"/>
                <a:cs typeface="Public Sans Bold"/>
                <a:sym typeface="Public Sans Bold"/>
              </a:rPr>
              <a:t>Real-time captioning and multilingual translation</a:t>
            </a:r>
          </a:p>
        </p:txBody>
      </p:sp>
      <p:sp>
        <p:nvSpPr>
          <p:cNvPr name="TextBox 42" id="42"/>
          <p:cNvSpPr txBox="true"/>
          <p:nvPr/>
        </p:nvSpPr>
        <p:spPr>
          <a:xfrm rot="0">
            <a:off x="10974796" y="7830187"/>
            <a:ext cx="4523323" cy="1009650"/>
          </a:xfrm>
          <a:prstGeom prst="rect">
            <a:avLst/>
          </a:prstGeom>
        </p:spPr>
        <p:txBody>
          <a:bodyPr anchor="t" rtlCol="false" tIns="0" lIns="0" bIns="0" rIns="0">
            <a:spAutoFit/>
          </a:bodyPr>
          <a:lstStyle/>
          <a:p>
            <a:pPr algn="l" marL="0" indent="0" lvl="0">
              <a:lnSpc>
                <a:spcPts val="2658"/>
              </a:lnSpc>
            </a:pPr>
            <a:r>
              <a:rPr lang="en-US" b="true" sz="2215">
                <a:solidFill>
                  <a:srgbClr val="003E7E"/>
                </a:solidFill>
                <a:latin typeface="Public Sans Bold"/>
                <a:ea typeface="Public Sans Bold"/>
                <a:cs typeface="Public Sans Bold"/>
                <a:sym typeface="Public Sans Bold"/>
              </a:rPr>
              <a:t>WhisperAudio Interface</a:t>
            </a:r>
          </a:p>
          <a:p>
            <a:pPr algn="l" marL="0" indent="0" lvl="0">
              <a:lnSpc>
                <a:spcPts val="2658"/>
              </a:lnSpc>
            </a:pPr>
            <a:r>
              <a:rPr lang="en-US" b="true" sz="2215">
                <a:solidFill>
                  <a:srgbClr val="003E7E"/>
                </a:solidFill>
                <a:latin typeface="Public Sans Bold"/>
                <a:ea typeface="Public Sans Bold"/>
                <a:cs typeface="Public Sans Bold"/>
                <a:sym typeface="Public Sans Bold"/>
              </a:rPr>
              <a:t>Directional speakers for private, hands-free audio</a:t>
            </a:r>
          </a:p>
        </p:txBody>
      </p:sp>
      <p:sp>
        <p:nvSpPr>
          <p:cNvPr name="TextBox 43" id="43"/>
          <p:cNvSpPr txBox="true"/>
          <p:nvPr/>
        </p:nvSpPr>
        <p:spPr>
          <a:xfrm rot="0">
            <a:off x="2879957" y="6236085"/>
            <a:ext cx="5451311" cy="1009650"/>
          </a:xfrm>
          <a:prstGeom prst="rect">
            <a:avLst/>
          </a:prstGeom>
        </p:spPr>
        <p:txBody>
          <a:bodyPr anchor="t" rtlCol="false" tIns="0" lIns="0" bIns="0" rIns="0">
            <a:spAutoFit/>
          </a:bodyPr>
          <a:lstStyle/>
          <a:p>
            <a:pPr algn="l" marL="0" indent="0" lvl="0">
              <a:lnSpc>
                <a:spcPts val="2658"/>
              </a:lnSpc>
            </a:pPr>
            <a:r>
              <a:rPr lang="en-US" b="true" sz="2215">
                <a:solidFill>
                  <a:srgbClr val="003E7E"/>
                </a:solidFill>
                <a:latin typeface="Public Sans Bold"/>
                <a:ea typeface="Public Sans Bold"/>
                <a:cs typeface="Public Sans Bold"/>
                <a:sym typeface="Public Sans Bold"/>
              </a:rPr>
              <a:t>GlanceView Display System</a:t>
            </a:r>
          </a:p>
          <a:p>
            <a:pPr algn="l" marL="0" indent="0" lvl="0">
              <a:lnSpc>
                <a:spcPts val="2658"/>
              </a:lnSpc>
            </a:pPr>
            <a:r>
              <a:rPr lang="en-US" b="true" sz="2215">
                <a:solidFill>
                  <a:srgbClr val="003E7E"/>
                </a:solidFill>
                <a:latin typeface="Public Sans Bold"/>
                <a:ea typeface="Public Sans Bold"/>
                <a:cs typeface="Public Sans Bold"/>
                <a:sym typeface="Public Sans Bold"/>
              </a:rPr>
              <a:t>Transparent micro-projection for crisp, always-on overlays</a:t>
            </a:r>
          </a:p>
        </p:txBody>
      </p:sp>
      <p:sp>
        <p:nvSpPr>
          <p:cNvPr name="TextBox 44" id="44"/>
          <p:cNvSpPr txBox="true"/>
          <p:nvPr/>
        </p:nvSpPr>
        <p:spPr>
          <a:xfrm rot="0">
            <a:off x="10974796" y="6236085"/>
            <a:ext cx="4631196" cy="1009650"/>
          </a:xfrm>
          <a:prstGeom prst="rect">
            <a:avLst/>
          </a:prstGeom>
        </p:spPr>
        <p:txBody>
          <a:bodyPr anchor="t" rtlCol="false" tIns="0" lIns="0" bIns="0" rIns="0">
            <a:spAutoFit/>
          </a:bodyPr>
          <a:lstStyle/>
          <a:p>
            <a:pPr algn="l" marL="0" indent="0" lvl="0">
              <a:lnSpc>
                <a:spcPts val="2658"/>
              </a:lnSpc>
            </a:pPr>
            <a:r>
              <a:rPr lang="en-US" b="true" sz="2215">
                <a:solidFill>
                  <a:srgbClr val="003E7E"/>
                </a:solidFill>
                <a:latin typeface="Public Sans Bold"/>
                <a:ea typeface="Public Sans Bold"/>
                <a:cs typeface="Public Sans Bold"/>
                <a:sym typeface="Public Sans Bold"/>
              </a:rPr>
              <a:t>Context Engine</a:t>
            </a:r>
          </a:p>
          <a:p>
            <a:pPr algn="l" marL="0" indent="0" lvl="0">
              <a:lnSpc>
                <a:spcPts val="2658"/>
              </a:lnSpc>
            </a:pPr>
            <a:r>
              <a:rPr lang="en-US" b="true" sz="2215">
                <a:solidFill>
                  <a:srgbClr val="003E7E"/>
                </a:solidFill>
                <a:latin typeface="Public Sans Bold"/>
                <a:ea typeface="Public Sans Bold"/>
                <a:cs typeface="Public Sans Bold"/>
                <a:sym typeface="Public Sans Bold"/>
              </a:rPr>
              <a:t>Smart info timing and delivery based on your environment</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40109" t="-29261" r="0" b="-13027"/>
            </a:stretch>
          </a:blipFill>
        </p:spPr>
      </p:sp>
      <p:grpSp>
        <p:nvGrpSpPr>
          <p:cNvPr name="Group 3" id="3"/>
          <p:cNvGrpSpPr/>
          <p:nvPr/>
        </p:nvGrpSpPr>
        <p:grpSpPr>
          <a:xfrm rot="0">
            <a:off x="1534840" y="642100"/>
            <a:ext cx="1313931" cy="773201"/>
            <a:chOff x="0" y="0"/>
            <a:chExt cx="690612" cy="406400"/>
          </a:xfrm>
        </p:grpSpPr>
        <p:sp>
          <p:nvSpPr>
            <p:cNvPr name="Freeform 4" id="4"/>
            <p:cNvSpPr/>
            <p:nvPr/>
          </p:nvSpPr>
          <p:spPr>
            <a:xfrm flipH="false" flipV="false" rot="0">
              <a:off x="0" y="0"/>
              <a:ext cx="690612" cy="406400"/>
            </a:xfrm>
            <a:custGeom>
              <a:avLst/>
              <a:gdLst/>
              <a:ahLst/>
              <a:cxnLst/>
              <a:rect r="r" b="b" t="t" l="l"/>
              <a:pathLst>
                <a:path h="406400" w="690612">
                  <a:moveTo>
                    <a:pt x="487412" y="0"/>
                  </a:moveTo>
                  <a:cubicBezTo>
                    <a:pt x="599636" y="0"/>
                    <a:pt x="690612" y="90976"/>
                    <a:pt x="690612" y="203200"/>
                  </a:cubicBezTo>
                  <a:cubicBezTo>
                    <a:pt x="690612" y="315424"/>
                    <a:pt x="599636" y="406400"/>
                    <a:pt x="487412"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5" id="5"/>
            <p:cNvSpPr txBox="true"/>
            <p:nvPr/>
          </p:nvSpPr>
          <p:spPr>
            <a:xfrm>
              <a:off x="0" y="-57150"/>
              <a:ext cx="690612" cy="463550"/>
            </a:xfrm>
            <a:prstGeom prst="rect">
              <a:avLst/>
            </a:prstGeom>
          </p:spPr>
          <p:txBody>
            <a:bodyPr anchor="ctr" rtlCol="false" tIns="50800" lIns="50800" bIns="50800" rIns="50800"/>
            <a:lstStyle/>
            <a:p>
              <a:pPr algn="ctr" marL="0" indent="0" lvl="0">
                <a:lnSpc>
                  <a:spcPts val="3428"/>
                </a:lnSpc>
              </a:pPr>
            </a:p>
          </p:txBody>
        </p:sp>
      </p:grpSp>
      <p:sp>
        <p:nvSpPr>
          <p:cNvPr name="Freeform 6" id="6"/>
          <p:cNvSpPr/>
          <p:nvPr/>
        </p:nvSpPr>
        <p:spPr>
          <a:xfrm flipH="false" flipV="false" rot="0">
            <a:off x="1886092" y="789479"/>
            <a:ext cx="611427" cy="478441"/>
          </a:xfrm>
          <a:custGeom>
            <a:avLst/>
            <a:gdLst/>
            <a:ahLst/>
            <a:cxnLst/>
            <a:rect r="r" b="b" t="t" l="l"/>
            <a:pathLst>
              <a:path h="478441" w="611427">
                <a:moveTo>
                  <a:pt x="0" y="0"/>
                </a:moveTo>
                <a:lnTo>
                  <a:pt x="611427" y="0"/>
                </a:lnTo>
                <a:lnTo>
                  <a:pt x="611427" y="478442"/>
                </a:lnTo>
                <a:lnTo>
                  <a:pt x="0" y="478442"/>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7" id="7"/>
          <p:cNvSpPr txBox="true"/>
          <p:nvPr/>
        </p:nvSpPr>
        <p:spPr>
          <a:xfrm rot="0">
            <a:off x="3027434" y="725677"/>
            <a:ext cx="1285113" cy="567975"/>
          </a:xfrm>
          <a:prstGeom prst="rect">
            <a:avLst/>
          </a:prstGeom>
        </p:spPr>
        <p:txBody>
          <a:bodyPr anchor="t" rtlCol="false" tIns="0" lIns="0" bIns="0" rIns="0">
            <a:spAutoFit/>
          </a:bodyPr>
          <a:lstStyle/>
          <a:p>
            <a:pPr algn="l" marL="0" indent="0" lvl="0">
              <a:lnSpc>
                <a:spcPts val="2272"/>
              </a:lnSpc>
              <a:spcBef>
                <a:spcPct val="0"/>
              </a:spcBef>
            </a:pPr>
            <a:r>
              <a:rPr lang="en-US" sz="1623">
                <a:solidFill>
                  <a:srgbClr val="000000"/>
                </a:solidFill>
                <a:latin typeface="Public Sans"/>
                <a:ea typeface="Public Sans"/>
                <a:cs typeface="Public Sans"/>
                <a:sym typeface="Public Sans"/>
              </a:rPr>
              <a:t>AetherLink Glass</a:t>
            </a:r>
          </a:p>
        </p:txBody>
      </p:sp>
      <p:sp>
        <p:nvSpPr>
          <p:cNvPr name="TextBox 8" id="8"/>
          <p:cNvSpPr txBox="true"/>
          <p:nvPr/>
        </p:nvSpPr>
        <p:spPr>
          <a:xfrm rot="0">
            <a:off x="1534840" y="2594148"/>
            <a:ext cx="6438323" cy="1067243"/>
          </a:xfrm>
          <a:prstGeom prst="rect">
            <a:avLst/>
          </a:prstGeom>
        </p:spPr>
        <p:txBody>
          <a:bodyPr anchor="t" rtlCol="false" tIns="0" lIns="0" bIns="0" rIns="0">
            <a:spAutoFit/>
          </a:bodyPr>
          <a:lstStyle/>
          <a:p>
            <a:pPr algn="l" marL="0" indent="0" lvl="0">
              <a:lnSpc>
                <a:spcPts val="8754"/>
              </a:lnSpc>
              <a:spcBef>
                <a:spcPct val="0"/>
              </a:spcBef>
            </a:pPr>
            <a:r>
              <a:rPr lang="en-US" b="true" sz="6252">
                <a:solidFill>
                  <a:srgbClr val="003E7E"/>
                </a:solidFill>
                <a:latin typeface="Helvetica Now Bold"/>
                <a:ea typeface="Helvetica Now Bold"/>
                <a:cs typeface="Helvetica Now Bold"/>
                <a:sym typeface="Helvetica Now Bold"/>
              </a:rPr>
              <a:t>HARDWARE</a:t>
            </a:r>
          </a:p>
        </p:txBody>
      </p:sp>
      <p:sp>
        <p:nvSpPr>
          <p:cNvPr name="TextBox 9" id="9"/>
          <p:cNvSpPr txBox="true"/>
          <p:nvPr/>
        </p:nvSpPr>
        <p:spPr>
          <a:xfrm rot="0">
            <a:off x="1534840" y="3657720"/>
            <a:ext cx="6438323" cy="1067243"/>
          </a:xfrm>
          <a:prstGeom prst="rect">
            <a:avLst/>
          </a:prstGeom>
        </p:spPr>
        <p:txBody>
          <a:bodyPr anchor="t" rtlCol="false" tIns="0" lIns="0" bIns="0" rIns="0">
            <a:spAutoFit/>
          </a:bodyPr>
          <a:lstStyle/>
          <a:p>
            <a:pPr algn="l" marL="0" indent="0" lvl="0">
              <a:lnSpc>
                <a:spcPts val="8754"/>
              </a:lnSpc>
              <a:spcBef>
                <a:spcPct val="0"/>
              </a:spcBef>
            </a:pPr>
            <a:r>
              <a:rPr lang="en-US" b="true" sz="6252">
                <a:solidFill>
                  <a:srgbClr val="000000"/>
                </a:solidFill>
                <a:latin typeface="Helvetica Now Bold"/>
                <a:ea typeface="Helvetica Now Bold"/>
                <a:cs typeface="Helvetica Now Bold"/>
                <a:sym typeface="Helvetica Now Bold"/>
              </a:rPr>
              <a:t>SPECIFICATIONS</a:t>
            </a:r>
          </a:p>
        </p:txBody>
      </p:sp>
      <p:sp>
        <p:nvSpPr>
          <p:cNvPr name="TextBox 10" id="10"/>
          <p:cNvSpPr txBox="true"/>
          <p:nvPr/>
        </p:nvSpPr>
        <p:spPr>
          <a:xfrm rot="0">
            <a:off x="1534840" y="5670181"/>
            <a:ext cx="2890463" cy="1049477"/>
          </a:xfrm>
          <a:prstGeom prst="rect">
            <a:avLst/>
          </a:prstGeom>
        </p:spPr>
        <p:txBody>
          <a:bodyPr anchor="t" rtlCol="false" tIns="0" lIns="0" bIns="0" rIns="0">
            <a:spAutoFit/>
          </a:bodyPr>
          <a:lstStyle/>
          <a:p>
            <a:pPr algn="l" marL="0" indent="0" lvl="0">
              <a:lnSpc>
                <a:spcPts val="4194"/>
              </a:lnSpc>
              <a:spcBef>
                <a:spcPct val="0"/>
              </a:spcBef>
            </a:pPr>
            <a:r>
              <a:rPr lang="en-US" b="true" sz="2996">
                <a:solidFill>
                  <a:srgbClr val="003E7E"/>
                </a:solidFill>
                <a:latin typeface="Public Sans Bold"/>
                <a:ea typeface="Public Sans Bold"/>
                <a:cs typeface="Public Sans Bold"/>
                <a:sym typeface="Public Sans Bold"/>
              </a:rPr>
              <a:t>Engineered for All-Day Wear</a:t>
            </a:r>
          </a:p>
        </p:txBody>
      </p:sp>
      <p:sp>
        <p:nvSpPr>
          <p:cNvPr name="TextBox 11" id="11"/>
          <p:cNvSpPr txBox="true"/>
          <p:nvPr/>
        </p:nvSpPr>
        <p:spPr>
          <a:xfrm rot="0">
            <a:off x="1534840" y="7024615"/>
            <a:ext cx="5694383" cy="1989631"/>
          </a:xfrm>
          <a:prstGeom prst="rect">
            <a:avLst/>
          </a:prstGeom>
        </p:spPr>
        <p:txBody>
          <a:bodyPr anchor="t" rtlCol="false" tIns="0" lIns="0" bIns="0" rIns="0">
            <a:spAutoFit/>
          </a:bodyPr>
          <a:lstStyle/>
          <a:p>
            <a:pPr algn="l" marL="0" indent="0" lvl="0">
              <a:lnSpc>
                <a:spcPts val="2685"/>
              </a:lnSpc>
              <a:spcBef>
                <a:spcPct val="0"/>
              </a:spcBef>
            </a:pPr>
            <a:r>
              <a:rPr lang="en-US" sz="1918">
                <a:solidFill>
                  <a:srgbClr val="343434"/>
                </a:solidFill>
                <a:latin typeface="Public Sans"/>
                <a:ea typeface="Public Sans"/>
                <a:cs typeface="Public Sans"/>
                <a:sym typeface="Public Sans"/>
              </a:rPr>
              <a:t>Weight: 42–48g — barely there comfort</a:t>
            </a:r>
          </a:p>
          <a:p>
            <a:pPr algn="l" marL="0" indent="0" lvl="0">
              <a:lnSpc>
                <a:spcPts val="2685"/>
              </a:lnSpc>
              <a:spcBef>
                <a:spcPct val="0"/>
              </a:spcBef>
            </a:pPr>
            <a:r>
              <a:rPr lang="en-US" sz="1918">
                <a:solidFill>
                  <a:srgbClr val="343434"/>
                </a:solidFill>
                <a:latin typeface="Public Sans"/>
                <a:ea typeface="Public Sans"/>
                <a:cs typeface="Public Sans"/>
                <a:sym typeface="Public Sans"/>
              </a:rPr>
              <a:t>Battery Life: 9–12 hours continuous use</a:t>
            </a:r>
          </a:p>
          <a:p>
            <a:pPr algn="l" marL="0" indent="0" lvl="0">
              <a:lnSpc>
                <a:spcPts val="2685"/>
              </a:lnSpc>
              <a:spcBef>
                <a:spcPct val="0"/>
              </a:spcBef>
            </a:pPr>
            <a:r>
              <a:rPr lang="en-US" sz="1918">
                <a:solidFill>
                  <a:srgbClr val="343434"/>
                </a:solidFill>
                <a:latin typeface="Public Sans"/>
                <a:ea typeface="Public Sans"/>
                <a:cs typeface="Public Sans"/>
                <a:sym typeface="Public Sans"/>
              </a:rPr>
              <a:t>Transparent waveguide display</a:t>
            </a:r>
          </a:p>
          <a:p>
            <a:pPr algn="l" marL="0" indent="0" lvl="0">
              <a:lnSpc>
                <a:spcPts val="2685"/>
              </a:lnSpc>
              <a:spcBef>
                <a:spcPct val="0"/>
              </a:spcBef>
            </a:pPr>
            <a:r>
              <a:rPr lang="en-US" sz="1918">
                <a:solidFill>
                  <a:srgbClr val="343434"/>
                </a:solidFill>
                <a:latin typeface="Public Sans"/>
                <a:ea typeface="Public Sans"/>
                <a:cs typeface="Public Sans"/>
                <a:sym typeface="Public Sans"/>
              </a:rPr>
              <a:t>Dual directional WhisperAudio speakers</a:t>
            </a:r>
          </a:p>
          <a:p>
            <a:pPr algn="l" marL="0" indent="0" lvl="0">
              <a:lnSpc>
                <a:spcPts val="2685"/>
              </a:lnSpc>
              <a:spcBef>
                <a:spcPct val="0"/>
              </a:spcBef>
            </a:pPr>
            <a:r>
              <a:rPr lang="en-US" sz="1918">
                <a:solidFill>
                  <a:srgbClr val="343434"/>
                </a:solidFill>
                <a:latin typeface="Public Sans"/>
                <a:ea typeface="Public Sans"/>
                <a:cs typeface="Public Sans"/>
                <a:sym typeface="Public Sans"/>
              </a:rPr>
              <a:t>9-axis motion sensing</a:t>
            </a:r>
          </a:p>
          <a:p>
            <a:pPr algn="l" marL="0" indent="0" lvl="0">
              <a:lnSpc>
                <a:spcPts val="2685"/>
              </a:lnSpc>
              <a:spcBef>
                <a:spcPct val="0"/>
              </a:spcBef>
            </a:pPr>
            <a:r>
              <a:rPr lang="en-US" sz="1918">
                <a:solidFill>
                  <a:srgbClr val="343434"/>
                </a:solidFill>
                <a:latin typeface="Public Sans"/>
                <a:ea typeface="Public Sans"/>
                <a:cs typeface="Public Sans"/>
                <a:sym typeface="Public Sans"/>
              </a:rPr>
              <a:t>Connectivity: Bluetooth LE &amp; Wi-Fi</a:t>
            </a:r>
          </a:p>
        </p:txBody>
      </p:sp>
      <p:sp>
        <p:nvSpPr>
          <p:cNvPr name="Freeform 12" id="12"/>
          <p:cNvSpPr/>
          <p:nvPr/>
        </p:nvSpPr>
        <p:spPr>
          <a:xfrm flipH="false" flipV="false" rot="0">
            <a:off x="12597804" y="-106052"/>
            <a:ext cx="5690196" cy="10393052"/>
          </a:xfrm>
          <a:custGeom>
            <a:avLst/>
            <a:gdLst/>
            <a:ahLst/>
            <a:cxnLst/>
            <a:rect r="r" b="b" t="t" l="l"/>
            <a:pathLst>
              <a:path h="10393052" w="5690196">
                <a:moveTo>
                  <a:pt x="0" y="0"/>
                </a:moveTo>
                <a:lnTo>
                  <a:pt x="5690196" y="0"/>
                </a:lnTo>
                <a:lnTo>
                  <a:pt x="5690196" y="10393052"/>
                </a:lnTo>
                <a:lnTo>
                  <a:pt x="0" y="10393052"/>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13" id="13"/>
          <p:cNvGrpSpPr/>
          <p:nvPr/>
        </p:nvGrpSpPr>
        <p:grpSpPr>
          <a:xfrm rot="0">
            <a:off x="9932096" y="1415300"/>
            <a:ext cx="8837874" cy="9289510"/>
            <a:chOff x="0" y="0"/>
            <a:chExt cx="1369218" cy="1439188"/>
          </a:xfrm>
        </p:grpSpPr>
        <p:sp>
          <p:nvSpPr>
            <p:cNvPr name="Freeform 14" id="14"/>
            <p:cNvSpPr/>
            <p:nvPr/>
          </p:nvSpPr>
          <p:spPr>
            <a:xfrm flipH="false" flipV="false" rot="0">
              <a:off x="0" y="0"/>
              <a:ext cx="1369218" cy="1439188"/>
            </a:xfrm>
            <a:custGeom>
              <a:avLst/>
              <a:gdLst/>
              <a:ahLst/>
              <a:cxnLst/>
              <a:rect r="r" b="b" t="t" l="l"/>
              <a:pathLst>
                <a:path h="1439188" w="1369218">
                  <a:moveTo>
                    <a:pt x="35040" y="0"/>
                  </a:moveTo>
                  <a:lnTo>
                    <a:pt x="1334178" y="0"/>
                  </a:lnTo>
                  <a:cubicBezTo>
                    <a:pt x="1343471" y="0"/>
                    <a:pt x="1352384" y="3692"/>
                    <a:pt x="1358955" y="10263"/>
                  </a:cubicBezTo>
                  <a:cubicBezTo>
                    <a:pt x="1365526" y="16834"/>
                    <a:pt x="1369218" y="25747"/>
                    <a:pt x="1369218" y="35040"/>
                  </a:cubicBezTo>
                  <a:lnTo>
                    <a:pt x="1369218" y="1404148"/>
                  </a:lnTo>
                  <a:cubicBezTo>
                    <a:pt x="1369218" y="1413442"/>
                    <a:pt x="1365526" y="1422354"/>
                    <a:pt x="1358955" y="1428925"/>
                  </a:cubicBezTo>
                  <a:cubicBezTo>
                    <a:pt x="1352384" y="1435496"/>
                    <a:pt x="1343471" y="1439188"/>
                    <a:pt x="1334178" y="1439188"/>
                  </a:cubicBezTo>
                  <a:lnTo>
                    <a:pt x="35040" y="1439188"/>
                  </a:lnTo>
                  <a:cubicBezTo>
                    <a:pt x="25747" y="1439188"/>
                    <a:pt x="16834" y="1435496"/>
                    <a:pt x="10263" y="1428925"/>
                  </a:cubicBezTo>
                  <a:cubicBezTo>
                    <a:pt x="3692" y="1422354"/>
                    <a:pt x="0" y="1413442"/>
                    <a:pt x="0" y="1404148"/>
                  </a:cubicBezTo>
                  <a:lnTo>
                    <a:pt x="0" y="35040"/>
                  </a:lnTo>
                  <a:cubicBezTo>
                    <a:pt x="0" y="25747"/>
                    <a:pt x="3692" y="16834"/>
                    <a:pt x="10263" y="10263"/>
                  </a:cubicBezTo>
                  <a:cubicBezTo>
                    <a:pt x="16834" y="3692"/>
                    <a:pt x="25747" y="0"/>
                    <a:pt x="35040" y="0"/>
                  </a:cubicBezTo>
                  <a:close/>
                </a:path>
              </a:pathLst>
            </a:custGeom>
            <a:blipFill>
              <a:blip r:embed="rId7"/>
              <a:stretch>
                <a:fillRect l="-2555" t="0" r="-2555" b="0"/>
              </a:stretch>
            </a:blipFill>
          </p:spPr>
        </p:sp>
      </p:gr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40109" t="-29261" r="0" b="-13027"/>
            </a:stretch>
          </a:blipFill>
        </p:spPr>
      </p:sp>
      <p:grpSp>
        <p:nvGrpSpPr>
          <p:cNvPr name="Group 3" id="3"/>
          <p:cNvGrpSpPr/>
          <p:nvPr/>
        </p:nvGrpSpPr>
        <p:grpSpPr>
          <a:xfrm rot="0">
            <a:off x="1534840" y="642100"/>
            <a:ext cx="1313931" cy="773201"/>
            <a:chOff x="0" y="0"/>
            <a:chExt cx="690612" cy="406400"/>
          </a:xfrm>
        </p:grpSpPr>
        <p:sp>
          <p:nvSpPr>
            <p:cNvPr name="Freeform 4" id="4"/>
            <p:cNvSpPr/>
            <p:nvPr/>
          </p:nvSpPr>
          <p:spPr>
            <a:xfrm flipH="false" flipV="false" rot="0">
              <a:off x="0" y="0"/>
              <a:ext cx="690612" cy="406400"/>
            </a:xfrm>
            <a:custGeom>
              <a:avLst/>
              <a:gdLst/>
              <a:ahLst/>
              <a:cxnLst/>
              <a:rect r="r" b="b" t="t" l="l"/>
              <a:pathLst>
                <a:path h="406400" w="690612">
                  <a:moveTo>
                    <a:pt x="487412" y="0"/>
                  </a:moveTo>
                  <a:cubicBezTo>
                    <a:pt x="599636" y="0"/>
                    <a:pt x="690612" y="90976"/>
                    <a:pt x="690612" y="203200"/>
                  </a:cubicBezTo>
                  <a:cubicBezTo>
                    <a:pt x="690612" y="315424"/>
                    <a:pt x="599636" y="406400"/>
                    <a:pt x="487412"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5" id="5"/>
            <p:cNvSpPr txBox="true"/>
            <p:nvPr/>
          </p:nvSpPr>
          <p:spPr>
            <a:xfrm>
              <a:off x="0" y="-57150"/>
              <a:ext cx="690612" cy="463550"/>
            </a:xfrm>
            <a:prstGeom prst="rect">
              <a:avLst/>
            </a:prstGeom>
          </p:spPr>
          <p:txBody>
            <a:bodyPr anchor="ctr" rtlCol="false" tIns="50800" lIns="50800" bIns="50800" rIns="50800"/>
            <a:lstStyle/>
            <a:p>
              <a:pPr algn="ctr" marL="0" indent="0" lvl="0">
                <a:lnSpc>
                  <a:spcPts val="3428"/>
                </a:lnSpc>
              </a:pPr>
            </a:p>
          </p:txBody>
        </p:sp>
      </p:grpSp>
      <p:sp>
        <p:nvSpPr>
          <p:cNvPr name="Freeform 6" id="6"/>
          <p:cNvSpPr/>
          <p:nvPr/>
        </p:nvSpPr>
        <p:spPr>
          <a:xfrm flipH="false" flipV="false" rot="0">
            <a:off x="1886092" y="789479"/>
            <a:ext cx="611427" cy="478441"/>
          </a:xfrm>
          <a:custGeom>
            <a:avLst/>
            <a:gdLst/>
            <a:ahLst/>
            <a:cxnLst/>
            <a:rect r="r" b="b" t="t" l="l"/>
            <a:pathLst>
              <a:path h="478441" w="611427">
                <a:moveTo>
                  <a:pt x="0" y="0"/>
                </a:moveTo>
                <a:lnTo>
                  <a:pt x="611427" y="0"/>
                </a:lnTo>
                <a:lnTo>
                  <a:pt x="611427" y="478442"/>
                </a:lnTo>
                <a:lnTo>
                  <a:pt x="0" y="478442"/>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7" id="7"/>
          <p:cNvSpPr txBox="true"/>
          <p:nvPr/>
        </p:nvSpPr>
        <p:spPr>
          <a:xfrm rot="0">
            <a:off x="3027434" y="725677"/>
            <a:ext cx="1285113" cy="515184"/>
          </a:xfrm>
          <a:prstGeom prst="rect">
            <a:avLst/>
          </a:prstGeom>
        </p:spPr>
        <p:txBody>
          <a:bodyPr anchor="t" rtlCol="false" tIns="0" lIns="0" bIns="0" rIns="0">
            <a:spAutoFit/>
          </a:bodyPr>
          <a:lstStyle/>
          <a:p>
            <a:pPr algn="l" marL="0" indent="0" lvl="0">
              <a:lnSpc>
                <a:spcPts val="2034"/>
              </a:lnSpc>
              <a:spcBef>
                <a:spcPct val="0"/>
              </a:spcBef>
            </a:pPr>
            <a:r>
              <a:rPr lang="en-US" sz="1452">
                <a:solidFill>
                  <a:srgbClr val="000000"/>
                </a:solidFill>
                <a:latin typeface="Public Sans"/>
                <a:ea typeface="Public Sans"/>
                <a:cs typeface="Public Sans"/>
                <a:sym typeface="Public Sans"/>
              </a:rPr>
              <a:t>Keithston and Partners</a:t>
            </a:r>
          </a:p>
        </p:txBody>
      </p:sp>
      <p:sp>
        <p:nvSpPr>
          <p:cNvPr name="TextBox 8" id="8"/>
          <p:cNvSpPr txBox="true"/>
          <p:nvPr/>
        </p:nvSpPr>
        <p:spPr>
          <a:xfrm rot="0">
            <a:off x="4648566" y="1301000"/>
            <a:ext cx="8990869" cy="1069357"/>
          </a:xfrm>
          <a:prstGeom prst="rect">
            <a:avLst/>
          </a:prstGeom>
        </p:spPr>
        <p:txBody>
          <a:bodyPr anchor="t" rtlCol="false" tIns="0" lIns="0" bIns="0" rIns="0">
            <a:spAutoFit/>
          </a:bodyPr>
          <a:lstStyle/>
          <a:p>
            <a:pPr algn="ctr" marL="0" indent="0" lvl="0">
              <a:lnSpc>
                <a:spcPts val="8784"/>
              </a:lnSpc>
              <a:spcBef>
                <a:spcPct val="0"/>
              </a:spcBef>
            </a:pPr>
            <a:r>
              <a:rPr lang="en-US" b="true" sz="6274">
                <a:solidFill>
                  <a:srgbClr val="003E7E"/>
                </a:solidFill>
                <a:latin typeface="Helvetica Now Bold"/>
                <a:ea typeface="Helvetica Now Bold"/>
                <a:cs typeface="Helvetica Now Bold"/>
                <a:sym typeface="Helvetica Now Bold"/>
              </a:rPr>
              <a:t>TARGET CUSTOMERS</a:t>
            </a:r>
          </a:p>
        </p:txBody>
      </p:sp>
      <p:sp>
        <p:nvSpPr>
          <p:cNvPr name="TextBox 9" id="9"/>
          <p:cNvSpPr txBox="true"/>
          <p:nvPr/>
        </p:nvSpPr>
        <p:spPr>
          <a:xfrm rot="0">
            <a:off x="6444397" y="2986244"/>
            <a:ext cx="5399206" cy="465271"/>
          </a:xfrm>
          <a:prstGeom prst="rect">
            <a:avLst/>
          </a:prstGeom>
        </p:spPr>
        <p:txBody>
          <a:bodyPr anchor="t" rtlCol="false" tIns="0" lIns="0" bIns="0" rIns="0">
            <a:spAutoFit/>
          </a:bodyPr>
          <a:lstStyle/>
          <a:p>
            <a:pPr algn="ctr" marL="0" indent="0" lvl="0">
              <a:lnSpc>
                <a:spcPts val="3755"/>
              </a:lnSpc>
              <a:spcBef>
                <a:spcPct val="0"/>
              </a:spcBef>
            </a:pPr>
            <a:r>
              <a:rPr lang="en-US" b="true" sz="2682">
                <a:solidFill>
                  <a:srgbClr val="003E7E"/>
                </a:solidFill>
                <a:latin typeface="Public Sans Bold"/>
                <a:ea typeface="Public Sans Bold"/>
                <a:cs typeface="Public Sans Bold"/>
                <a:sym typeface="Public Sans Bold"/>
              </a:rPr>
              <a:t>Who AetherLink Glass Is Built For</a:t>
            </a:r>
          </a:p>
        </p:txBody>
      </p:sp>
      <p:sp>
        <p:nvSpPr>
          <p:cNvPr name="TextBox 10" id="10"/>
          <p:cNvSpPr txBox="true"/>
          <p:nvPr/>
        </p:nvSpPr>
        <p:spPr>
          <a:xfrm rot="0">
            <a:off x="4313110" y="3658699"/>
            <a:ext cx="9661781" cy="613610"/>
          </a:xfrm>
          <a:prstGeom prst="rect">
            <a:avLst/>
          </a:prstGeom>
        </p:spPr>
        <p:txBody>
          <a:bodyPr anchor="t" rtlCol="false" tIns="0" lIns="0" bIns="0" rIns="0">
            <a:spAutoFit/>
          </a:bodyPr>
          <a:lstStyle/>
          <a:p>
            <a:pPr algn="ctr" marL="0" indent="0" lvl="0">
              <a:lnSpc>
                <a:spcPts val="2403"/>
              </a:lnSpc>
              <a:spcBef>
                <a:spcPct val="0"/>
              </a:spcBef>
            </a:pPr>
            <a:r>
              <a:rPr lang="en-US" sz="1717">
                <a:solidFill>
                  <a:srgbClr val="343434"/>
                </a:solidFill>
                <a:latin typeface="Public Sans"/>
                <a:ea typeface="Public Sans"/>
                <a:cs typeface="Public Sans"/>
                <a:sym typeface="Public Sans"/>
              </a:rPr>
              <a:t>AetherLink Glass is designed for forward-thinking individuals and organizations who demand smarter, more discreet access to information in their daily and professional lives.</a:t>
            </a:r>
          </a:p>
        </p:txBody>
      </p:sp>
      <p:grpSp>
        <p:nvGrpSpPr>
          <p:cNvPr name="Group 11" id="11"/>
          <p:cNvGrpSpPr/>
          <p:nvPr/>
        </p:nvGrpSpPr>
        <p:grpSpPr>
          <a:xfrm rot="0">
            <a:off x="1522293" y="5128036"/>
            <a:ext cx="830968" cy="830968"/>
            <a:chOff x="0" y="0"/>
            <a:chExt cx="406400" cy="406400"/>
          </a:xfrm>
        </p:grpSpPr>
        <p:sp>
          <p:nvSpPr>
            <p:cNvPr name="Freeform 12" id="12"/>
            <p:cNvSpPr/>
            <p:nvPr/>
          </p:nvSpPr>
          <p:spPr>
            <a:xfrm flipH="false" flipV="false" rot="0">
              <a:off x="0" y="0"/>
              <a:ext cx="406400" cy="406400"/>
            </a:xfrm>
            <a:custGeom>
              <a:avLst/>
              <a:gdLst/>
              <a:ahLst/>
              <a:cxnLst/>
              <a:rect r="r" b="b" t="t" l="l"/>
              <a:pathLst>
                <a:path h="406400" w="406400">
                  <a:moveTo>
                    <a:pt x="203200" y="0"/>
                  </a:moveTo>
                  <a:cubicBezTo>
                    <a:pt x="315424" y="0"/>
                    <a:pt x="406400" y="90976"/>
                    <a:pt x="406400" y="203200"/>
                  </a:cubicBezTo>
                  <a:cubicBezTo>
                    <a:pt x="406400" y="315424"/>
                    <a:pt x="315424" y="406400"/>
                    <a:pt x="203200"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13" id="13"/>
            <p:cNvSpPr txBox="true"/>
            <p:nvPr/>
          </p:nvSpPr>
          <p:spPr>
            <a:xfrm>
              <a:off x="0" y="-57150"/>
              <a:ext cx="406400" cy="463550"/>
            </a:xfrm>
            <a:prstGeom prst="rect">
              <a:avLst/>
            </a:prstGeom>
          </p:spPr>
          <p:txBody>
            <a:bodyPr anchor="ctr" rtlCol="false" tIns="50800" lIns="50800" bIns="50800" rIns="50800"/>
            <a:lstStyle/>
            <a:p>
              <a:pPr algn="ctr" marL="0" indent="0" lvl="0">
                <a:lnSpc>
                  <a:spcPts val="3428"/>
                </a:lnSpc>
              </a:pPr>
            </a:p>
          </p:txBody>
        </p:sp>
      </p:grpSp>
      <p:grpSp>
        <p:nvGrpSpPr>
          <p:cNvPr name="Group 14" id="14"/>
          <p:cNvGrpSpPr/>
          <p:nvPr/>
        </p:nvGrpSpPr>
        <p:grpSpPr>
          <a:xfrm rot="0">
            <a:off x="9640475" y="5128036"/>
            <a:ext cx="830968" cy="830968"/>
            <a:chOff x="0" y="0"/>
            <a:chExt cx="406400" cy="406400"/>
          </a:xfrm>
        </p:grpSpPr>
        <p:sp>
          <p:nvSpPr>
            <p:cNvPr name="Freeform 15" id="15"/>
            <p:cNvSpPr/>
            <p:nvPr/>
          </p:nvSpPr>
          <p:spPr>
            <a:xfrm flipH="false" flipV="false" rot="0">
              <a:off x="0" y="0"/>
              <a:ext cx="406400" cy="406400"/>
            </a:xfrm>
            <a:custGeom>
              <a:avLst/>
              <a:gdLst/>
              <a:ahLst/>
              <a:cxnLst/>
              <a:rect r="r" b="b" t="t" l="l"/>
              <a:pathLst>
                <a:path h="406400" w="406400">
                  <a:moveTo>
                    <a:pt x="203200" y="0"/>
                  </a:moveTo>
                  <a:cubicBezTo>
                    <a:pt x="315424" y="0"/>
                    <a:pt x="406400" y="90976"/>
                    <a:pt x="406400" y="203200"/>
                  </a:cubicBezTo>
                  <a:cubicBezTo>
                    <a:pt x="406400" y="315424"/>
                    <a:pt x="315424" y="406400"/>
                    <a:pt x="203200"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16" id="16"/>
            <p:cNvSpPr txBox="true"/>
            <p:nvPr/>
          </p:nvSpPr>
          <p:spPr>
            <a:xfrm>
              <a:off x="0" y="-57150"/>
              <a:ext cx="406400" cy="463550"/>
            </a:xfrm>
            <a:prstGeom prst="rect">
              <a:avLst/>
            </a:prstGeom>
          </p:spPr>
          <p:txBody>
            <a:bodyPr anchor="ctr" rtlCol="false" tIns="50800" lIns="50800" bIns="50800" rIns="50800"/>
            <a:lstStyle/>
            <a:p>
              <a:pPr algn="ctr" marL="0" indent="0" lvl="0">
                <a:lnSpc>
                  <a:spcPts val="3428"/>
                </a:lnSpc>
              </a:pPr>
            </a:p>
          </p:txBody>
        </p:sp>
      </p:grpSp>
      <p:grpSp>
        <p:nvGrpSpPr>
          <p:cNvPr name="Group 17" id="17"/>
          <p:cNvGrpSpPr/>
          <p:nvPr/>
        </p:nvGrpSpPr>
        <p:grpSpPr>
          <a:xfrm rot="0">
            <a:off x="1522293" y="7360375"/>
            <a:ext cx="830968" cy="830968"/>
            <a:chOff x="0" y="0"/>
            <a:chExt cx="406400" cy="406400"/>
          </a:xfrm>
        </p:grpSpPr>
        <p:sp>
          <p:nvSpPr>
            <p:cNvPr name="Freeform 18" id="18"/>
            <p:cNvSpPr/>
            <p:nvPr/>
          </p:nvSpPr>
          <p:spPr>
            <a:xfrm flipH="false" flipV="false" rot="0">
              <a:off x="0" y="0"/>
              <a:ext cx="406400" cy="406400"/>
            </a:xfrm>
            <a:custGeom>
              <a:avLst/>
              <a:gdLst/>
              <a:ahLst/>
              <a:cxnLst/>
              <a:rect r="r" b="b" t="t" l="l"/>
              <a:pathLst>
                <a:path h="406400" w="406400">
                  <a:moveTo>
                    <a:pt x="203200" y="0"/>
                  </a:moveTo>
                  <a:cubicBezTo>
                    <a:pt x="315424" y="0"/>
                    <a:pt x="406400" y="90976"/>
                    <a:pt x="406400" y="203200"/>
                  </a:cubicBezTo>
                  <a:cubicBezTo>
                    <a:pt x="406400" y="315424"/>
                    <a:pt x="315424" y="406400"/>
                    <a:pt x="203200"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19" id="19"/>
            <p:cNvSpPr txBox="true"/>
            <p:nvPr/>
          </p:nvSpPr>
          <p:spPr>
            <a:xfrm>
              <a:off x="0" y="-57150"/>
              <a:ext cx="406400" cy="463550"/>
            </a:xfrm>
            <a:prstGeom prst="rect">
              <a:avLst/>
            </a:prstGeom>
          </p:spPr>
          <p:txBody>
            <a:bodyPr anchor="ctr" rtlCol="false" tIns="50800" lIns="50800" bIns="50800" rIns="50800"/>
            <a:lstStyle/>
            <a:p>
              <a:pPr algn="ctr" marL="0" indent="0" lvl="0">
                <a:lnSpc>
                  <a:spcPts val="3428"/>
                </a:lnSpc>
              </a:pPr>
            </a:p>
          </p:txBody>
        </p:sp>
      </p:grpSp>
      <p:grpSp>
        <p:nvGrpSpPr>
          <p:cNvPr name="Group 20" id="20"/>
          <p:cNvGrpSpPr/>
          <p:nvPr/>
        </p:nvGrpSpPr>
        <p:grpSpPr>
          <a:xfrm rot="0">
            <a:off x="9640475" y="7360375"/>
            <a:ext cx="830968" cy="830968"/>
            <a:chOff x="0" y="0"/>
            <a:chExt cx="406400" cy="406400"/>
          </a:xfrm>
        </p:grpSpPr>
        <p:sp>
          <p:nvSpPr>
            <p:cNvPr name="Freeform 21" id="21"/>
            <p:cNvSpPr/>
            <p:nvPr/>
          </p:nvSpPr>
          <p:spPr>
            <a:xfrm flipH="false" flipV="false" rot="0">
              <a:off x="0" y="0"/>
              <a:ext cx="406400" cy="406400"/>
            </a:xfrm>
            <a:custGeom>
              <a:avLst/>
              <a:gdLst/>
              <a:ahLst/>
              <a:cxnLst/>
              <a:rect r="r" b="b" t="t" l="l"/>
              <a:pathLst>
                <a:path h="406400" w="406400">
                  <a:moveTo>
                    <a:pt x="203200" y="0"/>
                  </a:moveTo>
                  <a:cubicBezTo>
                    <a:pt x="315424" y="0"/>
                    <a:pt x="406400" y="90976"/>
                    <a:pt x="406400" y="203200"/>
                  </a:cubicBezTo>
                  <a:cubicBezTo>
                    <a:pt x="406400" y="315424"/>
                    <a:pt x="315424" y="406400"/>
                    <a:pt x="203200"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22" id="22"/>
            <p:cNvSpPr txBox="true"/>
            <p:nvPr/>
          </p:nvSpPr>
          <p:spPr>
            <a:xfrm>
              <a:off x="0" y="-57150"/>
              <a:ext cx="406400" cy="463550"/>
            </a:xfrm>
            <a:prstGeom prst="rect">
              <a:avLst/>
            </a:prstGeom>
          </p:spPr>
          <p:txBody>
            <a:bodyPr anchor="ctr" rtlCol="false" tIns="50800" lIns="50800" bIns="50800" rIns="50800"/>
            <a:lstStyle/>
            <a:p>
              <a:pPr algn="ctr" marL="0" indent="0" lvl="0">
                <a:lnSpc>
                  <a:spcPts val="3428"/>
                </a:lnSpc>
              </a:pPr>
            </a:p>
          </p:txBody>
        </p:sp>
      </p:grpSp>
      <p:sp>
        <p:nvSpPr>
          <p:cNvPr name="Freeform 23" id="23"/>
          <p:cNvSpPr/>
          <p:nvPr/>
        </p:nvSpPr>
        <p:spPr>
          <a:xfrm flipH="false" flipV="false" rot="0">
            <a:off x="1764727" y="5380421"/>
            <a:ext cx="346100" cy="326199"/>
          </a:xfrm>
          <a:custGeom>
            <a:avLst/>
            <a:gdLst/>
            <a:ahLst/>
            <a:cxnLst/>
            <a:rect r="r" b="b" t="t" l="l"/>
            <a:pathLst>
              <a:path h="326199" w="346100">
                <a:moveTo>
                  <a:pt x="0" y="0"/>
                </a:moveTo>
                <a:lnTo>
                  <a:pt x="346100" y="0"/>
                </a:lnTo>
                <a:lnTo>
                  <a:pt x="346100" y="326199"/>
                </a:lnTo>
                <a:lnTo>
                  <a:pt x="0" y="326199"/>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24" id="24"/>
          <p:cNvSpPr/>
          <p:nvPr/>
        </p:nvSpPr>
        <p:spPr>
          <a:xfrm flipH="false" flipV="false" rot="0">
            <a:off x="9882909" y="5380421"/>
            <a:ext cx="346100" cy="326199"/>
          </a:xfrm>
          <a:custGeom>
            <a:avLst/>
            <a:gdLst/>
            <a:ahLst/>
            <a:cxnLst/>
            <a:rect r="r" b="b" t="t" l="l"/>
            <a:pathLst>
              <a:path h="326199" w="346100">
                <a:moveTo>
                  <a:pt x="0" y="0"/>
                </a:moveTo>
                <a:lnTo>
                  <a:pt x="346100" y="0"/>
                </a:lnTo>
                <a:lnTo>
                  <a:pt x="346100" y="326199"/>
                </a:lnTo>
                <a:lnTo>
                  <a:pt x="0" y="326199"/>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25" id="25"/>
          <p:cNvSpPr/>
          <p:nvPr/>
        </p:nvSpPr>
        <p:spPr>
          <a:xfrm flipH="false" flipV="false" rot="0">
            <a:off x="1764727" y="7612759"/>
            <a:ext cx="346100" cy="326199"/>
          </a:xfrm>
          <a:custGeom>
            <a:avLst/>
            <a:gdLst/>
            <a:ahLst/>
            <a:cxnLst/>
            <a:rect r="r" b="b" t="t" l="l"/>
            <a:pathLst>
              <a:path h="326199" w="346100">
                <a:moveTo>
                  <a:pt x="0" y="0"/>
                </a:moveTo>
                <a:lnTo>
                  <a:pt x="346100" y="0"/>
                </a:lnTo>
                <a:lnTo>
                  <a:pt x="346100" y="326200"/>
                </a:lnTo>
                <a:lnTo>
                  <a:pt x="0" y="32620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26" id="26"/>
          <p:cNvSpPr/>
          <p:nvPr/>
        </p:nvSpPr>
        <p:spPr>
          <a:xfrm flipH="false" flipV="false" rot="0">
            <a:off x="9882909" y="7612759"/>
            <a:ext cx="346100" cy="326199"/>
          </a:xfrm>
          <a:custGeom>
            <a:avLst/>
            <a:gdLst/>
            <a:ahLst/>
            <a:cxnLst/>
            <a:rect r="r" b="b" t="t" l="l"/>
            <a:pathLst>
              <a:path h="326199" w="346100">
                <a:moveTo>
                  <a:pt x="0" y="0"/>
                </a:moveTo>
                <a:lnTo>
                  <a:pt x="346100" y="0"/>
                </a:lnTo>
                <a:lnTo>
                  <a:pt x="346100" y="326200"/>
                </a:lnTo>
                <a:lnTo>
                  <a:pt x="0" y="32620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7" id="27"/>
          <p:cNvSpPr txBox="true"/>
          <p:nvPr/>
        </p:nvSpPr>
        <p:spPr>
          <a:xfrm rot="0">
            <a:off x="2484972" y="5086321"/>
            <a:ext cx="3446497" cy="809625"/>
          </a:xfrm>
          <a:prstGeom prst="rect">
            <a:avLst/>
          </a:prstGeom>
        </p:spPr>
        <p:txBody>
          <a:bodyPr anchor="t" rtlCol="false" tIns="0" lIns="0" bIns="0" rIns="0">
            <a:spAutoFit/>
          </a:bodyPr>
          <a:lstStyle/>
          <a:p>
            <a:pPr algn="l" marL="0" indent="0" lvl="0">
              <a:lnSpc>
                <a:spcPts val="3218"/>
              </a:lnSpc>
            </a:pPr>
            <a:r>
              <a:rPr lang="en-US" b="true" sz="2682">
                <a:solidFill>
                  <a:srgbClr val="003E7E"/>
                </a:solidFill>
                <a:latin typeface="Public Sans Bold"/>
                <a:ea typeface="Public Sans Bold"/>
                <a:cs typeface="Public Sans Bold"/>
                <a:sym typeface="Public Sans Bold"/>
              </a:rPr>
              <a:t>Urban Professionals (Primary)</a:t>
            </a:r>
          </a:p>
        </p:txBody>
      </p:sp>
      <p:sp>
        <p:nvSpPr>
          <p:cNvPr name="TextBox 28" id="28"/>
          <p:cNvSpPr txBox="true"/>
          <p:nvPr/>
        </p:nvSpPr>
        <p:spPr>
          <a:xfrm rot="0">
            <a:off x="10603154" y="5086321"/>
            <a:ext cx="3858456" cy="809625"/>
          </a:xfrm>
          <a:prstGeom prst="rect">
            <a:avLst/>
          </a:prstGeom>
        </p:spPr>
        <p:txBody>
          <a:bodyPr anchor="t" rtlCol="false" tIns="0" lIns="0" bIns="0" rIns="0">
            <a:spAutoFit/>
          </a:bodyPr>
          <a:lstStyle/>
          <a:p>
            <a:pPr algn="l" marL="0" indent="0" lvl="0">
              <a:lnSpc>
                <a:spcPts val="3218"/>
              </a:lnSpc>
            </a:pPr>
            <a:r>
              <a:rPr lang="en-US" b="true" sz="2682">
                <a:solidFill>
                  <a:srgbClr val="003E7E"/>
                </a:solidFill>
                <a:latin typeface="Public Sans Bold"/>
                <a:ea typeface="Public Sans Bold"/>
                <a:cs typeface="Public Sans Bold"/>
                <a:sym typeface="Public Sans Bold"/>
              </a:rPr>
              <a:t>Knowledge Workers &amp; Executives</a:t>
            </a:r>
          </a:p>
        </p:txBody>
      </p:sp>
      <p:sp>
        <p:nvSpPr>
          <p:cNvPr name="TextBox 29" id="29"/>
          <p:cNvSpPr txBox="true"/>
          <p:nvPr/>
        </p:nvSpPr>
        <p:spPr>
          <a:xfrm rot="0">
            <a:off x="2484972" y="7318659"/>
            <a:ext cx="3446497" cy="809625"/>
          </a:xfrm>
          <a:prstGeom prst="rect">
            <a:avLst/>
          </a:prstGeom>
        </p:spPr>
        <p:txBody>
          <a:bodyPr anchor="t" rtlCol="false" tIns="0" lIns="0" bIns="0" rIns="0">
            <a:spAutoFit/>
          </a:bodyPr>
          <a:lstStyle/>
          <a:p>
            <a:pPr algn="l" marL="0" indent="0" lvl="0">
              <a:lnSpc>
                <a:spcPts val="3218"/>
              </a:lnSpc>
            </a:pPr>
            <a:r>
              <a:rPr lang="en-US" b="true" sz="2682">
                <a:solidFill>
                  <a:srgbClr val="003E7E"/>
                </a:solidFill>
                <a:latin typeface="Public Sans Bold"/>
                <a:ea typeface="Public Sans Bold"/>
                <a:cs typeface="Public Sans Bold"/>
                <a:sym typeface="Public Sans Bold"/>
              </a:rPr>
              <a:t>Multilingual &amp; Field Professionals</a:t>
            </a:r>
          </a:p>
        </p:txBody>
      </p:sp>
      <p:sp>
        <p:nvSpPr>
          <p:cNvPr name="Freeform 30" id="30"/>
          <p:cNvSpPr/>
          <p:nvPr/>
        </p:nvSpPr>
        <p:spPr>
          <a:xfrm flipH="false" flipV="false" rot="0">
            <a:off x="14718695" y="-2553339"/>
            <a:ext cx="5690196" cy="10393052"/>
          </a:xfrm>
          <a:custGeom>
            <a:avLst/>
            <a:gdLst/>
            <a:ahLst/>
            <a:cxnLst/>
            <a:rect r="r" b="b" t="t" l="l"/>
            <a:pathLst>
              <a:path h="10393052" w="5690196">
                <a:moveTo>
                  <a:pt x="0" y="0"/>
                </a:moveTo>
                <a:lnTo>
                  <a:pt x="5690196" y="0"/>
                </a:lnTo>
                <a:lnTo>
                  <a:pt x="5690196" y="10393051"/>
                </a:lnTo>
                <a:lnTo>
                  <a:pt x="0" y="10393051"/>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31" id="31"/>
          <p:cNvSpPr txBox="true"/>
          <p:nvPr/>
        </p:nvSpPr>
        <p:spPr>
          <a:xfrm rot="0">
            <a:off x="10603154" y="7318659"/>
            <a:ext cx="4359972" cy="809625"/>
          </a:xfrm>
          <a:prstGeom prst="rect">
            <a:avLst/>
          </a:prstGeom>
        </p:spPr>
        <p:txBody>
          <a:bodyPr anchor="t" rtlCol="false" tIns="0" lIns="0" bIns="0" rIns="0">
            <a:spAutoFit/>
          </a:bodyPr>
          <a:lstStyle/>
          <a:p>
            <a:pPr algn="l" marL="0" indent="0" lvl="0">
              <a:lnSpc>
                <a:spcPts val="3218"/>
              </a:lnSpc>
            </a:pPr>
            <a:r>
              <a:rPr lang="en-US" b="true" sz="2682">
                <a:solidFill>
                  <a:srgbClr val="003E7E"/>
                </a:solidFill>
                <a:latin typeface="Public Sans Bold"/>
                <a:ea typeface="Public Sans Bold"/>
                <a:cs typeface="Public Sans Bold"/>
                <a:sym typeface="Public Sans Bold"/>
              </a:rPr>
              <a:t>Enterprise &amp; Industrial Users</a:t>
            </a:r>
          </a:p>
        </p:txBody>
      </p:sp>
      <p:sp>
        <p:nvSpPr>
          <p:cNvPr name="TextBox 32" id="32"/>
          <p:cNvSpPr txBox="true"/>
          <p:nvPr/>
        </p:nvSpPr>
        <p:spPr>
          <a:xfrm rot="0">
            <a:off x="1522293" y="6138052"/>
            <a:ext cx="7125231" cy="479824"/>
          </a:xfrm>
          <a:prstGeom prst="rect">
            <a:avLst/>
          </a:prstGeom>
        </p:spPr>
        <p:txBody>
          <a:bodyPr anchor="t" rtlCol="false" tIns="0" lIns="0" bIns="0" rIns="0">
            <a:spAutoFit/>
          </a:bodyPr>
          <a:lstStyle/>
          <a:p>
            <a:pPr algn="l" marL="0" indent="0" lvl="0">
              <a:lnSpc>
                <a:spcPts val="1902"/>
              </a:lnSpc>
              <a:spcBef>
                <a:spcPct val="0"/>
              </a:spcBef>
            </a:pPr>
            <a:r>
              <a:rPr lang="en-US" sz="1359">
                <a:solidFill>
                  <a:srgbClr val="343434"/>
                </a:solidFill>
                <a:latin typeface="Public Sans"/>
                <a:ea typeface="Public Sans"/>
                <a:cs typeface="Public Sans"/>
                <a:sym typeface="Public Sans"/>
              </a:rPr>
              <a:t>Adults aged 26–45 in urban environments seeking hands-free digital access, productivity gains, and reduced screen dependency throughout their day.</a:t>
            </a:r>
          </a:p>
        </p:txBody>
      </p:sp>
      <p:sp>
        <p:nvSpPr>
          <p:cNvPr name="TextBox 33" id="33"/>
          <p:cNvSpPr txBox="true"/>
          <p:nvPr/>
        </p:nvSpPr>
        <p:spPr>
          <a:xfrm rot="0">
            <a:off x="9640475" y="6138052"/>
            <a:ext cx="7125231" cy="479824"/>
          </a:xfrm>
          <a:prstGeom prst="rect">
            <a:avLst/>
          </a:prstGeom>
        </p:spPr>
        <p:txBody>
          <a:bodyPr anchor="t" rtlCol="false" tIns="0" lIns="0" bIns="0" rIns="0">
            <a:spAutoFit/>
          </a:bodyPr>
          <a:lstStyle/>
          <a:p>
            <a:pPr algn="l" marL="0" indent="0" lvl="0">
              <a:lnSpc>
                <a:spcPts val="1902"/>
              </a:lnSpc>
              <a:spcBef>
                <a:spcPct val="0"/>
              </a:spcBef>
            </a:pPr>
            <a:r>
              <a:rPr lang="en-US" sz="1359">
                <a:solidFill>
                  <a:srgbClr val="343434"/>
                </a:solidFill>
                <a:latin typeface="Public Sans"/>
                <a:ea typeface="Public Sans"/>
                <a:cs typeface="Public Sans"/>
                <a:sym typeface="Public Sans"/>
              </a:rPr>
              <a:t>Consultants, account executives, and senior professionals who benefit from real-time briefings, meeting assistance, and seamless connectivity on the go.</a:t>
            </a:r>
          </a:p>
        </p:txBody>
      </p:sp>
      <p:sp>
        <p:nvSpPr>
          <p:cNvPr name="TextBox 34" id="34"/>
          <p:cNvSpPr txBox="true"/>
          <p:nvPr/>
        </p:nvSpPr>
        <p:spPr>
          <a:xfrm rot="0">
            <a:off x="1522293" y="8370390"/>
            <a:ext cx="7125231" cy="479824"/>
          </a:xfrm>
          <a:prstGeom prst="rect">
            <a:avLst/>
          </a:prstGeom>
        </p:spPr>
        <p:txBody>
          <a:bodyPr anchor="t" rtlCol="false" tIns="0" lIns="0" bIns="0" rIns="0">
            <a:spAutoFit/>
          </a:bodyPr>
          <a:lstStyle/>
          <a:p>
            <a:pPr algn="l" marL="0" indent="0" lvl="0">
              <a:lnSpc>
                <a:spcPts val="1902"/>
              </a:lnSpc>
              <a:spcBef>
                <a:spcPct val="0"/>
              </a:spcBef>
            </a:pPr>
            <a:r>
              <a:rPr lang="en-US" sz="1359">
                <a:solidFill>
                  <a:srgbClr val="343434"/>
                </a:solidFill>
                <a:latin typeface="Public Sans"/>
                <a:ea typeface="Public Sans"/>
                <a:cs typeface="Public Sans"/>
                <a:sym typeface="Public Sans"/>
              </a:rPr>
              <a:t>Multilingual professionals and frequent travelers leveraging Live Language Assist for real-time captioning, translation, and cross-cultural communication.</a:t>
            </a:r>
          </a:p>
        </p:txBody>
      </p:sp>
      <p:sp>
        <p:nvSpPr>
          <p:cNvPr name="TextBox 35" id="35"/>
          <p:cNvSpPr txBox="true"/>
          <p:nvPr/>
        </p:nvSpPr>
        <p:spPr>
          <a:xfrm rot="0">
            <a:off x="9640475" y="8370390"/>
            <a:ext cx="7125231" cy="479824"/>
          </a:xfrm>
          <a:prstGeom prst="rect">
            <a:avLst/>
          </a:prstGeom>
        </p:spPr>
        <p:txBody>
          <a:bodyPr anchor="t" rtlCol="false" tIns="0" lIns="0" bIns="0" rIns="0">
            <a:spAutoFit/>
          </a:bodyPr>
          <a:lstStyle/>
          <a:p>
            <a:pPr algn="l" marL="0" indent="0" lvl="0">
              <a:lnSpc>
                <a:spcPts val="1902"/>
              </a:lnSpc>
              <a:spcBef>
                <a:spcPct val="0"/>
              </a:spcBef>
            </a:pPr>
            <a:r>
              <a:rPr lang="en-US" sz="1359">
                <a:solidFill>
                  <a:srgbClr val="343434"/>
                </a:solidFill>
                <a:latin typeface="Public Sans"/>
                <a:ea typeface="Public Sans"/>
                <a:cs typeface="Public Sans"/>
                <a:sym typeface="Public Sans"/>
              </a:rPr>
              <a:t>Field service technicians, warehouse operators, logistics coordinators, retail staff, and healthcare workers requiring hands-free, heads-up information access.</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40109" t="-29261" r="0" b="-13027"/>
            </a:stretch>
          </a:blipFill>
        </p:spPr>
      </p:sp>
      <p:grpSp>
        <p:nvGrpSpPr>
          <p:cNvPr name="Group 3" id="3"/>
          <p:cNvGrpSpPr/>
          <p:nvPr/>
        </p:nvGrpSpPr>
        <p:grpSpPr>
          <a:xfrm rot="0">
            <a:off x="1534840" y="642100"/>
            <a:ext cx="1313931" cy="773201"/>
            <a:chOff x="0" y="0"/>
            <a:chExt cx="690612" cy="406400"/>
          </a:xfrm>
        </p:grpSpPr>
        <p:sp>
          <p:nvSpPr>
            <p:cNvPr name="Freeform 4" id="4"/>
            <p:cNvSpPr/>
            <p:nvPr/>
          </p:nvSpPr>
          <p:spPr>
            <a:xfrm flipH="false" flipV="false" rot="0">
              <a:off x="0" y="0"/>
              <a:ext cx="690612" cy="406400"/>
            </a:xfrm>
            <a:custGeom>
              <a:avLst/>
              <a:gdLst/>
              <a:ahLst/>
              <a:cxnLst/>
              <a:rect r="r" b="b" t="t" l="l"/>
              <a:pathLst>
                <a:path h="406400" w="690612">
                  <a:moveTo>
                    <a:pt x="487412" y="0"/>
                  </a:moveTo>
                  <a:cubicBezTo>
                    <a:pt x="599636" y="0"/>
                    <a:pt x="690612" y="90976"/>
                    <a:pt x="690612" y="203200"/>
                  </a:cubicBezTo>
                  <a:cubicBezTo>
                    <a:pt x="690612" y="315424"/>
                    <a:pt x="599636" y="406400"/>
                    <a:pt x="487412"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5" id="5"/>
            <p:cNvSpPr txBox="true"/>
            <p:nvPr/>
          </p:nvSpPr>
          <p:spPr>
            <a:xfrm>
              <a:off x="0" y="-57150"/>
              <a:ext cx="690612" cy="463550"/>
            </a:xfrm>
            <a:prstGeom prst="rect">
              <a:avLst/>
            </a:prstGeom>
          </p:spPr>
          <p:txBody>
            <a:bodyPr anchor="ctr" rtlCol="false" tIns="50800" lIns="50800" bIns="50800" rIns="50800"/>
            <a:lstStyle/>
            <a:p>
              <a:pPr algn="ctr" marL="0" indent="0" lvl="0">
                <a:lnSpc>
                  <a:spcPts val="3428"/>
                </a:lnSpc>
              </a:pPr>
            </a:p>
          </p:txBody>
        </p:sp>
      </p:grpSp>
      <p:sp>
        <p:nvSpPr>
          <p:cNvPr name="Freeform 6" id="6"/>
          <p:cNvSpPr/>
          <p:nvPr/>
        </p:nvSpPr>
        <p:spPr>
          <a:xfrm flipH="false" flipV="false" rot="0">
            <a:off x="1886092" y="789479"/>
            <a:ext cx="611427" cy="478441"/>
          </a:xfrm>
          <a:custGeom>
            <a:avLst/>
            <a:gdLst/>
            <a:ahLst/>
            <a:cxnLst/>
            <a:rect r="r" b="b" t="t" l="l"/>
            <a:pathLst>
              <a:path h="478441" w="611427">
                <a:moveTo>
                  <a:pt x="0" y="0"/>
                </a:moveTo>
                <a:lnTo>
                  <a:pt x="611427" y="0"/>
                </a:lnTo>
                <a:lnTo>
                  <a:pt x="611427" y="478442"/>
                </a:lnTo>
                <a:lnTo>
                  <a:pt x="0" y="478442"/>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7" id="7"/>
          <p:cNvSpPr/>
          <p:nvPr/>
        </p:nvSpPr>
        <p:spPr>
          <a:xfrm flipH="false" flipV="true" rot="0">
            <a:off x="15442902" y="4061774"/>
            <a:ext cx="5690196" cy="10393052"/>
          </a:xfrm>
          <a:custGeom>
            <a:avLst/>
            <a:gdLst/>
            <a:ahLst/>
            <a:cxnLst/>
            <a:rect r="r" b="b" t="t" l="l"/>
            <a:pathLst>
              <a:path h="10393052" w="5690196">
                <a:moveTo>
                  <a:pt x="0" y="10393052"/>
                </a:moveTo>
                <a:lnTo>
                  <a:pt x="5690196" y="10393052"/>
                </a:lnTo>
                <a:lnTo>
                  <a:pt x="5690196" y="0"/>
                </a:lnTo>
                <a:lnTo>
                  <a:pt x="0" y="0"/>
                </a:lnTo>
                <a:lnTo>
                  <a:pt x="0" y="10393052"/>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8" id="8"/>
          <p:cNvGrpSpPr/>
          <p:nvPr/>
        </p:nvGrpSpPr>
        <p:grpSpPr>
          <a:xfrm rot="0">
            <a:off x="8214899" y="-406662"/>
            <a:ext cx="10555071" cy="5550162"/>
            <a:chOff x="0" y="0"/>
            <a:chExt cx="1635257" cy="859865"/>
          </a:xfrm>
        </p:grpSpPr>
        <p:sp>
          <p:nvSpPr>
            <p:cNvPr name="Freeform 9" id="9"/>
            <p:cNvSpPr/>
            <p:nvPr/>
          </p:nvSpPr>
          <p:spPr>
            <a:xfrm flipH="false" flipV="false" rot="0">
              <a:off x="0" y="0"/>
              <a:ext cx="1635257" cy="859865"/>
            </a:xfrm>
            <a:custGeom>
              <a:avLst/>
              <a:gdLst/>
              <a:ahLst/>
              <a:cxnLst/>
              <a:rect r="r" b="b" t="t" l="l"/>
              <a:pathLst>
                <a:path h="859865" w="1635257">
                  <a:moveTo>
                    <a:pt x="29339" y="0"/>
                  </a:moveTo>
                  <a:lnTo>
                    <a:pt x="1605918" y="0"/>
                  </a:lnTo>
                  <a:cubicBezTo>
                    <a:pt x="1613699" y="0"/>
                    <a:pt x="1621161" y="3091"/>
                    <a:pt x="1626664" y="8593"/>
                  </a:cubicBezTo>
                  <a:cubicBezTo>
                    <a:pt x="1632166" y="14095"/>
                    <a:pt x="1635257" y="21558"/>
                    <a:pt x="1635257" y="29339"/>
                  </a:cubicBezTo>
                  <a:lnTo>
                    <a:pt x="1635257" y="830526"/>
                  </a:lnTo>
                  <a:cubicBezTo>
                    <a:pt x="1635257" y="838307"/>
                    <a:pt x="1632166" y="845770"/>
                    <a:pt x="1626664" y="851272"/>
                  </a:cubicBezTo>
                  <a:cubicBezTo>
                    <a:pt x="1621161" y="856774"/>
                    <a:pt x="1613699" y="859865"/>
                    <a:pt x="1605918" y="859865"/>
                  </a:cubicBezTo>
                  <a:lnTo>
                    <a:pt x="29339" y="859865"/>
                  </a:lnTo>
                  <a:cubicBezTo>
                    <a:pt x="21558" y="859865"/>
                    <a:pt x="14095" y="856774"/>
                    <a:pt x="8593" y="851272"/>
                  </a:cubicBezTo>
                  <a:cubicBezTo>
                    <a:pt x="3091" y="845770"/>
                    <a:pt x="0" y="838307"/>
                    <a:pt x="0" y="830526"/>
                  </a:cubicBezTo>
                  <a:lnTo>
                    <a:pt x="0" y="29339"/>
                  </a:lnTo>
                  <a:cubicBezTo>
                    <a:pt x="0" y="21558"/>
                    <a:pt x="3091" y="14095"/>
                    <a:pt x="8593" y="8593"/>
                  </a:cubicBezTo>
                  <a:cubicBezTo>
                    <a:pt x="14095" y="3091"/>
                    <a:pt x="21558" y="0"/>
                    <a:pt x="29339" y="0"/>
                  </a:cubicBezTo>
                  <a:close/>
                </a:path>
              </a:pathLst>
            </a:custGeom>
            <a:blipFill>
              <a:blip r:embed="rId7"/>
              <a:stretch>
                <a:fillRect l="0" t="-4200" r="0" b="-4200"/>
              </a:stretch>
            </a:blipFill>
          </p:spPr>
        </p:sp>
      </p:grpSp>
      <p:grpSp>
        <p:nvGrpSpPr>
          <p:cNvPr name="Group 10" id="10"/>
          <p:cNvGrpSpPr/>
          <p:nvPr/>
        </p:nvGrpSpPr>
        <p:grpSpPr>
          <a:xfrm rot="0">
            <a:off x="8214899" y="8139289"/>
            <a:ext cx="8878441" cy="659988"/>
            <a:chOff x="0" y="0"/>
            <a:chExt cx="5467064" cy="406400"/>
          </a:xfrm>
        </p:grpSpPr>
        <p:sp>
          <p:nvSpPr>
            <p:cNvPr name="Freeform 11" id="11"/>
            <p:cNvSpPr/>
            <p:nvPr/>
          </p:nvSpPr>
          <p:spPr>
            <a:xfrm flipH="false" flipV="false" rot="0">
              <a:off x="0" y="0"/>
              <a:ext cx="5467064" cy="406400"/>
            </a:xfrm>
            <a:custGeom>
              <a:avLst/>
              <a:gdLst/>
              <a:ahLst/>
              <a:cxnLst/>
              <a:rect r="r" b="b" t="t" l="l"/>
              <a:pathLst>
                <a:path h="406400" w="5467064">
                  <a:moveTo>
                    <a:pt x="5263864" y="0"/>
                  </a:moveTo>
                  <a:cubicBezTo>
                    <a:pt x="5376088" y="0"/>
                    <a:pt x="5467064" y="90976"/>
                    <a:pt x="5467064" y="203200"/>
                  </a:cubicBezTo>
                  <a:cubicBezTo>
                    <a:pt x="5467064" y="315424"/>
                    <a:pt x="5376088" y="406400"/>
                    <a:pt x="5263864"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12" id="12"/>
            <p:cNvSpPr txBox="true"/>
            <p:nvPr/>
          </p:nvSpPr>
          <p:spPr>
            <a:xfrm>
              <a:off x="0" y="-57150"/>
              <a:ext cx="5467064" cy="463550"/>
            </a:xfrm>
            <a:prstGeom prst="rect">
              <a:avLst/>
            </a:prstGeom>
          </p:spPr>
          <p:txBody>
            <a:bodyPr anchor="ctr" rtlCol="false" tIns="50800" lIns="50800" bIns="50800" rIns="50800"/>
            <a:lstStyle/>
            <a:p>
              <a:pPr algn="ctr" marL="0" indent="0" lvl="0">
                <a:lnSpc>
                  <a:spcPts val="3428"/>
                </a:lnSpc>
              </a:pPr>
            </a:p>
          </p:txBody>
        </p:sp>
      </p:grpSp>
      <p:grpSp>
        <p:nvGrpSpPr>
          <p:cNvPr name="Group 13" id="13"/>
          <p:cNvGrpSpPr/>
          <p:nvPr/>
        </p:nvGrpSpPr>
        <p:grpSpPr>
          <a:xfrm rot="0">
            <a:off x="8214899" y="7341026"/>
            <a:ext cx="8878441" cy="659988"/>
            <a:chOff x="0" y="0"/>
            <a:chExt cx="5467064" cy="406400"/>
          </a:xfrm>
        </p:grpSpPr>
        <p:sp>
          <p:nvSpPr>
            <p:cNvPr name="Freeform 14" id="14"/>
            <p:cNvSpPr/>
            <p:nvPr/>
          </p:nvSpPr>
          <p:spPr>
            <a:xfrm flipH="false" flipV="false" rot="0">
              <a:off x="0" y="0"/>
              <a:ext cx="5467064" cy="406400"/>
            </a:xfrm>
            <a:custGeom>
              <a:avLst/>
              <a:gdLst/>
              <a:ahLst/>
              <a:cxnLst/>
              <a:rect r="r" b="b" t="t" l="l"/>
              <a:pathLst>
                <a:path h="406400" w="5467064">
                  <a:moveTo>
                    <a:pt x="5263864" y="0"/>
                  </a:moveTo>
                  <a:cubicBezTo>
                    <a:pt x="5376088" y="0"/>
                    <a:pt x="5467064" y="90976"/>
                    <a:pt x="5467064" y="203200"/>
                  </a:cubicBezTo>
                  <a:cubicBezTo>
                    <a:pt x="5467064" y="315424"/>
                    <a:pt x="5376088" y="406400"/>
                    <a:pt x="5263864"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15" id="15"/>
            <p:cNvSpPr txBox="true"/>
            <p:nvPr/>
          </p:nvSpPr>
          <p:spPr>
            <a:xfrm>
              <a:off x="0" y="-57150"/>
              <a:ext cx="5467064" cy="463550"/>
            </a:xfrm>
            <a:prstGeom prst="rect">
              <a:avLst/>
            </a:prstGeom>
          </p:spPr>
          <p:txBody>
            <a:bodyPr anchor="ctr" rtlCol="false" tIns="50800" lIns="50800" bIns="50800" rIns="50800"/>
            <a:lstStyle/>
            <a:p>
              <a:pPr algn="ctr" marL="0" indent="0" lvl="0">
                <a:lnSpc>
                  <a:spcPts val="3428"/>
                </a:lnSpc>
              </a:pPr>
            </a:p>
          </p:txBody>
        </p:sp>
      </p:grpSp>
      <p:grpSp>
        <p:nvGrpSpPr>
          <p:cNvPr name="Group 16" id="16"/>
          <p:cNvGrpSpPr/>
          <p:nvPr/>
        </p:nvGrpSpPr>
        <p:grpSpPr>
          <a:xfrm rot="0">
            <a:off x="8214899" y="6542763"/>
            <a:ext cx="8878441" cy="659988"/>
            <a:chOff x="0" y="0"/>
            <a:chExt cx="5467064" cy="406400"/>
          </a:xfrm>
        </p:grpSpPr>
        <p:sp>
          <p:nvSpPr>
            <p:cNvPr name="Freeform 17" id="17"/>
            <p:cNvSpPr/>
            <p:nvPr/>
          </p:nvSpPr>
          <p:spPr>
            <a:xfrm flipH="false" flipV="false" rot="0">
              <a:off x="0" y="0"/>
              <a:ext cx="5467064" cy="406400"/>
            </a:xfrm>
            <a:custGeom>
              <a:avLst/>
              <a:gdLst/>
              <a:ahLst/>
              <a:cxnLst/>
              <a:rect r="r" b="b" t="t" l="l"/>
              <a:pathLst>
                <a:path h="406400" w="5467064">
                  <a:moveTo>
                    <a:pt x="5263864" y="0"/>
                  </a:moveTo>
                  <a:cubicBezTo>
                    <a:pt x="5376088" y="0"/>
                    <a:pt x="5467064" y="90976"/>
                    <a:pt x="5467064" y="203200"/>
                  </a:cubicBezTo>
                  <a:cubicBezTo>
                    <a:pt x="5467064" y="315424"/>
                    <a:pt x="5376088" y="406400"/>
                    <a:pt x="5263864"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18" id="18"/>
            <p:cNvSpPr txBox="true"/>
            <p:nvPr/>
          </p:nvSpPr>
          <p:spPr>
            <a:xfrm>
              <a:off x="0" y="-57150"/>
              <a:ext cx="5467064" cy="463550"/>
            </a:xfrm>
            <a:prstGeom prst="rect">
              <a:avLst/>
            </a:prstGeom>
          </p:spPr>
          <p:txBody>
            <a:bodyPr anchor="ctr" rtlCol="false" tIns="50800" lIns="50800" bIns="50800" rIns="50800"/>
            <a:lstStyle/>
            <a:p>
              <a:pPr algn="ctr" marL="0" indent="0" lvl="0">
                <a:lnSpc>
                  <a:spcPts val="3428"/>
                </a:lnSpc>
              </a:pPr>
            </a:p>
          </p:txBody>
        </p:sp>
      </p:grpSp>
      <p:grpSp>
        <p:nvGrpSpPr>
          <p:cNvPr name="Group 19" id="19"/>
          <p:cNvGrpSpPr/>
          <p:nvPr/>
        </p:nvGrpSpPr>
        <p:grpSpPr>
          <a:xfrm rot="0">
            <a:off x="8214899" y="5744500"/>
            <a:ext cx="8878441" cy="659988"/>
            <a:chOff x="0" y="0"/>
            <a:chExt cx="5467064" cy="406400"/>
          </a:xfrm>
        </p:grpSpPr>
        <p:sp>
          <p:nvSpPr>
            <p:cNvPr name="Freeform 20" id="20"/>
            <p:cNvSpPr/>
            <p:nvPr/>
          </p:nvSpPr>
          <p:spPr>
            <a:xfrm flipH="false" flipV="false" rot="0">
              <a:off x="0" y="0"/>
              <a:ext cx="5467064" cy="406400"/>
            </a:xfrm>
            <a:custGeom>
              <a:avLst/>
              <a:gdLst/>
              <a:ahLst/>
              <a:cxnLst/>
              <a:rect r="r" b="b" t="t" l="l"/>
              <a:pathLst>
                <a:path h="406400" w="5467064">
                  <a:moveTo>
                    <a:pt x="5263864" y="0"/>
                  </a:moveTo>
                  <a:cubicBezTo>
                    <a:pt x="5376088" y="0"/>
                    <a:pt x="5467064" y="90976"/>
                    <a:pt x="5467064" y="203200"/>
                  </a:cubicBezTo>
                  <a:cubicBezTo>
                    <a:pt x="5467064" y="315424"/>
                    <a:pt x="5376088" y="406400"/>
                    <a:pt x="5263864"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21" id="21"/>
            <p:cNvSpPr txBox="true"/>
            <p:nvPr/>
          </p:nvSpPr>
          <p:spPr>
            <a:xfrm>
              <a:off x="0" y="-57150"/>
              <a:ext cx="5467064" cy="463550"/>
            </a:xfrm>
            <a:prstGeom prst="rect">
              <a:avLst/>
            </a:prstGeom>
          </p:spPr>
          <p:txBody>
            <a:bodyPr anchor="ctr" rtlCol="false" tIns="50800" lIns="50800" bIns="50800" rIns="50800"/>
            <a:lstStyle/>
            <a:p>
              <a:pPr algn="ctr" marL="0" indent="0" lvl="0">
                <a:lnSpc>
                  <a:spcPts val="3428"/>
                </a:lnSpc>
              </a:pPr>
            </a:p>
          </p:txBody>
        </p:sp>
      </p:grpSp>
      <p:sp>
        <p:nvSpPr>
          <p:cNvPr name="Freeform 22" id="22"/>
          <p:cNvSpPr/>
          <p:nvPr/>
        </p:nvSpPr>
        <p:spPr>
          <a:xfrm flipH="false" flipV="false" rot="0">
            <a:off x="8544880" y="5911395"/>
            <a:ext cx="346100" cy="326199"/>
          </a:xfrm>
          <a:custGeom>
            <a:avLst/>
            <a:gdLst/>
            <a:ahLst/>
            <a:cxnLst/>
            <a:rect r="r" b="b" t="t" l="l"/>
            <a:pathLst>
              <a:path h="326199" w="346100">
                <a:moveTo>
                  <a:pt x="0" y="0"/>
                </a:moveTo>
                <a:lnTo>
                  <a:pt x="346100" y="0"/>
                </a:lnTo>
                <a:lnTo>
                  <a:pt x="346100" y="326199"/>
                </a:lnTo>
                <a:lnTo>
                  <a:pt x="0" y="326199"/>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23" id="23"/>
          <p:cNvSpPr/>
          <p:nvPr/>
        </p:nvSpPr>
        <p:spPr>
          <a:xfrm flipH="false" flipV="false" rot="0">
            <a:off x="8544880" y="6709658"/>
            <a:ext cx="346100" cy="326199"/>
          </a:xfrm>
          <a:custGeom>
            <a:avLst/>
            <a:gdLst/>
            <a:ahLst/>
            <a:cxnLst/>
            <a:rect r="r" b="b" t="t" l="l"/>
            <a:pathLst>
              <a:path h="326199" w="346100">
                <a:moveTo>
                  <a:pt x="0" y="0"/>
                </a:moveTo>
                <a:lnTo>
                  <a:pt x="346100" y="0"/>
                </a:lnTo>
                <a:lnTo>
                  <a:pt x="346100" y="326199"/>
                </a:lnTo>
                <a:lnTo>
                  <a:pt x="0" y="326199"/>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24" id="24"/>
          <p:cNvSpPr/>
          <p:nvPr/>
        </p:nvSpPr>
        <p:spPr>
          <a:xfrm flipH="false" flipV="false" rot="0">
            <a:off x="8544880" y="7507920"/>
            <a:ext cx="346100" cy="326199"/>
          </a:xfrm>
          <a:custGeom>
            <a:avLst/>
            <a:gdLst/>
            <a:ahLst/>
            <a:cxnLst/>
            <a:rect r="r" b="b" t="t" l="l"/>
            <a:pathLst>
              <a:path h="326199" w="346100">
                <a:moveTo>
                  <a:pt x="0" y="0"/>
                </a:moveTo>
                <a:lnTo>
                  <a:pt x="346100" y="0"/>
                </a:lnTo>
                <a:lnTo>
                  <a:pt x="346100" y="326200"/>
                </a:lnTo>
                <a:lnTo>
                  <a:pt x="0" y="3262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25" id="25"/>
          <p:cNvSpPr/>
          <p:nvPr/>
        </p:nvSpPr>
        <p:spPr>
          <a:xfrm flipH="false" flipV="false" rot="0">
            <a:off x="8544880" y="8306183"/>
            <a:ext cx="346100" cy="326199"/>
          </a:xfrm>
          <a:custGeom>
            <a:avLst/>
            <a:gdLst/>
            <a:ahLst/>
            <a:cxnLst/>
            <a:rect r="r" b="b" t="t" l="l"/>
            <a:pathLst>
              <a:path h="326199" w="346100">
                <a:moveTo>
                  <a:pt x="0" y="0"/>
                </a:moveTo>
                <a:lnTo>
                  <a:pt x="346100" y="0"/>
                </a:lnTo>
                <a:lnTo>
                  <a:pt x="346100" y="326199"/>
                </a:lnTo>
                <a:lnTo>
                  <a:pt x="0" y="326199"/>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26" id="26"/>
          <p:cNvSpPr txBox="true"/>
          <p:nvPr/>
        </p:nvSpPr>
        <p:spPr>
          <a:xfrm rot="0">
            <a:off x="1534840" y="2379213"/>
            <a:ext cx="5032479" cy="1023928"/>
          </a:xfrm>
          <a:prstGeom prst="rect">
            <a:avLst/>
          </a:prstGeom>
        </p:spPr>
        <p:txBody>
          <a:bodyPr anchor="t" rtlCol="false" tIns="0" lIns="0" bIns="0" rIns="0">
            <a:spAutoFit/>
          </a:bodyPr>
          <a:lstStyle/>
          <a:p>
            <a:pPr algn="l" marL="0" indent="0" lvl="0">
              <a:lnSpc>
                <a:spcPts val="8356"/>
              </a:lnSpc>
              <a:spcBef>
                <a:spcPct val="0"/>
              </a:spcBef>
            </a:pPr>
            <a:r>
              <a:rPr lang="en-US" b="true" sz="5968">
                <a:solidFill>
                  <a:srgbClr val="003E7E"/>
                </a:solidFill>
                <a:latin typeface="Helvetica Now Bold"/>
                <a:ea typeface="Helvetica Now Bold"/>
                <a:cs typeface="Helvetica Now Bold"/>
                <a:sym typeface="Helvetica Now Bold"/>
              </a:rPr>
              <a:t>COMPETITIVE</a:t>
            </a:r>
          </a:p>
        </p:txBody>
      </p:sp>
      <p:sp>
        <p:nvSpPr>
          <p:cNvPr name="TextBox 27" id="27"/>
          <p:cNvSpPr txBox="true"/>
          <p:nvPr/>
        </p:nvSpPr>
        <p:spPr>
          <a:xfrm rot="0">
            <a:off x="1534840" y="3442784"/>
            <a:ext cx="5032479" cy="1023928"/>
          </a:xfrm>
          <a:prstGeom prst="rect">
            <a:avLst/>
          </a:prstGeom>
        </p:spPr>
        <p:txBody>
          <a:bodyPr anchor="t" rtlCol="false" tIns="0" lIns="0" bIns="0" rIns="0">
            <a:spAutoFit/>
          </a:bodyPr>
          <a:lstStyle/>
          <a:p>
            <a:pPr algn="l" marL="0" indent="0" lvl="0">
              <a:lnSpc>
                <a:spcPts val="8356"/>
              </a:lnSpc>
              <a:spcBef>
                <a:spcPct val="0"/>
              </a:spcBef>
            </a:pPr>
            <a:r>
              <a:rPr lang="en-US" b="true" sz="5968">
                <a:solidFill>
                  <a:srgbClr val="000000"/>
                </a:solidFill>
                <a:latin typeface="Helvetica Now Bold"/>
                <a:ea typeface="Helvetica Now Bold"/>
                <a:cs typeface="Helvetica Now Bold"/>
                <a:sym typeface="Helvetica Now Bold"/>
              </a:rPr>
              <a:t>POSITIONING</a:t>
            </a:r>
          </a:p>
        </p:txBody>
      </p:sp>
      <p:sp>
        <p:nvSpPr>
          <p:cNvPr name="TextBox 28" id="28"/>
          <p:cNvSpPr txBox="true"/>
          <p:nvPr/>
        </p:nvSpPr>
        <p:spPr>
          <a:xfrm rot="0">
            <a:off x="1534840" y="5474296"/>
            <a:ext cx="3612382" cy="300516"/>
          </a:xfrm>
          <a:prstGeom prst="rect">
            <a:avLst/>
          </a:prstGeom>
        </p:spPr>
        <p:txBody>
          <a:bodyPr anchor="t" rtlCol="false" tIns="0" lIns="0" bIns="0" rIns="0">
            <a:spAutoFit/>
          </a:bodyPr>
          <a:lstStyle/>
          <a:p>
            <a:pPr algn="l" marL="0" indent="0" lvl="0">
              <a:lnSpc>
                <a:spcPts val="2348"/>
              </a:lnSpc>
              <a:spcBef>
                <a:spcPct val="0"/>
              </a:spcBef>
            </a:pPr>
            <a:r>
              <a:rPr lang="en-US" b="true" sz="1677">
                <a:solidFill>
                  <a:srgbClr val="003E7E"/>
                </a:solidFill>
                <a:latin typeface="Public Sans Bold"/>
                <a:ea typeface="Public Sans Bold"/>
                <a:cs typeface="Public Sans Bold"/>
                <a:sym typeface="Public Sans Bold"/>
              </a:rPr>
              <a:t>AetherLink Glass vs. The Market</a:t>
            </a:r>
          </a:p>
        </p:txBody>
      </p:sp>
      <p:sp>
        <p:nvSpPr>
          <p:cNvPr name="TextBox 29" id="29"/>
          <p:cNvSpPr txBox="true"/>
          <p:nvPr/>
        </p:nvSpPr>
        <p:spPr>
          <a:xfrm rot="0">
            <a:off x="1534840" y="6809680"/>
            <a:ext cx="4942110" cy="2323006"/>
          </a:xfrm>
          <a:prstGeom prst="rect">
            <a:avLst/>
          </a:prstGeom>
        </p:spPr>
        <p:txBody>
          <a:bodyPr anchor="t" rtlCol="false" tIns="0" lIns="0" bIns="0" rIns="0">
            <a:spAutoFit/>
          </a:bodyPr>
          <a:lstStyle/>
          <a:p>
            <a:pPr algn="l" marL="0" indent="0" lvl="0">
              <a:lnSpc>
                <a:spcPts val="2685"/>
              </a:lnSpc>
              <a:spcBef>
                <a:spcPct val="0"/>
              </a:spcBef>
            </a:pPr>
            <a:r>
              <a:rPr lang="en-US" sz="1918">
                <a:solidFill>
                  <a:srgbClr val="343434"/>
                </a:solidFill>
                <a:latin typeface="Public Sans"/>
                <a:ea typeface="Public Sans"/>
                <a:cs typeface="Public Sans"/>
                <a:sym typeface="Public Sans"/>
              </a:rPr>
              <a:t>AetherLink Glass is engineered for daily adoption — lighter and less intrusive than AR headsets, faster and more seamless than smartphones, and far more contextually aware than smartwatches. Our strategic focus is real-world wearability over maximum technical specifications.</a:t>
            </a:r>
          </a:p>
        </p:txBody>
      </p:sp>
      <p:sp>
        <p:nvSpPr>
          <p:cNvPr name="TextBox 30" id="30"/>
          <p:cNvSpPr txBox="true"/>
          <p:nvPr/>
        </p:nvSpPr>
        <p:spPr>
          <a:xfrm rot="0">
            <a:off x="3027434" y="725677"/>
            <a:ext cx="1285113" cy="567975"/>
          </a:xfrm>
          <a:prstGeom prst="rect">
            <a:avLst/>
          </a:prstGeom>
        </p:spPr>
        <p:txBody>
          <a:bodyPr anchor="t" rtlCol="false" tIns="0" lIns="0" bIns="0" rIns="0">
            <a:spAutoFit/>
          </a:bodyPr>
          <a:lstStyle/>
          <a:p>
            <a:pPr algn="l" marL="0" indent="0" lvl="0">
              <a:lnSpc>
                <a:spcPts val="2272"/>
              </a:lnSpc>
              <a:spcBef>
                <a:spcPct val="0"/>
              </a:spcBef>
            </a:pPr>
            <a:r>
              <a:rPr lang="en-US" sz="1623">
                <a:solidFill>
                  <a:srgbClr val="000000"/>
                </a:solidFill>
                <a:latin typeface="Public Sans"/>
                <a:ea typeface="Public Sans"/>
                <a:cs typeface="Public Sans"/>
                <a:sym typeface="Public Sans"/>
              </a:rPr>
              <a:t>AetherLink Glass</a:t>
            </a:r>
          </a:p>
        </p:txBody>
      </p:sp>
      <p:sp>
        <p:nvSpPr>
          <p:cNvPr name="TextBox 31" id="31"/>
          <p:cNvSpPr txBox="true"/>
          <p:nvPr/>
        </p:nvSpPr>
        <p:spPr>
          <a:xfrm rot="0">
            <a:off x="9075003" y="5831607"/>
            <a:ext cx="7924314" cy="266700"/>
          </a:xfrm>
          <a:prstGeom prst="rect">
            <a:avLst/>
          </a:prstGeom>
        </p:spPr>
        <p:txBody>
          <a:bodyPr anchor="t" rtlCol="false" tIns="0" lIns="0" bIns="0" rIns="0">
            <a:spAutoFit/>
          </a:bodyPr>
          <a:lstStyle/>
          <a:p>
            <a:pPr algn="l" marL="0" indent="0" lvl="0">
              <a:lnSpc>
                <a:spcPts val="2013"/>
              </a:lnSpc>
            </a:pPr>
            <a:r>
              <a:rPr lang="en-US" b="true" sz="1677">
                <a:solidFill>
                  <a:srgbClr val="FFFFFF"/>
                </a:solidFill>
                <a:latin typeface="Public Sans Bold"/>
                <a:ea typeface="Public Sans Bold"/>
                <a:cs typeface="Public Sans Bold"/>
                <a:sym typeface="Public Sans Bold"/>
              </a:rPr>
              <a:t>vs. Smartwatches: richer visual context, zero wrist-checking</a:t>
            </a:r>
          </a:p>
        </p:txBody>
      </p:sp>
      <p:sp>
        <p:nvSpPr>
          <p:cNvPr name="TextBox 32" id="32"/>
          <p:cNvSpPr txBox="true"/>
          <p:nvPr/>
        </p:nvSpPr>
        <p:spPr>
          <a:xfrm rot="0">
            <a:off x="9075003" y="6629870"/>
            <a:ext cx="6563128" cy="266700"/>
          </a:xfrm>
          <a:prstGeom prst="rect">
            <a:avLst/>
          </a:prstGeom>
        </p:spPr>
        <p:txBody>
          <a:bodyPr anchor="t" rtlCol="false" tIns="0" lIns="0" bIns="0" rIns="0">
            <a:spAutoFit/>
          </a:bodyPr>
          <a:lstStyle/>
          <a:p>
            <a:pPr algn="l" marL="0" indent="0" lvl="0">
              <a:lnSpc>
                <a:spcPts val="2013"/>
              </a:lnSpc>
            </a:pPr>
            <a:r>
              <a:rPr lang="en-US" b="true" sz="1677">
                <a:solidFill>
                  <a:srgbClr val="FFFFFF"/>
                </a:solidFill>
                <a:latin typeface="Public Sans Bold"/>
                <a:ea typeface="Public Sans Bold"/>
                <a:cs typeface="Public Sans Bold"/>
                <a:sym typeface="Public Sans Bold"/>
              </a:rPr>
              <a:t>vs. Smartphones: hands-free, faster access, seamless continuity</a:t>
            </a:r>
          </a:p>
        </p:txBody>
      </p:sp>
      <p:sp>
        <p:nvSpPr>
          <p:cNvPr name="TextBox 33" id="33"/>
          <p:cNvSpPr txBox="true"/>
          <p:nvPr/>
        </p:nvSpPr>
        <p:spPr>
          <a:xfrm rot="0">
            <a:off x="9075003" y="7428132"/>
            <a:ext cx="7708244" cy="266700"/>
          </a:xfrm>
          <a:prstGeom prst="rect">
            <a:avLst/>
          </a:prstGeom>
        </p:spPr>
        <p:txBody>
          <a:bodyPr anchor="t" rtlCol="false" tIns="0" lIns="0" bIns="0" rIns="0">
            <a:spAutoFit/>
          </a:bodyPr>
          <a:lstStyle/>
          <a:p>
            <a:pPr algn="l" marL="0" indent="0" lvl="0">
              <a:lnSpc>
                <a:spcPts val="2013"/>
              </a:lnSpc>
            </a:pPr>
            <a:r>
              <a:rPr lang="en-US" b="true" sz="1677">
                <a:solidFill>
                  <a:srgbClr val="FFFFFF"/>
                </a:solidFill>
                <a:latin typeface="Public Sans Bold"/>
                <a:ea typeface="Public Sans Bold"/>
                <a:cs typeface="Public Sans Bold"/>
                <a:sym typeface="Public Sans Bold"/>
              </a:rPr>
              <a:t>vs. AR Headsets: lighter, lower social barrier, all-day wearability</a:t>
            </a:r>
          </a:p>
        </p:txBody>
      </p:sp>
      <p:sp>
        <p:nvSpPr>
          <p:cNvPr name="TextBox 34" id="34"/>
          <p:cNvSpPr txBox="true"/>
          <p:nvPr/>
        </p:nvSpPr>
        <p:spPr>
          <a:xfrm rot="0">
            <a:off x="9075003" y="8226395"/>
            <a:ext cx="6958427" cy="266700"/>
          </a:xfrm>
          <a:prstGeom prst="rect">
            <a:avLst/>
          </a:prstGeom>
        </p:spPr>
        <p:txBody>
          <a:bodyPr anchor="t" rtlCol="false" tIns="0" lIns="0" bIns="0" rIns="0">
            <a:spAutoFit/>
          </a:bodyPr>
          <a:lstStyle/>
          <a:p>
            <a:pPr algn="l" marL="0" indent="0" lvl="0">
              <a:lnSpc>
                <a:spcPts val="2013"/>
              </a:lnSpc>
            </a:pPr>
            <a:r>
              <a:rPr lang="en-US" b="true" sz="1677">
                <a:solidFill>
                  <a:srgbClr val="FFFFFF"/>
                </a:solidFill>
                <a:latin typeface="Public Sans Bold"/>
                <a:ea typeface="Public Sans Bold"/>
                <a:cs typeface="Public Sans Bold"/>
                <a:sym typeface="Public Sans Bold"/>
              </a:rPr>
              <a:t>Strategic edge: daily adoption probability over peak tech specs</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40109" t="-29261" r="0" b="-13027"/>
            </a:stretch>
          </a:blipFill>
        </p:spPr>
      </p:sp>
      <p:grpSp>
        <p:nvGrpSpPr>
          <p:cNvPr name="Group 3" id="3"/>
          <p:cNvGrpSpPr/>
          <p:nvPr/>
        </p:nvGrpSpPr>
        <p:grpSpPr>
          <a:xfrm rot="0">
            <a:off x="1534840" y="642100"/>
            <a:ext cx="1313931" cy="773201"/>
            <a:chOff x="0" y="0"/>
            <a:chExt cx="690612" cy="406400"/>
          </a:xfrm>
        </p:grpSpPr>
        <p:sp>
          <p:nvSpPr>
            <p:cNvPr name="Freeform 4" id="4"/>
            <p:cNvSpPr/>
            <p:nvPr/>
          </p:nvSpPr>
          <p:spPr>
            <a:xfrm flipH="false" flipV="false" rot="0">
              <a:off x="0" y="0"/>
              <a:ext cx="690612" cy="406400"/>
            </a:xfrm>
            <a:custGeom>
              <a:avLst/>
              <a:gdLst/>
              <a:ahLst/>
              <a:cxnLst/>
              <a:rect r="r" b="b" t="t" l="l"/>
              <a:pathLst>
                <a:path h="406400" w="690612">
                  <a:moveTo>
                    <a:pt x="487412" y="0"/>
                  </a:moveTo>
                  <a:cubicBezTo>
                    <a:pt x="599636" y="0"/>
                    <a:pt x="690612" y="90976"/>
                    <a:pt x="690612" y="203200"/>
                  </a:cubicBezTo>
                  <a:cubicBezTo>
                    <a:pt x="690612" y="315424"/>
                    <a:pt x="599636" y="406400"/>
                    <a:pt x="487412"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5" id="5"/>
            <p:cNvSpPr txBox="true"/>
            <p:nvPr/>
          </p:nvSpPr>
          <p:spPr>
            <a:xfrm>
              <a:off x="0" y="-57150"/>
              <a:ext cx="690612" cy="463550"/>
            </a:xfrm>
            <a:prstGeom prst="rect">
              <a:avLst/>
            </a:prstGeom>
          </p:spPr>
          <p:txBody>
            <a:bodyPr anchor="ctr" rtlCol="false" tIns="50800" lIns="50800" bIns="50800" rIns="50800"/>
            <a:lstStyle/>
            <a:p>
              <a:pPr algn="ctr" marL="0" indent="0" lvl="0">
                <a:lnSpc>
                  <a:spcPts val="3428"/>
                </a:lnSpc>
              </a:pPr>
            </a:p>
          </p:txBody>
        </p:sp>
      </p:grpSp>
      <p:sp>
        <p:nvSpPr>
          <p:cNvPr name="Freeform 6" id="6"/>
          <p:cNvSpPr/>
          <p:nvPr/>
        </p:nvSpPr>
        <p:spPr>
          <a:xfrm flipH="false" flipV="false" rot="0">
            <a:off x="1886092" y="789479"/>
            <a:ext cx="611427" cy="478441"/>
          </a:xfrm>
          <a:custGeom>
            <a:avLst/>
            <a:gdLst/>
            <a:ahLst/>
            <a:cxnLst/>
            <a:rect r="r" b="b" t="t" l="l"/>
            <a:pathLst>
              <a:path h="478441" w="611427">
                <a:moveTo>
                  <a:pt x="0" y="0"/>
                </a:moveTo>
                <a:lnTo>
                  <a:pt x="611427" y="0"/>
                </a:lnTo>
                <a:lnTo>
                  <a:pt x="611427" y="478442"/>
                </a:lnTo>
                <a:lnTo>
                  <a:pt x="0" y="478442"/>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7" id="7"/>
          <p:cNvSpPr txBox="true"/>
          <p:nvPr/>
        </p:nvSpPr>
        <p:spPr>
          <a:xfrm rot="0">
            <a:off x="11362836" y="1742639"/>
            <a:ext cx="5032479" cy="1197047"/>
          </a:xfrm>
          <a:prstGeom prst="rect">
            <a:avLst/>
          </a:prstGeom>
        </p:spPr>
        <p:txBody>
          <a:bodyPr anchor="t" rtlCol="false" tIns="0" lIns="0" bIns="0" rIns="0">
            <a:spAutoFit/>
          </a:bodyPr>
          <a:lstStyle/>
          <a:p>
            <a:pPr algn="l" marL="0" indent="0" lvl="0">
              <a:lnSpc>
                <a:spcPts val="9811"/>
              </a:lnSpc>
              <a:spcBef>
                <a:spcPct val="0"/>
              </a:spcBef>
            </a:pPr>
            <a:r>
              <a:rPr lang="en-US" b="true" sz="7008">
                <a:solidFill>
                  <a:srgbClr val="003E7E"/>
                </a:solidFill>
                <a:latin typeface="Helvetica Now Bold"/>
                <a:ea typeface="Helvetica Now Bold"/>
                <a:cs typeface="Helvetica Now Bold"/>
                <a:sym typeface="Helvetica Now Bold"/>
              </a:rPr>
              <a:t>BUSINESS</a:t>
            </a:r>
          </a:p>
        </p:txBody>
      </p:sp>
      <p:sp>
        <p:nvSpPr>
          <p:cNvPr name="TextBox 8" id="8"/>
          <p:cNvSpPr txBox="true"/>
          <p:nvPr/>
        </p:nvSpPr>
        <p:spPr>
          <a:xfrm rot="0">
            <a:off x="11362836" y="2806210"/>
            <a:ext cx="5032479" cy="1197047"/>
          </a:xfrm>
          <a:prstGeom prst="rect">
            <a:avLst/>
          </a:prstGeom>
        </p:spPr>
        <p:txBody>
          <a:bodyPr anchor="t" rtlCol="false" tIns="0" lIns="0" bIns="0" rIns="0">
            <a:spAutoFit/>
          </a:bodyPr>
          <a:lstStyle/>
          <a:p>
            <a:pPr algn="l" marL="0" indent="0" lvl="0">
              <a:lnSpc>
                <a:spcPts val="9811"/>
              </a:lnSpc>
              <a:spcBef>
                <a:spcPct val="0"/>
              </a:spcBef>
            </a:pPr>
            <a:r>
              <a:rPr lang="en-US" b="true" sz="7008">
                <a:solidFill>
                  <a:srgbClr val="000000"/>
                </a:solidFill>
                <a:latin typeface="Helvetica Now Bold"/>
                <a:ea typeface="Helvetica Now Bold"/>
                <a:cs typeface="Helvetica Now Bold"/>
                <a:sym typeface="Helvetica Now Bold"/>
              </a:rPr>
              <a:t>MODEL</a:t>
            </a:r>
          </a:p>
        </p:txBody>
      </p:sp>
      <p:sp>
        <p:nvSpPr>
          <p:cNvPr name="TextBox 9" id="9"/>
          <p:cNvSpPr txBox="true"/>
          <p:nvPr/>
        </p:nvSpPr>
        <p:spPr>
          <a:xfrm rot="0">
            <a:off x="11362836" y="4856772"/>
            <a:ext cx="3220782" cy="732616"/>
          </a:xfrm>
          <a:prstGeom prst="rect">
            <a:avLst/>
          </a:prstGeom>
        </p:spPr>
        <p:txBody>
          <a:bodyPr anchor="t" rtlCol="false" tIns="0" lIns="0" bIns="0" rIns="0">
            <a:spAutoFit/>
          </a:bodyPr>
          <a:lstStyle/>
          <a:p>
            <a:pPr algn="l" marL="0" indent="0" lvl="0">
              <a:lnSpc>
                <a:spcPts val="2964"/>
              </a:lnSpc>
              <a:spcBef>
                <a:spcPct val="0"/>
              </a:spcBef>
            </a:pPr>
            <a:r>
              <a:rPr lang="en-US" b="true" sz="2117">
                <a:solidFill>
                  <a:srgbClr val="003E7E"/>
                </a:solidFill>
                <a:latin typeface="Public Sans Bold"/>
                <a:ea typeface="Public Sans Bold"/>
                <a:cs typeface="Public Sans Bold"/>
                <a:sym typeface="Public Sans Bold"/>
              </a:rPr>
              <a:t>Revenue Streams &amp; Diversification</a:t>
            </a:r>
          </a:p>
        </p:txBody>
      </p:sp>
      <p:grpSp>
        <p:nvGrpSpPr>
          <p:cNvPr name="Group 10" id="10"/>
          <p:cNvGrpSpPr/>
          <p:nvPr/>
        </p:nvGrpSpPr>
        <p:grpSpPr>
          <a:xfrm rot="0">
            <a:off x="1534840" y="2515036"/>
            <a:ext cx="7609160" cy="1332842"/>
            <a:chOff x="0" y="0"/>
            <a:chExt cx="2320127" cy="406400"/>
          </a:xfrm>
        </p:grpSpPr>
        <p:sp>
          <p:nvSpPr>
            <p:cNvPr name="Freeform 11" id="11"/>
            <p:cNvSpPr/>
            <p:nvPr/>
          </p:nvSpPr>
          <p:spPr>
            <a:xfrm flipH="false" flipV="false" rot="0">
              <a:off x="0" y="0"/>
              <a:ext cx="2320127" cy="406400"/>
            </a:xfrm>
            <a:custGeom>
              <a:avLst/>
              <a:gdLst/>
              <a:ahLst/>
              <a:cxnLst/>
              <a:rect r="r" b="b" t="t" l="l"/>
              <a:pathLst>
                <a:path h="406400" w="2320127">
                  <a:moveTo>
                    <a:pt x="2116927" y="0"/>
                  </a:moveTo>
                  <a:cubicBezTo>
                    <a:pt x="2229151" y="0"/>
                    <a:pt x="2320127" y="90976"/>
                    <a:pt x="2320127" y="203200"/>
                  </a:cubicBezTo>
                  <a:cubicBezTo>
                    <a:pt x="2320127" y="315424"/>
                    <a:pt x="2229151" y="406400"/>
                    <a:pt x="2116927" y="406400"/>
                  </a:cubicBezTo>
                  <a:lnTo>
                    <a:pt x="203200" y="406400"/>
                  </a:lnTo>
                  <a:cubicBezTo>
                    <a:pt x="90976" y="406400"/>
                    <a:pt x="0" y="315424"/>
                    <a:pt x="0" y="203200"/>
                  </a:cubicBezTo>
                  <a:cubicBezTo>
                    <a:pt x="0" y="90976"/>
                    <a:pt x="90976" y="0"/>
                    <a:pt x="203200" y="0"/>
                  </a:cubicBezTo>
                  <a:close/>
                </a:path>
              </a:pathLst>
            </a:custGeom>
            <a:ln w="19050" cap="sq">
              <a:solidFill>
                <a:srgbClr val="003E7E"/>
              </a:solidFill>
              <a:prstDash val="solid"/>
              <a:miter/>
            </a:ln>
          </p:spPr>
        </p:sp>
        <p:sp>
          <p:nvSpPr>
            <p:cNvPr name="TextBox 12" id="12"/>
            <p:cNvSpPr txBox="true"/>
            <p:nvPr/>
          </p:nvSpPr>
          <p:spPr>
            <a:xfrm>
              <a:off x="0" y="-57150"/>
              <a:ext cx="2320127" cy="463550"/>
            </a:xfrm>
            <a:prstGeom prst="rect">
              <a:avLst/>
            </a:prstGeom>
          </p:spPr>
          <p:txBody>
            <a:bodyPr anchor="ctr" rtlCol="false" tIns="50800" lIns="50800" bIns="50800" rIns="50800"/>
            <a:lstStyle/>
            <a:p>
              <a:pPr algn="ctr" marL="0" indent="0" lvl="0">
                <a:lnSpc>
                  <a:spcPts val="3428"/>
                </a:lnSpc>
              </a:pPr>
            </a:p>
          </p:txBody>
        </p:sp>
      </p:grpSp>
      <p:sp>
        <p:nvSpPr>
          <p:cNvPr name="Freeform 13" id="13"/>
          <p:cNvSpPr/>
          <p:nvPr/>
        </p:nvSpPr>
        <p:spPr>
          <a:xfrm flipH="true" flipV="true" rot="0">
            <a:off x="-2662762" y="4181911"/>
            <a:ext cx="5690196" cy="10393052"/>
          </a:xfrm>
          <a:custGeom>
            <a:avLst/>
            <a:gdLst/>
            <a:ahLst/>
            <a:cxnLst/>
            <a:rect r="r" b="b" t="t" l="l"/>
            <a:pathLst>
              <a:path h="10393052" w="5690196">
                <a:moveTo>
                  <a:pt x="5690196" y="10393051"/>
                </a:moveTo>
                <a:lnTo>
                  <a:pt x="0" y="10393051"/>
                </a:lnTo>
                <a:lnTo>
                  <a:pt x="0" y="0"/>
                </a:lnTo>
                <a:lnTo>
                  <a:pt x="5690196" y="0"/>
                </a:lnTo>
                <a:lnTo>
                  <a:pt x="5690196" y="10393051"/>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14" id="14"/>
          <p:cNvGrpSpPr/>
          <p:nvPr/>
        </p:nvGrpSpPr>
        <p:grpSpPr>
          <a:xfrm rot="0">
            <a:off x="1534840" y="4181911"/>
            <a:ext cx="7609160" cy="1332842"/>
            <a:chOff x="0" y="0"/>
            <a:chExt cx="2320127" cy="406400"/>
          </a:xfrm>
        </p:grpSpPr>
        <p:sp>
          <p:nvSpPr>
            <p:cNvPr name="Freeform 15" id="15"/>
            <p:cNvSpPr/>
            <p:nvPr/>
          </p:nvSpPr>
          <p:spPr>
            <a:xfrm flipH="false" flipV="false" rot="0">
              <a:off x="0" y="0"/>
              <a:ext cx="2320127" cy="406400"/>
            </a:xfrm>
            <a:custGeom>
              <a:avLst/>
              <a:gdLst/>
              <a:ahLst/>
              <a:cxnLst/>
              <a:rect r="r" b="b" t="t" l="l"/>
              <a:pathLst>
                <a:path h="406400" w="2320127">
                  <a:moveTo>
                    <a:pt x="2116927" y="0"/>
                  </a:moveTo>
                  <a:cubicBezTo>
                    <a:pt x="2229151" y="0"/>
                    <a:pt x="2320127" y="90976"/>
                    <a:pt x="2320127" y="203200"/>
                  </a:cubicBezTo>
                  <a:cubicBezTo>
                    <a:pt x="2320127" y="315424"/>
                    <a:pt x="2229151" y="406400"/>
                    <a:pt x="2116927" y="406400"/>
                  </a:cubicBezTo>
                  <a:lnTo>
                    <a:pt x="203200" y="406400"/>
                  </a:lnTo>
                  <a:cubicBezTo>
                    <a:pt x="90976" y="406400"/>
                    <a:pt x="0" y="315424"/>
                    <a:pt x="0" y="203200"/>
                  </a:cubicBezTo>
                  <a:cubicBezTo>
                    <a:pt x="0" y="90976"/>
                    <a:pt x="90976" y="0"/>
                    <a:pt x="203200" y="0"/>
                  </a:cubicBezTo>
                  <a:close/>
                </a:path>
              </a:pathLst>
            </a:custGeom>
            <a:ln w="19050" cap="sq">
              <a:solidFill>
                <a:srgbClr val="003E7E"/>
              </a:solidFill>
              <a:prstDash val="solid"/>
              <a:miter/>
            </a:ln>
          </p:spPr>
        </p:sp>
        <p:sp>
          <p:nvSpPr>
            <p:cNvPr name="TextBox 16" id="16"/>
            <p:cNvSpPr txBox="true"/>
            <p:nvPr/>
          </p:nvSpPr>
          <p:spPr>
            <a:xfrm>
              <a:off x="0" y="-57150"/>
              <a:ext cx="2320127" cy="463550"/>
            </a:xfrm>
            <a:prstGeom prst="rect">
              <a:avLst/>
            </a:prstGeom>
          </p:spPr>
          <p:txBody>
            <a:bodyPr anchor="ctr" rtlCol="false" tIns="50800" lIns="50800" bIns="50800" rIns="50800"/>
            <a:lstStyle/>
            <a:p>
              <a:pPr algn="ctr" marL="0" indent="0" lvl="0">
                <a:lnSpc>
                  <a:spcPts val="3428"/>
                </a:lnSpc>
              </a:pPr>
            </a:p>
          </p:txBody>
        </p:sp>
      </p:grpSp>
      <p:grpSp>
        <p:nvGrpSpPr>
          <p:cNvPr name="Group 17" id="17"/>
          <p:cNvGrpSpPr/>
          <p:nvPr/>
        </p:nvGrpSpPr>
        <p:grpSpPr>
          <a:xfrm rot="0">
            <a:off x="1534840" y="5848786"/>
            <a:ext cx="7609160" cy="1332842"/>
            <a:chOff x="0" y="0"/>
            <a:chExt cx="2320127" cy="406400"/>
          </a:xfrm>
        </p:grpSpPr>
        <p:sp>
          <p:nvSpPr>
            <p:cNvPr name="Freeform 18" id="18"/>
            <p:cNvSpPr/>
            <p:nvPr/>
          </p:nvSpPr>
          <p:spPr>
            <a:xfrm flipH="false" flipV="false" rot="0">
              <a:off x="0" y="0"/>
              <a:ext cx="2320127" cy="406400"/>
            </a:xfrm>
            <a:custGeom>
              <a:avLst/>
              <a:gdLst/>
              <a:ahLst/>
              <a:cxnLst/>
              <a:rect r="r" b="b" t="t" l="l"/>
              <a:pathLst>
                <a:path h="406400" w="2320127">
                  <a:moveTo>
                    <a:pt x="2116927" y="0"/>
                  </a:moveTo>
                  <a:cubicBezTo>
                    <a:pt x="2229151" y="0"/>
                    <a:pt x="2320127" y="90976"/>
                    <a:pt x="2320127" y="203200"/>
                  </a:cubicBezTo>
                  <a:cubicBezTo>
                    <a:pt x="2320127" y="315424"/>
                    <a:pt x="2229151" y="406400"/>
                    <a:pt x="2116927" y="406400"/>
                  </a:cubicBezTo>
                  <a:lnTo>
                    <a:pt x="203200" y="406400"/>
                  </a:lnTo>
                  <a:cubicBezTo>
                    <a:pt x="90976" y="406400"/>
                    <a:pt x="0" y="315424"/>
                    <a:pt x="0" y="203200"/>
                  </a:cubicBezTo>
                  <a:cubicBezTo>
                    <a:pt x="0" y="90976"/>
                    <a:pt x="90976" y="0"/>
                    <a:pt x="203200" y="0"/>
                  </a:cubicBezTo>
                  <a:close/>
                </a:path>
              </a:pathLst>
            </a:custGeom>
            <a:ln w="19050" cap="sq">
              <a:solidFill>
                <a:srgbClr val="003E7E"/>
              </a:solidFill>
              <a:prstDash val="solid"/>
              <a:miter/>
            </a:ln>
          </p:spPr>
        </p:sp>
        <p:sp>
          <p:nvSpPr>
            <p:cNvPr name="TextBox 19" id="19"/>
            <p:cNvSpPr txBox="true"/>
            <p:nvPr/>
          </p:nvSpPr>
          <p:spPr>
            <a:xfrm>
              <a:off x="0" y="-57150"/>
              <a:ext cx="2320127" cy="463550"/>
            </a:xfrm>
            <a:prstGeom prst="rect">
              <a:avLst/>
            </a:prstGeom>
          </p:spPr>
          <p:txBody>
            <a:bodyPr anchor="ctr" rtlCol="false" tIns="50800" lIns="50800" bIns="50800" rIns="50800"/>
            <a:lstStyle/>
            <a:p>
              <a:pPr algn="ctr" marL="0" indent="0" lvl="0">
                <a:lnSpc>
                  <a:spcPts val="3428"/>
                </a:lnSpc>
              </a:pPr>
            </a:p>
          </p:txBody>
        </p:sp>
      </p:grpSp>
      <p:grpSp>
        <p:nvGrpSpPr>
          <p:cNvPr name="Group 20" id="20"/>
          <p:cNvGrpSpPr/>
          <p:nvPr/>
        </p:nvGrpSpPr>
        <p:grpSpPr>
          <a:xfrm rot="0">
            <a:off x="1534840" y="7515661"/>
            <a:ext cx="7609160" cy="1332842"/>
            <a:chOff x="0" y="0"/>
            <a:chExt cx="2320127" cy="406400"/>
          </a:xfrm>
        </p:grpSpPr>
        <p:sp>
          <p:nvSpPr>
            <p:cNvPr name="Freeform 21" id="21"/>
            <p:cNvSpPr/>
            <p:nvPr/>
          </p:nvSpPr>
          <p:spPr>
            <a:xfrm flipH="false" flipV="false" rot="0">
              <a:off x="0" y="0"/>
              <a:ext cx="2320127" cy="406400"/>
            </a:xfrm>
            <a:custGeom>
              <a:avLst/>
              <a:gdLst/>
              <a:ahLst/>
              <a:cxnLst/>
              <a:rect r="r" b="b" t="t" l="l"/>
              <a:pathLst>
                <a:path h="406400" w="2320127">
                  <a:moveTo>
                    <a:pt x="2116927" y="0"/>
                  </a:moveTo>
                  <a:cubicBezTo>
                    <a:pt x="2229151" y="0"/>
                    <a:pt x="2320127" y="90976"/>
                    <a:pt x="2320127" y="203200"/>
                  </a:cubicBezTo>
                  <a:cubicBezTo>
                    <a:pt x="2320127" y="315424"/>
                    <a:pt x="2229151" y="406400"/>
                    <a:pt x="2116927" y="406400"/>
                  </a:cubicBezTo>
                  <a:lnTo>
                    <a:pt x="203200" y="406400"/>
                  </a:lnTo>
                  <a:cubicBezTo>
                    <a:pt x="90976" y="406400"/>
                    <a:pt x="0" y="315424"/>
                    <a:pt x="0" y="203200"/>
                  </a:cubicBezTo>
                  <a:cubicBezTo>
                    <a:pt x="0" y="90976"/>
                    <a:pt x="90976" y="0"/>
                    <a:pt x="203200" y="0"/>
                  </a:cubicBezTo>
                  <a:close/>
                </a:path>
              </a:pathLst>
            </a:custGeom>
            <a:ln w="19050" cap="sq">
              <a:solidFill>
                <a:srgbClr val="003E7E"/>
              </a:solidFill>
              <a:prstDash val="solid"/>
              <a:miter/>
            </a:ln>
          </p:spPr>
        </p:sp>
        <p:sp>
          <p:nvSpPr>
            <p:cNvPr name="TextBox 22" id="22"/>
            <p:cNvSpPr txBox="true"/>
            <p:nvPr/>
          </p:nvSpPr>
          <p:spPr>
            <a:xfrm>
              <a:off x="0" y="-57150"/>
              <a:ext cx="2320127" cy="463550"/>
            </a:xfrm>
            <a:prstGeom prst="rect">
              <a:avLst/>
            </a:prstGeom>
          </p:spPr>
          <p:txBody>
            <a:bodyPr anchor="ctr" rtlCol="false" tIns="50800" lIns="50800" bIns="50800" rIns="50800"/>
            <a:lstStyle/>
            <a:p>
              <a:pPr algn="ctr" marL="0" indent="0" lvl="0">
                <a:lnSpc>
                  <a:spcPts val="3428"/>
                </a:lnSpc>
              </a:pPr>
            </a:p>
          </p:txBody>
        </p:sp>
      </p:grpSp>
      <p:sp>
        <p:nvSpPr>
          <p:cNvPr name="TextBox 23" id="23"/>
          <p:cNvSpPr txBox="true"/>
          <p:nvPr/>
        </p:nvSpPr>
        <p:spPr>
          <a:xfrm rot="0">
            <a:off x="3345802" y="2724256"/>
            <a:ext cx="4408548" cy="638175"/>
          </a:xfrm>
          <a:prstGeom prst="rect">
            <a:avLst/>
          </a:prstGeom>
        </p:spPr>
        <p:txBody>
          <a:bodyPr anchor="t" rtlCol="false" tIns="0" lIns="0" bIns="0" rIns="0">
            <a:spAutoFit/>
          </a:bodyPr>
          <a:lstStyle/>
          <a:p>
            <a:pPr algn="l" marL="0" indent="0" lvl="0">
              <a:lnSpc>
                <a:spcPts val="2540"/>
              </a:lnSpc>
            </a:pPr>
            <a:r>
              <a:rPr lang="en-US" b="true" sz="2117">
                <a:solidFill>
                  <a:srgbClr val="003E7E"/>
                </a:solidFill>
                <a:latin typeface="Public Sans Bold"/>
                <a:ea typeface="Public Sans Bold"/>
                <a:cs typeface="Public Sans Bold"/>
                <a:sym typeface="Public Sans Bold"/>
              </a:rPr>
              <a:t>Device sales and enterprise software subscriptions</a:t>
            </a:r>
          </a:p>
        </p:txBody>
      </p:sp>
      <p:sp>
        <p:nvSpPr>
          <p:cNvPr name="TextBox 24" id="24"/>
          <p:cNvSpPr txBox="true"/>
          <p:nvPr/>
        </p:nvSpPr>
        <p:spPr>
          <a:xfrm rot="0">
            <a:off x="2191805" y="2803149"/>
            <a:ext cx="1153997" cy="527389"/>
          </a:xfrm>
          <a:prstGeom prst="rect">
            <a:avLst/>
          </a:prstGeom>
        </p:spPr>
        <p:txBody>
          <a:bodyPr anchor="t" rtlCol="false" tIns="0" lIns="0" bIns="0" rIns="0">
            <a:spAutoFit/>
          </a:bodyPr>
          <a:lstStyle/>
          <a:p>
            <a:pPr algn="l" marL="0" indent="0" lvl="0">
              <a:lnSpc>
                <a:spcPts val="4185"/>
              </a:lnSpc>
            </a:pPr>
            <a:r>
              <a:rPr lang="en-US" b="true" sz="3488">
                <a:solidFill>
                  <a:srgbClr val="003E7E"/>
                </a:solidFill>
                <a:latin typeface="Public Sans Bold"/>
                <a:ea typeface="Public Sans Bold"/>
                <a:cs typeface="Public Sans Bold"/>
                <a:sym typeface="Public Sans Bold"/>
              </a:rPr>
              <a:t>01</a:t>
            </a:r>
          </a:p>
        </p:txBody>
      </p:sp>
      <p:sp>
        <p:nvSpPr>
          <p:cNvPr name="TextBox 25" id="25"/>
          <p:cNvSpPr txBox="true"/>
          <p:nvPr/>
        </p:nvSpPr>
        <p:spPr>
          <a:xfrm rot="0">
            <a:off x="2191805" y="4470024"/>
            <a:ext cx="1153997" cy="527389"/>
          </a:xfrm>
          <a:prstGeom prst="rect">
            <a:avLst/>
          </a:prstGeom>
        </p:spPr>
        <p:txBody>
          <a:bodyPr anchor="t" rtlCol="false" tIns="0" lIns="0" bIns="0" rIns="0">
            <a:spAutoFit/>
          </a:bodyPr>
          <a:lstStyle/>
          <a:p>
            <a:pPr algn="l" marL="0" indent="0" lvl="0">
              <a:lnSpc>
                <a:spcPts val="4185"/>
              </a:lnSpc>
            </a:pPr>
            <a:r>
              <a:rPr lang="en-US" b="true" sz="3488">
                <a:solidFill>
                  <a:srgbClr val="003E7E"/>
                </a:solidFill>
                <a:latin typeface="Public Sans Bold"/>
                <a:ea typeface="Public Sans Bold"/>
                <a:cs typeface="Public Sans Bold"/>
                <a:sym typeface="Public Sans Bold"/>
              </a:rPr>
              <a:t>02</a:t>
            </a:r>
          </a:p>
        </p:txBody>
      </p:sp>
      <p:sp>
        <p:nvSpPr>
          <p:cNvPr name="TextBox 26" id="26"/>
          <p:cNvSpPr txBox="true"/>
          <p:nvPr/>
        </p:nvSpPr>
        <p:spPr>
          <a:xfrm rot="0">
            <a:off x="3345802" y="4391132"/>
            <a:ext cx="4980887" cy="638175"/>
          </a:xfrm>
          <a:prstGeom prst="rect">
            <a:avLst/>
          </a:prstGeom>
        </p:spPr>
        <p:txBody>
          <a:bodyPr anchor="t" rtlCol="false" tIns="0" lIns="0" bIns="0" rIns="0">
            <a:spAutoFit/>
          </a:bodyPr>
          <a:lstStyle/>
          <a:p>
            <a:pPr algn="l" marL="0" indent="0" lvl="0">
              <a:lnSpc>
                <a:spcPts val="2540"/>
              </a:lnSpc>
            </a:pPr>
            <a:r>
              <a:rPr lang="en-US" b="true" sz="2117">
                <a:solidFill>
                  <a:srgbClr val="003E7E"/>
                </a:solidFill>
                <a:latin typeface="Public Sans Bold"/>
                <a:ea typeface="Public Sans Bold"/>
                <a:cs typeface="Public Sans Bold"/>
                <a:sym typeface="Public Sans Bold"/>
              </a:rPr>
              <a:t>Fleet management licenses and premium AI feature tiers</a:t>
            </a:r>
          </a:p>
        </p:txBody>
      </p:sp>
      <p:sp>
        <p:nvSpPr>
          <p:cNvPr name="TextBox 27" id="27"/>
          <p:cNvSpPr txBox="true"/>
          <p:nvPr/>
        </p:nvSpPr>
        <p:spPr>
          <a:xfrm rot="0">
            <a:off x="11362836" y="6192156"/>
            <a:ext cx="5032479" cy="2656381"/>
          </a:xfrm>
          <a:prstGeom prst="rect">
            <a:avLst/>
          </a:prstGeom>
        </p:spPr>
        <p:txBody>
          <a:bodyPr anchor="t" rtlCol="false" tIns="0" lIns="0" bIns="0" rIns="0">
            <a:spAutoFit/>
          </a:bodyPr>
          <a:lstStyle/>
          <a:p>
            <a:pPr algn="l" marL="0" indent="0" lvl="0">
              <a:lnSpc>
                <a:spcPts val="2685"/>
              </a:lnSpc>
              <a:spcBef>
                <a:spcPct val="0"/>
              </a:spcBef>
            </a:pPr>
            <a:r>
              <a:rPr lang="en-US" sz="1918">
                <a:solidFill>
                  <a:srgbClr val="343434"/>
                </a:solidFill>
                <a:latin typeface="Public Sans"/>
                <a:ea typeface="Public Sans"/>
                <a:cs typeface="Public Sans"/>
                <a:sym typeface="Public Sans"/>
              </a:rPr>
              <a:t>AetherLink Glass generates revenue across multiple streams — from direct hardware sales to recurring enterprise contracts. This diversified model ensures long-term stability, reduces dependence on device volume alone, and scales with adoption across consumer, professional, and enterprise segments.</a:t>
            </a:r>
          </a:p>
        </p:txBody>
      </p:sp>
      <p:sp>
        <p:nvSpPr>
          <p:cNvPr name="TextBox 28" id="28"/>
          <p:cNvSpPr txBox="true"/>
          <p:nvPr/>
        </p:nvSpPr>
        <p:spPr>
          <a:xfrm rot="0">
            <a:off x="3027434" y="725677"/>
            <a:ext cx="1285113" cy="567975"/>
          </a:xfrm>
          <a:prstGeom prst="rect">
            <a:avLst/>
          </a:prstGeom>
        </p:spPr>
        <p:txBody>
          <a:bodyPr anchor="t" rtlCol="false" tIns="0" lIns="0" bIns="0" rIns="0">
            <a:spAutoFit/>
          </a:bodyPr>
          <a:lstStyle/>
          <a:p>
            <a:pPr algn="l" marL="0" indent="0" lvl="0">
              <a:lnSpc>
                <a:spcPts val="2272"/>
              </a:lnSpc>
              <a:spcBef>
                <a:spcPct val="0"/>
              </a:spcBef>
            </a:pPr>
            <a:r>
              <a:rPr lang="en-US" sz="1623">
                <a:solidFill>
                  <a:srgbClr val="000000"/>
                </a:solidFill>
                <a:latin typeface="Public Sans"/>
                <a:ea typeface="Public Sans"/>
                <a:cs typeface="Public Sans"/>
                <a:sym typeface="Public Sans"/>
              </a:rPr>
              <a:t>AetherLink Glass</a:t>
            </a:r>
          </a:p>
        </p:txBody>
      </p:sp>
      <p:sp>
        <p:nvSpPr>
          <p:cNvPr name="TextBox 29" id="29"/>
          <p:cNvSpPr txBox="true"/>
          <p:nvPr/>
        </p:nvSpPr>
        <p:spPr>
          <a:xfrm rot="0">
            <a:off x="3345802" y="6058007"/>
            <a:ext cx="4408548" cy="638175"/>
          </a:xfrm>
          <a:prstGeom prst="rect">
            <a:avLst/>
          </a:prstGeom>
        </p:spPr>
        <p:txBody>
          <a:bodyPr anchor="t" rtlCol="false" tIns="0" lIns="0" bIns="0" rIns="0">
            <a:spAutoFit/>
          </a:bodyPr>
          <a:lstStyle/>
          <a:p>
            <a:pPr algn="l" marL="0" indent="0" lvl="0">
              <a:lnSpc>
                <a:spcPts val="2540"/>
              </a:lnSpc>
            </a:pPr>
            <a:r>
              <a:rPr lang="en-US" b="true" sz="2117">
                <a:solidFill>
                  <a:srgbClr val="003E7E"/>
                </a:solidFill>
                <a:latin typeface="Public Sans Bold"/>
                <a:ea typeface="Public Sans Bold"/>
                <a:cs typeface="Public Sans Bold"/>
                <a:sym typeface="Public Sans Bold"/>
              </a:rPr>
              <a:t>Service contracts and prescription &amp; accessory partnerships</a:t>
            </a:r>
          </a:p>
        </p:txBody>
      </p:sp>
      <p:sp>
        <p:nvSpPr>
          <p:cNvPr name="TextBox 30" id="30"/>
          <p:cNvSpPr txBox="true"/>
          <p:nvPr/>
        </p:nvSpPr>
        <p:spPr>
          <a:xfrm rot="0">
            <a:off x="3345802" y="7724882"/>
            <a:ext cx="4980887" cy="638175"/>
          </a:xfrm>
          <a:prstGeom prst="rect">
            <a:avLst/>
          </a:prstGeom>
        </p:spPr>
        <p:txBody>
          <a:bodyPr anchor="t" rtlCol="false" tIns="0" lIns="0" bIns="0" rIns="0">
            <a:spAutoFit/>
          </a:bodyPr>
          <a:lstStyle/>
          <a:p>
            <a:pPr algn="l" marL="0" indent="0" lvl="0">
              <a:lnSpc>
                <a:spcPts val="2540"/>
              </a:lnSpc>
            </a:pPr>
            <a:r>
              <a:rPr lang="en-US" b="true" sz="2117">
                <a:solidFill>
                  <a:srgbClr val="003E7E"/>
                </a:solidFill>
                <a:latin typeface="Public Sans Bold"/>
                <a:ea typeface="Public Sans Bold"/>
                <a:cs typeface="Public Sans Bold"/>
                <a:sym typeface="Public Sans Bold"/>
              </a:rPr>
              <a:t>Developer ecosystem fees and third-party integration revenue</a:t>
            </a:r>
          </a:p>
        </p:txBody>
      </p:sp>
      <p:sp>
        <p:nvSpPr>
          <p:cNvPr name="TextBox 31" id="31"/>
          <p:cNvSpPr txBox="true"/>
          <p:nvPr/>
        </p:nvSpPr>
        <p:spPr>
          <a:xfrm rot="0">
            <a:off x="2191805" y="6136899"/>
            <a:ext cx="1153997" cy="527389"/>
          </a:xfrm>
          <a:prstGeom prst="rect">
            <a:avLst/>
          </a:prstGeom>
        </p:spPr>
        <p:txBody>
          <a:bodyPr anchor="t" rtlCol="false" tIns="0" lIns="0" bIns="0" rIns="0">
            <a:spAutoFit/>
          </a:bodyPr>
          <a:lstStyle/>
          <a:p>
            <a:pPr algn="l" marL="0" indent="0" lvl="0">
              <a:lnSpc>
                <a:spcPts val="4185"/>
              </a:lnSpc>
            </a:pPr>
            <a:r>
              <a:rPr lang="en-US" b="true" sz="3488">
                <a:solidFill>
                  <a:srgbClr val="003E7E"/>
                </a:solidFill>
                <a:latin typeface="Public Sans Bold"/>
                <a:ea typeface="Public Sans Bold"/>
                <a:cs typeface="Public Sans Bold"/>
                <a:sym typeface="Public Sans Bold"/>
              </a:rPr>
              <a:t>03</a:t>
            </a:r>
          </a:p>
        </p:txBody>
      </p:sp>
      <p:sp>
        <p:nvSpPr>
          <p:cNvPr name="TextBox 32" id="32"/>
          <p:cNvSpPr txBox="true"/>
          <p:nvPr/>
        </p:nvSpPr>
        <p:spPr>
          <a:xfrm rot="0">
            <a:off x="2191805" y="7803774"/>
            <a:ext cx="1153997" cy="527389"/>
          </a:xfrm>
          <a:prstGeom prst="rect">
            <a:avLst/>
          </a:prstGeom>
        </p:spPr>
        <p:txBody>
          <a:bodyPr anchor="t" rtlCol="false" tIns="0" lIns="0" bIns="0" rIns="0">
            <a:spAutoFit/>
          </a:bodyPr>
          <a:lstStyle/>
          <a:p>
            <a:pPr algn="l" marL="0" indent="0" lvl="0">
              <a:lnSpc>
                <a:spcPts val="4185"/>
              </a:lnSpc>
            </a:pPr>
            <a:r>
              <a:rPr lang="en-US" b="true" sz="3488">
                <a:solidFill>
                  <a:srgbClr val="003E7E"/>
                </a:solidFill>
                <a:latin typeface="Public Sans Bold"/>
                <a:ea typeface="Public Sans Bold"/>
                <a:cs typeface="Public Sans Bold"/>
                <a:sym typeface="Public Sans Bold"/>
              </a:rPr>
              <a:t>04</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40109" t="-29261" r="0" b="-13027"/>
            </a:stretch>
          </a:blipFill>
        </p:spPr>
      </p:sp>
      <p:grpSp>
        <p:nvGrpSpPr>
          <p:cNvPr name="Group 3" id="3"/>
          <p:cNvGrpSpPr/>
          <p:nvPr/>
        </p:nvGrpSpPr>
        <p:grpSpPr>
          <a:xfrm rot="0">
            <a:off x="1534840" y="642100"/>
            <a:ext cx="1313931" cy="773201"/>
            <a:chOff x="0" y="0"/>
            <a:chExt cx="690612" cy="406400"/>
          </a:xfrm>
        </p:grpSpPr>
        <p:sp>
          <p:nvSpPr>
            <p:cNvPr name="Freeform 4" id="4"/>
            <p:cNvSpPr/>
            <p:nvPr/>
          </p:nvSpPr>
          <p:spPr>
            <a:xfrm flipH="false" flipV="false" rot="0">
              <a:off x="0" y="0"/>
              <a:ext cx="690612" cy="406400"/>
            </a:xfrm>
            <a:custGeom>
              <a:avLst/>
              <a:gdLst/>
              <a:ahLst/>
              <a:cxnLst/>
              <a:rect r="r" b="b" t="t" l="l"/>
              <a:pathLst>
                <a:path h="406400" w="690612">
                  <a:moveTo>
                    <a:pt x="487412" y="0"/>
                  </a:moveTo>
                  <a:cubicBezTo>
                    <a:pt x="599636" y="0"/>
                    <a:pt x="690612" y="90976"/>
                    <a:pt x="690612" y="203200"/>
                  </a:cubicBezTo>
                  <a:cubicBezTo>
                    <a:pt x="690612" y="315424"/>
                    <a:pt x="599636" y="406400"/>
                    <a:pt x="487412"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5" id="5"/>
            <p:cNvSpPr txBox="true"/>
            <p:nvPr/>
          </p:nvSpPr>
          <p:spPr>
            <a:xfrm>
              <a:off x="0" y="-57150"/>
              <a:ext cx="690612" cy="463550"/>
            </a:xfrm>
            <a:prstGeom prst="rect">
              <a:avLst/>
            </a:prstGeom>
          </p:spPr>
          <p:txBody>
            <a:bodyPr anchor="ctr" rtlCol="false" tIns="50800" lIns="50800" bIns="50800" rIns="50800"/>
            <a:lstStyle/>
            <a:p>
              <a:pPr algn="ctr" marL="0" indent="0" lvl="0">
                <a:lnSpc>
                  <a:spcPts val="3428"/>
                </a:lnSpc>
              </a:pPr>
            </a:p>
          </p:txBody>
        </p:sp>
      </p:grpSp>
      <p:sp>
        <p:nvSpPr>
          <p:cNvPr name="Freeform 6" id="6"/>
          <p:cNvSpPr/>
          <p:nvPr/>
        </p:nvSpPr>
        <p:spPr>
          <a:xfrm flipH="false" flipV="false" rot="0">
            <a:off x="1886092" y="789479"/>
            <a:ext cx="611427" cy="478441"/>
          </a:xfrm>
          <a:custGeom>
            <a:avLst/>
            <a:gdLst/>
            <a:ahLst/>
            <a:cxnLst/>
            <a:rect r="r" b="b" t="t" l="l"/>
            <a:pathLst>
              <a:path h="478441" w="611427">
                <a:moveTo>
                  <a:pt x="0" y="0"/>
                </a:moveTo>
                <a:lnTo>
                  <a:pt x="611427" y="0"/>
                </a:lnTo>
                <a:lnTo>
                  <a:pt x="611427" y="478442"/>
                </a:lnTo>
                <a:lnTo>
                  <a:pt x="0" y="478442"/>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7" id="7"/>
          <p:cNvSpPr txBox="true"/>
          <p:nvPr/>
        </p:nvSpPr>
        <p:spPr>
          <a:xfrm rot="0">
            <a:off x="3027434" y="725677"/>
            <a:ext cx="1285113" cy="567975"/>
          </a:xfrm>
          <a:prstGeom prst="rect">
            <a:avLst/>
          </a:prstGeom>
        </p:spPr>
        <p:txBody>
          <a:bodyPr anchor="t" rtlCol="false" tIns="0" lIns="0" bIns="0" rIns="0">
            <a:spAutoFit/>
          </a:bodyPr>
          <a:lstStyle/>
          <a:p>
            <a:pPr algn="l" marL="0" indent="0" lvl="0">
              <a:lnSpc>
                <a:spcPts val="2272"/>
              </a:lnSpc>
              <a:spcBef>
                <a:spcPct val="0"/>
              </a:spcBef>
            </a:pPr>
            <a:r>
              <a:rPr lang="en-US" sz="1623">
                <a:solidFill>
                  <a:srgbClr val="000000"/>
                </a:solidFill>
                <a:latin typeface="Public Sans"/>
                <a:ea typeface="Public Sans"/>
                <a:cs typeface="Public Sans"/>
                <a:sym typeface="Public Sans"/>
              </a:rPr>
              <a:t>AetherLink Glass</a:t>
            </a:r>
          </a:p>
        </p:txBody>
      </p:sp>
      <p:sp>
        <p:nvSpPr>
          <p:cNvPr name="TextBox 8" id="8"/>
          <p:cNvSpPr txBox="true"/>
          <p:nvPr/>
        </p:nvSpPr>
        <p:spPr>
          <a:xfrm rot="0">
            <a:off x="1534840" y="2485542"/>
            <a:ext cx="6107155" cy="1197047"/>
          </a:xfrm>
          <a:prstGeom prst="rect">
            <a:avLst/>
          </a:prstGeom>
        </p:spPr>
        <p:txBody>
          <a:bodyPr anchor="t" rtlCol="false" tIns="0" lIns="0" bIns="0" rIns="0">
            <a:spAutoFit/>
          </a:bodyPr>
          <a:lstStyle/>
          <a:p>
            <a:pPr algn="l" marL="0" indent="0" lvl="0">
              <a:lnSpc>
                <a:spcPts val="9811"/>
              </a:lnSpc>
              <a:spcBef>
                <a:spcPct val="0"/>
              </a:spcBef>
            </a:pPr>
            <a:r>
              <a:rPr lang="en-US" b="true" sz="7008">
                <a:solidFill>
                  <a:srgbClr val="003E7E"/>
                </a:solidFill>
                <a:latin typeface="Helvetica Now Bold"/>
                <a:ea typeface="Helvetica Now Bold"/>
                <a:cs typeface="Helvetica Now Bold"/>
                <a:sym typeface="Helvetica Now Bold"/>
              </a:rPr>
              <a:t>GO-TO-</a:t>
            </a:r>
          </a:p>
        </p:txBody>
      </p:sp>
      <p:sp>
        <p:nvSpPr>
          <p:cNvPr name="TextBox 9" id="9"/>
          <p:cNvSpPr txBox="true"/>
          <p:nvPr/>
        </p:nvSpPr>
        <p:spPr>
          <a:xfrm rot="0">
            <a:off x="1534840" y="3549113"/>
            <a:ext cx="6107155" cy="1197047"/>
          </a:xfrm>
          <a:prstGeom prst="rect">
            <a:avLst/>
          </a:prstGeom>
        </p:spPr>
        <p:txBody>
          <a:bodyPr anchor="t" rtlCol="false" tIns="0" lIns="0" bIns="0" rIns="0">
            <a:spAutoFit/>
          </a:bodyPr>
          <a:lstStyle/>
          <a:p>
            <a:pPr algn="l" marL="0" indent="0" lvl="0">
              <a:lnSpc>
                <a:spcPts val="9811"/>
              </a:lnSpc>
              <a:spcBef>
                <a:spcPct val="0"/>
              </a:spcBef>
            </a:pPr>
            <a:r>
              <a:rPr lang="en-US" b="true" sz="7008">
                <a:solidFill>
                  <a:srgbClr val="000000"/>
                </a:solidFill>
                <a:latin typeface="Helvetica Now Bold"/>
                <a:ea typeface="Helvetica Now Bold"/>
                <a:cs typeface="Helvetica Now Bold"/>
                <a:sym typeface="Helvetica Now Bold"/>
              </a:rPr>
              <a:t>MARKET</a:t>
            </a:r>
          </a:p>
        </p:txBody>
      </p:sp>
      <p:sp>
        <p:nvSpPr>
          <p:cNvPr name="TextBox 10" id="10"/>
          <p:cNvSpPr txBox="true"/>
          <p:nvPr/>
        </p:nvSpPr>
        <p:spPr>
          <a:xfrm rot="0">
            <a:off x="8509595" y="2392244"/>
            <a:ext cx="5655421" cy="467228"/>
          </a:xfrm>
          <a:prstGeom prst="rect">
            <a:avLst/>
          </a:prstGeom>
        </p:spPr>
        <p:txBody>
          <a:bodyPr anchor="t" rtlCol="false" tIns="0" lIns="0" bIns="0" rIns="0">
            <a:spAutoFit/>
          </a:bodyPr>
          <a:lstStyle/>
          <a:p>
            <a:pPr algn="l" marL="0" indent="0" lvl="0">
              <a:lnSpc>
                <a:spcPts val="3865"/>
              </a:lnSpc>
              <a:spcBef>
                <a:spcPct val="0"/>
              </a:spcBef>
            </a:pPr>
            <a:r>
              <a:rPr lang="en-US" b="true" sz="2760">
                <a:solidFill>
                  <a:srgbClr val="003E7E"/>
                </a:solidFill>
                <a:latin typeface="Public Sans Bold"/>
                <a:ea typeface="Public Sans Bold"/>
                <a:cs typeface="Public Sans Bold"/>
                <a:sym typeface="Public Sans Bold"/>
              </a:rPr>
              <a:t>Phased Rollout Strategy</a:t>
            </a:r>
          </a:p>
        </p:txBody>
      </p:sp>
      <p:sp>
        <p:nvSpPr>
          <p:cNvPr name="Freeform 11" id="11"/>
          <p:cNvSpPr/>
          <p:nvPr/>
        </p:nvSpPr>
        <p:spPr>
          <a:xfrm flipH="false" flipV="false" rot="0">
            <a:off x="15941368" y="-2553339"/>
            <a:ext cx="5690196" cy="10393052"/>
          </a:xfrm>
          <a:custGeom>
            <a:avLst/>
            <a:gdLst/>
            <a:ahLst/>
            <a:cxnLst/>
            <a:rect r="r" b="b" t="t" l="l"/>
            <a:pathLst>
              <a:path h="10393052" w="5690196">
                <a:moveTo>
                  <a:pt x="0" y="0"/>
                </a:moveTo>
                <a:lnTo>
                  <a:pt x="5690196" y="0"/>
                </a:lnTo>
                <a:lnTo>
                  <a:pt x="5690196" y="10393051"/>
                </a:lnTo>
                <a:lnTo>
                  <a:pt x="0" y="10393051"/>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2" id="12"/>
          <p:cNvSpPr txBox="true"/>
          <p:nvPr/>
        </p:nvSpPr>
        <p:spPr>
          <a:xfrm rot="0">
            <a:off x="8509595" y="3243448"/>
            <a:ext cx="7773684" cy="989506"/>
          </a:xfrm>
          <a:prstGeom prst="rect">
            <a:avLst/>
          </a:prstGeom>
        </p:spPr>
        <p:txBody>
          <a:bodyPr anchor="t" rtlCol="false" tIns="0" lIns="0" bIns="0" rIns="0">
            <a:spAutoFit/>
          </a:bodyPr>
          <a:lstStyle/>
          <a:p>
            <a:pPr algn="l" marL="0" indent="0" lvl="0">
              <a:lnSpc>
                <a:spcPts val="2685"/>
              </a:lnSpc>
              <a:spcBef>
                <a:spcPct val="0"/>
              </a:spcBef>
            </a:pPr>
            <a:r>
              <a:rPr lang="en-US" sz="1918">
                <a:solidFill>
                  <a:srgbClr val="343434"/>
                </a:solidFill>
                <a:latin typeface="Public Sans"/>
                <a:ea typeface="Public Sans"/>
                <a:cs typeface="Public Sans"/>
                <a:sym typeface="Public Sans"/>
              </a:rPr>
              <a:t>AetherLink Glass launches in three carefully sequenced phases — from a controlled premium debut to full enterprise deployment — maximizing adoption, feedback, and revenue growth at each stage.</a:t>
            </a:r>
          </a:p>
        </p:txBody>
      </p:sp>
      <p:grpSp>
        <p:nvGrpSpPr>
          <p:cNvPr name="Group 13" id="13"/>
          <p:cNvGrpSpPr/>
          <p:nvPr/>
        </p:nvGrpSpPr>
        <p:grpSpPr>
          <a:xfrm rot="0">
            <a:off x="1534840" y="5536610"/>
            <a:ext cx="1595377" cy="1595377"/>
            <a:chOff x="0" y="0"/>
            <a:chExt cx="812800" cy="812800"/>
          </a:xfrm>
        </p:grpSpPr>
        <p:sp>
          <p:nvSpPr>
            <p:cNvPr name="Freeform 14" id="14"/>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3E7E"/>
            </a:solidFill>
          </p:spPr>
        </p:sp>
        <p:sp>
          <p:nvSpPr>
            <p:cNvPr name="TextBox 15" id="15"/>
            <p:cNvSpPr txBox="true"/>
            <p:nvPr/>
          </p:nvSpPr>
          <p:spPr>
            <a:xfrm>
              <a:off x="76200" y="19050"/>
              <a:ext cx="660400" cy="717550"/>
            </a:xfrm>
            <a:prstGeom prst="rect">
              <a:avLst/>
            </a:prstGeom>
          </p:spPr>
          <p:txBody>
            <a:bodyPr anchor="ctr" rtlCol="false" tIns="50800" lIns="50800" bIns="50800" rIns="50800"/>
            <a:lstStyle/>
            <a:p>
              <a:pPr algn="ctr" marL="0" indent="0" lvl="0">
                <a:lnSpc>
                  <a:spcPts val="3428"/>
                </a:lnSpc>
              </a:pPr>
            </a:p>
          </p:txBody>
        </p:sp>
      </p:grpSp>
      <p:grpSp>
        <p:nvGrpSpPr>
          <p:cNvPr name="Group 16" id="16"/>
          <p:cNvGrpSpPr/>
          <p:nvPr/>
        </p:nvGrpSpPr>
        <p:grpSpPr>
          <a:xfrm rot="0">
            <a:off x="5744899" y="5536610"/>
            <a:ext cx="1595377" cy="1595377"/>
            <a:chOff x="0" y="0"/>
            <a:chExt cx="812800" cy="812800"/>
          </a:xfrm>
        </p:grpSpPr>
        <p:sp>
          <p:nvSpPr>
            <p:cNvPr name="Freeform 17" id="1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3E7E"/>
            </a:solidFill>
          </p:spPr>
        </p:sp>
        <p:sp>
          <p:nvSpPr>
            <p:cNvPr name="TextBox 18" id="18"/>
            <p:cNvSpPr txBox="true"/>
            <p:nvPr/>
          </p:nvSpPr>
          <p:spPr>
            <a:xfrm>
              <a:off x="76200" y="19050"/>
              <a:ext cx="660400" cy="717550"/>
            </a:xfrm>
            <a:prstGeom prst="rect">
              <a:avLst/>
            </a:prstGeom>
          </p:spPr>
          <p:txBody>
            <a:bodyPr anchor="ctr" rtlCol="false" tIns="50800" lIns="50800" bIns="50800" rIns="50800"/>
            <a:lstStyle/>
            <a:p>
              <a:pPr algn="ctr" marL="0" indent="0" lvl="0">
                <a:lnSpc>
                  <a:spcPts val="3428"/>
                </a:lnSpc>
              </a:pPr>
            </a:p>
          </p:txBody>
        </p:sp>
      </p:grpSp>
      <p:sp>
        <p:nvSpPr>
          <p:cNvPr name="TextBox 19" id="19"/>
          <p:cNvSpPr txBox="true"/>
          <p:nvPr/>
        </p:nvSpPr>
        <p:spPr>
          <a:xfrm rot="0">
            <a:off x="1534840" y="7589187"/>
            <a:ext cx="2588144" cy="1685925"/>
          </a:xfrm>
          <a:prstGeom prst="rect">
            <a:avLst/>
          </a:prstGeom>
        </p:spPr>
        <p:txBody>
          <a:bodyPr anchor="t" rtlCol="false" tIns="0" lIns="0" bIns="0" rIns="0">
            <a:spAutoFit/>
          </a:bodyPr>
          <a:lstStyle/>
          <a:p>
            <a:pPr algn="l" marL="0" indent="0" lvl="0">
              <a:lnSpc>
                <a:spcPts val="3312"/>
              </a:lnSpc>
            </a:pPr>
            <a:r>
              <a:rPr lang="en-US" b="true" sz="2760">
                <a:solidFill>
                  <a:srgbClr val="003E7E"/>
                </a:solidFill>
                <a:latin typeface="Public Sans Bold"/>
                <a:ea typeface="Public Sans Bold"/>
                <a:cs typeface="Public Sans Bold"/>
                <a:sym typeface="Public Sans Bold"/>
              </a:rPr>
              <a:t>Phase 1: Controlled Premium Launch</a:t>
            </a:r>
          </a:p>
        </p:txBody>
      </p:sp>
      <p:sp>
        <p:nvSpPr>
          <p:cNvPr name="TextBox 20" id="20"/>
          <p:cNvSpPr txBox="true"/>
          <p:nvPr/>
        </p:nvSpPr>
        <p:spPr>
          <a:xfrm rot="0">
            <a:off x="5744899" y="7589187"/>
            <a:ext cx="2964281" cy="1266825"/>
          </a:xfrm>
          <a:prstGeom prst="rect">
            <a:avLst/>
          </a:prstGeom>
        </p:spPr>
        <p:txBody>
          <a:bodyPr anchor="t" rtlCol="false" tIns="0" lIns="0" bIns="0" rIns="0">
            <a:spAutoFit/>
          </a:bodyPr>
          <a:lstStyle/>
          <a:p>
            <a:pPr algn="l" marL="0" indent="0" lvl="0">
              <a:lnSpc>
                <a:spcPts val="3312"/>
              </a:lnSpc>
            </a:pPr>
            <a:r>
              <a:rPr lang="en-US" b="true" sz="2760">
                <a:solidFill>
                  <a:srgbClr val="003E7E"/>
                </a:solidFill>
                <a:latin typeface="Public Sans Bold"/>
                <a:ea typeface="Public Sans Bold"/>
                <a:cs typeface="Public Sans Bold"/>
                <a:sym typeface="Public Sans Bold"/>
              </a:rPr>
              <a:t>Phase 2: Professional Expansion</a:t>
            </a:r>
          </a:p>
        </p:txBody>
      </p:sp>
      <p:sp>
        <p:nvSpPr>
          <p:cNvPr name="TextBox 21" id="21"/>
          <p:cNvSpPr txBox="true"/>
          <p:nvPr/>
        </p:nvSpPr>
        <p:spPr>
          <a:xfrm rot="0">
            <a:off x="9954957" y="7589187"/>
            <a:ext cx="2283653" cy="1266825"/>
          </a:xfrm>
          <a:prstGeom prst="rect">
            <a:avLst/>
          </a:prstGeom>
        </p:spPr>
        <p:txBody>
          <a:bodyPr anchor="t" rtlCol="false" tIns="0" lIns="0" bIns="0" rIns="0">
            <a:spAutoFit/>
          </a:bodyPr>
          <a:lstStyle/>
          <a:p>
            <a:pPr algn="l" marL="0" indent="0" lvl="0">
              <a:lnSpc>
                <a:spcPts val="3312"/>
              </a:lnSpc>
            </a:pPr>
            <a:r>
              <a:rPr lang="en-US" b="true" sz="2760">
                <a:solidFill>
                  <a:srgbClr val="003E7E"/>
                </a:solidFill>
                <a:latin typeface="Public Sans Bold"/>
                <a:ea typeface="Public Sans Bold"/>
                <a:cs typeface="Public Sans Bold"/>
                <a:sym typeface="Public Sans Bold"/>
              </a:rPr>
              <a:t>Phase 3: Enterprise Rollout</a:t>
            </a:r>
          </a:p>
        </p:txBody>
      </p:sp>
      <p:sp>
        <p:nvSpPr>
          <p:cNvPr name="TextBox 22" id="22"/>
          <p:cNvSpPr txBox="true"/>
          <p:nvPr/>
        </p:nvSpPr>
        <p:spPr>
          <a:xfrm rot="0">
            <a:off x="14165016" y="7589187"/>
            <a:ext cx="2954966" cy="1266825"/>
          </a:xfrm>
          <a:prstGeom prst="rect">
            <a:avLst/>
          </a:prstGeom>
        </p:spPr>
        <p:txBody>
          <a:bodyPr anchor="t" rtlCol="false" tIns="0" lIns="0" bIns="0" rIns="0">
            <a:spAutoFit/>
          </a:bodyPr>
          <a:lstStyle/>
          <a:p>
            <a:pPr algn="l" marL="0" indent="0" lvl="0">
              <a:lnSpc>
                <a:spcPts val="3312"/>
              </a:lnSpc>
            </a:pPr>
            <a:r>
              <a:rPr lang="en-US" b="true" sz="2760">
                <a:solidFill>
                  <a:srgbClr val="003E7E"/>
                </a:solidFill>
                <a:latin typeface="Public Sans Bold"/>
                <a:ea typeface="Public Sans Bold"/>
                <a:cs typeface="Public Sans Bold"/>
                <a:sym typeface="Public Sans Bold"/>
              </a:rPr>
              <a:t>Full Scale &amp; Ecosystem Growth</a:t>
            </a:r>
          </a:p>
        </p:txBody>
      </p:sp>
      <p:grpSp>
        <p:nvGrpSpPr>
          <p:cNvPr name="Group 23" id="23"/>
          <p:cNvGrpSpPr/>
          <p:nvPr/>
        </p:nvGrpSpPr>
        <p:grpSpPr>
          <a:xfrm rot="0">
            <a:off x="9954957" y="5536610"/>
            <a:ext cx="1595377" cy="1595377"/>
            <a:chOff x="0" y="0"/>
            <a:chExt cx="812800" cy="812800"/>
          </a:xfrm>
        </p:grpSpPr>
        <p:sp>
          <p:nvSpPr>
            <p:cNvPr name="Freeform 24" id="24"/>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3E7E"/>
            </a:solidFill>
          </p:spPr>
        </p:sp>
        <p:sp>
          <p:nvSpPr>
            <p:cNvPr name="TextBox 25" id="25"/>
            <p:cNvSpPr txBox="true"/>
            <p:nvPr/>
          </p:nvSpPr>
          <p:spPr>
            <a:xfrm>
              <a:off x="76200" y="19050"/>
              <a:ext cx="660400" cy="717550"/>
            </a:xfrm>
            <a:prstGeom prst="rect">
              <a:avLst/>
            </a:prstGeom>
          </p:spPr>
          <p:txBody>
            <a:bodyPr anchor="ctr" rtlCol="false" tIns="50800" lIns="50800" bIns="50800" rIns="50800"/>
            <a:lstStyle/>
            <a:p>
              <a:pPr algn="ctr" marL="0" indent="0" lvl="0">
                <a:lnSpc>
                  <a:spcPts val="3428"/>
                </a:lnSpc>
              </a:pPr>
            </a:p>
          </p:txBody>
        </p:sp>
      </p:grpSp>
      <p:grpSp>
        <p:nvGrpSpPr>
          <p:cNvPr name="Group 26" id="26"/>
          <p:cNvGrpSpPr/>
          <p:nvPr/>
        </p:nvGrpSpPr>
        <p:grpSpPr>
          <a:xfrm rot="0">
            <a:off x="14165016" y="5536610"/>
            <a:ext cx="1595377" cy="1595377"/>
            <a:chOff x="0" y="0"/>
            <a:chExt cx="812800" cy="812800"/>
          </a:xfrm>
        </p:grpSpPr>
        <p:sp>
          <p:nvSpPr>
            <p:cNvPr name="Freeform 27" id="2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3E7E"/>
            </a:solidFill>
          </p:spPr>
        </p:sp>
        <p:sp>
          <p:nvSpPr>
            <p:cNvPr name="TextBox 28" id="28"/>
            <p:cNvSpPr txBox="true"/>
            <p:nvPr/>
          </p:nvSpPr>
          <p:spPr>
            <a:xfrm>
              <a:off x="76200" y="19050"/>
              <a:ext cx="660400" cy="717550"/>
            </a:xfrm>
            <a:prstGeom prst="rect">
              <a:avLst/>
            </a:prstGeom>
          </p:spPr>
          <p:txBody>
            <a:bodyPr anchor="ctr" rtlCol="false" tIns="50800" lIns="50800" bIns="50800" rIns="50800"/>
            <a:lstStyle/>
            <a:p>
              <a:pPr algn="ctr" marL="0" indent="0" lvl="0">
                <a:lnSpc>
                  <a:spcPts val="3428"/>
                </a:lnSpc>
              </a:pPr>
            </a:p>
          </p:txBody>
        </p:sp>
      </p:grpSp>
      <p:sp>
        <p:nvSpPr>
          <p:cNvPr name="TextBox 29" id="29"/>
          <p:cNvSpPr txBox="true"/>
          <p:nvPr/>
        </p:nvSpPr>
        <p:spPr>
          <a:xfrm rot="0">
            <a:off x="1755530" y="5958061"/>
            <a:ext cx="1153997" cy="685800"/>
          </a:xfrm>
          <a:prstGeom prst="rect">
            <a:avLst/>
          </a:prstGeom>
        </p:spPr>
        <p:txBody>
          <a:bodyPr anchor="t" rtlCol="false" tIns="0" lIns="0" bIns="0" rIns="0">
            <a:spAutoFit/>
          </a:bodyPr>
          <a:lstStyle/>
          <a:p>
            <a:pPr algn="ctr" marL="0" indent="0" lvl="0">
              <a:lnSpc>
                <a:spcPts val="5458"/>
              </a:lnSpc>
            </a:pPr>
            <a:r>
              <a:rPr lang="en-US" b="true" sz="4548">
                <a:solidFill>
                  <a:srgbClr val="FFFFFF"/>
                </a:solidFill>
                <a:latin typeface="Public Sans Bold"/>
                <a:ea typeface="Public Sans Bold"/>
                <a:cs typeface="Public Sans Bold"/>
                <a:sym typeface="Public Sans Bold"/>
              </a:rPr>
              <a:t>01</a:t>
            </a:r>
          </a:p>
        </p:txBody>
      </p:sp>
      <p:sp>
        <p:nvSpPr>
          <p:cNvPr name="TextBox 30" id="30"/>
          <p:cNvSpPr txBox="true"/>
          <p:nvPr/>
        </p:nvSpPr>
        <p:spPr>
          <a:xfrm rot="0">
            <a:off x="5965589" y="5958061"/>
            <a:ext cx="1153997" cy="685800"/>
          </a:xfrm>
          <a:prstGeom prst="rect">
            <a:avLst/>
          </a:prstGeom>
        </p:spPr>
        <p:txBody>
          <a:bodyPr anchor="t" rtlCol="false" tIns="0" lIns="0" bIns="0" rIns="0">
            <a:spAutoFit/>
          </a:bodyPr>
          <a:lstStyle/>
          <a:p>
            <a:pPr algn="ctr" marL="0" indent="0" lvl="0">
              <a:lnSpc>
                <a:spcPts val="5458"/>
              </a:lnSpc>
            </a:pPr>
            <a:r>
              <a:rPr lang="en-US" b="true" sz="4548">
                <a:solidFill>
                  <a:srgbClr val="FFFFFF"/>
                </a:solidFill>
                <a:latin typeface="Public Sans Bold"/>
                <a:ea typeface="Public Sans Bold"/>
                <a:cs typeface="Public Sans Bold"/>
                <a:sym typeface="Public Sans Bold"/>
              </a:rPr>
              <a:t>02</a:t>
            </a:r>
          </a:p>
        </p:txBody>
      </p:sp>
      <p:sp>
        <p:nvSpPr>
          <p:cNvPr name="TextBox 31" id="31"/>
          <p:cNvSpPr txBox="true"/>
          <p:nvPr/>
        </p:nvSpPr>
        <p:spPr>
          <a:xfrm rot="0">
            <a:off x="10175647" y="5958061"/>
            <a:ext cx="1153997" cy="685800"/>
          </a:xfrm>
          <a:prstGeom prst="rect">
            <a:avLst/>
          </a:prstGeom>
        </p:spPr>
        <p:txBody>
          <a:bodyPr anchor="t" rtlCol="false" tIns="0" lIns="0" bIns="0" rIns="0">
            <a:spAutoFit/>
          </a:bodyPr>
          <a:lstStyle/>
          <a:p>
            <a:pPr algn="ctr" marL="0" indent="0" lvl="0">
              <a:lnSpc>
                <a:spcPts val="5458"/>
              </a:lnSpc>
            </a:pPr>
            <a:r>
              <a:rPr lang="en-US" b="true" sz="4548">
                <a:solidFill>
                  <a:srgbClr val="FFFFFF"/>
                </a:solidFill>
                <a:latin typeface="Public Sans Bold"/>
                <a:ea typeface="Public Sans Bold"/>
                <a:cs typeface="Public Sans Bold"/>
                <a:sym typeface="Public Sans Bold"/>
              </a:rPr>
              <a:t>03</a:t>
            </a:r>
          </a:p>
        </p:txBody>
      </p:sp>
      <p:sp>
        <p:nvSpPr>
          <p:cNvPr name="TextBox 32" id="32"/>
          <p:cNvSpPr txBox="true"/>
          <p:nvPr/>
        </p:nvSpPr>
        <p:spPr>
          <a:xfrm rot="0">
            <a:off x="14385706" y="5958061"/>
            <a:ext cx="1153997" cy="685800"/>
          </a:xfrm>
          <a:prstGeom prst="rect">
            <a:avLst/>
          </a:prstGeom>
        </p:spPr>
        <p:txBody>
          <a:bodyPr anchor="t" rtlCol="false" tIns="0" lIns="0" bIns="0" rIns="0">
            <a:spAutoFit/>
          </a:bodyPr>
          <a:lstStyle/>
          <a:p>
            <a:pPr algn="ctr" marL="0" indent="0" lvl="0">
              <a:lnSpc>
                <a:spcPts val="5458"/>
              </a:lnSpc>
            </a:pPr>
            <a:r>
              <a:rPr lang="en-US" b="true" sz="4548">
                <a:solidFill>
                  <a:srgbClr val="FFFFFF"/>
                </a:solidFill>
                <a:latin typeface="Public Sans Bold"/>
                <a:ea typeface="Public Sans Bold"/>
                <a:cs typeface="Public Sans Bold"/>
                <a:sym typeface="Public Sans Bold"/>
              </a:rPr>
              <a:t>10</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40109" t="-29261" r="0" b="-13027"/>
            </a:stretch>
          </a:blipFill>
        </p:spPr>
      </p:sp>
      <p:grpSp>
        <p:nvGrpSpPr>
          <p:cNvPr name="Group 3" id="3"/>
          <p:cNvGrpSpPr/>
          <p:nvPr/>
        </p:nvGrpSpPr>
        <p:grpSpPr>
          <a:xfrm rot="0">
            <a:off x="1534840" y="642100"/>
            <a:ext cx="1313931" cy="773201"/>
            <a:chOff x="0" y="0"/>
            <a:chExt cx="690612" cy="406400"/>
          </a:xfrm>
        </p:grpSpPr>
        <p:sp>
          <p:nvSpPr>
            <p:cNvPr name="Freeform 4" id="4"/>
            <p:cNvSpPr/>
            <p:nvPr/>
          </p:nvSpPr>
          <p:spPr>
            <a:xfrm flipH="false" flipV="false" rot="0">
              <a:off x="0" y="0"/>
              <a:ext cx="690612" cy="406400"/>
            </a:xfrm>
            <a:custGeom>
              <a:avLst/>
              <a:gdLst/>
              <a:ahLst/>
              <a:cxnLst/>
              <a:rect r="r" b="b" t="t" l="l"/>
              <a:pathLst>
                <a:path h="406400" w="690612">
                  <a:moveTo>
                    <a:pt x="487412" y="0"/>
                  </a:moveTo>
                  <a:cubicBezTo>
                    <a:pt x="599636" y="0"/>
                    <a:pt x="690612" y="90976"/>
                    <a:pt x="690612" y="203200"/>
                  </a:cubicBezTo>
                  <a:cubicBezTo>
                    <a:pt x="690612" y="315424"/>
                    <a:pt x="599636" y="406400"/>
                    <a:pt x="487412"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5" id="5"/>
            <p:cNvSpPr txBox="true"/>
            <p:nvPr/>
          </p:nvSpPr>
          <p:spPr>
            <a:xfrm>
              <a:off x="0" y="-57150"/>
              <a:ext cx="690612" cy="463550"/>
            </a:xfrm>
            <a:prstGeom prst="rect">
              <a:avLst/>
            </a:prstGeom>
          </p:spPr>
          <p:txBody>
            <a:bodyPr anchor="ctr" rtlCol="false" tIns="50800" lIns="50800" bIns="50800" rIns="50800"/>
            <a:lstStyle/>
            <a:p>
              <a:pPr algn="ctr" marL="0" indent="0" lvl="0">
                <a:lnSpc>
                  <a:spcPts val="3428"/>
                </a:lnSpc>
              </a:pPr>
            </a:p>
          </p:txBody>
        </p:sp>
      </p:grpSp>
      <p:sp>
        <p:nvSpPr>
          <p:cNvPr name="Freeform 6" id="6"/>
          <p:cNvSpPr/>
          <p:nvPr/>
        </p:nvSpPr>
        <p:spPr>
          <a:xfrm flipH="false" flipV="false" rot="0">
            <a:off x="1886092" y="789479"/>
            <a:ext cx="611427" cy="478441"/>
          </a:xfrm>
          <a:custGeom>
            <a:avLst/>
            <a:gdLst/>
            <a:ahLst/>
            <a:cxnLst/>
            <a:rect r="r" b="b" t="t" l="l"/>
            <a:pathLst>
              <a:path h="478441" w="611427">
                <a:moveTo>
                  <a:pt x="0" y="0"/>
                </a:moveTo>
                <a:lnTo>
                  <a:pt x="611427" y="0"/>
                </a:lnTo>
                <a:lnTo>
                  <a:pt x="611427" y="478442"/>
                </a:lnTo>
                <a:lnTo>
                  <a:pt x="0" y="478442"/>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7" id="7"/>
          <p:cNvSpPr txBox="true"/>
          <p:nvPr/>
        </p:nvSpPr>
        <p:spPr>
          <a:xfrm rot="0">
            <a:off x="3027434" y="725677"/>
            <a:ext cx="1285113" cy="537932"/>
          </a:xfrm>
          <a:prstGeom prst="rect">
            <a:avLst/>
          </a:prstGeom>
        </p:spPr>
        <p:txBody>
          <a:bodyPr anchor="t" rtlCol="false" tIns="0" lIns="0" bIns="0" rIns="0">
            <a:spAutoFit/>
          </a:bodyPr>
          <a:lstStyle/>
          <a:p>
            <a:pPr algn="l" marL="0" indent="0" lvl="0">
              <a:lnSpc>
                <a:spcPts val="2129"/>
              </a:lnSpc>
              <a:spcBef>
                <a:spcPct val="0"/>
              </a:spcBef>
            </a:pPr>
            <a:r>
              <a:rPr lang="en-US" sz="1521">
                <a:solidFill>
                  <a:srgbClr val="000000"/>
                </a:solidFill>
                <a:latin typeface="Public Sans"/>
                <a:ea typeface="Public Sans"/>
                <a:cs typeface="Public Sans"/>
                <a:sym typeface="Public Sans"/>
              </a:rPr>
              <a:t>AetherLink Glass</a:t>
            </a:r>
          </a:p>
        </p:txBody>
      </p:sp>
      <p:sp>
        <p:nvSpPr>
          <p:cNvPr name="TextBox 8" id="8"/>
          <p:cNvSpPr txBox="true"/>
          <p:nvPr/>
        </p:nvSpPr>
        <p:spPr>
          <a:xfrm rot="0">
            <a:off x="1534840" y="2485542"/>
            <a:ext cx="6107155" cy="1197047"/>
          </a:xfrm>
          <a:prstGeom prst="rect">
            <a:avLst/>
          </a:prstGeom>
        </p:spPr>
        <p:txBody>
          <a:bodyPr anchor="t" rtlCol="false" tIns="0" lIns="0" bIns="0" rIns="0">
            <a:spAutoFit/>
          </a:bodyPr>
          <a:lstStyle/>
          <a:p>
            <a:pPr algn="l" marL="0" indent="0" lvl="0">
              <a:lnSpc>
                <a:spcPts val="9811"/>
              </a:lnSpc>
              <a:spcBef>
                <a:spcPct val="0"/>
              </a:spcBef>
            </a:pPr>
            <a:r>
              <a:rPr lang="en-US" b="true" sz="7008">
                <a:solidFill>
                  <a:srgbClr val="003E7E"/>
                </a:solidFill>
                <a:latin typeface="Helvetica Now Bold"/>
                <a:ea typeface="Helvetica Now Bold"/>
                <a:cs typeface="Helvetica Now Bold"/>
                <a:sym typeface="Helvetica Now Bold"/>
              </a:rPr>
              <a:t>PRODUCT</a:t>
            </a:r>
          </a:p>
        </p:txBody>
      </p:sp>
      <p:sp>
        <p:nvSpPr>
          <p:cNvPr name="TextBox 9" id="9"/>
          <p:cNvSpPr txBox="true"/>
          <p:nvPr/>
        </p:nvSpPr>
        <p:spPr>
          <a:xfrm rot="0">
            <a:off x="1534840" y="3549113"/>
            <a:ext cx="6107155" cy="1197047"/>
          </a:xfrm>
          <a:prstGeom prst="rect">
            <a:avLst/>
          </a:prstGeom>
        </p:spPr>
        <p:txBody>
          <a:bodyPr anchor="t" rtlCol="false" tIns="0" lIns="0" bIns="0" rIns="0">
            <a:spAutoFit/>
          </a:bodyPr>
          <a:lstStyle/>
          <a:p>
            <a:pPr algn="l" marL="0" indent="0" lvl="0">
              <a:lnSpc>
                <a:spcPts val="9811"/>
              </a:lnSpc>
              <a:spcBef>
                <a:spcPct val="0"/>
              </a:spcBef>
            </a:pPr>
            <a:r>
              <a:rPr lang="en-US" b="true" sz="7008">
                <a:solidFill>
                  <a:srgbClr val="000000"/>
                </a:solidFill>
                <a:latin typeface="Helvetica Now Bold"/>
                <a:ea typeface="Helvetica Now Bold"/>
                <a:cs typeface="Helvetica Now Bold"/>
                <a:sym typeface="Helvetica Now Bold"/>
              </a:rPr>
              <a:t>ROADMAP</a:t>
            </a:r>
          </a:p>
        </p:txBody>
      </p:sp>
      <p:sp>
        <p:nvSpPr>
          <p:cNvPr name="TextBox 10" id="10"/>
          <p:cNvSpPr txBox="true"/>
          <p:nvPr/>
        </p:nvSpPr>
        <p:spPr>
          <a:xfrm rot="0">
            <a:off x="8509595" y="2392244"/>
            <a:ext cx="5655421" cy="383076"/>
          </a:xfrm>
          <a:prstGeom prst="rect">
            <a:avLst/>
          </a:prstGeom>
        </p:spPr>
        <p:txBody>
          <a:bodyPr anchor="t" rtlCol="false" tIns="0" lIns="0" bIns="0" rIns="0">
            <a:spAutoFit/>
          </a:bodyPr>
          <a:lstStyle/>
          <a:p>
            <a:pPr algn="l" marL="0" indent="0" lvl="0">
              <a:lnSpc>
                <a:spcPts val="3074"/>
              </a:lnSpc>
              <a:spcBef>
                <a:spcPct val="0"/>
              </a:spcBef>
            </a:pPr>
            <a:r>
              <a:rPr lang="en-US" b="true" sz="2195">
                <a:solidFill>
                  <a:srgbClr val="003E7E"/>
                </a:solidFill>
                <a:latin typeface="Public Sans Bold"/>
                <a:ea typeface="Public Sans Bold"/>
                <a:cs typeface="Public Sans Bold"/>
                <a:sym typeface="Public Sans Bold"/>
              </a:rPr>
              <a:t>Future Development &amp; Feature Releases</a:t>
            </a:r>
          </a:p>
        </p:txBody>
      </p:sp>
      <p:sp>
        <p:nvSpPr>
          <p:cNvPr name="Freeform 11" id="11"/>
          <p:cNvSpPr/>
          <p:nvPr/>
        </p:nvSpPr>
        <p:spPr>
          <a:xfrm flipH="false" flipV="false" rot="0">
            <a:off x="15941368" y="-2553339"/>
            <a:ext cx="5690196" cy="10393052"/>
          </a:xfrm>
          <a:custGeom>
            <a:avLst/>
            <a:gdLst/>
            <a:ahLst/>
            <a:cxnLst/>
            <a:rect r="r" b="b" t="t" l="l"/>
            <a:pathLst>
              <a:path h="10393052" w="5690196">
                <a:moveTo>
                  <a:pt x="0" y="0"/>
                </a:moveTo>
                <a:lnTo>
                  <a:pt x="5690196" y="0"/>
                </a:lnTo>
                <a:lnTo>
                  <a:pt x="5690196" y="10393051"/>
                </a:lnTo>
                <a:lnTo>
                  <a:pt x="0" y="10393051"/>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2" id="12"/>
          <p:cNvSpPr txBox="true"/>
          <p:nvPr/>
        </p:nvSpPr>
        <p:spPr>
          <a:xfrm rot="0">
            <a:off x="8509595" y="3243448"/>
            <a:ext cx="7773684" cy="1249744"/>
          </a:xfrm>
          <a:prstGeom prst="rect">
            <a:avLst/>
          </a:prstGeom>
        </p:spPr>
        <p:txBody>
          <a:bodyPr anchor="t" rtlCol="false" tIns="0" lIns="0" bIns="0" rIns="0">
            <a:spAutoFit/>
          </a:bodyPr>
          <a:lstStyle/>
          <a:p>
            <a:pPr algn="l" marL="0" indent="0" lvl="0">
              <a:lnSpc>
                <a:spcPts val="2516"/>
              </a:lnSpc>
              <a:spcBef>
                <a:spcPct val="0"/>
              </a:spcBef>
            </a:pPr>
            <a:r>
              <a:rPr lang="en-US" sz="1797">
                <a:solidFill>
                  <a:srgbClr val="343434"/>
                </a:solidFill>
                <a:latin typeface="Public Sans"/>
                <a:ea typeface="Public Sans"/>
                <a:cs typeface="Public Sans"/>
                <a:sym typeface="Public Sans"/>
              </a:rPr>
              <a:t>AetherLink Glass evolves through three major releases, each expanding capability and market reach. From core daily-use features at launch through enterprise tooling and into advanced AI-powered scene intelligence, our roadmap is designed for steady, meaningful progression.</a:t>
            </a:r>
          </a:p>
        </p:txBody>
      </p:sp>
      <p:grpSp>
        <p:nvGrpSpPr>
          <p:cNvPr name="Group 13" id="13"/>
          <p:cNvGrpSpPr/>
          <p:nvPr/>
        </p:nvGrpSpPr>
        <p:grpSpPr>
          <a:xfrm rot="0">
            <a:off x="1534840" y="5536610"/>
            <a:ext cx="1595377" cy="1595377"/>
            <a:chOff x="0" y="0"/>
            <a:chExt cx="812800" cy="812800"/>
          </a:xfrm>
        </p:grpSpPr>
        <p:sp>
          <p:nvSpPr>
            <p:cNvPr name="Freeform 14" id="14"/>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3E7E"/>
            </a:solidFill>
          </p:spPr>
        </p:sp>
        <p:sp>
          <p:nvSpPr>
            <p:cNvPr name="TextBox 15" id="15"/>
            <p:cNvSpPr txBox="true"/>
            <p:nvPr/>
          </p:nvSpPr>
          <p:spPr>
            <a:xfrm>
              <a:off x="76200" y="19050"/>
              <a:ext cx="660400" cy="717550"/>
            </a:xfrm>
            <a:prstGeom prst="rect">
              <a:avLst/>
            </a:prstGeom>
          </p:spPr>
          <p:txBody>
            <a:bodyPr anchor="ctr" rtlCol="false" tIns="50800" lIns="50800" bIns="50800" rIns="50800"/>
            <a:lstStyle/>
            <a:p>
              <a:pPr algn="ctr" marL="0" indent="0" lvl="0">
                <a:lnSpc>
                  <a:spcPts val="3428"/>
                </a:lnSpc>
              </a:pPr>
            </a:p>
          </p:txBody>
        </p:sp>
      </p:grpSp>
      <p:grpSp>
        <p:nvGrpSpPr>
          <p:cNvPr name="Group 16" id="16"/>
          <p:cNvGrpSpPr/>
          <p:nvPr/>
        </p:nvGrpSpPr>
        <p:grpSpPr>
          <a:xfrm rot="0">
            <a:off x="5744899" y="5536610"/>
            <a:ext cx="1595377" cy="1595377"/>
            <a:chOff x="0" y="0"/>
            <a:chExt cx="812800" cy="812800"/>
          </a:xfrm>
        </p:grpSpPr>
        <p:sp>
          <p:nvSpPr>
            <p:cNvPr name="Freeform 17" id="1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3E7E"/>
            </a:solidFill>
          </p:spPr>
        </p:sp>
        <p:sp>
          <p:nvSpPr>
            <p:cNvPr name="TextBox 18" id="18"/>
            <p:cNvSpPr txBox="true"/>
            <p:nvPr/>
          </p:nvSpPr>
          <p:spPr>
            <a:xfrm>
              <a:off x="76200" y="19050"/>
              <a:ext cx="660400" cy="717550"/>
            </a:xfrm>
            <a:prstGeom prst="rect">
              <a:avLst/>
            </a:prstGeom>
          </p:spPr>
          <p:txBody>
            <a:bodyPr anchor="ctr" rtlCol="false" tIns="50800" lIns="50800" bIns="50800" rIns="50800"/>
            <a:lstStyle/>
            <a:p>
              <a:pPr algn="ctr" marL="0" indent="0" lvl="0">
                <a:lnSpc>
                  <a:spcPts val="3428"/>
                </a:lnSpc>
              </a:pPr>
            </a:p>
          </p:txBody>
        </p:sp>
      </p:grpSp>
      <p:sp>
        <p:nvSpPr>
          <p:cNvPr name="TextBox 19" id="19"/>
          <p:cNvSpPr txBox="true"/>
          <p:nvPr/>
        </p:nvSpPr>
        <p:spPr>
          <a:xfrm rot="0">
            <a:off x="1534840" y="7579662"/>
            <a:ext cx="2588144" cy="1685925"/>
          </a:xfrm>
          <a:prstGeom prst="rect">
            <a:avLst/>
          </a:prstGeom>
        </p:spPr>
        <p:txBody>
          <a:bodyPr anchor="t" rtlCol="false" tIns="0" lIns="0" bIns="0" rIns="0">
            <a:spAutoFit/>
          </a:bodyPr>
          <a:lstStyle/>
          <a:p>
            <a:pPr algn="l" marL="0" indent="0" lvl="0">
              <a:lnSpc>
                <a:spcPts val="2634"/>
              </a:lnSpc>
            </a:pPr>
            <a:r>
              <a:rPr lang="en-US" b="true" sz="2195">
                <a:solidFill>
                  <a:srgbClr val="003E7E"/>
                </a:solidFill>
                <a:latin typeface="Public Sans Bold"/>
                <a:ea typeface="Public Sans Bold"/>
                <a:cs typeface="Public Sans Bold"/>
                <a:sym typeface="Public Sans Bold"/>
              </a:rPr>
              <a:t>Navigation, messaging, reminders, translation &amp; voice notes</a:t>
            </a:r>
          </a:p>
        </p:txBody>
      </p:sp>
      <p:sp>
        <p:nvSpPr>
          <p:cNvPr name="TextBox 20" id="20"/>
          <p:cNvSpPr txBox="true"/>
          <p:nvPr/>
        </p:nvSpPr>
        <p:spPr>
          <a:xfrm rot="0">
            <a:off x="5744899" y="7579662"/>
            <a:ext cx="2964281" cy="1352550"/>
          </a:xfrm>
          <a:prstGeom prst="rect">
            <a:avLst/>
          </a:prstGeom>
        </p:spPr>
        <p:txBody>
          <a:bodyPr anchor="t" rtlCol="false" tIns="0" lIns="0" bIns="0" rIns="0">
            <a:spAutoFit/>
          </a:bodyPr>
          <a:lstStyle/>
          <a:p>
            <a:pPr algn="l" marL="0" indent="0" lvl="0">
              <a:lnSpc>
                <a:spcPts val="2634"/>
              </a:lnSpc>
            </a:pPr>
            <a:r>
              <a:rPr lang="en-US" b="true" sz="2195">
                <a:solidFill>
                  <a:srgbClr val="003E7E"/>
                </a:solidFill>
                <a:latin typeface="Public Sans Bold"/>
                <a:ea typeface="Public Sans Bold"/>
                <a:cs typeface="Public Sans Bold"/>
                <a:sym typeface="Public Sans Bold"/>
              </a:rPr>
              <a:t>Enterprise tools, expanded integrations &amp; travel mode</a:t>
            </a:r>
          </a:p>
        </p:txBody>
      </p:sp>
      <p:sp>
        <p:nvSpPr>
          <p:cNvPr name="TextBox 21" id="21"/>
          <p:cNvSpPr txBox="true"/>
          <p:nvPr/>
        </p:nvSpPr>
        <p:spPr>
          <a:xfrm rot="0">
            <a:off x="9954957" y="7579662"/>
            <a:ext cx="2283653" cy="1352550"/>
          </a:xfrm>
          <a:prstGeom prst="rect">
            <a:avLst/>
          </a:prstGeom>
        </p:spPr>
        <p:txBody>
          <a:bodyPr anchor="t" rtlCol="false" tIns="0" lIns="0" bIns="0" rIns="0">
            <a:spAutoFit/>
          </a:bodyPr>
          <a:lstStyle/>
          <a:p>
            <a:pPr algn="l" marL="0" indent="0" lvl="0">
              <a:lnSpc>
                <a:spcPts val="2634"/>
              </a:lnSpc>
            </a:pPr>
            <a:r>
              <a:rPr lang="en-US" b="true" sz="2195">
                <a:solidFill>
                  <a:srgbClr val="003E7E"/>
                </a:solidFill>
                <a:latin typeface="Public Sans Bold"/>
                <a:ea typeface="Public Sans Bold"/>
                <a:cs typeface="Public Sans Bold"/>
                <a:sym typeface="Public Sans Bold"/>
              </a:rPr>
              <a:t>Scene awareness, visual search &amp; team overlays</a:t>
            </a:r>
          </a:p>
        </p:txBody>
      </p:sp>
      <p:sp>
        <p:nvSpPr>
          <p:cNvPr name="TextBox 22" id="22"/>
          <p:cNvSpPr txBox="true"/>
          <p:nvPr/>
        </p:nvSpPr>
        <p:spPr>
          <a:xfrm rot="0">
            <a:off x="14165016" y="7579662"/>
            <a:ext cx="2954966" cy="1019175"/>
          </a:xfrm>
          <a:prstGeom prst="rect">
            <a:avLst/>
          </a:prstGeom>
        </p:spPr>
        <p:txBody>
          <a:bodyPr anchor="t" rtlCol="false" tIns="0" lIns="0" bIns="0" rIns="0">
            <a:spAutoFit/>
          </a:bodyPr>
          <a:lstStyle/>
          <a:p>
            <a:pPr algn="l" marL="0" indent="0" lvl="0">
              <a:lnSpc>
                <a:spcPts val="2634"/>
              </a:lnSpc>
            </a:pPr>
            <a:r>
              <a:rPr lang="en-US" b="true" sz="2195">
                <a:solidFill>
                  <a:srgbClr val="003E7E"/>
                </a:solidFill>
                <a:latin typeface="Public Sans Bold"/>
                <a:ea typeface="Public Sans Bold"/>
                <a:cs typeface="Public Sans Bold"/>
                <a:sym typeface="Public Sans Bold"/>
              </a:rPr>
              <a:t>Developer SDK, open platform &amp; ecosystem launch</a:t>
            </a:r>
          </a:p>
        </p:txBody>
      </p:sp>
      <p:grpSp>
        <p:nvGrpSpPr>
          <p:cNvPr name="Group 23" id="23"/>
          <p:cNvGrpSpPr/>
          <p:nvPr/>
        </p:nvGrpSpPr>
        <p:grpSpPr>
          <a:xfrm rot="0">
            <a:off x="9954957" y="5536610"/>
            <a:ext cx="1595377" cy="1595377"/>
            <a:chOff x="0" y="0"/>
            <a:chExt cx="812800" cy="812800"/>
          </a:xfrm>
        </p:grpSpPr>
        <p:sp>
          <p:nvSpPr>
            <p:cNvPr name="Freeform 24" id="24"/>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3E7E"/>
            </a:solidFill>
          </p:spPr>
        </p:sp>
        <p:sp>
          <p:nvSpPr>
            <p:cNvPr name="TextBox 25" id="25"/>
            <p:cNvSpPr txBox="true"/>
            <p:nvPr/>
          </p:nvSpPr>
          <p:spPr>
            <a:xfrm>
              <a:off x="76200" y="19050"/>
              <a:ext cx="660400" cy="717550"/>
            </a:xfrm>
            <a:prstGeom prst="rect">
              <a:avLst/>
            </a:prstGeom>
          </p:spPr>
          <p:txBody>
            <a:bodyPr anchor="ctr" rtlCol="false" tIns="50800" lIns="50800" bIns="50800" rIns="50800"/>
            <a:lstStyle/>
            <a:p>
              <a:pPr algn="ctr" marL="0" indent="0" lvl="0">
                <a:lnSpc>
                  <a:spcPts val="3428"/>
                </a:lnSpc>
              </a:pPr>
            </a:p>
          </p:txBody>
        </p:sp>
      </p:grpSp>
      <p:grpSp>
        <p:nvGrpSpPr>
          <p:cNvPr name="Group 26" id="26"/>
          <p:cNvGrpSpPr/>
          <p:nvPr/>
        </p:nvGrpSpPr>
        <p:grpSpPr>
          <a:xfrm rot="0">
            <a:off x="14165016" y="5536610"/>
            <a:ext cx="1595377" cy="1595377"/>
            <a:chOff x="0" y="0"/>
            <a:chExt cx="812800" cy="812800"/>
          </a:xfrm>
        </p:grpSpPr>
        <p:sp>
          <p:nvSpPr>
            <p:cNvPr name="Freeform 27" id="2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3E7E"/>
            </a:solidFill>
          </p:spPr>
        </p:sp>
        <p:sp>
          <p:nvSpPr>
            <p:cNvPr name="TextBox 28" id="28"/>
            <p:cNvSpPr txBox="true"/>
            <p:nvPr/>
          </p:nvSpPr>
          <p:spPr>
            <a:xfrm>
              <a:off x="76200" y="19050"/>
              <a:ext cx="660400" cy="717550"/>
            </a:xfrm>
            <a:prstGeom prst="rect">
              <a:avLst/>
            </a:prstGeom>
          </p:spPr>
          <p:txBody>
            <a:bodyPr anchor="ctr" rtlCol="false" tIns="50800" lIns="50800" bIns="50800" rIns="50800"/>
            <a:lstStyle/>
            <a:p>
              <a:pPr algn="ctr" marL="0" indent="0" lvl="0">
                <a:lnSpc>
                  <a:spcPts val="3428"/>
                </a:lnSpc>
              </a:pPr>
            </a:p>
          </p:txBody>
        </p:sp>
      </p:grpSp>
      <p:sp>
        <p:nvSpPr>
          <p:cNvPr name="TextBox 29" id="29"/>
          <p:cNvSpPr txBox="true"/>
          <p:nvPr/>
        </p:nvSpPr>
        <p:spPr>
          <a:xfrm rot="0">
            <a:off x="1755530" y="5948536"/>
            <a:ext cx="1153997" cy="552450"/>
          </a:xfrm>
          <a:prstGeom prst="rect">
            <a:avLst/>
          </a:prstGeom>
        </p:spPr>
        <p:txBody>
          <a:bodyPr anchor="t" rtlCol="false" tIns="0" lIns="0" bIns="0" rIns="0">
            <a:spAutoFit/>
          </a:bodyPr>
          <a:lstStyle/>
          <a:p>
            <a:pPr algn="ctr" marL="0" indent="0" lvl="0">
              <a:lnSpc>
                <a:spcPts val="4341"/>
              </a:lnSpc>
            </a:pPr>
            <a:r>
              <a:rPr lang="en-US" b="true" sz="3617">
                <a:solidFill>
                  <a:srgbClr val="FFFFFF"/>
                </a:solidFill>
                <a:latin typeface="Public Sans Bold"/>
                <a:ea typeface="Public Sans Bold"/>
                <a:cs typeface="Public Sans Bold"/>
                <a:sym typeface="Public Sans Bold"/>
              </a:rPr>
              <a:t>v1.0</a:t>
            </a:r>
          </a:p>
        </p:txBody>
      </p:sp>
      <p:sp>
        <p:nvSpPr>
          <p:cNvPr name="TextBox 30" id="30"/>
          <p:cNvSpPr txBox="true"/>
          <p:nvPr/>
        </p:nvSpPr>
        <p:spPr>
          <a:xfrm rot="0">
            <a:off x="5965589" y="5948536"/>
            <a:ext cx="1153997" cy="552450"/>
          </a:xfrm>
          <a:prstGeom prst="rect">
            <a:avLst/>
          </a:prstGeom>
        </p:spPr>
        <p:txBody>
          <a:bodyPr anchor="t" rtlCol="false" tIns="0" lIns="0" bIns="0" rIns="0">
            <a:spAutoFit/>
          </a:bodyPr>
          <a:lstStyle/>
          <a:p>
            <a:pPr algn="ctr" marL="0" indent="0" lvl="0">
              <a:lnSpc>
                <a:spcPts val="4341"/>
              </a:lnSpc>
            </a:pPr>
            <a:r>
              <a:rPr lang="en-US" b="true" sz="3617">
                <a:solidFill>
                  <a:srgbClr val="FFFFFF"/>
                </a:solidFill>
                <a:latin typeface="Public Sans Bold"/>
                <a:ea typeface="Public Sans Bold"/>
                <a:cs typeface="Public Sans Bold"/>
                <a:sym typeface="Public Sans Bold"/>
              </a:rPr>
              <a:t>v1.5</a:t>
            </a:r>
          </a:p>
        </p:txBody>
      </p:sp>
      <p:sp>
        <p:nvSpPr>
          <p:cNvPr name="TextBox 31" id="31"/>
          <p:cNvSpPr txBox="true"/>
          <p:nvPr/>
        </p:nvSpPr>
        <p:spPr>
          <a:xfrm rot="0">
            <a:off x="10175647" y="5948536"/>
            <a:ext cx="1153997" cy="552450"/>
          </a:xfrm>
          <a:prstGeom prst="rect">
            <a:avLst/>
          </a:prstGeom>
        </p:spPr>
        <p:txBody>
          <a:bodyPr anchor="t" rtlCol="false" tIns="0" lIns="0" bIns="0" rIns="0">
            <a:spAutoFit/>
          </a:bodyPr>
          <a:lstStyle/>
          <a:p>
            <a:pPr algn="ctr" marL="0" indent="0" lvl="0">
              <a:lnSpc>
                <a:spcPts val="4341"/>
              </a:lnSpc>
            </a:pPr>
            <a:r>
              <a:rPr lang="en-US" b="true" sz="3617">
                <a:solidFill>
                  <a:srgbClr val="FFFFFF"/>
                </a:solidFill>
                <a:latin typeface="Public Sans Bold"/>
                <a:ea typeface="Public Sans Bold"/>
                <a:cs typeface="Public Sans Bold"/>
                <a:sym typeface="Public Sans Bold"/>
              </a:rPr>
              <a:t>v2.0</a:t>
            </a:r>
          </a:p>
        </p:txBody>
      </p:sp>
      <p:sp>
        <p:nvSpPr>
          <p:cNvPr name="TextBox 32" id="32"/>
          <p:cNvSpPr txBox="true"/>
          <p:nvPr/>
        </p:nvSpPr>
        <p:spPr>
          <a:xfrm rot="0">
            <a:off x="14385706" y="5948536"/>
            <a:ext cx="1153997" cy="552450"/>
          </a:xfrm>
          <a:prstGeom prst="rect">
            <a:avLst/>
          </a:prstGeom>
        </p:spPr>
        <p:txBody>
          <a:bodyPr anchor="t" rtlCol="false" tIns="0" lIns="0" bIns="0" rIns="0">
            <a:spAutoFit/>
          </a:bodyPr>
          <a:lstStyle/>
          <a:p>
            <a:pPr algn="ctr" marL="0" indent="0" lvl="0">
              <a:lnSpc>
                <a:spcPts val="4341"/>
              </a:lnSpc>
            </a:pPr>
            <a:r>
              <a:rPr lang="en-US" b="true" sz="3617">
                <a:solidFill>
                  <a:srgbClr val="FFFFFF"/>
                </a:solidFill>
                <a:latin typeface="Public Sans Bold"/>
                <a:ea typeface="Public Sans Bold"/>
                <a:cs typeface="Public Sans Bold"/>
                <a:sym typeface="Public Sans Bold"/>
              </a:rPr>
              <a:t>v3.0</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40109" t="-29261" r="0" b="-13027"/>
            </a:stretch>
          </a:blipFill>
        </p:spPr>
      </p:sp>
      <p:grpSp>
        <p:nvGrpSpPr>
          <p:cNvPr name="Group 3" id="3"/>
          <p:cNvGrpSpPr/>
          <p:nvPr/>
        </p:nvGrpSpPr>
        <p:grpSpPr>
          <a:xfrm rot="0">
            <a:off x="1534840" y="642100"/>
            <a:ext cx="1313931" cy="773201"/>
            <a:chOff x="0" y="0"/>
            <a:chExt cx="690612" cy="406400"/>
          </a:xfrm>
        </p:grpSpPr>
        <p:sp>
          <p:nvSpPr>
            <p:cNvPr name="Freeform 4" id="4"/>
            <p:cNvSpPr/>
            <p:nvPr/>
          </p:nvSpPr>
          <p:spPr>
            <a:xfrm flipH="false" flipV="false" rot="0">
              <a:off x="0" y="0"/>
              <a:ext cx="690612" cy="406400"/>
            </a:xfrm>
            <a:custGeom>
              <a:avLst/>
              <a:gdLst/>
              <a:ahLst/>
              <a:cxnLst/>
              <a:rect r="r" b="b" t="t" l="l"/>
              <a:pathLst>
                <a:path h="406400" w="690612">
                  <a:moveTo>
                    <a:pt x="487412" y="0"/>
                  </a:moveTo>
                  <a:cubicBezTo>
                    <a:pt x="599636" y="0"/>
                    <a:pt x="690612" y="90976"/>
                    <a:pt x="690612" y="203200"/>
                  </a:cubicBezTo>
                  <a:cubicBezTo>
                    <a:pt x="690612" y="315424"/>
                    <a:pt x="599636" y="406400"/>
                    <a:pt x="487412"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5" id="5"/>
            <p:cNvSpPr txBox="true"/>
            <p:nvPr/>
          </p:nvSpPr>
          <p:spPr>
            <a:xfrm>
              <a:off x="0" y="-57150"/>
              <a:ext cx="690612" cy="463550"/>
            </a:xfrm>
            <a:prstGeom prst="rect">
              <a:avLst/>
            </a:prstGeom>
          </p:spPr>
          <p:txBody>
            <a:bodyPr anchor="ctr" rtlCol="false" tIns="50800" lIns="50800" bIns="50800" rIns="50800"/>
            <a:lstStyle/>
            <a:p>
              <a:pPr algn="ctr" marL="0" indent="0" lvl="0">
                <a:lnSpc>
                  <a:spcPts val="3428"/>
                </a:lnSpc>
              </a:pPr>
            </a:p>
          </p:txBody>
        </p:sp>
      </p:grpSp>
      <p:sp>
        <p:nvSpPr>
          <p:cNvPr name="Freeform 6" id="6"/>
          <p:cNvSpPr/>
          <p:nvPr/>
        </p:nvSpPr>
        <p:spPr>
          <a:xfrm flipH="false" flipV="false" rot="0">
            <a:off x="1886092" y="789479"/>
            <a:ext cx="611427" cy="478441"/>
          </a:xfrm>
          <a:custGeom>
            <a:avLst/>
            <a:gdLst/>
            <a:ahLst/>
            <a:cxnLst/>
            <a:rect r="r" b="b" t="t" l="l"/>
            <a:pathLst>
              <a:path h="478441" w="611427">
                <a:moveTo>
                  <a:pt x="0" y="0"/>
                </a:moveTo>
                <a:lnTo>
                  <a:pt x="611427" y="0"/>
                </a:lnTo>
                <a:lnTo>
                  <a:pt x="611427" y="478442"/>
                </a:lnTo>
                <a:lnTo>
                  <a:pt x="0" y="478442"/>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7" id="7"/>
          <p:cNvSpPr txBox="true"/>
          <p:nvPr/>
        </p:nvSpPr>
        <p:spPr>
          <a:xfrm rot="0">
            <a:off x="11362836" y="1742639"/>
            <a:ext cx="5032479" cy="1178700"/>
          </a:xfrm>
          <a:prstGeom prst="rect">
            <a:avLst/>
          </a:prstGeom>
        </p:spPr>
        <p:txBody>
          <a:bodyPr anchor="t" rtlCol="false" tIns="0" lIns="0" bIns="0" rIns="0">
            <a:spAutoFit/>
          </a:bodyPr>
          <a:lstStyle/>
          <a:p>
            <a:pPr algn="l" marL="0" indent="0" lvl="0">
              <a:lnSpc>
                <a:spcPts val="9629"/>
              </a:lnSpc>
              <a:spcBef>
                <a:spcPct val="0"/>
              </a:spcBef>
            </a:pPr>
            <a:r>
              <a:rPr lang="en-US" b="true" sz="6878">
                <a:solidFill>
                  <a:srgbClr val="003E7E"/>
                </a:solidFill>
                <a:latin typeface="Helvetica Now Bold"/>
                <a:ea typeface="Helvetica Now Bold"/>
                <a:cs typeface="Helvetica Now Bold"/>
                <a:sym typeface="Helvetica Now Bold"/>
              </a:rPr>
              <a:t>RISKS &amp;</a:t>
            </a:r>
          </a:p>
        </p:txBody>
      </p:sp>
      <p:sp>
        <p:nvSpPr>
          <p:cNvPr name="TextBox 8" id="8"/>
          <p:cNvSpPr txBox="true"/>
          <p:nvPr/>
        </p:nvSpPr>
        <p:spPr>
          <a:xfrm rot="0">
            <a:off x="11362836" y="2806210"/>
            <a:ext cx="5032479" cy="1178700"/>
          </a:xfrm>
          <a:prstGeom prst="rect">
            <a:avLst/>
          </a:prstGeom>
        </p:spPr>
        <p:txBody>
          <a:bodyPr anchor="t" rtlCol="false" tIns="0" lIns="0" bIns="0" rIns="0">
            <a:spAutoFit/>
          </a:bodyPr>
          <a:lstStyle/>
          <a:p>
            <a:pPr algn="l" marL="0" indent="0" lvl="0">
              <a:lnSpc>
                <a:spcPts val="9629"/>
              </a:lnSpc>
              <a:spcBef>
                <a:spcPct val="0"/>
              </a:spcBef>
            </a:pPr>
            <a:r>
              <a:rPr lang="en-US" b="true" sz="6878">
                <a:solidFill>
                  <a:srgbClr val="000000"/>
                </a:solidFill>
                <a:latin typeface="Helvetica Now Bold"/>
                <a:ea typeface="Helvetica Now Bold"/>
                <a:cs typeface="Helvetica Now Bold"/>
                <a:sym typeface="Helvetica Now Bold"/>
              </a:rPr>
              <a:t>MITIGATION</a:t>
            </a:r>
          </a:p>
        </p:txBody>
      </p:sp>
      <p:sp>
        <p:nvSpPr>
          <p:cNvPr name="TextBox 9" id="9"/>
          <p:cNvSpPr txBox="true"/>
          <p:nvPr/>
        </p:nvSpPr>
        <p:spPr>
          <a:xfrm rot="0">
            <a:off x="11362836" y="4837722"/>
            <a:ext cx="3220782" cy="934720"/>
          </a:xfrm>
          <a:prstGeom prst="rect">
            <a:avLst/>
          </a:prstGeom>
        </p:spPr>
        <p:txBody>
          <a:bodyPr anchor="t" rtlCol="false" tIns="0" lIns="0" bIns="0" rIns="0">
            <a:spAutoFit/>
          </a:bodyPr>
          <a:lstStyle/>
          <a:p>
            <a:pPr algn="l" marL="0" indent="0" lvl="0">
              <a:lnSpc>
                <a:spcPts val="3733"/>
              </a:lnSpc>
              <a:spcBef>
                <a:spcPct val="0"/>
              </a:spcBef>
            </a:pPr>
            <a:r>
              <a:rPr lang="en-US" b="true" sz="2666">
                <a:solidFill>
                  <a:srgbClr val="003E7E"/>
                </a:solidFill>
                <a:latin typeface="Public Sans Bold"/>
                <a:ea typeface="Public Sans Bold"/>
                <a:cs typeface="Public Sans Bold"/>
                <a:sym typeface="Public Sans Bold"/>
              </a:rPr>
              <a:t>Addressing Key Challenges</a:t>
            </a:r>
          </a:p>
        </p:txBody>
      </p:sp>
      <p:grpSp>
        <p:nvGrpSpPr>
          <p:cNvPr name="Group 10" id="10"/>
          <p:cNvGrpSpPr/>
          <p:nvPr/>
        </p:nvGrpSpPr>
        <p:grpSpPr>
          <a:xfrm rot="0">
            <a:off x="1534840" y="2515036"/>
            <a:ext cx="7609160" cy="1332842"/>
            <a:chOff x="0" y="0"/>
            <a:chExt cx="2320127" cy="406400"/>
          </a:xfrm>
        </p:grpSpPr>
        <p:sp>
          <p:nvSpPr>
            <p:cNvPr name="Freeform 11" id="11"/>
            <p:cNvSpPr/>
            <p:nvPr/>
          </p:nvSpPr>
          <p:spPr>
            <a:xfrm flipH="false" flipV="false" rot="0">
              <a:off x="0" y="0"/>
              <a:ext cx="2320127" cy="406400"/>
            </a:xfrm>
            <a:custGeom>
              <a:avLst/>
              <a:gdLst/>
              <a:ahLst/>
              <a:cxnLst/>
              <a:rect r="r" b="b" t="t" l="l"/>
              <a:pathLst>
                <a:path h="406400" w="2320127">
                  <a:moveTo>
                    <a:pt x="2116927" y="0"/>
                  </a:moveTo>
                  <a:cubicBezTo>
                    <a:pt x="2229151" y="0"/>
                    <a:pt x="2320127" y="90976"/>
                    <a:pt x="2320127" y="203200"/>
                  </a:cubicBezTo>
                  <a:cubicBezTo>
                    <a:pt x="2320127" y="315424"/>
                    <a:pt x="2229151" y="406400"/>
                    <a:pt x="2116927" y="406400"/>
                  </a:cubicBezTo>
                  <a:lnTo>
                    <a:pt x="203200" y="406400"/>
                  </a:lnTo>
                  <a:cubicBezTo>
                    <a:pt x="90976" y="406400"/>
                    <a:pt x="0" y="315424"/>
                    <a:pt x="0" y="203200"/>
                  </a:cubicBezTo>
                  <a:cubicBezTo>
                    <a:pt x="0" y="90976"/>
                    <a:pt x="90976" y="0"/>
                    <a:pt x="203200" y="0"/>
                  </a:cubicBezTo>
                  <a:close/>
                </a:path>
              </a:pathLst>
            </a:custGeom>
            <a:ln w="19050" cap="sq">
              <a:solidFill>
                <a:srgbClr val="003E7E"/>
              </a:solidFill>
              <a:prstDash val="solid"/>
              <a:miter/>
            </a:ln>
          </p:spPr>
        </p:sp>
        <p:sp>
          <p:nvSpPr>
            <p:cNvPr name="TextBox 12" id="12"/>
            <p:cNvSpPr txBox="true"/>
            <p:nvPr/>
          </p:nvSpPr>
          <p:spPr>
            <a:xfrm>
              <a:off x="0" y="-57150"/>
              <a:ext cx="2320127" cy="463550"/>
            </a:xfrm>
            <a:prstGeom prst="rect">
              <a:avLst/>
            </a:prstGeom>
          </p:spPr>
          <p:txBody>
            <a:bodyPr anchor="ctr" rtlCol="false" tIns="50800" lIns="50800" bIns="50800" rIns="50800"/>
            <a:lstStyle/>
            <a:p>
              <a:pPr algn="ctr" marL="0" indent="0" lvl="0">
                <a:lnSpc>
                  <a:spcPts val="3428"/>
                </a:lnSpc>
              </a:pPr>
            </a:p>
          </p:txBody>
        </p:sp>
      </p:grpSp>
      <p:sp>
        <p:nvSpPr>
          <p:cNvPr name="Freeform 13" id="13"/>
          <p:cNvSpPr/>
          <p:nvPr/>
        </p:nvSpPr>
        <p:spPr>
          <a:xfrm flipH="true" flipV="true" rot="0">
            <a:off x="-2662762" y="4181911"/>
            <a:ext cx="5690196" cy="10393052"/>
          </a:xfrm>
          <a:custGeom>
            <a:avLst/>
            <a:gdLst/>
            <a:ahLst/>
            <a:cxnLst/>
            <a:rect r="r" b="b" t="t" l="l"/>
            <a:pathLst>
              <a:path h="10393052" w="5690196">
                <a:moveTo>
                  <a:pt x="5690196" y="10393051"/>
                </a:moveTo>
                <a:lnTo>
                  <a:pt x="0" y="10393051"/>
                </a:lnTo>
                <a:lnTo>
                  <a:pt x="0" y="0"/>
                </a:lnTo>
                <a:lnTo>
                  <a:pt x="5690196" y="0"/>
                </a:lnTo>
                <a:lnTo>
                  <a:pt x="5690196" y="10393051"/>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14" id="14"/>
          <p:cNvGrpSpPr/>
          <p:nvPr/>
        </p:nvGrpSpPr>
        <p:grpSpPr>
          <a:xfrm rot="0">
            <a:off x="1534840" y="4181911"/>
            <a:ext cx="7609160" cy="1332842"/>
            <a:chOff x="0" y="0"/>
            <a:chExt cx="2320127" cy="406400"/>
          </a:xfrm>
        </p:grpSpPr>
        <p:sp>
          <p:nvSpPr>
            <p:cNvPr name="Freeform 15" id="15"/>
            <p:cNvSpPr/>
            <p:nvPr/>
          </p:nvSpPr>
          <p:spPr>
            <a:xfrm flipH="false" flipV="false" rot="0">
              <a:off x="0" y="0"/>
              <a:ext cx="2320127" cy="406400"/>
            </a:xfrm>
            <a:custGeom>
              <a:avLst/>
              <a:gdLst/>
              <a:ahLst/>
              <a:cxnLst/>
              <a:rect r="r" b="b" t="t" l="l"/>
              <a:pathLst>
                <a:path h="406400" w="2320127">
                  <a:moveTo>
                    <a:pt x="2116927" y="0"/>
                  </a:moveTo>
                  <a:cubicBezTo>
                    <a:pt x="2229151" y="0"/>
                    <a:pt x="2320127" y="90976"/>
                    <a:pt x="2320127" y="203200"/>
                  </a:cubicBezTo>
                  <a:cubicBezTo>
                    <a:pt x="2320127" y="315424"/>
                    <a:pt x="2229151" y="406400"/>
                    <a:pt x="2116927" y="406400"/>
                  </a:cubicBezTo>
                  <a:lnTo>
                    <a:pt x="203200" y="406400"/>
                  </a:lnTo>
                  <a:cubicBezTo>
                    <a:pt x="90976" y="406400"/>
                    <a:pt x="0" y="315424"/>
                    <a:pt x="0" y="203200"/>
                  </a:cubicBezTo>
                  <a:cubicBezTo>
                    <a:pt x="0" y="90976"/>
                    <a:pt x="90976" y="0"/>
                    <a:pt x="203200" y="0"/>
                  </a:cubicBezTo>
                  <a:close/>
                </a:path>
              </a:pathLst>
            </a:custGeom>
            <a:ln w="19050" cap="sq">
              <a:solidFill>
                <a:srgbClr val="003E7E"/>
              </a:solidFill>
              <a:prstDash val="solid"/>
              <a:miter/>
            </a:ln>
          </p:spPr>
        </p:sp>
        <p:sp>
          <p:nvSpPr>
            <p:cNvPr name="TextBox 16" id="16"/>
            <p:cNvSpPr txBox="true"/>
            <p:nvPr/>
          </p:nvSpPr>
          <p:spPr>
            <a:xfrm>
              <a:off x="0" y="-57150"/>
              <a:ext cx="2320127" cy="463550"/>
            </a:xfrm>
            <a:prstGeom prst="rect">
              <a:avLst/>
            </a:prstGeom>
          </p:spPr>
          <p:txBody>
            <a:bodyPr anchor="ctr" rtlCol="false" tIns="50800" lIns="50800" bIns="50800" rIns="50800"/>
            <a:lstStyle/>
            <a:p>
              <a:pPr algn="ctr" marL="0" indent="0" lvl="0">
                <a:lnSpc>
                  <a:spcPts val="3428"/>
                </a:lnSpc>
              </a:pPr>
            </a:p>
          </p:txBody>
        </p:sp>
      </p:grpSp>
      <p:grpSp>
        <p:nvGrpSpPr>
          <p:cNvPr name="Group 17" id="17"/>
          <p:cNvGrpSpPr/>
          <p:nvPr/>
        </p:nvGrpSpPr>
        <p:grpSpPr>
          <a:xfrm rot="0">
            <a:off x="1534840" y="5848786"/>
            <a:ext cx="7609160" cy="1332842"/>
            <a:chOff x="0" y="0"/>
            <a:chExt cx="2320127" cy="406400"/>
          </a:xfrm>
        </p:grpSpPr>
        <p:sp>
          <p:nvSpPr>
            <p:cNvPr name="Freeform 18" id="18"/>
            <p:cNvSpPr/>
            <p:nvPr/>
          </p:nvSpPr>
          <p:spPr>
            <a:xfrm flipH="false" flipV="false" rot="0">
              <a:off x="0" y="0"/>
              <a:ext cx="2320127" cy="406400"/>
            </a:xfrm>
            <a:custGeom>
              <a:avLst/>
              <a:gdLst/>
              <a:ahLst/>
              <a:cxnLst/>
              <a:rect r="r" b="b" t="t" l="l"/>
              <a:pathLst>
                <a:path h="406400" w="2320127">
                  <a:moveTo>
                    <a:pt x="2116927" y="0"/>
                  </a:moveTo>
                  <a:cubicBezTo>
                    <a:pt x="2229151" y="0"/>
                    <a:pt x="2320127" y="90976"/>
                    <a:pt x="2320127" y="203200"/>
                  </a:cubicBezTo>
                  <a:cubicBezTo>
                    <a:pt x="2320127" y="315424"/>
                    <a:pt x="2229151" y="406400"/>
                    <a:pt x="2116927" y="406400"/>
                  </a:cubicBezTo>
                  <a:lnTo>
                    <a:pt x="203200" y="406400"/>
                  </a:lnTo>
                  <a:cubicBezTo>
                    <a:pt x="90976" y="406400"/>
                    <a:pt x="0" y="315424"/>
                    <a:pt x="0" y="203200"/>
                  </a:cubicBezTo>
                  <a:cubicBezTo>
                    <a:pt x="0" y="90976"/>
                    <a:pt x="90976" y="0"/>
                    <a:pt x="203200" y="0"/>
                  </a:cubicBezTo>
                  <a:close/>
                </a:path>
              </a:pathLst>
            </a:custGeom>
            <a:ln w="19050" cap="sq">
              <a:solidFill>
                <a:srgbClr val="003E7E"/>
              </a:solidFill>
              <a:prstDash val="solid"/>
              <a:miter/>
            </a:ln>
          </p:spPr>
        </p:sp>
        <p:sp>
          <p:nvSpPr>
            <p:cNvPr name="TextBox 19" id="19"/>
            <p:cNvSpPr txBox="true"/>
            <p:nvPr/>
          </p:nvSpPr>
          <p:spPr>
            <a:xfrm>
              <a:off x="0" y="-57150"/>
              <a:ext cx="2320127" cy="463550"/>
            </a:xfrm>
            <a:prstGeom prst="rect">
              <a:avLst/>
            </a:prstGeom>
          </p:spPr>
          <p:txBody>
            <a:bodyPr anchor="ctr" rtlCol="false" tIns="50800" lIns="50800" bIns="50800" rIns="50800"/>
            <a:lstStyle/>
            <a:p>
              <a:pPr algn="ctr" marL="0" indent="0" lvl="0">
                <a:lnSpc>
                  <a:spcPts val="3428"/>
                </a:lnSpc>
              </a:pPr>
            </a:p>
          </p:txBody>
        </p:sp>
      </p:grpSp>
      <p:grpSp>
        <p:nvGrpSpPr>
          <p:cNvPr name="Group 20" id="20"/>
          <p:cNvGrpSpPr/>
          <p:nvPr/>
        </p:nvGrpSpPr>
        <p:grpSpPr>
          <a:xfrm rot="0">
            <a:off x="1534840" y="7515661"/>
            <a:ext cx="7609160" cy="1332842"/>
            <a:chOff x="0" y="0"/>
            <a:chExt cx="2320127" cy="406400"/>
          </a:xfrm>
        </p:grpSpPr>
        <p:sp>
          <p:nvSpPr>
            <p:cNvPr name="Freeform 21" id="21"/>
            <p:cNvSpPr/>
            <p:nvPr/>
          </p:nvSpPr>
          <p:spPr>
            <a:xfrm flipH="false" flipV="false" rot="0">
              <a:off x="0" y="0"/>
              <a:ext cx="2320127" cy="406400"/>
            </a:xfrm>
            <a:custGeom>
              <a:avLst/>
              <a:gdLst/>
              <a:ahLst/>
              <a:cxnLst/>
              <a:rect r="r" b="b" t="t" l="l"/>
              <a:pathLst>
                <a:path h="406400" w="2320127">
                  <a:moveTo>
                    <a:pt x="2116927" y="0"/>
                  </a:moveTo>
                  <a:cubicBezTo>
                    <a:pt x="2229151" y="0"/>
                    <a:pt x="2320127" y="90976"/>
                    <a:pt x="2320127" y="203200"/>
                  </a:cubicBezTo>
                  <a:cubicBezTo>
                    <a:pt x="2320127" y="315424"/>
                    <a:pt x="2229151" y="406400"/>
                    <a:pt x="2116927" y="406400"/>
                  </a:cubicBezTo>
                  <a:lnTo>
                    <a:pt x="203200" y="406400"/>
                  </a:lnTo>
                  <a:cubicBezTo>
                    <a:pt x="90976" y="406400"/>
                    <a:pt x="0" y="315424"/>
                    <a:pt x="0" y="203200"/>
                  </a:cubicBezTo>
                  <a:cubicBezTo>
                    <a:pt x="0" y="90976"/>
                    <a:pt x="90976" y="0"/>
                    <a:pt x="203200" y="0"/>
                  </a:cubicBezTo>
                  <a:close/>
                </a:path>
              </a:pathLst>
            </a:custGeom>
            <a:ln w="19050" cap="sq">
              <a:solidFill>
                <a:srgbClr val="003E7E"/>
              </a:solidFill>
              <a:prstDash val="solid"/>
              <a:miter/>
            </a:ln>
          </p:spPr>
        </p:sp>
        <p:sp>
          <p:nvSpPr>
            <p:cNvPr name="TextBox 22" id="22"/>
            <p:cNvSpPr txBox="true"/>
            <p:nvPr/>
          </p:nvSpPr>
          <p:spPr>
            <a:xfrm>
              <a:off x="0" y="-57150"/>
              <a:ext cx="2320127" cy="463550"/>
            </a:xfrm>
            <a:prstGeom prst="rect">
              <a:avLst/>
            </a:prstGeom>
          </p:spPr>
          <p:txBody>
            <a:bodyPr anchor="ctr" rtlCol="false" tIns="50800" lIns="50800" bIns="50800" rIns="50800"/>
            <a:lstStyle/>
            <a:p>
              <a:pPr algn="ctr" marL="0" indent="0" lvl="0">
                <a:lnSpc>
                  <a:spcPts val="3428"/>
                </a:lnSpc>
              </a:pPr>
            </a:p>
          </p:txBody>
        </p:sp>
      </p:grpSp>
      <p:sp>
        <p:nvSpPr>
          <p:cNvPr name="TextBox 23" id="23"/>
          <p:cNvSpPr txBox="true"/>
          <p:nvPr/>
        </p:nvSpPr>
        <p:spPr>
          <a:xfrm rot="0">
            <a:off x="3345802" y="2724256"/>
            <a:ext cx="4408548" cy="809625"/>
          </a:xfrm>
          <a:prstGeom prst="rect">
            <a:avLst/>
          </a:prstGeom>
        </p:spPr>
        <p:txBody>
          <a:bodyPr anchor="t" rtlCol="false" tIns="0" lIns="0" bIns="0" rIns="0">
            <a:spAutoFit/>
          </a:bodyPr>
          <a:lstStyle/>
          <a:p>
            <a:pPr algn="l" marL="0" indent="0" lvl="0">
              <a:lnSpc>
                <a:spcPts val="3199"/>
              </a:lnSpc>
            </a:pPr>
            <a:r>
              <a:rPr lang="en-US" b="true" sz="2666">
                <a:solidFill>
                  <a:srgbClr val="003E7E"/>
                </a:solidFill>
                <a:latin typeface="Public Sans Bold"/>
                <a:ea typeface="Public Sans Bold"/>
                <a:cs typeface="Public Sans Bold"/>
                <a:sym typeface="Public Sans Bold"/>
              </a:rPr>
              <a:t>Social acceptance and privacy perception risks</a:t>
            </a:r>
          </a:p>
        </p:txBody>
      </p:sp>
      <p:sp>
        <p:nvSpPr>
          <p:cNvPr name="TextBox 24" id="24"/>
          <p:cNvSpPr txBox="true"/>
          <p:nvPr/>
        </p:nvSpPr>
        <p:spPr>
          <a:xfrm rot="0">
            <a:off x="2191805" y="2803149"/>
            <a:ext cx="1153997" cy="668625"/>
          </a:xfrm>
          <a:prstGeom prst="rect">
            <a:avLst/>
          </a:prstGeom>
        </p:spPr>
        <p:txBody>
          <a:bodyPr anchor="t" rtlCol="false" tIns="0" lIns="0" bIns="0" rIns="0">
            <a:spAutoFit/>
          </a:bodyPr>
          <a:lstStyle/>
          <a:p>
            <a:pPr algn="l" marL="0" indent="0" lvl="0">
              <a:lnSpc>
                <a:spcPts val="5271"/>
              </a:lnSpc>
            </a:pPr>
            <a:r>
              <a:rPr lang="en-US" b="true" sz="4393">
                <a:solidFill>
                  <a:srgbClr val="003E7E"/>
                </a:solidFill>
                <a:latin typeface="Public Sans Bold"/>
                <a:ea typeface="Public Sans Bold"/>
                <a:cs typeface="Public Sans Bold"/>
                <a:sym typeface="Public Sans Bold"/>
              </a:rPr>
              <a:t>01</a:t>
            </a:r>
          </a:p>
        </p:txBody>
      </p:sp>
      <p:sp>
        <p:nvSpPr>
          <p:cNvPr name="TextBox 25" id="25"/>
          <p:cNvSpPr txBox="true"/>
          <p:nvPr/>
        </p:nvSpPr>
        <p:spPr>
          <a:xfrm rot="0">
            <a:off x="2191805" y="4470024"/>
            <a:ext cx="1153997" cy="668625"/>
          </a:xfrm>
          <a:prstGeom prst="rect">
            <a:avLst/>
          </a:prstGeom>
        </p:spPr>
        <p:txBody>
          <a:bodyPr anchor="t" rtlCol="false" tIns="0" lIns="0" bIns="0" rIns="0">
            <a:spAutoFit/>
          </a:bodyPr>
          <a:lstStyle/>
          <a:p>
            <a:pPr algn="l" marL="0" indent="0" lvl="0">
              <a:lnSpc>
                <a:spcPts val="5271"/>
              </a:lnSpc>
            </a:pPr>
            <a:r>
              <a:rPr lang="en-US" b="true" sz="4393">
                <a:solidFill>
                  <a:srgbClr val="003E7E"/>
                </a:solidFill>
                <a:latin typeface="Public Sans Bold"/>
                <a:ea typeface="Public Sans Bold"/>
                <a:cs typeface="Public Sans Bold"/>
                <a:sym typeface="Public Sans Bold"/>
              </a:rPr>
              <a:t>02</a:t>
            </a:r>
          </a:p>
        </p:txBody>
      </p:sp>
      <p:sp>
        <p:nvSpPr>
          <p:cNvPr name="TextBox 26" id="26"/>
          <p:cNvSpPr txBox="true"/>
          <p:nvPr/>
        </p:nvSpPr>
        <p:spPr>
          <a:xfrm rot="0">
            <a:off x="3345802" y="4391132"/>
            <a:ext cx="4980887" cy="809625"/>
          </a:xfrm>
          <a:prstGeom prst="rect">
            <a:avLst/>
          </a:prstGeom>
        </p:spPr>
        <p:txBody>
          <a:bodyPr anchor="t" rtlCol="false" tIns="0" lIns="0" bIns="0" rIns="0">
            <a:spAutoFit/>
          </a:bodyPr>
          <a:lstStyle/>
          <a:p>
            <a:pPr algn="l" marL="0" indent="0" lvl="0">
              <a:lnSpc>
                <a:spcPts val="3199"/>
              </a:lnSpc>
            </a:pPr>
            <a:r>
              <a:rPr lang="en-US" b="true" sz="2666">
                <a:solidFill>
                  <a:srgbClr val="003E7E"/>
                </a:solidFill>
                <a:latin typeface="Public Sans Bold"/>
                <a:ea typeface="Public Sans Bold"/>
                <a:cs typeface="Public Sans Bold"/>
                <a:sym typeface="Public Sans Bold"/>
              </a:rPr>
              <a:t>Battery constraints and value clarity challenges</a:t>
            </a:r>
          </a:p>
        </p:txBody>
      </p:sp>
      <p:sp>
        <p:nvSpPr>
          <p:cNvPr name="TextBox 27" id="27"/>
          <p:cNvSpPr txBox="true"/>
          <p:nvPr/>
        </p:nvSpPr>
        <p:spPr>
          <a:xfrm rot="0">
            <a:off x="11362836" y="6192156"/>
            <a:ext cx="5032479" cy="2656381"/>
          </a:xfrm>
          <a:prstGeom prst="rect">
            <a:avLst/>
          </a:prstGeom>
        </p:spPr>
        <p:txBody>
          <a:bodyPr anchor="t" rtlCol="false" tIns="0" lIns="0" bIns="0" rIns="0">
            <a:spAutoFit/>
          </a:bodyPr>
          <a:lstStyle/>
          <a:p>
            <a:pPr algn="l" marL="0" indent="0" lvl="0">
              <a:lnSpc>
                <a:spcPts val="2685"/>
              </a:lnSpc>
              <a:spcBef>
                <a:spcPct val="0"/>
              </a:spcBef>
            </a:pPr>
            <a:r>
              <a:rPr lang="en-US" sz="1918">
                <a:solidFill>
                  <a:srgbClr val="343434"/>
                </a:solidFill>
                <a:latin typeface="Public Sans"/>
                <a:ea typeface="Public Sans"/>
                <a:cs typeface="Public Sans"/>
                <a:sym typeface="Public Sans"/>
              </a:rPr>
              <a:t>Our mitigation strategy centers on focused use-case prioritization to demonstrate clear value, a privacy-first design philosophy with transparent data controls, and tight launch sequencing to build trust progressively. Enterprise pilots and controlled rollouts allow us to address support complexity before scaling.</a:t>
            </a:r>
          </a:p>
        </p:txBody>
      </p:sp>
      <p:sp>
        <p:nvSpPr>
          <p:cNvPr name="TextBox 28" id="28"/>
          <p:cNvSpPr txBox="true"/>
          <p:nvPr/>
        </p:nvSpPr>
        <p:spPr>
          <a:xfrm rot="0">
            <a:off x="3027434" y="725677"/>
            <a:ext cx="1285113" cy="567975"/>
          </a:xfrm>
          <a:prstGeom prst="rect">
            <a:avLst/>
          </a:prstGeom>
        </p:spPr>
        <p:txBody>
          <a:bodyPr anchor="t" rtlCol="false" tIns="0" lIns="0" bIns="0" rIns="0">
            <a:spAutoFit/>
          </a:bodyPr>
          <a:lstStyle/>
          <a:p>
            <a:pPr algn="l" marL="0" indent="0" lvl="0">
              <a:lnSpc>
                <a:spcPts val="2272"/>
              </a:lnSpc>
              <a:spcBef>
                <a:spcPct val="0"/>
              </a:spcBef>
            </a:pPr>
            <a:r>
              <a:rPr lang="en-US" sz="1623">
                <a:solidFill>
                  <a:srgbClr val="000000"/>
                </a:solidFill>
                <a:latin typeface="Public Sans"/>
                <a:ea typeface="Public Sans"/>
                <a:cs typeface="Public Sans"/>
                <a:sym typeface="Public Sans"/>
              </a:rPr>
              <a:t>AetherLink Glass</a:t>
            </a:r>
          </a:p>
        </p:txBody>
      </p:sp>
      <p:sp>
        <p:nvSpPr>
          <p:cNvPr name="TextBox 29" id="29"/>
          <p:cNvSpPr txBox="true"/>
          <p:nvPr/>
        </p:nvSpPr>
        <p:spPr>
          <a:xfrm rot="0">
            <a:off x="3345802" y="6058007"/>
            <a:ext cx="4408548" cy="809625"/>
          </a:xfrm>
          <a:prstGeom prst="rect">
            <a:avLst/>
          </a:prstGeom>
        </p:spPr>
        <p:txBody>
          <a:bodyPr anchor="t" rtlCol="false" tIns="0" lIns="0" bIns="0" rIns="0">
            <a:spAutoFit/>
          </a:bodyPr>
          <a:lstStyle/>
          <a:p>
            <a:pPr algn="l" marL="0" indent="0" lvl="0">
              <a:lnSpc>
                <a:spcPts val="3199"/>
              </a:lnSpc>
            </a:pPr>
            <a:r>
              <a:rPr lang="en-US" b="true" sz="2666">
                <a:solidFill>
                  <a:srgbClr val="003E7E"/>
                </a:solidFill>
                <a:latin typeface="Public Sans Bold"/>
                <a:ea typeface="Public Sans Bold"/>
                <a:cs typeface="Public Sans Bold"/>
                <a:sym typeface="Public Sans Bold"/>
              </a:rPr>
              <a:t>Developer dependency and support complexity</a:t>
            </a:r>
          </a:p>
        </p:txBody>
      </p:sp>
      <p:sp>
        <p:nvSpPr>
          <p:cNvPr name="TextBox 30" id="30"/>
          <p:cNvSpPr txBox="true"/>
          <p:nvPr/>
        </p:nvSpPr>
        <p:spPr>
          <a:xfrm rot="0">
            <a:off x="3345802" y="7724882"/>
            <a:ext cx="4980887" cy="809625"/>
          </a:xfrm>
          <a:prstGeom prst="rect">
            <a:avLst/>
          </a:prstGeom>
        </p:spPr>
        <p:txBody>
          <a:bodyPr anchor="t" rtlCol="false" tIns="0" lIns="0" bIns="0" rIns="0">
            <a:spAutoFit/>
          </a:bodyPr>
          <a:lstStyle/>
          <a:p>
            <a:pPr algn="l" marL="0" indent="0" lvl="0">
              <a:lnSpc>
                <a:spcPts val="3199"/>
              </a:lnSpc>
            </a:pPr>
            <a:r>
              <a:rPr lang="en-US" b="true" sz="2666">
                <a:solidFill>
                  <a:srgbClr val="003E7E"/>
                </a:solidFill>
                <a:latin typeface="Public Sans Bold"/>
                <a:ea typeface="Public Sans Bold"/>
                <a:cs typeface="Public Sans Bold"/>
                <a:sym typeface="Public Sans Bold"/>
              </a:rPr>
              <a:t>Mitigation: privacy-first design and tight launch sequencing</a:t>
            </a:r>
          </a:p>
        </p:txBody>
      </p:sp>
      <p:sp>
        <p:nvSpPr>
          <p:cNvPr name="TextBox 31" id="31"/>
          <p:cNvSpPr txBox="true"/>
          <p:nvPr/>
        </p:nvSpPr>
        <p:spPr>
          <a:xfrm rot="0">
            <a:off x="2191805" y="6136899"/>
            <a:ext cx="1153997" cy="668625"/>
          </a:xfrm>
          <a:prstGeom prst="rect">
            <a:avLst/>
          </a:prstGeom>
        </p:spPr>
        <p:txBody>
          <a:bodyPr anchor="t" rtlCol="false" tIns="0" lIns="0" bIns="0" rIns="0">
            <a:spAutoFit/>
          </a:bodyPr>
          <a:lstStyle/>
          <a:p>
            <a:pPr algn="l" marL="0" indent="0" lvl="0">
              <a:lnSpc>
                <a:spcPts val="5271"/>
              </a:lnSpc>
            </a:pPr>
            <a:r>
              <a:rPr lang="en-US" b="true" sz="4393">
                <a:solidFill>
                  <a:srgbClr val="003E7E"/>
                </a:solidFill>
                <a:latin typeface="Public Sans Bold"/>
                <a:ea typeface="Public Sans Bold"/>
                <a:cs typeface="Public Sans Bold"/>
                <a:sym typeface="Public Sans Bold"/>
              </a:rPr>
              <a:t>03</a:t>
            </a:r>
          </a:p>
        </p:txBody>
      </p:sp>
      <p:sp>
        <p:nvSpPr>
          <p:cNvPr name="TextBox 32" id="32"/>
          <p:cNvSpPr txBox="true"/>
          <p:nvPr/>
        </p:nvSpPr>
        <p:spPr>
          <a:xfrm rot="0">
            <a:off x="2191805" y="7803774"/>
            <a:ext cx="1153997" cy="668625"/>
          </a:xfrm>
          <a:prstGeom prst="rect">
            <a:avLst/>
          </a:prstGeom>
        </p:spPr>
        <p:txBody>
          <a:bodyPr anchor="t" rtlCol="false" tIns="0" lIns="0" bIns="0" rIns="0">
            <a:spAutoFit/>
          </a:bodyPr>
          <a:lstStyle/>
          <a:p>
            <a:pPr algn="l" marL="0" indent="0" lvl="0">
              <a:lnSpc>
                <a:spcPts val="5271"/>
              </a:lnSpc>
            </a:pPr>
            <a:r>
              <a:rPr lang="en-US" b="true" sz="4393">
                <a:solidFill>
                  <a:srgbClr val="003E7E"/>
                </a:solidFill>
                <a:latin typeface="Public Sans Bold"/>
                <a:ea typeface="Public Sans Bold"/>
                <a:cs typeface="Public Sans Bold"/>
                <a:sym typeface="Public Sans Bold"/>
              </a:rPr>
              <a:t>04</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40109" t="-29261" r="0" b="-13027"/>
            </a:stretch>
          </a:blipFill>
        </p:spPr>
      </p:sp>
      <p:grpSp>
        <p:nvGrpSpPr>
          <p:cNvPr name="Group 3" id="3"/>
          <p:cNvGrpSpPr/>
          <p:nvPr/>
        </p:nvGrpSpPr>
        <p:grpSpPr>
          <a:xfrm rot="0">
            <a:off x="1534840" y="642100"/>
            <a:ext cx="1313931" cy="773201"/>
            <a:chOff x="0" y="0"/>
            <a:chExt cx="690612" cy="406400"/>
          </a:xfrm>
        </p:grpSpPr>
        <p:sp>
          <p:nvSpPr>
            <p:cNvPr name="Freeform 4" id="4"/>
            <p:cNvSpPr/>
            <p:nvPr/>
          </p:nvSpPr>
          <p:spPr>
            <a:xfrm flipH="false" flipV="false" rot="0">
              <a:off x="0" y="0"/>
              <a:ext cx="690612" cy="406400"/>
            </a:xfrm>
            <a:custGeom>
              <a:avLst/>
              <a:gdLst/>
              <a:ahLst/>
              <a:cxnLst/>
              <a:rect r="r" b="b" t="t" l="l"/>
              <a:pathLst>
                <a:path h="406400" w="690612">
                  <a:moveTo>
                    <a:pt x="487412" y="0"/>
                  </a:moveTo>
                  <a:cubicBezTo>
                    <a:pt x="599636" y="0"/>
                    <a:pt x="690612" y="90976"/>
                    <a:pt x="690612" y="203200"/>
                  </a:cubicBezTo>
                  <a:cubicBezTo>
                    <a:pt x="690612" y="315424"/>
                    <a:pt x="599636" y="406400"/>
                    <a:pt x="487412"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5" id="5"/>
            <p:cNvSpPr txBox="true"/>
            <p:nvPr/>
          </p:nvSpPr>
          <p:spPr>
            <a:xfrm>
              <a:off x="0" y="-57150"/>
              <a:ext cx="690612" cy="463550"/>
            </a:xfrm>
            <a:prstGeom prst="rect">
              <a:avLst/>
            </a:prstGeom>
          </p:spPr>
          <p:txBody>
            <a:bodyPr anchor="ctr" rtlCol="false" tIns="50800" lIns="50800" bIns="50800" rIns="50800"/>
            <a:lstStyle/>
            <a:p>
              <a:pPr algn="ctr" marL="0" indent="0" lvl="0">
                <a:lnSpc>
                  <a:spcPts val="3428"/>
                </a:lnSpc>
              </a:pPr>
            </a:p>
          </p:txBody>
        </p:sp>
      </p:grpSp>
      <p:sp>
        <p:nvSpPr>
          <p:cNvPr name="Freeform 6" id="6"/>
          <p:cNvSpPr/>
          <p:nvPr/>
        </p:nvSpPr>
        <p:spPr>
          <a:xfrm flipH="false" flipV="false" rot="0">
            <a:off x="1886092" y="789479"/>
            <a:ext cx="611427" cy="478441"/>
          </a:xfrm>
          <a:custGeom>
            <a:avLst/>
            <a:gdLst/>
            <a:ahLst/>
            <a:cxnLst/>
            <a:rect r="r" b="b" t="t" l="l"/>
            <a:pathLst>
              <a:path h="478441" w="611427">
                <a:moveTo>
                  <a:pt x="0" y="0"/>
                </a:moveTo>
                <a:lnTo>
                  <a:pt x="611427" y="0"/>
                </a:lnTo>
                <a:lnTo>
                  <a:pt x="611427" y="478442"/>
                </a:lnTo>
                <a:lnTo>
                  <a:pt x="0" y="478442"/>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7" id="7"/>
          <p:cNvGrpSpPr/>
          <p:nvPr/>
        </p:nvGrpSpPr>
        <p:grpSpPr>
          <a:xfrm rot="0">
            <a:off x="1534840" y="7620967"/>
            <a:ext cx="7106110" cy="1332842"/>
            <a:chOff x="0" y="0"/>
            <a:chExt cx="2166741" cy="406400"/>
          </a:xfrm>
        </p:grpSpPr>
        <p:sp>
          <p:nvSpPr>
            <p:cNvPr name="Freeform 8" id="8"/>
            <p:cNvSpPr/>
            <p:nvPr/>
          </p:nvSpPr>
          <p:spPr>
            <a:xfrm flipH="false" flipV="false" rot="0">
              <a:off x="0" y="0"/>
              <a:ext cx="2166741" cy="406400"/>
            </a:xfrm>
            <a:custGeom>
              <a:avLst/>
              <a:gdLst/>
              <a:ahLst/>
              <a:cxnLst/>
              <a:rect r="r" b="b" t="t" l="l"/>
              <a:pathLst>
                <a:path h="406400" w="2166741">
                  <a:moveTo>
                    <a:pt x="1963541" y="0"/>
                  </a:moveTo>
                  <a:cubicBezTo>
                    <a:pt x="2075765" y="0"/>
                    <a:pt x="2166741" y="90976"/>
                    <a:pt x="2166741" y="203200"/>
                  </a:cubicBezTo>
                  <a:cubicBezTo>
                    <a:pt x="2166741" y="315424"/>
                    <a:pt x="2075765" y="406400"/>
                    <a:pt x="1963541" y="406400"/>
                  </a:cubicBezTo>
                  <a:lnTo>
                    <a:pt x="203200" y="406400"/>
                  </a:lnTo>
                  <a:cubicBezTo>
                    <a:pt x="90976" y="406400"/>
                    <a:pt x="0" y="315424"/>
                    <a:pt x="0" y="203200"/>
                  </a:cubicBezTo>
                  <a:cubicBezTo>
                    <a:pt x="0" y="90976"/>
                    <a:pt x="90976" y="0"/>
                    <a:pt x="203200" y="0"/>
                  </a:cubicBezTo>
                  <a:close/>
                </a:path>
              </a:pathLst>
            </a:custGeom>
            <a:ln w="19050" cap="sq">
              <a:solidFill>
                <a:srgbClr val="003E7E"/>
              </a:solidFill>
              <a:prstDash val="solid"/>
              <a:miter/>
            </a:ln>
          </p:spPr>
        </p:sp>
        <p:sp>
          <p:nvSpPr>
            <p:cNvPr name="TextBox 9" id="9"/>
            <p:cNvSpPr txBox="true"/>
            <p:nvPr/>
          </p:nvSpPr>
          <p:spPr>
            <a:xfrm>
              <a:off x="0" y="-57150"/>
              <a:ext cx="2166741" cy="463550"/>
            </a:xfrm>
            <a:prstGeom prst="rect">
              <a:avLst/>
            </a:prstGeom>
          </p:spPr>
          <p:txBody>
            <a:bodyPr anchor="ctr" rtlCol="false" tIns="50800" lIns="50800" bIns="50800" rIns="50800"/>
            <a:lstStyle/>
            <a:p>
              <a:pPr algn="ctr" marL="0" indent="0" lvl="0">
                <a:lnSpc>
                  <a:spcPts val="3428"/>
                </a:lnSpc>
              </a:pPr>
            </a:p>
          </p:txBody>
        </p:sp>
      </p:grpSp>
      <p:sp>
        <p:nvSpPr>
          <p:cNvPr name="Freeform 10" id="10"/>
          <p:cNvSpPr/>
          <p:nvPr/>
        </p:nvSpPr>
        <p:spPr>
          <a:xfrm flipH="false" flipV="false" rot="0">
            <a:off x="14718695" y="-2553339"/>
            <a:ext cx="5690196" cy="10393052"/>
          </a:xfrm>
          <a:custGeom>
            <a:avLst/>
            <a:gdLst/>
            <a:ahLst/>
            <a:cxnLst/>
            <a:rect r="r" b="b" t="t" l="l"/>
            <a:pathLst>
              <a:path h="10393052" w="5690196">
                <a:moveTo>
                  <a:pt x="0" y="0"/>
                </a:moveTo>
                <a:lnTo>
                  <a:pt x="5690196" y="0"/>
                </a:lnTo>
                <a:lnTo>
                  <a:pt x="5690196" y="10393051"/>
                </a:lnTo>
                <a:lnTo>
                  <a:pt x="0" y="10393051"/>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11" id="11"/>
          <p:cNvGrpSpPr/>
          <p:nvPr/>
        </p:nvGrpSpPr>
        <p:grpSpPr>
          <a:xfrm rot="0">
            <a:off x="9647051" y="7620967"/>
            <a:ext cx="7106110" cy="1332842"/>
            <a:chOff x="0" y="0"/>
            <a:chExt cx="2166741" cy="406400"/>
          </a:xfrm>
        </p:grpSpPr>
        <p:sp>
          <p:nvSpPr>
            <p:cNvPr name="Freeform 12" id="12"/>
            <p:cNvSpPr/>
            <p:nvPr/>
          </p:nvSpPr>
          <p:spPr>
            <a:xfrm flipH="false" flipV="false" rot="0">
              <a:off x="0" y="0"/>
              <a:ext cx="2166741" cy="406400"/>
            </a:xfrm>
            <a:custGeom>
              <a:avLst/>
              <a:gdLst/>
              <a:ahLst/>
              <a:cxnLst/>
              <a:rect r="r" b="b" t="t" l="l"/>
              <a:pathLst>
                <a:path h="406400" w="2166741">
                  <a:moveTo>
                    <a:pt x="1963541" y="0"/>
                  </a:moveTo>
                  <a:cubicBezTo>
                    <a:pt x="2075765" y="0"/>
                    <a:pt x="2166741" y="90976"/>
                    <a:pt x="2166741" y="203200"/>
                  </a:cubicBezTo>
                  <a:cubicBezTo>
                    <a:pt x="2166741" y="315424"/>
                    <a:pt x="2075765" y="406400"/>
                    <a:pt x="1963541" y="406400"/>
                  </a:cubicBezTo>
                  <a:lnTo>
                    <a:pt x="203200" y="406400"/>
                  </a:lnTo>
                  <a:cubicBezTo>
                    <a:pt x="90976" y="406400"/>
                    <a:pt x="0" y="315424"/>
                    <a:pt x="0" y="203200"/>
                  </a:cubicBezTo>
                  <a:cubicBezTo>
                    <a:pt x="0" y="90976"/>
                    <a:pt x="90976" y="0"/>
                    <a:pt x="203200" y="0"/>
                  </a:cubicBezTo>
                  <a:close/>
                </a:path>
              </a:pathLst>
            </a:custGeom>
            <a:ln w="19050" cap="sq">
              <a:solidFill>
                <a:srgbClr val="003E7E"/>
              </a:solidFill>
              <a:prstDash val="solid"/>
              <a:miter/>
            </a:ln>
          </p:spPr>
        </p:sp>
        <p:sp>
          <p:nvSpPr>
            <p:cNvPr name="TextBox 13" id="13"/>
            <p:cNvSpPr txBox="true"/>
            <p:nvPr/>
          </p:nvSpPr>
          <p:spPr>
            <a:xfrm>
              <a:off x="0" y="-57150"/>
              <a:ext cx="2166741" cy="463550"/>
            </a:xfrm>
            <a:prstGeom prst="rect">
              <a:avLst/>
            </a:prstGeom>
          </p:spPr>
          <p:txBody>
            <a:bodyPr anchor="ctr" rtlCol="false" tIns="50800" lIns="50800" bIns="50800" rIns="50800"/>
            <a:lstStyle/>
            <a:p>
              <a:pPr algn="ctr" marL="0" indent="0" lvl="0">
                <a:lnSpc>
                  <a:spcPts val="3428"/>
                </a:lnSpc>
              </a:pPr>
            </a:p>
          </p:txBody>
        </p:sp>
      </p:grpSp>
      <p:grpSp>
        <p:nvGrpSpPr>
          <p:cNvPr name="Group 14" id="14"/>
          <p:cNvGrpSpPr/>
          <p:nvPr/>
        </p:nvGrpSpPr>
        <p:grpSpPr>
          <a:xfrm rot="0">
            <a:off x="1534840" y="6026864"/>
            <a:ext cx="7106110" cy="1332842"/>
            <a:chOff x="0" y="0"/>
            <a:chExt cx="2166741" cy="406400"/>
          </a:xfrm>
        </p:grpSpPr>
        <p:sp>
          <p:nvSpPr>
            <p:cNvPr name="Freeform 15" id="15"/>
            <p:cNvSpPr/>
            <p:nvPr/>
          </p:nvSpPr>
          <p:spPr>
            <a:xfrm flipH="false" flipV="false" rot="0">
              <a:off x="0" y="0"/>
              <a:ext cx="2166741" cy="406400"/>
            </a:xfrm>
            <a:custGeom>
              <a:avLst/>
              <a:gdLst/>
              <a:ahLst/>
              <a:cxnLst/>
              <a:rect r="r" b="b" t="t" l="l"/>
              <a:pathLst>
                <a:path h="406400" w="2166741">
                  <a:moveTo>
                    <a:pt x="1963541" y="0"/>
                  </a:moveTo>
                  <a:cubicBezTo>
                    <a:pt x="2075765" y="0"/>
                    <a:pt x="2166741" y="90976"/>
                    <a:pt x="2166741" y="203200"/>
                  </a:cubicBezTo>
                  <a:cubicBezTo>
                    <a:pt x="2166741" y="315424"/>
                    <a:pt x="2075765" y="406400"/>
                    <a:pt x="1963541" y="406400"/>
                  </a:cubicBezTo>
                  <a:lnTo>
                    <a:pt x="203200" y="406400"/>
                  </a:lnTo>
                  <a:cubicBezTo>
                    <a:pt x="90976" y="406400"/>
                    <a:pt x="0" y="315424"/>
                    <a:pt x="0" y="203200"/>
                  </a:cubicBezTo>
                  <a:cubicBezTo>
                    <a:pt x="0" y="90976"/>
                    <a:pt x="90976" y="0"/>
                    <a:pt x="203200" y="0"/>
                  </a:cubicBezTo>
                  <a:close/>
                </a:path>
              </a:pathLst>
            </a:custGeom>
            <a:ln w="19050" cap="sq">
              <a:solidFill>
                <a:srgbClr val="003E7E"/>
              </a:solidFill>
              <a:prstDash val="solid"/>
              <a:miter/>
            </a:ln>
          </p:spPr>
        </p:sp>
        <p:sp>
          <p:nvSpPr>
            <p:cNvPr name="TextBox 16" id="16"/>
            <p:cNvSpPr txBox="true"/>
            <p:nvPr/>
          </p:nvSpPr>
          <p:spPr>
            <a:xfrm>
              <a:off x="0" y="-57150"/>
              <a:ext cx="2166741" cy="463550"/>
            </a:xfrm>
            <a:prstGeom prst="rect">
              <a:avLst/>
            </a:prstGeom>
          </p:spPr>
          <p:txBody>
            <a:bodyPr anchor="ctr" rtlCol="false" tIns="50800" lIns="50800" bIns="50800" rIns="50800"/>
            <a:lstStyle/>
            <a:p>
              <a:pPr algn="ctr" marL="0" indent="0" lvl="0">
                <a:lnSpc>
                  <a:spcPts val="3428"/>
                </a:lnSpc>
              </a:pPr>
            </a:p>
          </p:txBody>
        </p:sp>
      </p:grpSp>
      <p:grpSp>
        <p:nvGrpSpPr>
          <p:cNvPr name="Group 17" id="17"/>
          <p:cNvGrpSpPr/>
          <p:nvPr/>
        </p:nvGrpSpPr>
        <p:grpSpPr>
          <a:xfrm rot="0">
            <a:off x="9647051" y="6026864"/>
            <a:ext cx="7106110" cy="1332842"/>
            <a:chOff x="0" y="0"/>
            <a:chExt cx="2166741" cy="406400"/>
          </a:xfrm>
        </p:grpSpPr>
        <p:sp>
          <p:nvSpPr>
            <p:cNvPr name="Freeform 18" id="18"/>
            <p:cNvSpPr/>
            <p:nvPr/>
          </p:nvSpPr>
          <p:spPr>
            <a:xfrm flipH="false" flipV="false" rot="0">
              <a:off x="0" y="0"/>
              <a:ext cx="2166741" cy="406400"/>
            </a:xfrm>
            <a:custGeom>
              <a:avLst/>
              <a:gdLst/>
              <a:ahLst/>
              <a:cxnLst/>
              <a:rect r="r" b="b" t="t" l="l"/>
              <a:pathLst>
                <a:path h="406400" w="2166741">
                  <a:moveTo>
                    <a:pt x="1963541" y="0"/>
                  </a:moveTo>
                  <a:cubicBezTo>
                    <a:pt x="2075765" y="0"/>
                    <a:pt x="2166741" y="90976"/>
                    <a:pt x="2166741" y="203200"/>
                  </a:cubicBezTo>
                  <a:cubicBezTo>
                    <a:pt x="2166741" y="315424"/>
                    <a:pt x="2075765" y="406400"/>
                    <a:pt x="1963541" y="406400"/>
                  </a:cubicBezTo>
                  <a:lnTo>
                    <a:pt x="203200" y="406400"/>
                  </a:lnTo>
                  <a:cubicBezTo>
                    <a:pt x="90976" y="406400"/>
                    <a:pt x="0" y="315424"/>
                    <a:pt x="0" y="203200"/>
                  </a:cubicBezTo>
                  <a:cubicBezTo>
                    <a:pt x="0" y="90976"/>
                    <a:pt x="90976" y="0"/>
                    <a:pt x="203200" y="0"/>
                  </a:cubicBezTo>
                  <a:close/>
                </a:path>
              </a:pathLst>
            </a:custGeom>
            <a:ln w="19050" cap="sq">
              <a:solidFill>
                <a:srgbClr val="003E7E"/>
              </a:solidFill>
              <a:prstDash val="solid"/>
              <a:miter/>
            </a:ln>
          </p:spPr>
        </p:sp>
        <p:sp>
          <p:nvSpPr>
            <p:cNvPr name="TextBox 19" id="19"/>
            <p:cNvSpPr txBox="true"/>
            <p:nvPr/>
          </p:nvSpPr>
          <p:spPr>
            <a:xfrm>
              <a:off x="0" y="-57150"/>
              <a:ext cx="2166741" cy="463550"/>
            </a:xfrm>
            <a:prstGeom prst="rect">
              <a:avLst/>
            </a:prstGeom>
          </p:spPr>
          <p:txBody>
            <a:bodyPr anchor="ctr" rtlCol="false" tIns="50800" lIns="50800" bIns="50800" rIns="50800"/>
            <a:lstStyle/>
            <a:p>
              <a:pPr algn="ctr" marL="0" indent="0" lvl="0">
                <a:lnSpc>
                  <a:spcPts val="3428"/>
                </a:lnSpc>
              </a:pPr>
            </a:p>
          </p:txBody>
        </p:sp>
      </p:grpSp>
      <p:grpSp>
        <p:nvGrpSpPr>
          <p:cNvPr name="Group 20" id="20"/>
          <p:cNvGrpSpPr/>
          <p:nvPr/>
        </p:nvGrpSpPr>
        <p:grpSpPr>
          <a:xfrm rot="0">
            <a:off x="1886092" y="6348371"/>
            <a:ext cx="689827" cy="689827"/>
            <a:chOff x="0" y="0"/>
            <a:chExt cx="812800" cy="812800"/>
          </a:xfrm>
        </p:grpSpPr>
        <p:sp>
          <p:nvSpPr>
            <p:cNvPr name="Freeform 21" id="21"/>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3E7E"/>
            </a:solidFill>
          </p:spPr>
        </p:sp>
        <p:sp>
          <p:nvSpPr>
            <p:cNvPr name="TextBox 22" id="22"/>
            <p:cNvSpPr txBox="true"/>
            <p:nvPr/>
          </p:nvSpPr>
          <p:spPr>
            <a:xfrm>
              <a:off x="76200" y="19050"/>
              <a:ext cx="660400" cy="717550"/>
            </a:xfrm>
            <a:prstGeom prst="rect">
              <a:avLst/>
            </a:prstGeom>
          </p:spPr>
          <p:txBody>
            <a:bodyPr anchor="ctr" rtlCol="false" tIns="50800" lIns="50800" bIns="50800" rIns="50800"/>
            <a:lstStyle/>
            <a:p>
              <a:pPr algn="ctr" marL="0" indent="0" lvl="0">
                <a:lnSpc>
                  <a:spcPts val="3428"/>
                </a:lnSpc>
              </a:pPr>
            </a:p>
          </p:txBody>
        </p:sp>
      </p:grpSp>
      <p:grpSp>
        <p:nvGrpSpPr>
          <p:cNvPr name="Group 23" id="23"/>
          <p:cNvGrpSpPr/>
          <p:nvPr/>
        </p:nvGrpSpPr>
        <p:grpSpPr>
          <a:xfrm rot="0">
            <a:off x="9980169" y="6348371"/>
            <a:ext cx="689827" cy="689827"/>
            <a:chOff x="0" y="0"/>
            <a:chExt cx="812800" cy="812800"/>
          </a:xfrm>
        </p:grpSpPr>
        <p:sp>
          <p:nvSpPr>
            <p:cNvPr name="Freeform 24" id="24"/>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3E7E"/>
            </a:solidFill>
          </p:spPr>
        </p:sp>
        <p:sp>
          <p:nvSpPr>
            <p:cNvPr name="TextBox 25" id="25"/>
            <p:cNvSpPr txBox="true"/>
            <p:nvPr/>
          </p:nvSpPr>
          <p:spPr>
            <a:xfrm>
              <a:off x="76200" y="19050"/>
              <a:ext cx="660400" cy="717550"/>
            </a:xfrm>
            <a:prstGeom prst="rect">
              <a:avLst/>
            </a:prstGeom>
          </p:spPr>
          <p:txBody>
            <a:bodyPr anchor="ctr" rtlCol="false" tIns="50800" lIns="50800" bIns="50800" rIns="50800"/>
            <a:lstStyle/>
            <a:p>
              <a:pPr algn="ctr" marL="0" indent="0" lvl="0">
                <a:lnSpc>
                  <a:spcPts val="3428"/>
                </a:lnSpc>
              </a:pPr>
            </a:p>
          </p:txBody>
        </p:sp>
      </p:grpSp>
      <p:grpSp>
        <p:nvGrpSpPr>
          <p:cNvPr name="Group 26" id="26"/>
          <p:cNvGrpSpPr/>
          <p:nvPr/>
        </p:nvGrpSpPr>
        <p:grpSpPr>
          <a:xfrm rot="0">
            <a:off x="1886092" y="7942474"/>
            <a:ext cx="689827" cy="689827"/>
            <a:chOff x="0" y="0"/>
            <a:chExt cx="812800" cy="812800"/>
          </a:xfrm>
        </p:grpSpPr>
        <p:sp>
          <p:nvSpPr>
            <p:cNvPr name="Freeform 27" id="2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3E7E"/>
            </a:solidFill>
          </p:spPr>
        </p:sp>
        <p:sp>
          <p:nvSpPr>
            <p:cNvPr name="TextBox 28" id="28"/>
            <p:cNvSpPr txBox="true"/>
            <p:nvPr/>
          </p:nvSpPr>
          <p:spPr>
            <a:xfrm>
              <a:off x="76200" y="19050"/>
              <a:ext cx="660400" cy="717550"/>
            </a:xfrm>
            <a:prstGeom prst="rect">
              <a:avLst/>
            </a:prstGeom>
          </p:spPr>
          <p:txBody>
            <a:bodyPr anchor="ctr" rtlCol="false" tIns="50800" lIns="50800" bIns="50800" rIns="50800"/>
            <a:lstStyle/>
            <a:p>
              <a:pPr algn="ctr" marL="0" indent="0" lvl="0">
                <a:lnSpc>
                  <a:spcPts val="3428"/>
                </a:lnSpc>
              </a:pPr>
            </a:p>
          </p:txBody>
        </p:sp>
      </p:grpSp>
      <p:grpSp>
        <p:nvGrpSpPr>
          <p:cNvPr name="Group 29" id="29"/>
          <p:cNvGrpSpPr/>
          <p:nvPr/>
        </p:nvGrpSpPr>
        <p:grpSpPr>
          <a:xfrm rot="0">
            <a:off x="9980169" y="7942474"/>
            <a:ext cx="689827" cy="689827"/>
            <a:chOff x="0" y="0"/>
            <a:chExt cx="812800" cy="812800"/>
          </a:xfrm>
        </p:grpSpPr>
        <p:sp>
          <p:nvSpPr>
            <p:cNvPr name="Freeform 30" id="30"/>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3E7E"/>
            </a:solidFill>
          </p:spPr>
        </p:sp>
        <p:sp>
          <p:nvSpPr>
            <p:cNvPr name="TextBox 31" id="31"/>
            <p:cNvSpPr txBox="true"/>
            <p:nvPr/>
          </p:nvSpPr>
          <p:spPr>
            <a:xfrm>
              <a:off x="76200" y="19050"/>
              <a:ext cx="660400" cy="717550"/>
            </a:xfrm>
            <a:prstGeom prst="rect">
              <a:avLst/>
            </a:prstGeom>
          </p:spPr>
          <p:txBody>
            <a:bodyPr anchor="ctr" rtlCol="false" tIns="50800" lIns="50800" bIns="50800" rIns="50800"/>
            <a:lstStyle/>
            <a:p>
              <a:pPr algn="ctr" marL="0" indent="0" lvl="0">
                <a:lnSpc>
                  <a:spcPts val="3428"/>
                </a:lnSpc>
              </a:pPr>
            </a:p>
          </p:txBody>
        </p:sp>
      </p:grpSp>
      <p:sp>
        <p:nvSpPr>
          <p:cNvPr name="Freeform 32" id="32"/>
          <p:cNvSpPr/>
          <p:nvPr/>
        </p:nvSpPr>
        <p:spPr>
          <a:xfrm flipH="false" flipV="false" rot="0">
            <a:off x="2079656" y="6591502"/>
            <a:ext cx="302700" cy="203566"/>
          </a:xfrm>
          <a:custGeom>
            <a:avLst/>
            <a:gdLst/>
            <a:ahLst/>
            <a:cxnLst/>
            <a:rect r="r" b="b" t="t" l="l"/>
            <a:pathLst>
              <a:path h="203566" w="302700">
                <a:moveTo>
                  <a:pt x="0" y="0"/>
                </a:moveTo>
                <a:lnTo>
                  <a:pt x="302700" y="0"/>
                </a:lnTo>
                <a:lnTo>
                  <a:pt x="302700" y="203566"/>
                </a:lnTo>
                <a:lnTo>
                  <a:pt x="0" y="203566"/>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33" id="33"/>
          <p:cNvSpPr/>
          <p:nvPr/>
        </p:nvSpPr>
        <p:spPr>
          <a:xfrm flipH="false" flipV="false" rot="0">
            <a:off x="10173733" y="6591502"/>
            <a:ext cx="302700" cy="203566"/>
          </a:xfrm>
          <a:custGeom>
            <a:avLst/>
            <a:gdLst/>
            <a:ahLst/>
            <a:cxnLst/>
            <a:rect r="r" b="b" t="t" l="l"/>
            <a:pathLst>
              <a:path h="203566" w="302700">
                <a:moveTo>
                  <a:pt x="0" y="0"/>
                </a:moveTo>
                <a:lnTo>
                  <a:pt x="302700" y="0"/>
                </a:lnTo>
                <a:lnTo>
                  <a:pt x="302700" y="203566"/>
                </a:lnTo>
                <a:lnTo>
                  <a:pt x="0" y="203566"/>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34" id="34"/>
          <p:cNvSpPr/>
          <p:nvPr/>
        </p:nvSpPr>
        <p:spPr>
          <a:xfrm flipH="false" flipV="false" rot="0">
            <a:off x="2079656" y="8185605"/>
            <a:ext cx="302700" cy="203566"/>
          </a:xfrm>
          <a:custGeom>
            <a:avLst/>
            <a:gdLst/>
            <a:ahLst/>
            <a:cxnLst/>
            <a:rect r="r" b="b" t="t" l="l"/>
            <a:pathLst>
              <a:path h="203566" w="302700">
                <a:moveTo>
                  <a:pt x="0" y="0"/>
                </a:moveTo>
                <a:lnTo>
                  <a:pt x="302700" y="0"/>
                </a:lnTo>
                <a:lnTo>
                  <a:pt x="302700" y="203566"/>
                </a:lnTo>
                <a:lnTo>
                  <a:pt x="0" y="203566"/>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35" id="35"/>
          <p:cNvSpPr/>
          <p:nvPr/>
        </p:nvSpPr>
        <p:spPr>
          <a:xfrm flipH="false" flipV="false" rot="0">
            <a:off x="10173733" y="8185605"/>
            <a:ext cx="302700" cy="203566"/>
          </a:xfrm>
          <a:custGeom>
            <a:avLst/>
            <a:gdLst/>
            <a:ahLst/>
            <a:cxnLst/>
            <a:rect r="r" b="b" t="t" l="l"/>
            <a:pathLst>
              <a:path h="203566" w="302700">
                <a:moveTo>
                  <a:pt x="0" y="0"/>
                </a:moveTo>
                <a:lnTo>
                  <a:pt x="302700" y="0"/>
                </a:lnTo>
                <a:lnTo>
                  <a:pt x="302700" y="203566"/>
                </a:lnTo>
                <a:lnTo>
                  <a:pt x="0" y="203566"/>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36" id="36"/>
          <p:cNvSpPr txBox="true"/>
          <p:nvPr/>
        </p:nvSpPr>
        <p:spPr>
          <a:xfrm rot="0">
            <a:off x="9647051" y="2738547"/>
            <a:ext cx="7106110" cy="1181235"/>
          </a:xfrm>
          <a:prstGeom prst="rect">
            <a:avLst/>
          </a:prstGeom>
        </p:spPr>
        <p:txBody>
          <a:bodyPr anchor="t" rtlCol="false" tIns="0" lIns="0" bIns="0" rIns="0">
            <a:spAutoFit/>
          </a:bodyPr>
          <a:lstStyle/>
          <a:p>
            <a:pPr algn="l" marL="0" indent="0" lvl="0">
              <a:lnSpc>
                <a:spcPts val="9760"/>
              </a:lnSpc>
              <a:spcBef>
                <a:spcPct val="0"/>
              </a:spcBef>
            </a:pPr>
            <a:r>
              <a:rPr lang="en-US" b="true" sz="6971">
                <a:solidFill>
                  <a:srgbClr val="003E7E"/>
                </a:solidFill>
                <a:latin typeface="Helvetica Now Bold"/>
                <a:ea typeface="Helvetica Now Bold"/>
                <a:cs typeface="Helvetica Now Bold"/>
                <a:sym typeface="Helvetica Now Bold"/>
              </a:rPr>
              <a:t>SUSTAINABILITY</a:t>
            </a:r>
          </a:p>
        </p:txBody>
      </p:sp>
      <p:sp>
        <p:nvSpPr>
          <p:cNvPr name="TextBox 37" id="37"/>
          <p:cNvSpPr txBox="true"/>
          <p:nvPr/>
        </p:nvSpPr>
        <p:spPr>
          <a:xfrm rot="0">
            <a:off x="9647051" y="3802118"/>
            <a:ext cx="7106110" cy="1181235"/>
          </a:xfrm>
          <a:prstGeom prst="rect">
            <a:avLst/>
          </a:prstGeom>
        </p:spPr>
        <p:txBody>
          <a:bodyPr anchor="t" rtlCol="false" tIns="0" lIns="0" bIns="0" rIns="0">
            <a:spAutoFit/>
          </a:bodyPr>
          <a:lstStyle/>
          <a:p>
            <a:pPr algn="l" marL="0" indent="0" lvl="0">
              <a:lnSpc>
                <a:spcPts val="9760"/>
              </a:lnSpc>
              <a:spcBef>
                <a:spcPct val="0"/>
              </a:spcBef>
            </a:pPr>
            <a:r>
              <a:rPr lang="en-US" b="true" sz="6971">
                <a:solidFill>
                  <a:srgbClr val="000000"/>
                </a:solidFill>
                <a:latin typeface="Helvetica Now Bold"/>
                <a:ea typeface="Helvetica Now Bold"/>
                <a:cs typeface="Helvetica Now Bold"/>
                <a:sym typeface="Helvetica Now Bold"/>
              </a:rPr>
              <a:t>COMMITMENT</a:t>
            </a:r>
          </a:p>
        </p:txBody>
      </p:sp>
      <p:sp>
        <p:nvSpPr>
          <p:cNvPr name="TextBox 38" id="38"/>
          <p:cNvSpPr txBox="true"/>
          <p:nvPr/>
        </p:nvSpPr>
        <p:spPr>
          <a:xfrm rot="0">
            <a:off x="1534840" y="2312233"/>
            <a:ext cx="3220782" cy="1049477"/>
          </a:xfrm>
          <a:prstGeom prst="rect">
            <a:avLst/>
          </a:prstGeom>
        </p:spPr>
        <p:txBody>
          <a:bodyPr anchor="t" rtlCol="false" tIns="0" lIns="0" bIns="0" rIns="0">
            <a:spAutoFit/>
          </a:bodyPr>
          <a:lstStyle/>
          <a:p>
            <a:pPr algn="l" marL="0" indent="0" lvl="0">
              <a:lnSpc>
                <a:spcPts val="4194"/>
              </a:lnSpc>
              <a:spcBef>
                <a:spcPct val="0"/>
              </a:spcBef>
            </a:pPr>
            <a:r>
              <a:rPr lang="en-US" b="true" sz="2996">
                <a:solidFill>
                  <a:srgbClr val="003E7E"/>
                </a:solidFill>
                <a:latin typeface="Public Sans Bold"/>
                <a:ea typeface="Public Sans Bold"/>
                <a:cs typeface="Public Sans Bold"/>
                <a:sym typeface="Public Sans Bold"/>
              </a:rPr>
              <a:t>Built to Last, Designed to Care</a:t>
            </a:r>
          </a:p>
        </p:txBody>
      </p:sp>
      <p:sp>
        <p:nvSpPr>
          <p:cNvPr name="TextBox 39" id="39"/>
          <p:cNvSpPr txBox="true"/>
          <p:nvPr/>
        </p:nvSpPr>
        <p:spPr>
          <a:xfrm rot="0">
            <a:off x="1534840" y="3666667"/>
            <a:ext cx="7106110" cy="1322881"/>
          </a:xfrm>
          <a:prstGeom prst="rect">
            <a:avLst/>
          </a:prstGeom>
        </p:spPr>
        <p:txBody>
          <a:bodyPr anchor="t" rtlCol="false" tIns="0" lIns="0" bIns="0" rIns="0">
            <a:spAutoFit/>
          </a:bodyPr>
          <a:lstStyle/>
          <a:p>
            <a:pPr algn="l" marL="0" indent="0" lvl="0">
              <a:lnSpc>
                <a:spcPts val="2685"/>
              </a:lnSpc>
              <a:spcBef>
                <a:spcPct val="0"/>
              </a:spcBef>
            </a:pPr>
            <a:r>
              <a:rPr lang="en-US" sz="1918">
                <a:solidFill>
                  <a:srgbClr val="343434"/>
                </a:solidFill>
                <a:latin typeface="Public Sans"/>
                <a:ea typeface="Public Sans"/>
                <a:cs typeface="Public Sans"/>
                <a:sym typeface="Public Sans"/>
              </a:rPr>
              <a:t>AetherLink Glass is engineered with environmental responsibility at its core — from modular construction and recyclable materials to refurbishment programs that extend product life and reduce waste across every deployment.</a:t>
            </a:r>
          </a:p>
        </p:txBody>
      </p:sp>
      <p:sp>
        <p:nvSpPr>
          <p:cNvPr name="TextBox 40" id="40"/>
          <p:cNvSpPr txBox="true"/>
          <p:nvPr/>
        </p:nvSpPr>
        <p:spPr>
          <a:xfrm rot="0">
            <a:off x="3027434" y="725677"/>
            <a:ext cx="1285113" cy="567975"/>
          </a:xfrm>
          <a:prstGeom prst="rect">
            <a:avLst/>
          </a:prstGeom>
        </p:spPr>
        <p:txBody>
          <a:bodyPr anchor="t" rtlCol="false" tIns="0" lIns="0" bIns="0" rIns="0">
            <a:spAutoFit/>
          </a:bodyPr>
          <a:lstStyle/>
          <a:p>
            <a:pPr algn="l" marL="0" indent="0" lvl="0">
              <a:lnSpc>
                <a:spcPts val="2272"/>
              </a:lnSpc>
              <a:spcBef>
                <a:spcPct val="0"/>
              </a:spcBef>
            </a:pPr>
            <a:r>
              <a:rPr lang="en-US" sz="1623">
                <a:solidFill>
                  <a:srgbClr val="000000"/>
                </a:solidFill>
                <a:latin typeface="Public Sans"/>
                <a:ea typeface="Public Sans"/>
                <a:cs typeface="Public Sans"/>
                <a:sym typeface="Public Sans"/>
              </a:rPr>
              <a:t>AetherLink Glass</a:t>
            </a:r>
          </a:p>
        </p:txBody>
      </p:sp>
      <p:sp>
        <p:nvSpPr>
          <p:cNvPr name="TextBox 41" id="41"/>
          <p:cNvSpPr txBox="true"/>
          <p:nvPr/>
        </p:nvSpPr>
        <p:spPr>
          <a:xfrm rot="0">
            <a:off x="2879957" y="7830187"/>
            <a:ext cx="4506356" cy="457200"/>
          </a:xfrm>
          <a:prstGeom prst="rect">
            <a:avLst/>
          </a:prstGeom>
        </p:spPr>
        <p:txBody>
          <a:bodyPr anchor="t" rtlCol="false" tIns="0" lIns="0" bIns="0" rIns="0">
            <a:spAutoFit/>
          </a:bodyPr>
          <a:lstStyle/>
          <a:p>
            <a:pPr algn="l" marL="0" indent="0" lvl="0">
              <a:lnSpc>
                <a:spcPts val="3595"/>
              </a:lnSpc>
            </a:pPr>
            <a:r>
              <a:rPr lang="en-US" b="true" sz="2996">
                <a:solidFill>
                  <a:srgbClr val="003E7E"/>
                </a:solidFill>
                <a:latin typeface="Public Sans Bold"/>
                <a:ea typeface="Public Sans Bold"/>
                <a:cs typeface="Public Sans Bold"/>
                <a:sym typeface="Public Sans Bold"/>
              </a:rPr>
              <a:t>Refurbishment Program</a:t>
            </a:r>
          </a:p>
        </p:txBody>
      </p:sp>
      <p:sp>
        <p:nvSpPr>
          <p:cNvPr name="TextBox 42" id="42"/>
          <p:cNvSpPr txBox="true"/>
          <p:nvPr/>
        </p:nvSpPr>
        <p:spPr>
          <a:xfrm rot="0">
            <a:off x="10974796" y="7830187"/>
            <a:ext cx="4523323" cy="904875"/>
          </a:xfrm>
          <a:prstGeom prst="rect">
            <a:avLst/>
          </a:prstGeom>
        </p:spPr>
        <p:txBody>
          <a:bodyPr anchor="t" rtlCol="false" tIns="0" lIns="0" bIns="0" rIns="0">
            <a:spAutoFit/>
          </a:bodyPr>
          <a:lstStyle/>
          <a:p>
            <a:pPr algn="l" marL="0" indent="0" lvl="0">
              <a:lnSpc>
                <a:spcPts val="3595"/>
              </a:lnSpc>
            </a:pPr>
            <a:r>
              <a:rPr lang="en-US" b="true" sz="2996">
                <a:solidFill>
                  <a:srgbClr val="003E7E"/>
                </a:solidFill>
                <a:latin typeface="Public Sans Bold"/>
                <a:ea typeface="Public Sans Bold"/>
                <a:cs typeface="Public Sans Bold"/>
                <a:sym typeface="Public Sans Bold"/>
              </a:rPr>
              <a:t>Enterprise Redeployment Cycle</a:t>
            </a:r>
          </a:p>
        </p:txBody>
      </p:sp>
      <p:sp>
        <p:nvSpPr>
          <p:cNvPr name="TextBox 43" id="43"/>
          <p:cNvSpPr txBox="true"/>
          <p:nvPr/>
        </p:nvSpPr>
        <p:spPr>
          <a:xfrm rot="0">
            <a:off x="2879957" y="6236085"/>
            <a:ext cx="3324213" cy="904875"/>
          </a:xfrm>
          <a:prstGeom prst="rect">
            <a:avLst/>
          </a:prstGeom>
        </p:spPr>
        <p:txBody>
          <a:bodyPr anchor="t" rtlCol="false" tIns="0" lIns="0" bIns="0" rIns="0">
            <a:spAutoFit/>
          </a:bodyPr>
          <a:lstStyle/>
          <a:p>
            <a:pPr algn="l" marL="0" indent="0" lvl="0">
              <a:lnSpc>
                <a:spcPts val="3595"/>
              </a:lnSpc>
            </a:pPr>
            <a:r>
              <a:rPr lang="en-US" b="true" sz="2996">
                <a:solidFill>
                  <a:srgbClr val="003E7E"/>
                </a:solidFill>
                <a:latin typeface="Public Sans Bold"/>
                <a:ea typeface="Public Sans Bold"/>
                <a:cs typeface="Public Sans Bold"/>
                <a:sym typeface="Public Sans Bold"/>
              </a:rPr>
              <a:t>Modular Repair Path</a:t>
            </a:r>
          </a:p>
        </p:txBody>
      </p:sp>
      <p:sp>
        <p:nvSpPr>
          <p:cNvPr name="TextBox 44" id="44"/>
          <p:cNvSpPr txBox="true"/>
          <p:nvPr/>
        </p:nvSpPr>
        <p:spPr>
          <a:xfrm rot="0">
            <a:off x="10974796" y="6236085"/>
            <a:ext cx="4631196" cy="904875"/>
          </a:xfrm>
          <a:prstGeom prst="rect">
            <a:avLst/>
          </a:prstGeom>
        </p:spPr>
        <p:txBody>
          <a:bodyPr anchor="t" rtlCol="false" tIns="0" lIns="0" bIns="0" rIns="0">
            <a:spAutoFit/>
          </a:bodyPr>
          <a:lstStyle/>
          <a:p>
            <a:pPr algn="l" marL="0" indent="0" lvl="0">
              <a:lnSpc>
                <a:spcPts val="3595"/>
              </a:lnSpc>
            </a:pPr>
            <a:r>
              <a:rPr lang="en-US" b="true" sz="2996">
                <a:solidFill>
                  <a:srgbClr val="003E7E"/>
                </a:solidFill>
                <a:latin typeface="Public Sans Bold"/>
                <a:ea typeface="Public Sans Bold"/>
                <a:cs typeface="Public Sans Bold"/>
                <a:sym typeface="Public Sans Bold"/>
              </a:rPr>
              <a:t>Replaceable Components &amp; Recycled Packaging</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40109" t="-29261" r="0" b="-13027"/>
            </a:stretch>
          </a:blipFill>
        </p:spPr>
      </p:sp>
      <p:grpSp>
        <p:nvGrpSpPr>
          <p:cNvPr name="Group 3" id="3"/>
          <p:cNvGrpSpPr/>
          <p:nvPr/>
        </p:nvGrpSpPr>
        <p:grpSpPr>
          <a:xfrm rot="0">
            <a:off x="1534840" y="642100"/>
            <a:ext cx="1313931" cy="773201"/>
            <a:chOff x="0" y="0"/>
            <a:chExt cx="690612" cy="406400"/>
          </a:xfrm>
        </p:grpSpPr>
        <p:sp>
          <p:nvSpPr>
            <p:cNvPr name="Freeform 4" id="4"/>
            <p:cNvSpPr/>
            <p:nvPr/>
          </p:nvSpPr>
          <p:spPr>
            <a:xfrm flipH="false" flipV="false" rot="0">
              <a:off x="0" y="0"/>
              <a:ext cx="690612" cy="406400"/>
            </a:xfrm>
            <a:custGeom>
              <a:avLst/>
              <a:gdLst/>
              <a:ahLst/>
              <a:cxnLst/>
              <a:rect r="r" b="b" t="t" l="l"/>
              <a:pathLst>
                <a:path h="406400" w="690612">
                  <a:moveTo>
                    <a:pt x="487412" y="0"/>
                  </a:moveTo>
                  <a:cubicBezTo>
                    <a:pt x="599636" y="0"/>
                    <a:pt x="690612" y="90976"/>
                    <a:pt x="690612" y="203200"/>
                  </a:cubicBezTo>
                  <a:cubicBezTo>
                    <a:pt x="690612" y="315424"/>
                    <a:pt x="599636" y="406400"/>
                    <a:pt x="487412"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5" id="5"/>
            <p:cNvSpPr txBox="true"/>
            <p:nvPr/>
          </p:nvSpPr>
          <p:spPr>
            <a:xfrm>
              <a:off x="0" y="-57150"/>
              <a:ext cx="690612" cy="463550"/>
            </a:xfrm>
            <a:prstGeom prst="rect">
              <a:avLst/>
            </a:prstGeom>
          </p:spPr>
          <p:txBody>
            <a:bodyPr anchor="ctr" rtlCol="false" tIns="50800" lIns="50800" bIns="50800" rIns="50800"/>
            <a:lstStyle/>
            <a:p>
              <a:pPr algn="ctr" marL="0" indent="0" lvl="0">
                <a:lnSpc>
                  <a:spcPts val="3428"/>
                </a:lnSpc>
              </a:pPr>
            </a:p>
          </p:txBody>
        </p:sp>
      </p:grpSp>
      <p:sp>
        <p:nvSpPr>
          <p:cNvPr name="Freeform 6" id="6"/>
          <p:cNvSpPr/>
          <p:nvPr/>
        </p:nvSpPr>
        <p:spPr>
          <a:xfrm flipH="false" flipV="false" rot="0">
            <a:off x="1886092" y="789479"/>
            <a:ext cx="611427" cy="478441"/>
          </a:xfrm>
          <a:custGeom>
            <a:avLst/>
            <a:gdLst/>
            <a:ahLst/>
            <a:cxnLst/>
            <a:rect r="r" b="b" t="t" l="l"/>
            <a:pathLst>
              <a:path h="478441" w="611427">
                <a:moveTo>
                  <a:pt x="0" y="0"/>
                </a:moveTo>
                <a:lnTo>
                  <a:pt x="611427" y="0"/>
                </a:lnTo>
                <a:lnTo>
                  <a:pt x="611427" y="478442"/>
                </a:lnTo>
                <a:lnTo>
                  <a:pt x="0" y="478442"/>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7" id="7"/>
          <p:cNvSpPr/>
          <p:nvPr/>
        </p:nvSpPr>
        <p:spPr>
          <a:xfrm flipH="false" flipV="true" rot="0">
            <a:off x="15442902" y="4061774"/>
            <a:ext cx="5690196" cy="10393052"/>
          </a:xfrm>
          <a:custGeom>
            <a:avLst/>
            <a:gdLst/>
            <a:ahLst/>
            <a:cxnLst/>
            <a:rect r="r" b="b" t="t" l="l"/>
            <a:pathLst>
              <a:path h="10393052" w="5690196">
                <a:moveTo>
                  <a:pt x="0" y="10393052"/>
                </a:moveTo>
                <a:lnTo>
                  <a:pt x="5690196" y="10393052"/>
                </a:lnTo>
                <a:lnTo>
                  <a:pt x="5690196" y="0"/>
                </a:lnTo>
                <a:lnTo>
                  <a:pt x="0" y="0"/>
                </a:lnTo>
                <a:lnTo>
                  <a:pt x="0" y="10393052"/>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8" id="8"/>
          <p:cNvGrpSpPr/>
          <p:nvPr/>
        </p:nvGrpSpPr>
        <p:grpSpPr>
          <a:xfrm rot="0">
            <a:off x="8214899" y="-406662"/>
            <a:ext cx="10555071" cy="5550162"/>
            <a:chOff x="0" y="0"/>
            <a:chExt cx="1635257" cy="859865"/>
          </a:xfrm>
        </p:grpSpPr>
        <p:sp>
          <p:nvSpPr>
            <p:cNvPr name="Freeform 9" id="9"/>
            <p:cNvSpPr/>
            <p:nvPr/>
          </p:nvSpPr>
          <p:spPr>
            <a:xfrm flipH="false" flipV="false" rot="0">
              <a:off x="0" y="0"/>
              <a:ext cx="1635257" cy="859865"/>
            </a:xfrm>
            <a:custGeom>
              <a:avLst/>
              <a:gdLst/>
              <a:ahLst/>
              <a:cxnLst/>
              <a:rect r="r" b="b" t="t" l="l"/>
              <a:pathLst>
                <a:path h="859865" w="1635257">
                  <a:moveTo>
                    <a:pt x="29339" y="0"/>
                  </a:moveTo>
                  <a:lnTo>
                    <a:pt x="1605918" y="0"/>
                  </a:lnTo>
                  <a:cubicBezTo>
                    <a:pt x="1613699" y="0"/>
                    <a:pt x="1621161" y="3091"/>
                    <a:pt x="1626664" y="8593"/>
                  </a:cubicBezTo>
                  <a:cubicBezTo>
                    <a:pt x="1632166" y="14095"/>
                    <a:pt x="1635257" y="21558"/>
                    <a:pt x="1635257" y="29339"/>
                  </a:cubicBezTo>
                  <a:lnTo>
                    <a:pt x="1635257" y="830526"/>
                  </a:lnTo>
                  <a:cubicBezTo>
                    <a:pt x="1635257" y="838307"/>
                    <a:pt x="1632166" y="845770"/>
                    <a:pt x="1626664" y="851272"/>
                  </a:cubicBezTo>
                  <a:cubicBezTo>
                    <a:pt x="1621161" y="856774"/>
                    <a:pt x="1613699" y="859865"/>
                    <a:pt x="1605918" y="859865"/>
                  </a:cubicBezTo>
                  <a:lnTo>
                    <a:pt x="29339" y="859865"/>
                  </a:lnTo>
                  <a:cubicBezTo>
                    <a:pt x="21558" y="859865"/>
                    <a:pt x="14095" y="856774"/>
                    <a:pt x="8593" y="851272"/>
                  </a:cubicBezTo>
                  <a:cubicBezTo>
                    <a:pt x="3091" y="845770"/>
                    <a:pt x="0" y="838307"/>
                    <a:pt x="0" y="830526"/>
                  </a:cubicBezTo>
                  <a:lnTo>
                    <a:pt x="0" y="29339"/>
                  </a:lnTo>
                  <a:cubicBezTo>
                    <a:pt x="0" y="21558"/>
                    <a:pt x="3091" y="14095"/>
                    <a:pt x="8593" y="8593"/>
                  </a:cubicBezTo>
                  <a:cubicBezTo>
                    <a:pt x="14095" y="3091"/>
                    <a:pt x="21558" y="0"/>
                    <a:pt x="29339" y="0"/>
                  </a:cubicBezTo>
                  <a:close/>
                </a:path>
              </a:pathLst>
            </a:custGeom>
            <a:blipFill>
              <a:blip r:embed="rId7"/>
              <a:stretch>
                <a:fillRect l="0" t="-4200" r="0" b="-4200"/>
              </a:stretch>
            </a:blipFill>
          </p:spPr>
        </p:sp>
      </p:grpSp>
      <p:grpSp>
        <p:nvGrpSpPr>
          <p:cNvPr name="Group 10" id="10"/>
          <p:cNvGrpSpPr/>
          <p:nvPr/>
        </p:nvGrpSpPr>
        <p:grpSpPr>
          <a:xfrm rot="0">
            <a:off x="8214899" y="8139289"/>
            <a:ext cx="8878441" cy="659988"/>
            <a:chOff x="0" y="0"/>
            <a:chExt cx="5467064" cy="406400"/>
          </a:xfrm>
        </p:grpSpPr>
        <p:sp>
          <p:nvSpPr>
            <p:cNvPr name="Freeform 11" id="11"/>
            <p:cNvSpPr/>
            <p:nvPr/>
          </p:nvSpPr>
          <p:spPr>
            <a:xfrm flipH="false" flipV="false" rot="0">
              <a:off x="0" y="0"/>
              <a:ext cx="5467064" cy="406400"/>
            </a:xfrm>
            <a:custGeom>
              <a:avLst/>
              <a:gdLst/>
              <a:ahLst/>
              <a:cxnLst/>
              <a:rect r="r" b="b" t="t" l="l"/>
              <a:pathLst>
                <a:path h="406400" w="5467064">
                  <a:moveTo>
                    <a:pt x="5263864" y="0"/>
                  </a:moveTo>
                  <a:cubicBezTo>
                    <a:pt x="5376088" y="0"/>
                    <a:pt x="5467064" y="90976"/>
                    <a:pt x="5467064" y="203200"/>
                  </a:cubicBezTo>
                  <a:cubicBezTo>
                    <a:pt x="5467064" y="315424"/>
                    <a:pt x="5376088" y="406400"/>
                    <a:pt x="5263864"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12" id="12"/>
            <p:cNvSpPr txBox="true"/>
            <p:nvPr/>
          </p:nvSpPr>
          <p:spPr>
            <a:xfrm>
              <a:off x="0" y="-57150"/>
              <a:ext cx="5467064" cy="463550"/>
            </a:xfrm>
            <a:prstGeom prst="rect">
              <a:avLst/>
            </a:prstGeom>
          </p:spPr>
          <p:txBody>
            <a:bodyPr anchor="ctr" rtlCol="false" tIns="50800" lIns="50800" bIns="50800" rIns="50800"/>
            <a:lstStyle/>
            <a:p>
              <a:pPr algn="ctr" marL="0" indent="0" lvl="0">
                <a:lnSpc>
                  <a:spcPts val="3428"/>
                </a:lnSpc>
              </a:pPr>
            </a:p>
          </p:txBody>
        </p:sp>
      </p:grpSp>
      <p:grpSp>
        <p:nvGrpSpPr>
          <p:cNvPr name="Group 13" id="13"/>
          <p:cNvGrpSpPr/>
          <p:nvPr/>
        </p:nvGrpSpPr>
        <p:grpSpPr>
          <a:xfrm rot="0">
            <a:off x="8214899" y="7341026"/>
            <a:ext cx="8878441" cy="659988"/>
            <a:chOff x="0" y="0"/>
            <a:chExt cx="5467064" cy="406400"/>
          </a:xfrm>
        </p:grpSpPr>
        <p:sp>
          <p:nvSpPr>
            <p:cNvPr name="Freeform 14" id="14"/>
            <p:cNvSpPr/>
            <p:nvPr/>
          </p:nvSpPr>
          <p:spPr>
            <a:xfrm flipH="false" flipV="false" rot="0">
              <a:off x="0" y="0"/>
              <a:ext cx="5467064" cy="406400"/>
            </a:xfrm>
            <a:custGeom>
              <a:avLst/>
              <a:gdLst/>
              <a:ahLst/>
              <a:cxnLst/>
              <a:rect r="r" b="b" t="t" l="l"/>
              <a:pathLst>
                <a:path h="406400" w="5467064">
                  <a:moveTo>
                    <a:pt x="5263864" y="0"/>
                  </a:moveTo>
                  <a:cubicBezTo>
                    <a:pt x="5376088" y="0"/>
                    <a:pt x="5467064" y="90976"/>
                    <a:pt x="5467064" y="203200"/>
                  </a:cubicBezTo>
                  <a:cubicBezTo>
                    <a:pt x="5467064" y="315424"/>
                    <a:pt x="5376088" y="406400"/>
                    <a:pt x="5263864"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15" id="15"/>
            <p:cNvSpPr txBox="true"/>
            <p:nvPr/>
          </p:nvSpPr>
          <p:spPr>
            <a:xfrm>
              <a:off x="0" y="-57150"/>
              <a:ext cx="5467064" cy="463550"/>
            </a:xfrm>
            <a:prstGeom prst="rect">
              <a:avLst/>
            </a:prstGeom>
          </p:spPr>
          <p:txBody>
            <a:bodyPr anchor="ctr" rtlCol="false" tIns="50800" lIns="50800" bIns="50800" rIns="50800"/>
            <a:lstStyle/>
            <a:p>
              <a:pPr algn="ctr" marL="0" indent="0" lvl="0">
                <a:lnSpc>
                  <a:spcPts val="3428"/>
                </a:lnSpc>
              </a:pPr>
            </a:p>
          </p:txBody>
        </p:sp>
      </p:grpSp>
      <p:grpSp>
        <p:nvGrpSpPr>
          <p:cNvPr name="Group 16" id="16"/>
          <p:cNvGrpSpPr/>
          <p:nvPr/>
        </p:nvGrpSpPr>
        <p:grpSpPr>
          <a:xfrm rot="0">
            <a:off x="8214899" y="6542763"/>
            <a:ext cx="8878441" cy="659988"/>
            <a:chOff x="0" y="0"/>
            <a:chExt cx="5467064" cy="406400"/>
          </a:xfrm>
        </p:grpSpPr>
        <p:sp>
          <p:nvSpPr>
            <p:cNvPr name="Freeform 17" id="17"/>
            <p:cNvSpPr/>
            <p:nvPr/>
          </p:nvSpPr>
          <p:spPr>
            <a:xfrm flipH="false" flipV="false" rot="0">
              <a:off x="0" y="0"/>
              <a:ext cx="5467064" cy="406400"/>
            </a:xfrm>
            <a:custGeom>
              <a:avLst/>
              <a:gdLst/>
              <a:ahLst/>
              <a:cxnLst/>
              <a:rect r="r" b="b" t="t" l="l"/>
              <a:pathLst>
                <a:path h="406400" w="5467064">
                  <a:moveTo>
                    <a:pt x="5263864" y="0"/>
                  </a:moveTo>
                  <a:cubicBezTo>
                    <a:pt x="5376088" y="0"/>
                    <a:pt x="5467064" y="90976"/>
                    <a:pt x="5467064" y="203200"/>
                  </a:cubicBezTo>
                  <a:cubicBezTo>
                    <a:pt x="5467064" y="315424"/>
                    <a:pt x="5376088" y="406400"/>
                    <a:pt x="5263864"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18" id="18"/>
            <p:cNvSpPr txBox="true"/>
            <p:nvPr/>
          </p:nvSpPr>
          <p:spPr>
            <a:xfrm>
              <a:off x="0" y="-57150"/>
              <a:ext cx="5467064" cy="463550"/>
            </a:xfrm>
            <a:prstGeom prst="rect">
              <a:avLst/>
            </a:prstGeom>
          </p:spPr>
          <p:txBody>
            <a:bodyPr anchor="ctr" rtlCol="false" tIns="50800" lIns="50800" bIns="50800" rIns="50800"/>
            <a:lstStyle/>
            <a:p>
              <a:pPr algn="ctr" marL="0" indent="0" lvl="0">
                <a:lnSpc>
                  <a:spcPts val="3428"/>
                </a:lnSpc>
              </a:pPr>
            </a:p>
          </p:txBody>
        </p:sp>
      </p:grpSp>
      <p:grpSp>
        <p:nvGrpSpPr>
          <p:cNvPr name="Group 19" id="19"/>
          <p:cNvGrpSpPr/>
          <p:nvPr/>
        </p:nvGrpSpPr>
        <p:grpSpPr>
          <a:xfrm rot="0">
            <a:off x="8214899" y="5744500"/>
            <a:ext cx="8878441" cy="659988"/>
            <a:chOff x="0" y="0"/>
            <a:chExt cx="5467064" cy="406400"/>
          </a:xfrm>
        </p:grpSpPr>
        <p:sp>
          <p:nvSpPr>
            <p:cNvPr name="Freeform 20" id="20"/>
            <p:cNvSpPr/>
            <p:nvPr/>
          </p:nvSpPr>
          <p:spPr>
            <a:xfrm flipH="false" flipV="false" rot="0">
              <a:off x="0" y="0"/>
              <a:ext cx="5467064" cy="406400"/>
            </a:xfrm>
            <a:custGeom>
              <a:avLst/>
              <a:gdLst/>
              <a:ahLst/>
              <a:cxnLst/>
              <a:rect r="r" b="b" t="t" l="l"/>
              <a:pathLst>
                <a:path h="406400" w="5467064">
                  <a:moveTo>
                    <a:pt x="5263864" y="0"/>
                  </a:moveTo>
                  <a:cubicBezTo>
                    <a:pt x="5376088" y="0"/>
                    <a:pt x="5467064" y="90976"/>
                    <a:pt x="5467064" y="203200"/>
                  </a:cubicBezTo>
                  <a:cubicBezTo>
                    <a:pt x="5467064" y="315424"/>
                    <a:pt x="5376088" y="406400"/>
                    <a:pt x="5263864"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21" id="21"/>
            <p:cNvSpPr txBox="true"/>
            <p:nvPr/>
          </p:nvSpPr>
          <p:spPr>
            <a:xfrm>
              <a:off x="0" y="-57150"/>
              <a:ext cx="5467064" cy="463550"/>
            </a:xfrm>
            <a:prstGeom prst="rect">
              <a:avLst/>
            </a:prstGeom>
          </p:spPr>
          <p:txBody>
            <a:bodyPr anchor="ctr" rtlCol="false" tIns="50800" lIns="50800" bIns="50800" rIns="50800"/>
            <a:lstStyle/>
            <a:p>
              <a:pPr algn="ctr" marL="0" indent="0" lvl="0">
                <a:lnSpc>
                  <a:spcPts val="3428"/>
                </a:lnSpc>
              </a:pPr>
            </a:p>
          </p:txBody>
        </p:sp>
      </p:grpSp>
      <p:sp>
        <p:nvSpPr>
          <p:cNvPr name="Freeform 22" id="22"/>
          <p:cNvSpPr/>
          <p:nvPr/>
        </p:nvSpPr>
        <p:spPr>
          <a:xfrm flipH="false" flipV="false" rot="0">
            <a:off x="8544880" y="5911395"/>
            <a:ext cx="346100" cy="326199"/>
          </a:xfrm>
          <a:custGeom>
            <a:avLst/>
            <a:gdLst/>
            <a:ahLst/>
            <a:cxnLst/>
            <a:rect r="r" b="b" t="t" l="l"/>
            <a:pathLst>
              <a:path h="326199" w="346100">
                <a:moveTo>
                  <a:pt x="0" y="0"/>
                </a:moveTo>
                <a:lnTo>
                  <a:pt x="346100" y="0"/>
                </a:lnTo>
                <a:lnTo>
                  <a:pt x="346100" y="326199"/>
                </a:lnTo>
                <a:lnTo>
                  <a:pt x="0" y="326199"/>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23" id="23"/>
          <p:cNvSpPr/>
          <p:nvPr/>
        </p:nvSpPr>
        <p:spPr>
          <a:xfrm flipH="false" flipV="false" rot="0">
            <a:off x="8544880" y="6709658"/>
            <a:ext cx="346100" cy="326199"/>
          </a:xfrm>
          <a:custGeom>
            <a:avLst/>
            <a:gdLst/>
            <a:ahLst/>
            <a:cxnLst/>
            <a:rect r="r" b="b" t="t" l="l"/>
            <a:pathLst>
              <a:path h="326199" w="346100">
                <a:moveTo>
                  <a:pt x="0" y="0"/>
                </a:moveTo>
                <a:lnTo>
                  <a:pt x="346100" y="0"/>
                </a:lnTo>
                <a:lnTo>
                  <a:pt x="346100" y="326199"/>
                </a:lnTo>
                <a:lnTo>
                  <a:pt x="0" y="326199"/>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24" id="24"/>
          <p:cNvSpPr/>
          <p:nvPr/>
        </p:nvSpPr>
        <p:spPr>
          <a:xfrm flipH="false" flipV="false" rot="0">
            <a:off x="8544880" y="7507920"/>
            <a:ext cx="346100" cy="326199"/>
          </a:xfrm>
          <a:custGeom>
            <a:avLst/>
            <a:gdLst/>
            <a:ahLst/>
            <a:cxnLst/>
            <a:rect r="r" b="b" t="t" l="l"/>
            <a:pathLst>
              <a:path h="326199" w="346100">
                <a:moveTo>
                  <a:pt x="0" y="0"/>
                </a:moveTo>
                <a:lnTo>
                  <a:pt x="346100" y="0"/>
                </a:lnTo>
                <a:lnTo>
                  <a:pt x="346100" y="326200"/>
                </a:lnTo>
                <a:lnTo>
                  <a:pt x="0" y="3262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25" id="25"/>
          <p:cNvSpPr/>
          <p:nvPr/>
        </p:nvSpPr>
        <p:spPr>
          <a:xfrm flipH="false" flipV="false" rot="0">
            <a:off x="8544880" y="8306183"/>
            <a:ext cx="346100" cy="326199"/>
          </a:xfrm>
          <a:custGeom>
            <a:avLst/>
            <a:gdLst/>
            <a:ahLst/>
            <a:cxnLst/>
            <a:rect r="r" b="b" t="t" l="l"/>
            <a:pathLst>
              <a:path h="326199" w="346100">
                <a:moveTo>
                  <a:pt x="0" y="0"/>
                </a:moveTo>
                <a:lnTo>
                  <a:pt x="346100" y="0"/>
                </a:lnTo>
                <a:lnTo>
                  <a:pt x="346100" y="326199"/>
                </a:lnTo>
                <a:lnTo>
                  <a:pt x="0" y="326199"/>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26" id="26"/>
          <p:cNvSpPr txBox="true"/>
          <p:nvPr/>
        </p:nvSpPr>
        <p:spPr>
          <a:xfrm rot="0">
            <a:off x="1534840" y="2360163"/>
            <a:ext cx="5032479" cy="1197047"/>
          </a:xfrm>
          <a:prstGeom prst="rect">
            <a:avLst/>
          </a:prstGeom>
        </p:spPr>
        <p:txBody>
          <a:bodyPr anchor="t" rtlCol="false" tIns="0" lIns="0" bIns="0" rIns="0">
            <a:spAutoFit/>
          </a:bodyPr>
          <a:lstStyle/>
          <a:p>
            <a:pPr algn="l" marL="0" indent="0" lvl="0">
              <a:lnSpc>
                <a:spcPts val="9811"/>
              </a:lnSpc>
              <a:spcBef>
                <a:spcPct val="0"/>
              </a:spcBef>
            </a:pPr>
            <a:r>
              <a:rPr lang="en-US" b="true" sz="7008">
                <a:solidFill>
                  <a:srgbClr val="003E7E"/>
                </a:solidFill>
                <a:latin typeface="Helvetica Now Bold"/>
                <a:ea typeface="Helvetica Now Bold"/>
                <a:cs typeface="Helvetica Now Bold"/>
                <a:sym typeface="Helvetica Now Bold"/>
              </a:rPr>
              <a:t>FINANCIAL</a:t>
            </a:r>
          </a:p>
        </p:txBody>
      </p:sp>
      <p:sp>
        <p:nvSpPr>
          <p:cNvPr name="TextBox 27" id="27"/>
          <p:cNvSpPr txBox="true"/>
          <p:nvPr/>
        </p:nvSpPr>
        <p:spPr>
          <a:xfrm rot="0">
            <a:off x="1534840" y="3423734"/>
            <a:ext cx="5032479" cy="1197047"/>
          </a:xfrm>
          <a:prstGeom prst="rect">
            <a:avLst/>
          </a:prstGeom>
        </p:spPr>
        <p:txBody>
          <a:bodyPr anchor="t" rtlCol="false" tIns="0" lIns="0" bIns="0" rIns="0">
            <a:spAutoFit/>
          </a:bodyPr>
          <a:lstStyle/>
          <a:p>
            <a:pPr algn="l" marL="0" indent="0" lvl="0">
              <a:lnSpc>
                <a:spcPts val="9811"/>
              </a:lnSpc>
              <a:spcBef>
                <a:spcPct val="0"/>
              </a:spcBef>
            </a:pPr>
            <a:r>
              <a:rPr lang="en-US" b="true" sz="7008">
                <a:solidFill>
                  <a:srgbClr val="000000"/>
                </a:solidFill>
                <a:latin typeface="Helvetica Now Bold"/>
                <a:ea typeface="Helvetica Now Bold"/>
                <a:cs typeface="Helvetica Now Bold"/>
                <a:sym typeface="Helvetica Now Bold"/>
              </a:rPr>
              <a:t>OUTLOOK</a:t>
            </a:r>
          </a:p>
        </p:txBody>
      </p:sp>
      <p:sp>
        <p:nvSpPr>
          <p:cNvPr name="TextBox 28" id="28"/>
          <p:cNvSpPr txBox="true"/>
          <p:nvPr/>
        </p:nvSpPr>
        <p:spPr>
          <a:xfrm rot="0">
            <a:off x="1534840" y="5464771"/>
            <a:ext cx="3612382" cy="833070"/>
          </a:xfrm>
          <a:prstGeom prst="rect">
            <a:avLst/>
          </a:prstGeom>
        </p:spPr>
        <p:txBody>
          <a:bodyPr anchor="t" rtlCol="false" tIns="0" lIns="0" bIns="0" rIns="0">
            <a:spAutoFit/>
          </a:bodyPr>
          <a:lstStyle/>
          <a:p>
            <a:pPr algn="l" marL="0" indent="0" lvl="0">
              <a:lnSpc>
                <a:spcPts val="3381"/>
              </a:lnSpc>
              <a:spcBef>
                <a:spcPct val="0"/>
              </a:spcBef>
            </a:pPr>
            <a:r>
              <a:rPr lang="en-US" b="true" sz="2415">
                <a:solidFill>
                  <a:srgbClr val="003E7E"/>
                </a:solidFill>
                <a:latin typeface="Public Sans Bold"/>
                <a:ea typeface="Public Sans Bold"/>
                <a:cs typeface="Public Sans Bold"/>
                <a:sym typeface="Public Sans Bold"/>
              </a:rPr>
              <a:t>Projections &amp; Key Metrics</a:t>
            </a:r>
          </a:p>
        </p:txBody>
      </p:sp>
      <p:sp>
        <p:nvSpPr>
          <p:cNvPr name="TextBox 29" id="29"/>
          <p:cNvSpPr txBox="true"/>
          <p:nvPr/>
        </p:nvSpPr>
        <p:spPr>
          <a:xfrm rot="0">
            <a:off x="1534840" y="6809680"/>
            <a:ext cx="4942110" cy="2323006"/>
          </a:xfrm>
          <a:prstGeom prst="rect">
            <a:avLst/>
          </a:prstGeom>
        </p:spPr>
        <p:txBody>
          <a:bodyPr anchor="t" rtlCol="false" tIns="0" lIns="0" bIns="0" rIns="0">
            <a:spAutoFit/>
          </a:bodyPr>
          <a:lstStyle/>
          <a:p>
            <a:pPr algn="l" marL="0" indent="0" lvl="0">
              <a:lnSpc>
                <a:spcPts val="2685"/>
              </a:lnSpc>
              <a:spcBef>
                <a:spcPct val="0"/>
              </a:spcBef>
            </a:pPr>
            <a:r>
              <a:rPr lang="en-US" sz="1918">
                <a:solidFill>
                  <a:srgbClr val="343434"/>
                </a:solidFill>
                <a:latin typeface="Public Sans"/>
                <a:ea typeface="Public Sans"/>
                <a:cs typeface="Public Sans"/>
                <a:sym typeface="Public Sans"/>
              </a:rPr>
              <a:t>AetherLink Glass is positioned for strong, sustained revenue growth across device sales, enterprise software, and service streams. Margins are expected to improve as the platform scales and recurring revenue increases over the 3–5 year horizon.</a:t>
            </a:r>
          </a:p>
        </p:txBody>
      </p:sp>
      <p:sp>
        <p:nvSpPr>
          <p:cNvPr name="TextBox 30" id="30"/>
          <p:cNvSpPr txBox="true"/>
          <p:nvPr/>
        </p:nvSpPr>
        <p:spPr>
          <a:xfrm rot="0">
            <a:off x="3027434" y="725677"/>
            <a:ext cx="1285113" cy="567975"/>
          </a:xfrm>
          <a:prstGeom prst="rect">
            <a:avLst/>
          </a:prstGeom>
        </p:spPr>
        <p:txBody>
          <a:bodyPr anchor="t" rtlCol="false" tIns="0" lIns="0" bIns="0" rIns="0">
            <a:spAutoFit/>
          </a:bodyPr>
          <a:lstStyle/>
          <a:p>
            <a:pPr algn="l" marL="0" indent="0" lvl="0">
              <a:lnSpc>
                <a:spcPts val="2272"/>
              </a:lnSpc>
              <a:spcBef>
                <a:spcPct val="0"/>
              </a:spcBef>
            </a:pPr>
            <a:r>
              <a:rPr lang="en-US" sz="1623">
                <a:solidFill>
                  <a:srgbClr val="000000"/>
                </a:solidFill>
                <a:latin typeface="Public Sans"/>
                <a:ea typeface="Public Sans"/>
                <a:cs typeface="Public Sans"/>
                <a:sym typeface="Public Sans"/>
              </a:rPr>
              <a:t>AetherLink Glass</a:t>
            </a:r>
          </a:p>
        </p:txBody>
      </p:sp>
      <p:sp>
        <p:nvSpPr>
          <p:cNvPr name="TextBox 31" id="31"/>
          <p:cNvSpPr txBox="true"/>
          <p:nvPr/>
        </p:nvSpPr>
        <p:spPr>
          <a:xfrm rot="0">
            <a:off x="9075003" y="5841132"/>
            <a:ext cx="7924314" cy="371475"/>
          </a:xfrm>
          <a:prstGeom prst="rect">
            <a:avLst/>
          </a:prstGeom>
        </p:spPr>
        <p:txBody>
          <a:bodyPr anchor="t" rtlCol="false" tIns="0" lIns="0" bIns="0" rIns="0">
            <a:spAutoFit/>
          </a:bodyPr>
          <a:lstStyle/>
          <a:p>
            <a:pPr algn="l" marL="0" indent="0" lvl="0">
              <a:lnSpc>
                <a:spcPts val="2898"/>
              </a:lnSpc>
            </a:pPr>
            <a:r>
              <a:rPr lang="en-US" b="true" sz="2415">
                <a:solidFill>
                  <a:srgbClr val="FFFFFF"/>
                </a:solidFill>
                <a:latin typeface="Public Sans Bold"/>
                <a:ea typeface="Public Sans Bold"/>
                <a:cs typeface="Public Sans Bold"/>
                <a:sym typeface="Public Sans Bold"/>
              </a:rPr>
              <a:t>Projected revenue CAGR of 38% over 5 years</a:t>
            </a:r>
          </a:p>
        </p:txBody>
      </p:sp>
      <p:sp>
        <p:nvSpPr>
          <p:cNvPr name="TextBox 32" id="32"/>
          <p:cNvSpPr txBox="true"/>
          <p:nvPr/>
        </p:nvSpPr>
        <p:spPr>
          <a:xfrm rot="0">
            <a:off x="9075003" y="6639395"/>
            <a:ext cx="6563128" cy="371475"/>
          </a:xfrm>
          <a:prstGeom prst="rect">
            <a:avLst/>
          </a:prstGeom>
        </p:spPr>
        <p:txBody>
          <a:bodyPr anchor="t" rtlCol="false" tIns="0" lIns="0" bIns="0" rIns="0">
            <a:spAutoFit/>
          </a:bodyPr>
          <a:lstStyle/>
          <a:p>
            <a:pPr algn="l" marL="0" indent="0" lvl="0">
              <a:lnSpc>
                <a:spcPts val="2898"/>
              </a:lnSpc>
            </a:pPr>
            <a:r>
              <a:rPr lang="en-US" b="true" sz="2415">
                <a:solidFill>
                  <a:srgbClr val="FFFFFF"/>
                </a:solidFill>
                <a:latin typeface="Public Sans Bold"/>
                <a:ea typeface="Public Sans Bold"/>
                <a:cs typeface="Public Sans Bold"/>
                <a:sym typeface="Public Sans Bold"/>
              </a:rPr>
              <a:t>Gross margins reaching 62% by Year 3</a:t>
            </a:r>
          </a:p>
        </p:txBody>
      </p:sp>
      <p:sp>
        <p:nvSpPr>
          <p:cNvPr name="TextBox 33" id="33"/>
          <p:cNvSpPr txBox="true"/>
          <p:nvPr/>
        </p:nvSpPr>
        <p:spPr>
          <a:xfrm rot="0">
            <a:off x="9075003" y="7437657"/>
            <a:ext cx="7708244" cy="371475"/>
          </a:xfrm>
          <a:prstGeom prst="rect">
            <a:avLst/>
          </a:prstGeom>
        </p:spPr>
        <p:txBody>
          <a:bodyPr anchor="t" rtlCol="false" tIns="0" lIns="0" bIns="0" rIns="0">
            <a:spAutoFit/>
          </a:bodyPr>
          <a:lstStyle/>
          <a:p>
            <a:pPr algn="l" marL="0" indent="0" lvl="0">
              <a:lnSpc>
                <a:spcPts val="2898"/>
              </a:lnSpc>
            </a:pPr>
            <a:r>
              <a:rPr lang="en-US" b="true" sz="2415">
                <a:solidFill>
                  <a:srgbClr val="FFFFFF"/>
                </a:solidFill>
                <a:latin typeface="Public Sans Bold"/>
                <a:ea typeface="Public Sans Bold"/>
                <a:cs typeface="Public Sans Bold"/>
                <a:sym typeface="Public Sans Bold"/>
              </a:rPr>
              <a:t>Enterprise segment driving 45% of revenue by Year 4</a:t>
            </a:r>
          </a:p>
        </p:txBody>
      </p:sp>
      <p:sp>
        <p:nvSpPr>
          <p:cNvPr name="TextBox 34" id="34"/>
          <p:cNvSpPr txBox="true"/>
          <p:nvPr/>
        </p:nvSpPr>
        <p:spPr>
          <a:xfrm rot="0">
            <a:off x="9075003" y="8235920"/>
            <a:ext cx="6958427" cy="371475"/>
          </a:xfrm>
          <a:prstGeom prst="rect">
            <a:avLst/>
          </a:prstGeom>
        </p:spPr>
        <p:txBody>
          <a:bodyPr anchor="t" rtlCol="false" tIns="0" lIns="0" bIns="0" rIns="0">
            <a:spAutoFit/>
          </a:bodyPr>
          <a:lstStyle/>
          <a:p>
            <a:pPr algn="l" marL="0" indent="0" lvl="0">
              <a:lnSpc>
                <a:spcPts val="2898"/>
              </a:lnSpc>
            </a:pPr>
            <a:r>
              <a:rPr lang="en-US" b="true" sz="2415">
                <a:solidFill>
                  <a:srgbClr val="FFFFFF"/>
                </a:solidFill>
                <a:latin typeface="Public Sans Bold"/>
                <a:ea typeface="Public Sans Bold"/>
                <a:cs typeface="Public Sans Bold"/>
                <a:sym typeface="Public Sans Bold"/>
              </a:rPr>
              <a:t>Recurring software &amp; services: 30% of total mix</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40109" t="-29261" r="0" b="-13027"/>
            </a:stretch>
          </a:blipFill>
        </p:spPr>
      </p:sp>
      <p:sp>
        <p:nvSpPr>
          <p:cNvPr name="Freeform 3" id="3"/>
          <p:cNvSpPr/>
          <p:nvPr/>
        </p:nvSpPr>
        <p:spPr>
          <a:xfrm flipH="false" flipV="false" rot="0">
            <a:off x="12597804" y="-106052"/>
            <a:ext cx="5690196" cy="10393052"/>
          </a:xfrm>
          <a:custGeom>
            <a:avLst/>
            <a:gdLst/>
            <a:ahLst/>
            <a:cxnLst/>
            <a:rect r="r" b="b" t="t" l="l"/>
            <a:pathLst>
              <a:path h="10393052" w="5690196">
                <a:moveTo>
                  <a:pt x="0" y="0"/>
                </a:moveTo>
                <a:lnTo>
                  <a:pt x="5690196" y="0"/>
                </a:lnTo>
                <a:lnTo>
                  <a:pt x="5690196" y="10393052"/>
                </a:lnTo>
                <a:lnTo>
                  <a:pt x="0" y="10393052"/>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4" id="4"/>
          <p:cNvGrpSpPr/>
          <p:nvPr/>
        </p:nvGrpSpPr>
        <p:grpSpPr>
          <a:xfrm rot="0">
            <a:off x="1534840" y="642100"/>
            <a:ext cx="1313931" cy="773201"/>
            <a:chOff x="0" y="0"/>
            <a:chExt cx="690612" cy="406400"/>
          </a:xfrm>
        </p:grpSpPr>
        <p:sp>
          <p:nvSpPr>
            <p:cNvPr name="Freeform 5" id="5"/>
            <p:cNvSpPr/>
            <p:nvPr/>
          </p:nvSpPr>
          <p:spPr>
            <a:xfrm flipH="false" flipV="false" rot="0">
              <a:off x="0" y="0"/>
              <a:ext cx="690612" cy="406400"/>
            </a:xfrm>
            <a:custGeom>
              <a:avLst/>
              <a:gdLst/>
              <a:ahLst/>
              <a:cxnLst/>
              <a:rect r="r" b="b" t="t" l="l"/>
              <a:pathLst>
                <a:path h="406400" w="690612">
                  <a:moveTo>
                    <a:pt x="487412" y="0"/>
                  </a:moveTo>
                  <a:cubicBezTo>
                    <a:pt x="599636" y="0"/>
                    <a:pt x="690612" y="90976"/>
                    <a:pt x="690612" y="203200"/>
                  </a:cubicBezTo>
                  <a:cubicBezTo>
                    <a:pt x="690612" y="315424"/>
                    <a:pt x="599636" y="406400"/>
                    <a:pt x="487412"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6" id="6"/>
            <p:cNvSpPr txBox="true"/>
            <p:nvPr/>
          </p:nvSpPr>
          <p:spPr>
            <a:xfrm>
              <a:off x="0" y="-57150"/>
              <a:ext cx="690612" cy="463550"/>
            </a:xfrm>
            <a:prstGeom prst="rect">
              <a:avLst/>
            </a:prstGeom>
          </p:spPr>
          <p:txBody>
            <a:bodyPr anchor="ctr" rtlCol="false" tIns="50800" lIns="50800" bIns="50800" rIns="50800"/>
            <a:lstStyle/>
            <a:p>
              <a:pPr algn="ctr" marL="0" indent="0" lvl="0">
                <a:lnSpc>
                  <a:spcPts val="3428"/>
                </a:lnSpc>
              </a:pPr>
            </a:p>
          </p:txBody>
        </p:sp>
      </p:grpSp>
      <p:sp>
        <p:nvSpPr>
          <p:cNvPr name="Freeform 7" id="7"/>
          <p:cNvSpPr/>
          <p:nvPr/>
        </p:nvSpPr>
        <p:spPr>
          <a:xfrm flipH="false" flipV="false" rot="0">
            <a:off x="1886092" y="789479"/>
            <a:ext cx="611427" cy="478441"/>
          </a:xfrm>
          <a:custGeom>
            <a:avLst/>
            <a:gdLst/>
            <a:ahLst/>
            <a:cxnLst/>
            <a:rect r="r" b="b" t="t" l="l"/>
            <a:pathLst>
              <a:path h="478441" w="611427">
                <a:moveTo>
                  <a:pt x="0" y="0"/>
                </a:moveTo>
                <a:lnTo>
                  <a:pt x="611427" y="0"/>
                </a:lnTo>
                <a:lnTo>
                  <a:pt x="611427" y="478442"/>
                </a:lnTo>
                <a:lnTo>
                  <a:pt x="0" y="478442"/>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8" id="8"/>
          <p:cNvGrpSpPr/>
          <p:nvPr/>
        </p:nvGrpSpPr>
        <p:grpSpPr>
          <a:xfrm rot="0">
            <a:off x="10413281" y="1028700"/>
            <a:ext cx="6846019" cy="8229600"/>
            <a:chOff x="0" y="0"/>
            <a:chExt cx="1060628" cy="1274980"/>
          </a:xfrm>
        </p:grpSpPr>
        <p:sp>
          <p:nvSpPr>
            <p:cNvPr name="Freeform 9" id="9"/>
            <p:cNvSpPr/>
            <p:nvPr/>
          </p:nvSpPr>
          <p:spPr>
            <a:xfrm flipH="false" flipV="false" rot="0">
              <a:off x="0" y="0"/>
              <a:ext cx="1060628" cy="1274980"/>
            </a:xfrm>
            <a:custGeom>
              <a:avLst/>
              <a:gdLst/>
              <a:ahLst/>
              <a:cxnLst/>
              <a:rect r="r" b="b" t="t" l="l"/>
              <a:pathLst>
                <a:path h="1274980" w="1060628">
                  <a:moveTo>
                    <a:pt x="45235" y="0"/>
                  </a:moveTo>
                  <a:lnTo>
                    <a:pt x="1015393" y="0"/>
                  </a:lnTo>
                  <a:cubicBezTo>
                    <a:pt x="1040375" y="0"/>
                    <a:pt x="1060628" y="20252"/>
                    <a:pt x="1060628" y="45235"/>
                  </a:cubicBezTo>
                  <a:lnTo>
                    <a:pt x="1060628" y="1229746"/>
                  </a:lnTo>
                  <a:cubicBezTo>
                    <a:pt x="1060628" y="1254728"/>
                    <a:pt x="1040375" y="1274980"/>
                    <a:pt x="1015393" y="1274980"/>
                  </a:cubicBezTo>
                  <a:lnTo>
                    <a:pt x="45235" y="1274980"/>
                  </a:lnTo>
                  <a:cubicBezTo>
                    <a:pt x="20252" y="1274980"/>
                    <a:pt x="0" y="1254728"/>
                    <a:pt x="0" y="1229746"/>
                  </a:cubicBezTo>
                  <a:lnTo>
                    <a:pt x="0" y="45235"/>
                  </a:lnTo>
                  <a:cubicBezTo>
                    <a:pt x="0" y="20252"/>
                    <a:pt x="20252" y="0"/>
                    <a:pt x="45235" y="0"/>
                  </a:cubicBezTo>
                  <a:close/>
                </a:path>
              </a:pathLst>
            </a:custGeom>
            <a:blipFill>
              <a:blip r:embed="rId7"/>
              <a:stretch>
                <a:fillRect l="0" t="-1429" r="0" b="-1429"/>
              </a:stretch>
            </a:blipFill>
          </p:spPr>
        </p:sp>
      </p:grpSp>
      <p:grpSp>
        <p:nvGrpSpPr>
          <p:cNvPr name="Group 10" id="10"/>
          <p:cNvGrpSpPr/>
          <p:nvPr/>
        </p:nvGrpSpPr>
        <p:grpSpPr>
          <a:xfrm rot="0">
            <a:off x="1534840" y="8598312"/>
            <a:ext cx="7248515" cy="659988"/>
            <a:chOff x="0" y="0"/>
            <a:chExt cx="4463407" cy="406400"/>
          </a:xfrm>
        </p:grpSpPr>
        <p:sp>
          <p:nvSpPr>
            <p:cNvPr name="Freeform 11" id="11"/>
            <p:cNvSpPr/>
            <p:nvPr/>
          </p:nvSpPr>
          <p:spPr>
            <a:xfrm flipH="false" flipV="false" rot="0">
              <a:off x="0" y="0"/>
              <a:ext cx="4463407" cy="406400"/>
            </a:xfrm>
            <a:custGeom>
              <a:avLst/>
              <a:gdLst/>
              <a:ahLst/>
              <a:cxnLst/>
              <a:rect r="r" b="b" t="t" l="l"/>
              <a:pathLst>
                <a:path h="406400" w="4463407">
                  <a:moveTo>
                    <a:pt x="4260207" y="0"/>
                  </a:moveTo>
                  <a:cubicBezTo>
                    <a:pt x="4372432" y="0"/>
                    <a:pt x="4463407" y="90976"/>
                    <a:pt x="4463407" y="203200"/>
                  </a:cubicBezTo>
                  <a:cubicBezTo>
                    <a:pt x="4463407" y="315424"/>
                    <a:pt x="4372432" y="406400"/>
                    <a:pt x="4260207"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12" id="12"/>
            <p:cNvSpPr txBox="true"/>
            <p:nvPr/>
          </p:nvSpPr>
          <p:spPr>
            <a:xfrm>
              <a:off x="0" y="-57150"/>
              <a:ext cx="4463407" cy="463550"/>
            </a:xfrm>
            <a:prstGeom prst="rect">
              <a:avLst/>
            </a:prstGeom>
          </p:spPr>
          <p:txBody>
            <a:bodyPr anchor="ctr" rtlCol="false" tIns="50800" lIns="50800" bIns="50800" rIns="50800"/>
            <a:lstStyle/>
            <a:p>
              <a:pPr algn="ctr" marL="0" indent="0" lvl="0">
                <a:lnSpc>
                  <a:spcPts val="3428"/>
                </a:lnSpc>
              </a:pPr>
            </a:p>
          </p:txBody>
        </p:sp>
      </p:grpSp>
      <p:grpSp>
        <p:nvGrpSpPr>
          <p:cNvPr name="Group 13" id="13"/>
          <p:cNvGrpSpPr/>
          <p:nvPr/>
        </p:nvGrpSpPr>
        <p:grpSpPr>
          <a:xfrm rot="0">
            <a:off x="1534840" y="7800049"/>
            <a:ext cx="7248515" cy="659988"/>
            <a:chOff x="0" y="0"/>
            <a:chExt cx="4463407" cy="406400"/>
          </a:xfrm>
        </p:grpSpPr>
        <p:sp>
          <p:nvSpPr>
            <p:cNvPr name="Freeform 14" id="14"/>
            <p:cNvSpPr/>
            <p:nvPr/>
          </p:nvSpPr>
          <p:spPr>
            <a:xfrm flipH="false" flipV="false" rot="0">
              <a:off x="0" y="0"/>
              <a:ext cx="4463407" cy="406400"/>
            </a:xfrm>
            <a:custGeom>
              <a:avLst/>
              <a:gdLst/>
              <a:ahLst/>
              <a:cxnLst/>
              <a:rect r="r" b="b" t="t" l="l"/>
              <a:pathLst>
                <a:path h="406400" w="4463407">
                  <a:moveTo>
                    <a:pt x="4260207" y="0"/>
                  </a:moveTo>
                  <a:cubicBezTo>
                    <a:pt x="4372432" y="0"/>
                    <a:pt x="4463407" y="90976"/>
                    <a:pt x="4463407" y="203200"/>
                  </a:cubicBezTo>
                  <a:cubicBezTo>
                    <a:pt x="4463407" y="315424"/>
                    <a:pt x="4372432" y="406400"/>
                    <a:pt x="4260207"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15" id="15"/>
            <p:cNvSpPr txBox="true"/>
            <p:nvPr/>
          </p:nvSpPr>
          <p:spPr>
            <a:xfrm>
              <a:off x="0" y="-57150"/>
              <a:ext cx="4463407" cy="463550"/>
            </a:xfrm>
            <a:prstGeom prst="rect">
              <a:avLst/>
            </a:prstGeom>
          </p:spPr>
          <p:txBody>
            <a:bodyPr anchor="ctr" rtlCol="false" tIns="50800" lIns="50800" bIns="50800" rIns="50800"/>
            <a:lstStyle/>
            <a:p>
              <a:pPr algn="ctr" marL="0" indent="0" lvl="0">
                <a:lnSpc>
                  <a:spcPts val="3428"/>
                </a:lnSpc>
              </a:pPr>
            </a:p>
          </p:txBody>
        </p:sp>
      </p:grpSp>
      <p:grpSp>
        <p:nvGrpSpPr>
          <p:cNvPr name="Group 16" id="16"/>
          <p:cNvGrpSpPr/>
          <p:nvPr/>
        </p:nvGrpSpPr>
        <p:grpSpPr>
          <a:xfrm rot="0">
            <a:off x="1534840" y="7001786"/>
            <a:ext cx="7248515" cy="659988"/>
            <a:chOff x="0" y="0"/>
            <a:chExt cx="4463407" cy="406400"/>
          </a:xfrm>
        </p:grpSpPr>
        <p:sp>
          <p:nvSpPr>
            <p:cNvPr name="Freeform 17" id="17"/>
            <p:cNvSpPr/>
            <p:nvPr/>
          </p:nvSpPr>
          <p:spPr>
            <a:xfrm flipH="false" flipV="false" rot="0">
              <a:off x="0" y="0"/>
              <a:ext cx="4463407" cy="406400"/>
            </a:xfrm>
            <a:custGeom>
              <a:avLst/>
              <a:gdLst/>
              <a:ahLst/>
              <a:cxnLst/>
              <a:rect r="r" b="b" t="t" l="l"/>
              <a:pathLst>
                <a:path h="406400" w="4463407">
                  <a:moveTo>
                    <a:pt x="4260207" y="0"/>
                  </a:moveTo>
                  <a:cubicBezTo>
                    <a:pt x="4372432" y="0"/>
                    <a:pt x="4463407" y="90976"/>
                    <a:pt x="4463407" y="203200"/>
                  </a:cubicBezTo>
                  <a:cubicBezTo>
                    <a:pt x="4463407" y="315424"/>
                    <a:pt x="4372432" y="406400"/>
                    <a:pt x="4260207" y="406400"/>
                  </a:cubicBezTo>
                  <a:lnTo>
                    <a:pt x="203200" y="406400"/>
                  </a:lnTo>
                  <a:cubicBezTo>
                    <a:pt x="90976" y="406400"/>
                    <a:pt x="0" y="315424"/>
                    <a:pt x="0" y="203200"/>
                  </a:cubicBezTo>
                  <a:cubicBezTo>
                    <a:pt x="0" y="90976"/>
                    <a:pt x="90976" y="0"/>
                    <a:pt x="203200" y="0"/>
                  </a:cubicBezTo>
                  <a:close/>
                </a:path>
              </a:pathLst>
            </a:custGeom>
            <a:solidFill>
              <a:srgbClr val="1E7BC6"/>
            </a:solidFill>
          </p:spPr>
        </p:sp>
        <p:sp>
          <p:nvSpPr>
            <p:cNvPr name="TextBox 18" id="18"/>
            <p:cNvSpPr txBox="true"/>
            <p:nvPr/>
          </p:nvSpPr>
          <p:spPr>
            <a:xfrm>
              <a:off x="0" y="-57150"/>
              <a:ext cx="4463407" cy="463550"/>
            </a:xfrm>
            <a:prstGeom prst="rect">
              <a:avLst/>
            </a:prstGeom>
          </p:spPr>
          <p:txBody>
            <a:bodyPr anchor="ctr" rtlCol="false" tIns="50800" lIns="50800" bIns="50800" rIns="50800"/>
            <a:lstStyle/>
            <a:p>
              <a:pPr algn="ctr" marL="0" indent="0" lvl="0">
                <a:lnSpc>
                  <a:spcPts val="3428"/>
                </a:lnSpc>
              </a:pPr>
            </a:p>
          </p:txBody>
        </p:sp>
      </p:grpSp>
      <p:sp>
        <p:nvSpPr>
          <p:cNvPr name="Freeform 19" id="19"/>
          <p:cNvSpPr/>
          <p:nvPr/>
        </p:nvSpPr>
        <p:spPr>
          <a:xfrm flipH="false" flipV="false" rot="0">
            <a:off x="1744130" y="7107943"/>
            <a:ext cx="447675" cy="447675"/>
          </a:xfrm>
          <a:custGeom>
            <a:avLst/>
            <a:gdLst/>
            <a:ahLst/>
            <a:cxnLst/>
            <a:rect r="r" b="b" t="t" l="l"/>
            <a:pathLst>
              <a:path h="447675" w="447675">
                <a:moveTo>
                  <a:pt x="0" y="0"/>
                </a:moveTo>
                <a:lnTo>
                  <a:pt x="447675" y="0"/>
                </a:lnTo>
                <a:lnTo>
                  <a:pt x="447675" y="447675"/>
                </a:lnTo>
                <a:lnTo>
                  <a:pt x="0" y="447675"/>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20" id="20"/>
          <p:cNvSpPr/>
          <p:nvPr/>
        </p:nvSpPr>
        <p:spPr>
          <a:xfrm flipH="false" flipV="false" rot="0">
            <a:off x="1744130" y="8704468"/>
            <a:ext cx="447675" cy="447675"/>
          </a:xfrm>
          <a:custGeom>
            <a:avLst/>
            <a:gdLst/>
            <a:ahLst/>
            <a:cxnLst/>
            <a:rect r="r" b="b" t="t" l="l"/>
            <a:pathLst>
              <a:path h="447675" w="447675">
                <a:moveTo>
                  <a:pt x="0" y="0"/>
                </a:moveTo>
                <a:lnTo>
                  <a:pt x="447675" y="0"/>
                </a:lnTo>
                <a:lnTo>
                  <a:pt x="447675" y="447675"/>
                </a:lnTo>
                <a:lnTo>
                  <a:pt x="0" y="447675"/>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21" id="21"/>
          <p:cNvSpPr/>
          <p:nvPr/>
        </p:nvSpPr>
        <p:spPr>
          <a:xfrm flipH="false" flipV="false" rot="0">
            <a:off x="1744130" y="7906206"/>
            <a:ext cx="447675" cy="447675"/>
          </a:xfrm>
          <a:custGeom>
            <a:avLst/>
            <a:gdLst/>
            <a:ahLst/>
            <a:cxnLst/>
            <a:rect r="r" b="b" t="t" l="l"/>
            <a:pathLst>
              <a:path h="447675" w="447675">
                <a:moveTo>
                  <a:pt x="0" y="0"/>
                </a:moveTo>
                <a:lnTo>
                  <a:pt x="447675" y="0"/>
                </a:lnTo>
                <a:lnTo>
                  <a:pt x="447675" y="447675"/>
                </a:lnTo>
                <a:lnTo>
                  <a:pt x="0" y="447675"/>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TextBox 22" id="22"/>
          <p:cNvSpPr txBox="true"/>
          <p:nvPr/>
        </p:nvSpPr>
        <p:spPr>
          <a:xfrm rot="0">
            <a:off x="1534840" y="2643361"/>
            <a:ext cx="8878441" cy="1741993"/>
          </a:xfrm>
          <a:prstGeom prst="rect">
            <a:avLst/>
          </a:prstGeom>
        </p:spPr>
        <p:txBody>
          <a:bodyPr anchor="t" rtlCol="false" tIns="0" lIns="0" bIns="0" rIns="0">
            <a:spAutoFit/>
          </a:bodyPr>
          <a:lstStyle/>
          <a:p>
            <a:pPr algn="l" marL="0" indent="0" lvl="0">
              <a:lnSpc>
                <a:spcPts val="14223"/>
              </a:lnSpc>
              <a:spcBef>
                <a:spcPct val="0"/>
              </a:spcBef>
            </a:pPr>
            <a:r>
              <a:rPr lang="en-US" b="true" sz="10159">
                <a:solidFill>
                  <a:srgbClr val="003E7E"/>
                </a:solidFill>
                <a:latin typeface="Helvetica Now Bold"/>
                <a:ea typeface="Helvetica Now Bold"/>
                <a:cs typeface="Helvetica Now Bold"/>
                <a:sym typeface="Helvetica Now Bold"/>
              </a:rPr>
              <a:t>THANK YOU</a:t>
            </a:r>
          </a:p>
        </p:txBody>
      </p:sp>
      <p:sp>
        <p:nvSpPr>
          <p:cNvPr name="TextBox 23" id="23"/>
          <p:cNvSpPr txBox="true"/>
          <p:nvPr/>
        </p:nvSpPr>
        <p:spPr>
          <a:xfrm rot="0">
            <a:off x="1534840" y="4660512"/>
            <a:ext cx="6035510" cy="1223183"/>
          </a:xfrm>
          <a:prstGeom prst="rect">
            <a:avLst/>
          </a:prstGeom>
        </p:spPr>
        <p:txBody>
          <a:bodyPr anchor="t" rtlCol="false" tIns="0" lIns="0" bIns="0" rIns="0">
            <a:spAutoFit/>
          </a:bodyPr>
          <a:lstStyle/>
          <a:p>
            <a:pPr algn="l" marL="0" indent="0" lvl="0">
              <a:lnSpc>
                <a:spcPts val="2405"/>
              </a:lnSpc>
              <a:spcBef>
                <a:spcPct val="0"/>
              </a:spcBef>
            </a:pPr>
            <a:r>
              <a:rPr lang="en-US" sz="1718">
                <a:solidFill>
                  <a:srgbClr val="000000"/>
                </a:solidFill>
                <a:latin typeface="Public Sans"/>
                <a:ea typeface="Public Sans"/>
                <a:cs typeface="Public Sans"/>
                <a:sym typeface="Public Sans"/>
              </a:rPr>
              <a:t>Thank you for your continued support and confidence in AetherLink Glass. We look forward to your questions and welcome your partnership as we shape the future of smart eyewear.</a:t>
            </a:r>
          </a:p>
        </p:txBody>
      </p:sp>
      <p:sp>
        <p:nvSpPr>
          <p:cNvPr name="TextBox 24" id="24"/>
          <p:cNvSpPr txBox="true"/>
          <p:nvPr/>
        </p:nvSpPr>
        <p:spPr>
          <a:xfrm rot="0">
            <a:off x="3027434" y="725677"/>
            <a:ext cx="1285113" cy="567975"/>
          </a:xfrm>
          <a:prstGeom prst="rect">
            <a:avLst/>
          </a:prstGeom>
        </p:spPr>
        <p:txBody>
          <a:bodyPr anchor="t" rtlCol="false" tIns="0" lIns="0" bIns="0" rIns="0">
            <a:spAutoFit/>
          </a:bodyPr>
          <a:lstStyle/>
          <a:p>
            <a:pPr algn="l" marL="0" indent="0" lvl="0">
              <a:lnSpc>
                <a:spcPts val="2272"/>
              </a:lnSpc>
              <a:spcBef>
                <a:spcPct val="0"/>
              </a:spcBef>
            </a:pPr>
            <a:r>
              <a:rPr lang="en-US" sz="1623">
                <a:solidFill>
                  <a:srgbClr val="000000"/>
                </a:solidFill>
                <a:latin typeface="Public Sans"/>
                <a:ea typeface="Public Sans"/>
                <a:cs typeface="Public Sans"/>
                <a:sym typeface="Public Sans"/>
              </a:rPr>
              <a:t>AetherLink Glass</a:t>
            </a:r>
          </a:p>
        </p:txBody>
      </p:sp>
      <p:sp>
        <p:nvSpPr>
          <p:cNvPr name="TextBox 25" id="25"/>
          <p:cNvSpPr txBox="true"/>
          <p:nvPr/>
        </p:nvSpPr>
        <p:spPr>
          <a:xfrm rot="0">
            <a:off x="2349760" y="7098418"/>
            <a:ext cx="4406561" cy="390525"/>
          </a:xfrm>
          <a:prstGeom prst="rect">
            <a:avLst/>
          </a:prstGeom>
        </p:spPr>
        <p:txBody>
          <a:bodyPr anchor="t" rtlCol="false" tIns="0" lIns="0" bIns="0" rIns="0">
            <a:spAutoFit/>
          </a:bodyPr>
          <a:lstStyle/>
          <a:p>
            <a:pPr algn="l" marL="0" indent="0" lvl="0">
              <a:lnSpc>
                <a:spcPts val="3060"/>
              </a:lnSpc>
            </a:pPr>
            <a:r>
              <a:rPr lang="en-US" sz="2550">
                <a:solidFill>
                  <a:srgbClr val="FFFFFF"/>
                </a:solidFill>
                <a:latin typeface="Public Sans"/>
                <a:ea typeface="Public Sans"/>
                <a:cs typeface="Public Sans"/>
                <a:sym typeface="Public Sans"/>
              </a:rPr>
              <a:t>+1 (800) 555-0192</a:t>
            </a:r>
          </a:p>
        </p:txBody>
      </p:sp>
      <p:sp>
        <p:nvSpPr>
          <p:cNvPr name="TextBox 26" id="26"/>
          <p:cNvSpPr txBox="true"/>
          <p:nvPr/>
        </p:nvSpPr>
        <p:spPr>
          <a:xfrm rot="0">
            <a:off x="2349760" y="7896681"/>
            <a:ext cx="5175406" cy="390525"/>
          </a:xfrm>
          <a:prstGeom prst="rect">
            <a:avLst/>
          </a:prstGeom>
        </p:spPr>
        <p:txBody>
          <a:bodyPr anchor="t" rtlCol="false" tIns="0" lIns="0" bIns="0" rIns="0">
            <a:spAutoFit/>
          </a:bodyPr>
          <a:lstStyle/>
          <a:p>
            <a:pPr algn="l" marL="0" indent="0" lvl="0">
              <a:lnSpc>
                <a:spcPts val="3060"/>
              </a:lnSpc>
            </a:pPr>
            <a:r>
              <a:rPr lang="en-US" sz="2550">
                <a:solidFill>
                  <a:srgbClr val="FFFFFF"/>
                </a:solidFill>
                <a:latin typeface="Public Sans"/>
                <a:ea typeface="Public Sans"/>
                <a:cs typeface="Public Sans"/>
                <a:sym typeface="Public Sans"/>
              </a:rPr>
              <a:t>investors@aetherlink.com</a:t>
            </a:r>
          </a:p>
        </p:txBody>
      </p:sp>
      <p:sp>
        <p:nvSpPr>
          <p:cNvPr name="TextBox 27" id="27"/>
          <p:cNvSpPr txBox="true"/>
          <p:nvPr/>
        </p:nvSpPr>
        <p:spPr>
          <a:xfrm rot="0">
            <a:off x="2349760" y="8694943"/>
            <a:ext cx="4671969" cy="390525"/>
          </a:xfrm>
          <a:prstGeom prst="rect">
            <a:avLst/>
          </a:prstGeom>
        </p:spPr>
        <p:txBody>
          <a:bodyPr anchor="t" rtlCol="false" tIns="0" lIns="0" bIns="0" rIns="0">
            <a:spAutoFit/>
          </a:bodyPr>
          <a:lstStyle/>
          <a:p>
            <a:pPr algn="l" marL="0" indent="0" lvl="0">
              <a:lnSpc>
                <a:spcPts val="3060"/>
              </a:lnSpc>
            </a:pPr>
            <a:r>
              <a:rPr lang="en-US" sz="2550">
                <a:solidFill>
                  <a:srgbClr val="FFFFFF"/>
                </a:solidFill>
                <a:latin typeface="Public Sans"/>
                <a:ea typeface="Public Sans"/>
                <a:cs typeface="Public Sans"/>
                <a:sym typeface="Public Sans"/>
              </a:rPr>
              <a:t>www.aetherlink.com/investors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DAHNTFJA7Bo</dc:identifier>
  <dcterms:modified xsi:type="dcterms:W3CDTF">2011-08-01T06:04:30Z</dcterms:modified>
  <cp:revision>1</cp:revision>
  <dc:title>AetherLink Glass: Shareholder Overview</dc:title>
</cp:coreProperties>
</file>